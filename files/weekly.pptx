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304" r:id="rId4"/>
    <p:sldId id="259" r:id="rId5"/>
    <p:sldId id="260" r:id="rId6"/>
    <p:sldId id="316" r:id="rId7"/>
    <p:sldId id="317" r:id="rId8"/>
    <p:sldId id="312" r:id="rId9"/>
    <p:sldId id="313" r:id="rId10"/>
    <p:sldId id="261" r:id="rId11"/>
    <p:sldId id="318" r:id="rId12"/>
    <p:sldId id="310" r:id="rId13"/>
    <p:sldId id="311" r:id="rId14"/>
    <p:sldId id="301" r:id="rId15"/>
    <p:sldId id="270" r:id="rId16"/>
    <p:sldId id="271" r:id="rId17"/>
    <p:sldId id="262" r:id="rId18"/>
    <p:sldId id="277" r:id="rId19"/>
    <p:sldId id="282" r:id="rId20"/>
    <p:sldId id="263" r:id="rId21"/>
    <p:sldId id="295" r:id="rId22"/>
    <p:sldId id="273" r:id="rId23"/>
    <p:sldId id="265" r:id="rId24"/>
    <p:sldId id="308" r:id="rId25"/>
    <p:sldId id="307" r:id="rId26"/>
    <p:sldId id="319" r:id="rId27"/>
    <p:sldId id="320" r:id="rId28"/>
    <p:sldId id="321" r:id="rId29"/>
    <p:sldId id="264" r:id="rId30"/>
    <p:sldId id="266" r:id="rId31"/>
    <p:sldId id="267" r:id="rId32"/>
    <p:sldId id="268" r:id="rId33"/>
    <p:sldId id="284" r:id="rId34"/>
    <p:sldId id="300" r:id="rId35"/>
    <p:sldId id="297" r:id="rId36"/>
    <p:sldId id="287" r:id="rId37"/>
    <p:sldId id="296" r:id="rId38"/>
    <p:sldId id="289" r:id="rId39"/>
    <p:sldId id="299" r:id="rId40"/>
    <p:sldId id="315" r:id="rId41"/>
    <p:sldId id="314" r:id="rId42"/>
  </p:sldIdLst>
  <p:sldSz cx="18288000" cy="10287000"/>
  <p:notesSz cx="6858000" cy="9144000"/>
  <p:embeddedFontLst>
    <p:embeddedFont>
      <p:font typeface="Aptos Narrow" panose="020B0004020202020204" pitchFamily="34" charset="0"/>
      <p:regular r:id="rId43"/>
      <p:bold r:id="rId44"/>
      <p:italic r:id="rId45"/>
      <p:boldItalic r:id="rId46"/>
    </p:embeddedFont>
    <p:embeddedFont>
      <p:font typeface="Arial Bold" panose="020B0704020202020204" pitchFamily="34" charset="0"/>
      <p:bold r:id="rId47"/>
    </p:embeddedFont>
    <p:embeddedFont>
      <p:font typeface="Garet" panose="020B0604020202020204" charset="0"/>
      <p:regular r:id="rId48"/>
    </p:embeddedFont>
    <p:embeddedFont>
      <p:font typeface="Garet Bold" panose="020B0604020202020204" charset="0"/>
      <p:regular r:id="rId49"/>
    </p:embeddedFont>
    <p:embeddedFont>
      <p:font typeface="Inter Bold" panose="020B0604020202020204" charset="0"/>
      <p:regular r:id="rId50"/>
    </p:embeddedFont>
    <p:embeddedFont>
      <p:font typeface="Poppins" panose="00000500000000000000" pitchFamily="2" charset="0"/>
      <p:regular r:id="rId51"/>
      <p:bold r:id="rId52"/>
      <p:italic r:id="rId53"/>
      <p:boldItalic r:id="rId54"/>
    </p:embeddedFont>
    <p:embeddedFont>
      <p:font typeface="Poppins Bold" panose="00000800000000000000" pitchFamily="2" charset="0"/>
      <p:regular r:id="rId55"/>
      <p:bold r:id="rId56"/>
    </p:embeddedFont>
    <p:embeddedFont>
      <p:font typeface="Segoe UI" panose="020B0502040204020203" pitchFamily="34" charset="0"/>
      <p:regular r:id="rId57"/>
      <p:bold r:id="rId58"/>
      <p:italic r:id="rId59"/>
      <p:boldItalic r:id="rId60"/>
    </p:embeddedFont>
    <p:embeddedFont>
      <p:font typeface="Wingdings 2" panose="05020102010507070707" pitchFamily="18" charset="2"/>
      <p:regular r:id="rId6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A69C"/>
    <a:srgbClr val="E2F0D9"/>
    <a:srgbClr val="259B94"/>
    <a:srgbClr val="BFBFBF"/>
    <a:srgbClr val="005191"/>
    <a:srgbClr val="003373"/>
    <a:srgbClr val="005190"/>
    <a:srgbClr val="00B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2421ED-F3FC-4B4E-8D1B-03ED741FEEC1}" v="45" dt="2026-06-09T15:14:38.038"/>
    <p1510:client id="{97AC7B0A-3FEA-4BBE-2E48-56A5D25668B0}" v="297" dt="2026-06-09T12:18:29.7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font" Target="fonts/font13.fntdata"/><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openxmlformats.org/officeDocument/2006/relationships/font" Target="fonts/font11.fntdata"/><Relationship Id="rId58" Type="http://schemas.openxmlformats.org/officeDocument/2006/relationships/font" Target="fonts/font16.fntdata"/><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font" Target="fonts/font19.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font" Target="fonts/font14.fntdata"/><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59" Type="http://schemas.openxmlformats.org/officeDocument/2006/relationships/font" Target="fonts/font17.fntdata"/><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2.fntdata"/><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 Id="rId57" Type="http://schemas.openxmlformats.org/officeDocument/2006/relationships/font" Target="fonts/font15.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font" Target="fonts/font10.fntdata"/><Relationship Id="rId60" Type="http://schemas.openxmlformats.org/officeDocument/2006/relationships/font" Target="fonts/font18.fntdata"/><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udaw Abdalrahman" userId="S::rudaw.abdalrahman@fib.iq::05011a50-d29f-433c-baf0-c698d7424adf" providerId="AD" clId="Web-{962421ED-F3FC-4B4E-8D1B-03ED741FEEC1}"/>
    <pc:docChg chg="modSld">
      <pc:chgData name="Rudaw Abdalrahman" userId="S::rudaw.abdalrahman@fib.iq::05011a50-d29f-433c-baf0-c698d7424adf" providerId="AD" clId="Web-{962421ED-F3FC-4B4E-8D1B-03ED741FEEC1}" dt="2026-06-09T15:14:38.038" v="41" actId="20577"/>
      <pc:docMkLst>
        <pc:docMk/>
      </pc:docMkLst>
      <pc:sldChg chg="modSp">
        <pc:chgData name="Rudaw Abdalrahman" userId="S::rudaw.abdalrahman@fib.iq::05011a50-d29f-433c-baf0-c698d7424adf" providerId="AD" clId="Web-{962421ED-F3FC-4B4E-8D1B-03ED741FEEC1}" dt="2026-06-09T15:14:38.038" v="41" actId="20577"/>
        <pc:sldMkLst>
          <pc:docMk/>
          <pc:sldMk cId="2194577574" sldId="310"/>
        </pc:sldMkLst>
        <pc:spChg chg="mod">
          <ac:chgData name="Rudaw Abdalrahman" userId="S::rudaw.abdalrahman@fib.iq::05011a50-d29f-433c-baf0-c698d7424adf" providerId="AD" clId="Web-{962421ED-F3FC-4B4E-8D1B-03ED741FEEC1}" dt="2026-06-09T15:14:34.475" v="39" actId="20577"/>
          <ac:spMkLst>
            <pc:docMk/>
            <pc:sldMk cId="2194577574" sldId="310"/>
            <ac:spMk id="9" creationId="{A9806F55-7630-1F31-20D0-DD270CC3447C}"/>
          </ac:spMkLst>
        </pc:spChg>
        <pc:spChg chg="mod">
          <ac:chgData name="Rudaw Abdalrahman" userId="S::rudaw.abdalrahman@fib.iq::05011a50-d29f-433c-baf0-c698d7424adf" providerId="AD" clId="Web-{962421ED-F3FC-4B4E-8D1B-03ED741FEEC1}" dt="2026-06-09T15:14:38.038" v="41" actId="20577"/>
          <ac:spMkLst>
            <pc:docMk/>
            <pc:sldMk cId="2194577574" sldId="310"/>
            <ac:spMk id="14" creationId="{22667EB6-4192-EAF0-C8C2-A7F071648848}"/>
          </ac:spMkLst>
        </pc:spChg>
      </pc:sldChg>
      <pc:sldChg chg="modSp">
        <pc:chgData name="Rudaw Abdalrahman" userId="S::rudaw.abdalrahman@fib.iq::05011a50-d29f-433c-baf0-c698d7424adf" providerId="AD" clId="Web-{962421ED-F3FC-4B4E-8D1B-03ED741FEEC1}" dt="2026-06-09T15:13:57.958" v="25"/>
        <pc:sldMkLst>
          <pc:docMk/>
          <pc:sldMk cId="2422290681" sldId="313"/>
        </pc:sldMkLst>
        <pc:spChg chg="mod">
          <ac:chgData name="Rudaw Abdalrahman" userId="S::rudaw.abdalrahman@fib.iq::05011a50-d29f-433c-baf0-c698d7424adf" providerId="AD" clId="Web-{962421ED-F3FC-4B4E-8D1B-03ED741FEEC1}" dt="2026-06-09T15:11:13.859" v="3" actId="20577"/>
          <ac:spMkLst>
            <pc:docMk/>
            <pc:sldMk cId="2422290681" sldId="313"/>
            <ac:spMk id="14" creationId="{08D343BD-64CF-4B62-933E-00237C05F261}"/>
          </ac:spMkLst>
        </pc:spChg>
        <pc:graphicFrameChg chg="mod modGraphic">
          <ac:chgData name="Rudaw Abdalrahman" userId="S::rudaw.abdalrahman@fib.iq::05011a50-d29f-433c-baf0-c698d7424adf" providerId="AD" clId="Web-{962421ED-F3FC-4B4E-8D1B-03ED741FEEC1}" dt="2026-06-09T15:13:57.958" v="25"/>
          <ac:graphicFrameMkLst>
            <pc:docMk/>
            <pc:sldMk cId="2422290681" sldId="313"/>
            <ac:graphicFrameMk id="11" creationId="{5B83CA8E-476D-C380-87F7-8D105E1C715C}"/>
          </ac:graphicFrameMkLst>
        </pc:graphicFrameChg>
      </pc:sldChg>
    </pc:docChg>
  </pc:docChgLst>
  <pc:docChgLst>
    <pc:chgData name="Ezzat Zalzala" userId="S::ezzat.zalzala@fib.iq::a3b4ceb4-4857-4e2e-aba8-c79f7de71e40" providerId="AD" clId="Web-{97AC7B0A-3FEA-4BBE-2E48-56A5D25668B0}"/>
    <pc:docChg chg="modSld">
      <pc:chgData name="Ezzat Zalzala" userId="S::ezzat.zalzala@fib.iq::a3b4ceb4-4857-4e2e-aba8-c79f7de71e40" providerId="AD" clId="Web-{97AC7B0A-3FEA-4BBE-2E48-56A5D25668B0}" dt="2026-06-09T12:18:29.799" v="260" actId="20577"/>
      <pc:docMkLst>
        <pc:docMk/>
      </pc:docMkLst>
      <pc:sldChg chg="modSp">
        <pc:chgData name="Ezzat Zalzala" userId="S::ezzat.zalzala@fib.iq::a3b4ceb4-4857-4e2e-aba8-c79f7de71e40" providerId="AD" clId="Web-{97AC7B0A-3FEA-4BBE-2E48-56A5D25668B0}" dt="2026-06-09T12:18:02.048" v="250" actId="20577"/>
        <pc:sldMkLst>
          <pc:docMk/>
          <pc:sldMk cId="0" sldId="262"/>
        </pc:sldMkLst>
        <pc:spChg chg="mod">
          <ac:chgData name="Ezzat Zalzala" userId="S::ezzat.zalzala@fib.iq::a3b4ceb4-4857-4e2e-aba8-c79f7de71e40" providerId="AD" clId="Web-{97AC7B0A-3FEA-4BBE-2E48-56A5D25668B0}" dt="2026-06-09T12:18:02.048" v="250" actId="20577"/>
          <ac:spMkLst>
            <pc:docMk/>
            <pc:sldMk cId="0" sldId="262"/>
            <ac:spMk id="20" creationId="{00000000-0000-0000-0000-000000000000}"/>
          </ac:spMkLst>
        </pc:spChg>
      </pc:sldChg>
      <pc:sldChg chg="modSp">
        <pc:chgData name="Ezzat Zalzala" userId="S::ezzat.zalzala@fib.iq::a3b4ceb4-4857-4e2e-aba8-c79f7de71e40" providerId="AD" clId="Web-{97AC7B0A-3FEA-4BBE-2E48-56A5D25668B0}" dt="2026-06-09T12:14:10.290" v="224" actId="20577"/>
        <pc:sldMkLst>
          <pc:docMk/>
          <pc:sldMk cId="0" sldId="263"/>
        </pc:sldMkLst>
        <pc:spChg chg="mod">
          <ac:chgData name="Ezzat Zalzala" userId="S::ezzat.zalzala@fib.iq::a3b4ceb4-4857-4e2e-aba8-c79f7de71e40" providerId="AD" clId="Web-{97AC7B0A-3FEA-4BBE-2E48-56A5D25668B0}" dt="2026-06-09T12:14:10.290" v="224" actId="20577"/>
          <ac:spMkLst>
            <pc:docMk/>
            <pc:sldMk cId="0" sldId="263"/>
            <ac:spMk id="6" creationId="{1EABBDF8-C9E1-0F68-244A-362400332AA2}"/>
          </ac:spMkLst>
        </pc:spChg>
      </pc:sldChg>
      <pc:sldChg chg="modSp">
        <pc:chgData name="Ezzat Zalzala" userId="S::ezzat.zalzala@fib.iq::a3b4ceb4-4857-4e2e-aba8-c79f7de71e40" providerId="AD" clId="Web-{97AC7B0A-3FEA-4BBE-2E48-56A5D25668B0}" dt="2026-06-09T12:11:23.612" v="150" actId="20577"/>
        <pc:sldMkLst>
          <pc:docMk/>
          <pc:sldMk cId="920572728" sldId="265"/>
        </pc:sldMkLst>
        <pc:spChg chg="mod">
          <ac:chgData name="Ezzat Zalzala" userId="S::ezzat.zalzala@fib.iq::a3b4ceb4-4857-4e2e-aba8-c79f7de71e40" providerId="AD" clId="Web-{97AC7B0A-3FEA-4BBE-2E48-56A5D25668B0}" dt="2026-06-09T12:11:23.612" v="150" actId="20577"/>
          <ac:spMkLst>
            <pc:docMk/>
            <pc:sldMk cId="920572728" sldId="265"/>
            <ac:spMk id="6" creationId="{D6C4D659-C607-5C9A-8D84-399C1E039123}"/>
          </ac:spMkLst>
        </pc:spChg>
      </pc:sldChg>
      <pc:sldChg chg="modSp">
        <pc:chgData name="Ezzat Zalzala" userId="S::ezzat.zalzala@fib.iq::a3b4ceb4-4857-4e2e-aba8-c79f7de71e40" providerId="AD" clId="Web-{97AC7B0A-3FEA-4BBE-2E48-56A5D25668B0}" dt="2026-06-09T12:18:29.799" v="260" actId="20577"/>
        <pc:sldMkLst>
          <pc:docMk/>
          <pc:sldMk cId="2498839427" sldId="277"/>
        </pc:sldMkLst>
        <pc:spChg chg="mod">
          <ac:chgData name="Ezzat Zalzala" userId="S::ezzat.zalzala@fib.iq::a3b4ceb4-4857-4e2e-aba8-c79f7de71e40" providerId="AD" clId="Web-{97AC7B0A-3FEA-4BBE-2E48-56A5D25668B0}" dt="2026-06-09T12:18:29.799" v="260" actId="20577"/>
          <ac:spMkLst>
            <pc:docMk/>
            <pc:sldMk cId="2498839427" sldId="277"/>
            <ac:spMk id="14" creationId="{218B412E-F80E-75AD-D205-D6D8DEDB0F10}"/>
          </ac:spMkLst>
        </pc:spChg>
      </pc:sldChg>
      <pc:sldChg chg="modSp">
        <pc:chgData name="Ezzat Zalzala" userId="S::ezzat.zalzala@fib.iq::a3b4ceb4-4857-4e2e-aba8-c79f7de71e40" providerId="AD" clId="Web-{97AC7B0A-3FEA-4BBE-2E48-56A5D25668B0}" dt="2026-06-09T12:16:41.639" v="242" actId="20577"/>
        <pc:sldMkLst>
          <pc:docMk/>
          <pc:sldMk cId="1197506317" sldId="295"/>
        </pc:sldMkLst>
        <pc:spChg chg="mod">
          <ac:chgData name="Ezzat Zalzala" userId="S::ezzat.zalzala@fib.iq::a3b4ceb4-4857-4e2e-aba8-c79f7de71e40" providerId="AD" clId="Web-{97AC7B0A-3FEA-4BBE-2E48-56A5D25668B0}" dt="2026-06-09T12:16:11.545" v="236" actId="20577"/>
          <ac:spMkLst>
            <pc:docMk/>
            <pc:sldMk cId="1197506317" sldId="295"/>
            <ac:spMk id="14" creationId="{20B8010A-F143-9D6C-79E3-174FF5A4C866}"/>
          </ac:spMkLst>
        </pc:spChg>
        <pc:spChg chg="mod">
          <ac:chgData name="Ezzat Zalzala" userId="S::ezzat.zalzala@fib.iq::a3b4ceb4-4857-4e2e-aba8-c79f7de71e40" providerId="AD" clId="Web-{97AC7B0A-3FEA-4BBE-2E48-56A5D25668B0}" dt="2026-06-09T12:16:41.639" v="242" actId="20577"/>
          <ac:spMkLst>
            <pc:docMk/>
            <pc:sldMk cId="1197506317" sldId="295"/>
            <ac:spMk id="75" creationId="{024D3A4E-4237-29DE-FA7B-3D8C9F43BF31}"/>
          </ac:spMkLst>
        </pc:spChg>
      </pc:sldChg>
      <pc:sldChg chg="modSp">
        <pc:chgData name="Ezzat Zalzala" userId="S::ezzat.zalzala@fib.iq::a3b4ceb4-4857-4e2e-aba8-c79f7de71e40" providerId="AD" clId="Web-{97AC7B0A-3FEA-4BBE-2E48-56A5D25668B0}" dt="2026-06-09T12:10:30.923" v="146" actId="20577"/>
        <pc:sldMkLst>
          <pc:docMk/>
          <pc:sldMk cId="1847028360" sldId="308"/>
        </pc:sldMkLst>
        <pc:spChg chg="mod">
          <ac:chgData name="Ezzat Zalzala" userId="S::ezzat.zalzala@fib.iq::a3b4ceb4-4857-4e2e-aba8-c79f7de71e40" providerId="AD" clId="Web-{97AC7B0A-3FEA-4BBE-2E48-56A5D25668B0}" dt="2026-06-09T12:09:54.344" v="125" actId="20577"/>
          <ac:spMkLst>
            <pc:docMk/>
            <pc:sldMk cId="1847028360" sldId="308"/>
            <ac:spMk id="11" creationId="{A9EE3033-ADB5-50CF-4BFC-73567864C1E5}"/>
          </ac:spMkLst>
        </pc:spChg>
        <pc:spChg chg="mod">
          <ac:chgData name="Ezzat Zalzala" userId="S::ezzat.zalzala@fib.iq::a3b4ceb4-4857-4e2e-aba8-c79f7de71e40" providerId="AD" clId="Web-{97AC7B0A-3FEA-4BBE-2E48-56A5D25668B0}" dt="2026-06-09T12:10:30.923" v="146" actId="20577"/>
          <ac:spMkLst>
            <pc:docMk/>
            <pc:sldMk cId="1847028360" sldId="308"/>
            <ac:spMk id="14" creationId="{C19AF632-D84A-0D86-5D34-DCA7170BE97E}"/>
          </ac:spMkLst>
        </pc:spChg>
      </pc:sldChg>
      <pc:sldChg chg="modSp">
        <pc:chgData name="Ezzat Zalzala" userId="S::ezzat.zalzala@fib.iq::a3b4ceb4-4857-4e2e-aba8-c79f7de71e40" providerId="AD" clId="Web-{97AC7B0A-3FEA-4BBE-2E48-56A5D25668B0}" dt="2026-06-09T12:11:45.691" v="156" actId="20577"/>
        <pc:sldMkLst>
          <pc:docMk/>
          <pc:sldMk cId="281015074" sldId="319"/>
        </pc:sldMkLst>
        <pc:spChg chg="mod">
          <ac:chgData name="Ezzat Zalzala" userId="S::ezzat.zalzala@fib.iq::a3b4ceb4-4857-4e2e-aba8-c79f7de71e40" providerId="AD" clId="Web-{97AC7B0A-3FEA-4BBE-2E48-56A5D25668B0}" dt="2026-06-09T12:11:45.691" v="156" actId="20577"/>
          <ac:spMkLst>
            <pc:docMk/>
            <pc:sldMk cId="281015074" sldId="319"/>
            <ac:spMk id="6" creationId="{8B335DAE-DEE8-8B2F-FDB0-BD9C7E22B81C}"/>
          </ac:spMkLst>
        </pc:spChg>
      </pc:sldChg>
      <pc:sldChg chg="modSp">
        <pc:chgData name="Ezzat Zalzala" userId="S::ezzat.zalzala@fib.iq::a3b4ceb4-4857-4e2e-aba8-c79f7de71e40" providerId="AD" clId="Web-{97AC7B0A-3FEA-4BBE-2E48-56A5D25668B0}" dt="2026-06-09T12:13:56.899" v="219" actId="20577"/>
        <pc:sldMkLst>
          <pc:docMk/>
          <pc:sldMk cId="1928330992" sldId="320"/>
        </pc:sldMkLst>
        <pc:spChg chg="mod">
          <ac:chgData name="Ezzat Zalzala" userId="S::ezzat.zalzala@fib.iq::a3b4ceb4-4857-4e2e-aba8-c79f7de71e40" providerId="AD" clId="Web-{97AC7B0A-3FEA-4BBE-2E48-56A5D25668B0}" dt="2026-06-09T12:13:56.899" v="219" actId="20577"/>
          <ac:spMkLst>
            <pc:docMk/>
            <pc:sldMk cId="1928330992" sldId="320"/>
            <ac:spMk id="11" creationId="{F83BE953-A3A0-23FC-91F4-3E026C0BEC61}"/>
          </ac:spMkLst>
        </pc:spChg>
        <pc:spChg chg="mod">
          <ac:chgData name="Ezzat Zalzala" userId="S::ezzat.zalzala@fib.iq::a3b4ceb4-4857-4e2e-aba8-c79f7de71e40" providerId="AD" clId="Web-{97AC7B0A-3FEA-4BBE-2E48-56A5D25668B0}" dt="2026-06-09T12:12:10.880" v="169" actId="20577"/>
          <ac:spMkLst>
            <pc:docMk/>
            <pc:sldMk cId="1928330992" sldId="320"/>
            <ac:spMk id="14" creationId="{B1AD4410-6C03-8BBB-F590-45D7E0EB3C5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pn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pn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pn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pn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pn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pn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pn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995797" y="5351670"/>
            <a:ext cx="7438368" cy="8235336"/>
          </a:xfrm>
          <a:prstGeom prst="rect">
            <a:avLst/>
          </a:prstGeom>
        </p:spPr>
        <p:txBody>
          <a:bodyPr lIns="50800" tIns="50800" rIns="50800" bIns="50800" rtlCol="0" anchor="ctr"/>
          <a:lstStyle/>
          <a:p>
            <a:pPr algn="ctr">
              <a:lnSpc>
                <a:spcPts val="2799"/>
              </a:lnSpc>
            </a:pPr>
            <a:endParaRPr/>
          </a:p>
        </p:txBody>
      </p:sp>
      <p:grpSp>
        <p:nvGrpSpPr>
          <p:cNvPr id="8" name="Group 8"/>
          <p:cNvGrpSpPr/>
          <p:nvPr/>
        </p:nvGrpSpPr>
        <p:grpSpPr>
          <a:xfrm>
            <a:off x="7028698" y="7064066"/>
            <a:ext cx="2716303" cy="752225"/>
            <a:chOff x="0" y="0"/>
            <a:chExt cx="715405" cy="198117"/>
          </a:xfrm>
        </p:grpSpPr>
        <p:sp>
          <p:nvSpPr>
            <p:cNvPr id="9" name="Freeform 9"/>
            <p:cNvSpPr/>
            <p:nvPr/>
          </p:nvSpPr>
          <p:spPr>
            <a:xfrm>
              <a:off x="0" y="0"/>
              <a:ext cx="715405" cy="198117"/>
            </a:xfrm>
            <a:custGeom>
              <a:avLst/>
              <a:gdLst/>
              <a:ahLst/>
              <a:cxnLst/>
              <a:rect l="l" t="t" r="r" b="b"/>
              <a:pathLst>
                <a:path w="715405" h="198117">
                  <a:moveTo>
                    <a:pt x="99058" y="0"/>
                  </a:moveTo>
                  <a:lnTo>
                    <a:pt x="616346" y="0"/>
                  </a:lnTo>
                  <a:cubicBezTo>
                    <a:pt x="642618" y="0"/>
                    <a:pt x="667814" y="10436"/>
                    <a:pt x="686391" y="29014"/>
                  </a:cubicBezTo>
                  <a:cubicBezTo>
                    <a:pt x="704968" y="47591"/>
                    <a:pt x="715405" y="72787"/>
                    <a:pt x="715405" y="99058"/>
                  </a:cubicBezTo>
                  <a:lnTo>
                    <a:pt x="715405" y="99058"/>
                  </a:lnTo>
                  <a:cubicBezTo>
                    <a:pt x="715405" y="153767"/>
                    <a:pt x="671055" y="198117"/>
                    <a:pt x="616346" y="198117"/>
                  </a:cubicBezTo>
                  <a:lnTo>
                    <a:pt x="99058" y="198117"/>
                  </a:lnTo>
                  <a:cubicBezTo>
                    <a:pt x="72787" y="198117"/>
                    <a:pt x="47591" y="187680"/>
                    <a:pt x="29014" y="169103"/>
                  </a:cubicBezTo>
                  <a:cubicBezTo>
                    <a:pt x="10436" y="150526"/>
                    <a:pt x="0" y="125330"/>
                    <a:pt x="0" y="99058"/>
                  </a:cubicBezTo>
                  <a:lnTo>
                    <a:pt x="0" y="99058"/>
                  </a:lnTo>
                  <a:cubicBezTo>
                    <a:pt x="0" y="72787"/>
                    <a:pt x="10436" y="47591"/>
                    <a:pt x="29014" y="29014"/>
                  </a:cubicBezTo>
                  <a:cubicBezTo>
                    <a:pt x="47591" y="10436"/>
                    <a:pt x="72787" y="0"/>
                    <a:pt x="99058" y="0"/>
                  </a:cubicBezTo>
                  <a:close/>
                </a:path>
              </a:pathLst>
            </a:custGeom>
            <a:solidFill>
              <a:srgbClr val="00A09A"/>
            </a:solidFill>
          </p:spPr>
          <p:txBody>
            <a:bodyPr/>
            <a:lstStyle/>
            <a:p>
              <a:endParaRPr lang="en-US"/>
            </a:p>
          </p:txBody>
        </p:sp>
        <p:sp>
          <p:nvSpPr>
            <p:cNvPr id="10" name="TextBox 10"/>
            <p:cNvSpPr txBox="1"/>
            <p:nvPr/>
          </p:nvSpPr>
          <p:spPr>
            <a:xfrm>
              <a:off x="0" y="-123825"/>
              <a:ext cx="715405" cy="321942"/>
            </a:xfrm>
            <a:prstGeom prst="rect">
              <a:avLst/>
            </a:prstGeom>
          </p:spPr>
          <p:txBody>
            <a:bodyPr lIns="50800" tIns="50800" rIns="50800" bIns="50800" rtlCol="0" anchor="ctr"/>
            <a:lstStyle/>
            <a:p>
              <a:pPr algn="ctr">
                <a:lnSpc>
                  <a:spcPts val="3910"/>
                </a:lnSpc>
              </a:pPr>
              <a:endParaRPr/>
            </a:p>
          </p:txBody>
        </p:sp>
      </p:grpSp>
      <p:sp>
        <p:nvSpPr>
          <p:cNvPr id="11" name="AutoShape 11"/>
          <p:cNvSpPr/>
          <p:nvPr/>
        </p:nvSpPr>
        <p:spPr>
          <a:xfrm>
            <a:off x="10153985" y="7459228"/>
            <a:ext cx="4407041" cy="0"/>
          </a:xfrm>
          <a:prstGeom prst="line">
            <a:avLst/>
          </a:prstGeom>
          <a:ln w="38100" cap="flat">
            <a:solidFill>
              <a:srgbClr val="00A09A"/>
            </a:solidFill>
            <a:prstDash val="solid"/>
            <a:headEnd type="none" w="sm" len="sm"/>
            <a:tailEnd type="arrow" w="med" len="sm"/>
          </a:ln>
        </p:spPr>
        <p:txBody>
          <a:bodyPr/>
          <a:lstStyle/>
          <a:p>
            <a:endParaRPr lang="en-US"/>
          </a:p>
        </p:txBody>
      </p:sp>
      <p:sp>
        <p:nvSpPr>
          <p:cNvPr id="15" name="Freeform 15"/>
          <p:cNvSpPr/>
          <p:nvPr/>
        </p:nvSpPr>
        <p:spPr>
          <a:xfrm>
            <a:off x="536944" y="714879"/>
            <a:ext cx="2342138" cy="1153696"/>
          </a:xfrm>
          <a:custGeom>
            <a:avLst/>
            <a:gdLst/>
            <a:ahLst/>
            <a:cxnLst/>
            <a:rect l="l" t="t" r="r" b="b"/>
            <a:pathLst>
              <a:path w="3112998" h="1463252">
                <a:moveTo>
                  <a:pt x="0" y="0"/>
                </a:moveTo>
                <a:lnTo>
                  <a:pt x="3112998" y="0"/>
                </a:lnTo>
                <a:lnTo>
                  <a:pt x="3112998" y="1463252"/>
                </a:lnTo>
                <a:lnTo>
                  <a:pt x="0" y="1463252"/>
                </a:lnTo>
                <a:lnTo>
                  <a:pt x="0" y="0"/>
                </a:lnTo>
                <a:close/>
              </a:path>
            </a:pathLst>
          </a:custGeom>
          <a:blipFill>
            <a:blip r:embed="rId2"/>
            <a:stretch>
              <a:fillRect/>
            </a:stretch>
          </a:blipFill>
        </p:spPr>
        <p:txBody>
          <a:bodyPr/>
          <a:lstStyle/>
          <a:p>
            <a:endParaRPr lang="en-US"/>
          </a:p>
        </p:txBody>
      </p:sp>
      <p:sp>
        <p:nvSpPr>
          <p:cNvPr id="16" name="TextBox 16"/>
          <p:cNvSpPr txBox="1"/>
          <p:nvPr/>
        </p:nvSpPr>
        <p:spPr>
          <a:xfrm>
            <a:off x="7028698" y="3997484"/>
            <a:ext cx="10535977" cy="946505"/>
          </a:xfrm>
          <a:prstGeom prst="rect">
            <a:avLst/>
          </a:prstGeom>
        </p:spPr>
        <p:txBody>
          <a:bodyPr lIns="0" tIns="0" rIns="0" bIns="0" rtlCol="0" anchor="t">
            <a:spAutoFit/>
          </a:bodyPr>
          <a:lstStyle/>
          <a:p>
            <a:pPr algn="l">
              <a:lnSpc>
                <a:spcPts val="6531"/>
              </a:lnSpc>
            </a:pPr>
            <a:r>
              <a:rPr lang="en-US" sz="6803" b="1">
                <a:solidFill>
                  <a:srgbClr val="00A09A"/>
                </a:solidFill>
                <a:latin typeface="Poppins Bold"/>
                <a:ea typeface="Poppins Bold"/>
                <a:cs typeface="Poppins Bold"/>
                <a:sym typeface="Poppins Bold"/>
              </a:rPr>
              <a:t>WEEKLY STATUS REPORT</a:t>
            </a:r>
          </a:p>
        </p:txBody>
      </p:sp>
      <p:sp>
        <p:nvSpPr>
          <p:cNvPr id="17" name="TextBox 17"/>
          <p:cNvSpPr txBox="1"/>
          <p:nvPr/>
        </p:nvSpPr>
        <p:spPr>
          <a:xfrm>
            <a:off x="7143392" y="7297285"/>
            <a:ext cx="2494647" cy="352461"/>
          </a:xfrm>
          <a:prstGeom prst="rect">
            <a:avLst/>
          </a:prstGeom>
        </p:spPr>
        <p:txBody>
          <a:bodyPr lIns="0" tIns="0" rIns="0" bIns="0" rtlCol="0" anchor="t">
            <a:spAutoFit/>
          </a:bodyPr>
          <a:lstStyle/>
          <a:p>
            <a:pPr algn="ctr">
              <a:lnSpc>
                <a:spcPts val="2401"/>
              </a:lnSpc>
            </a:pPr>
            <a:r>
              <a:rPr lang="en-US" sz="2501" b="1">
                <a:solidFill>
                  <a:srgbClr val="0A1E22"/>
                </a:solidFill>
                <a:latin typeface="Poppins Bold"/>
                <a:ea typeface="Poppins Bold"/>
                <a:cs typeface="Poppins Bold"/>
                <a:sym typeface="Poppins Bold"/>
              </a:rPr>
              <a:t>START NOW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430290" y="184171"/>
            <a:ext cx="5608081" cy="741613"/>
          </a:xfrm>
          <a:prstGeom prst="rect">
            <a:avLst/>
          </a:prstGeom>
        </p:spPr>
        <p:txBody>
          <a:bodyPr lIns="0" tIns="0" rIns="0" bIns="0" rtlCol="0" anchor="t">
            <a:spAutoFit/>
          </a:bodyPr>
          <a:lstStyle/>
          <a:p>
            <a:pPr algn="l">
              <a:lnSpc>
                <a:spcPts val="6299"/>
              </a:lnSpc>
              <a:spcBef>
                <a:spcPct val="0"/>
              </a:spcBef>
            </a:pPr>
            <a:r>
              <a:rPr lang="en-US" sz="4500" b="1">
                <a:solidFill>
                  <a:srgbClr val="03A39D"/>
                </a:solidFill>
                <a:latin typeface="Inter Bold"/>
                <a:ea typeface="Inter Bold"/>
                <a:cs typeface="Inter Bold"/>
                <a:sym typeface="Inter Bold"/>
              </a:rPr>
              <a:t>Ongoing</a:t>
            </a:r>
            <a:r>
              <a:rPr lang="en-US" sz="4500" b="1">
                <a:solidFill>
                  <a:srgbClr val="1C1818"/>
                </a:solidFill>
                <a:latin typeface="Inter Bold"/>
                <a:ea typeface="Inter Bold"/>
                <a:cs typeface="Inter Bold"/>
                <a:sym typeface="Inter Bold"/>
              </a:rPr>
              <a:t> PROJECTS</a:t>
            </a:r>
          </a:p>
        </p:txBody>
      </p:sp>
      <p:grpSp>
        <p:nvGrpSpPr>
          <p:cNvPr id="4" name="Group 4"/>
          <p:cNvGrpSpPr/>
          <p:nvPr/>
        </p:nvGrpSpPr>
        <p:grpSpPr>
          <a:xfrm>
            <a:off x="430290" y="1364146"/>
            <a:ext cx="4226259" cy="2518046"/>
            <a:chOff x="0" y="0"/>
            <a:chExt cx="1082051" cy="644696"/>
          </a:xfrm>
        </p:grpSpPr>
        <p:sp>
          <p:nvSpPr>
            <p:cNvPr id="5" name="Freeform 5"/>
            <p:cNvSpPr/>
            <p:nvPr/>
          </p:nvSpPr>
          <p:spPr>
            <a:xfrm>
              <a:off x="0" y="0"/>
              <a:ext cx="1082051" cy="644696"/>
            </a:xfrm>
            <a:custGeom>
              <a:avLst/>
              <a:gdLst/>
              <a:ahLst/>
              <a:cxnLst/>
              <a:rect l="l" t="t" r="r" b="b"/>
              <a:pathLst>
                <a:path w="1082051" h="644696">
                  <a:moveTo>
                    <a:pt x="20150" y="0"/>
                  </a:moveTo>
                  <a:lnTo>
                    <a:pt x="1061900" y="0"/>
                  </a:lnTo>
                  <a:cubicBezTo>
                    <a:pt x="1067244" y="0"/>
                    <a:pt x="1072370" y="2123"/>
                    <a:pt x="1076149" y="5902"/>
                  </a:cubicBezTo>
                  <a:cubicBezTo>
                    <a:pt x="1079928" y="9681"/>
                    <a:pt x="1082051" y="14806"/>
                    <a:pt x="1082051" y="20150"/>
                  </a:cubicBezTo>
                  <a:lnTo>
                    <a:pt x="1082051" y="624546"/>
                  </a:lnTo>
                  <a:cubicBezTo>
                    <a:pt x="1082051" y="629890"/>
                    <a:pt x="1079928" y="635015"/>
                    <a:pt x="1076149" y="638794"/>
                  </a:cubicBezTo>
                  <a:cubicBezTo>
                    <a:pt x="1072370" y="642573"/>
                    <a:pt x="1067244" y="644696"/>
                    <a:pt x="1061900" y="644696"/>
                  </a:cubicBezTo>
                  <a:lnTo>
                    <a:pt x="20150" y="644696"/>
                  </a:lnTo>
                  <a:cubicBezTo>
                    <a:pt x="14806" y="644696"/>
                    <a:pt x="9681" y="642573"/>
                    <a:pt x="5902" y="638794"/>
                  </a:cubicBezTo>
                  <a:cubicBezTo>
                    <a:pt x="2123" y="635015"/>
                    <a:pt x="0" y="629890"/>
                    <a:pt x="0" y="624546"/>
                  </a:cubicBezTo>
                  <a:lnTo>
                    <a:pt x="0" y="20150"/>
                  </a:lnTo>
                  <a:cubicBezTo>
                    <a:pt x="0" y="14806"/>
                    <a:pt x="2123" y="9681"/>
                    <a:pt x="5902" y="5902"/>
                  </a:cubicBezTo>
                  <a:cubicBezTo>
                    <a:pt x="9681" y="2123"/>
                    <a:pt x="14806" y="0"/>
                    <a:pt x="20150" y="0"/>
                  </a:cubicBezTo>
                  <a:close/>
                </a:path>
              </a:pathLst>
            </a:custGeom>
            <a:solidFill>
              <a:srgbClr val="E4E7E8"/>
            </a:solidFill>
            <a:ln cap="sq">
              <a:noFill/>
              <a:prstDash val="solid"/>
              <a:miter/>
            </a:ln>
          </p:spPr>
          <p:txBody>
            <a:bodyPr/>
            <a:lstStyle/>
            <a:p>
              <a:endParaRPr lang="en-US"/>
            </a:p>
          </p:txBody>
        </p:sp>
        <p:sp>
          <p:nvSpPr>
            <p:cNvPr id="6" name="TextBox 6"/>
            <p:cNvSpPr txBox="1"/>
            <p:nvPr/>
          </p:nvSpPr>
          <p:spPr>
            <a:xfrm>
              <a:off x="0" y="-28575"/>
              <a:ext cx="1082051" cy="673271"/>
            </a:xfrm>
            <a:prstGeom prst="rect">
              <a:avLst/>
            </a:prstGeom>
          </p:spPr>
          <p:txBody>
            <a:bodyPr lIns="50800" tIns="50800" rIns="50800" bIns="50800" rtlCol="0" anchor="t"/>
            <a:lstStyle/>
            <a:p>
              <a:pPr algn="ctr">
                <a:lnSpc>
                  <a:spcPts val="1679"/>
                </a:lnSpc>
              </a:pPr>
              <a:r>
                <a:rPr lang="en-US" sz="1200">
                  <a:solidFill>
                    <a:srgbClr val="03A39D"/>
                  </a:solidFill>
                  <a:latin typeface="Garet"/>
                  <a:ea typeface="Garet"/>
                  <a:cs typeface="Garet"/>
                  <a:sym typeface="Garet"/>
                </a:rPr>
                <a:t>IFRS9</a:t>
              </a:r>
            </a:p>
          </p:txBody>
        </p:sp>
      </p:grpSp>
      <p:grpSp>
        <p:nvGrpSpPr>
          <p:cNvPr id="7" name="Group 7"/>
          <p:cNvGrpSpPr/>
          <p:nvPr/>
        </p:nvGrpSpPr>
        <p:grpSpPr>
          <a:xfrm>
            <a:off x="4855070" y="1364146"/>
            <a:ext cx="4226259" cy="2518046"/>
            <a:chOff x="0" y="0"/>
            <a:chExt cx="1082051" cy="644696"/>
          </a:xfrm>
        </p:grpSpPr>
        <p:sp>
          <p:nvSpPr>
            <p:cNvPr id="8" name="Freeform 8"/>
            <p:cNvSpPr/>
            <p:nvPr/>
          </p:nvSpPr>
          <p:spPr>
            <a:xfrm>
              <a:off x="0" y="0"/>
              <a:ext cx="1082051" cy="644696"/>
            </a:xfrm>
            <a:custGeom>
              <a:avLst/>
              <a:gdLst/>
              <a:ahLst/>
              <a:cxnLst/>
              <a:rect l="l" t="t" r="r" b="b"/>
              <a:pathLst>
                <a:path w="1082051" h="644696">
                  <a:moveTo>
                    <a:pt x="20150" y="0"/>
                  </a:moveTo>
                  <a:lnTo>
                    <a:pt x="1061900" y="0"/>
                  </a:lnTo>
                  <a:cubicBezTo>
                    <a:pt x="1067244" y="0"/>
                    <a:pt x="1072370" y="2123"/>
                    <a:pt x="1076149" y="5902"/>
                  </a:cubicBezTo>
                  <a:cubicBezTo>
                    <a:pt x="1079928" y="9681"/>
                    <a:pt x="1082051" y="14806"/>
                    <a:pt x="1082051" y="20150"/>
                  </a:cubicBezTo>
                  <a:lnTo>
                    <a:pt x="1082051" y="624546"/>
                  </a:lnTo>
                  <a:cubicBezTo>
                    <a:pt x="1082051" y="629890"/>
                    <a:pt x="1079928" y="635015"/>
                    <a:pt x="1076149" y="638794"/>
                  </a:cubicBezTo>
                  <a:cubicBezTo>
                    <a:pt x="1072370" y="642573"/>
                    <a:pt x="1067244" y="644696"/>
                    <a:pt x="1061900" y="644696"/>
                  </a:cubicBezTo>
                  <a:lnTo>
                    <a:pt x="20150" y="644696"/>
                  </a:lnTo>
                  <a:cubicBezTo>
                    <a:pt x="14806" y="644696"/>
                    <a:pt x="9681" y="642573"/>
                    <a:pt x="5902" y="638794"/>
                  </a:cubicBezTo>
                  <a:cubicBezTo>
                    <a:pt x="2123" y="635015"/>
                    <a:pt x="0" y="629890"/>
                    <a:pt x="0" y="624546"/>
                  </a:cubicBezTo>
                  <a:lnTo>
                    <a:pt x="0" y="20150"/>
                  </a:lnTo>
                  <a:cubicBezTo>
                    <a:pt x="0" y="14806"/>
                    <a:pt x="2123" y="9681"/>
                    <a:pt x="5902" y="5902"/>
                  </a:cubicBezTo>
                  <a:cubicBezTo>
                    <a:pt x="9681" y="2123"/>
                    <a:pt x="14806" y="0"/>
                    <a:pt x="20150" y="0"/>
                  </a:cubicBezTo>
                  <a:close/>
                </a:path>
              </a:pathLst>
            </a:custGeom>
            <a:solidFill>
              <a:srgbClr val="E4E7E8"/>
            </a:solidFill>
            <a:ln cap="sq">
              <a:noFill/>
              <a:prstDash val="solid"/>
              <a:miter/>
            </a:ln>
          </p:spPr>
          <p:txBody>
            <a:bodyPr/>
            <a:lstStyle/>
            <a:p>
              <a:endParaRPr lang="en-US"/>
            </a:p>
          </p:txBody>
        </p:sp>
        <p:sp>
          <p:nvSpPr>
            <p:cNvPr id="9" name="TextBox 9"/>
            <p:cNvSpPr txBox="1"/>
            <p:nvPr/>
          </p:nvSpPr>
          <p:spPr>
            <a:xfrm>
              <a:off x="0" y="-28575"/>
              <a:ext cx="1082051" cy="673271"/>
            </a:xfrm>
            <a:prstGeom prst="rect">
              <a:avLst/>
            </a:prstGeom>
          </p:spPr>
          <p:txBody>
            <a:bodyPr lIns="50800" tIns="50800" rIns="50800" bIns="50800" rtlCol="0" anchor="t"/>
            <a:lstStyle/>
            <a:p>
              <a:pPr algn="ctr">
                <a:lnSpc>
                  <a:spcPts val="1679"/>
                </a:lnSpc>
              </a:pPr>
              <a:r>
                <a:rPr lang="en-US" sz="1200">
                  <a:solidFill>
                    <a:srgbClr val="03A39D"/>
                  </a:solidFill>
                  <a:latin typeface="Garet"/>
                  <a:ea typeface="Garet"/>
                  <a:cs typeface="Garet"/>
                  <a:sym typeface="Garet"/>
                </a:rPr>
                <a:t>CLIENT RISK RATING</a:t>
              </a:r>
            </a:p>
          </p:txBody>
        </p:sp>
      </p:grpSp>
      <p:sp>
        <p:nvSpPr>
          <p:cNvPr id="10" name="AutoShape 10"/>
          <p:cNvSpPr/>
          <p:nvPr/>
        </p:nvSpPr>
        <p:spPr>
          <a:xfrm>
            <a:off x="884614" y="1760663"/>
            <a:ext cx="3244715" cy="0"/>
          </a:xfrm>
          <a:prstGeom prst="line">
            <a:avLst/>
          </a:prstGeom>
          <a:ln w="9525" cap="flat">
            <a:solidFill>
              <a:srgbClr val="000000"/>
            </a:solidFill>
            <a:prstDash val="solid"/>
            <a:headEnd type="none" w="sm" len="sm"/>
            <a:tailEnd type="none" w="sm" len="sm"/>
          </a:ln>
        </p:spPr>
        <p:txBody>
          <a:bodyPr/>
          <a:lstStyle/>
          <a:p>
            <a:endParaRPr lang="en-US"/>
          </a:p>
        </p:txBody>
      </p:sp>
      <p:sp>
        <p:nvSpPr>
          <p:cNvPr id="11" name="AutoShape 11"/>
          <p:cNvSpPr/>
          <p:nvPr/>
        </p:nvSpPr>
        <p:spPr>
          <a:xfrm>
            <a:off x="5345842" y="1760663"/>
            <a:ext cx="3244715" cy="0"/>
          </a:xfrm>
          <a:prstGeom prst="line">
            <a:avLst/>
          </a:prstGeom>
          <a:ln w="9525" cap="flat">
            <a:solidFill>
              <a:srgbClr val="000000"/>
            </a:solidFill>
            <a:prstDash val="solid"/>
            <a:headEnd type="none" w="sm" len="sm"/>
            <a:tailEnd type="none" w="sm" len="sm"/>
          </a:ln>
        </p:spPr>
        <p:txBody>
          <a:bodyPr/>
          <a:lstStyle/>
          <a:p>
            <a:endParaRPr lang="en-US"/>
          </a:p>
        </p:txBody>
      </p:sp>
      <p:sp>
        <p:nvSpPr>
          <p:cNvPr id="12" name="TextBox 12"/>
          <p:cNvSpPr txBox="1"/>
          <p:nvPr/>
        </p:nvSpPr>
        <p:spPr>
          <a:xfrm>
            <a:off x="430290" y="1851618"/>
            <a:ext cx="4226259" cy="2044791"/>
          </a:xfrm>
          <a:prstGeom prst="rect">
            <a:avLst/>
          </a:prstGeom>
        </p:spPr>
        <p:txBody>
          <a:bodyPr lIns="0" tIns="0" rIns="0" bIns="0" rtlCol="0" anchor="t">
            <a:spAutoFit/>
          </a:bodyPr>
          <a:lstStyle/>
          <a:p>
            <a:pPr marL="253365" lvl="1" indent="-126365" algn="l">
              <a:lnSpc>
                <a:spcPts val="1646"/>
              </a:lnSpc>
              <a:buFont typeface="Arial"/>
              <a:buChar char="•"/>
            </a:pPr>
            <a:r>
              <a:rPr lang="en-US" sz="1150" b="1">
                <a:solidFill>
                  <a:srgbClr val="000000"/>
                </a:solidFill>
                <a:latin typeface="Garet Bold"/>
                <a:ea typeface="Garet Bold"/>
                <a:cs typeface="Garet Bold"/>
                <a:sym typeface="Garet Bold"/>
              </a:rPr>
              <a:t>VENDOR:</a:t>
            </a:r>
            <a:r>
              <a:rPr lang="en-US" sz="1150">
                <a:solidFill>
                  <a:srgbClr val="000000"/>
                </a:solidFill>
                <a:latin typeface="Garet"/>
                <a:ea typeface="Garet"/>
                <a:cs typeface="Garet"/>
                <a:sym typeface="Garet"/>
              </a:rPr>
              <a:t> PIO-TECH</a:t>
            </a:r>
            <a:endParaRPr lang="en-US" sz="1150"/>
          </a:p>
          <a:p>
            <a:pPr marL="253365" lvl="1" indent="-126365" algn="l">
              <a:lnSpc>
                <a:spcPts val="1646"/>
              </a:lnSpc>
              <a:buFont typeface="Arial"/>
              <a:buChar char="•"/>
            </a:pPr>
            <a:r>
              <a:rPr lang="en-US" sz="1150" b="1">
                <a:solidFill>
                  <a:srgbClr val="000000"/>
                </a:solidFill>
                <a:latin typeface="Garet Bold"/>
                <a:ea typeface="Garet Bold"/>
                <a:cs typeface="Garet Bold"/>
                <a:sym typeface="Garet Bold"/>
              </a:rPr>
              <a:t>BUSINESS OWNER:</a:t>
            </a:r>
            <a:r>
              <a:rPr lang="en-US" sz="1150">
                <a:solidFill>
                  <a:srgbClr val="000000"/>
                </a:solidFill>
                <a:latin typeface="Garet"/>
                <a:ea typeface="Garet"/>
                <a:cs typeface="Garet"/>
                <a:sym typeface="Garet"/>
              </a:rPr>
              <a:t> FALAH KOKASH</a:t>
            </a:r>
            <a:endParaRPr lang="en-US" sz="1150">
              <a:solidFill>
                <a:srgbClr val="000000"/>
              </a:solidFill>
              <a:latin typeface="Garet"/>
              <a:ea typeface="Garet"/>
              <a:cs typeface="Garet"/>
            </a:endParaRPr>
          </a:p>
          <a:p>
            <a:pPr marL="253365" lvl="1" indent="-126365" algn="l">
              <a:lnSpc>
                <a:spcPts val="1646"/>
              </a:lnSpc>
              <a:spcBef>
                <a:spcPct val="0"/>
              </a:spcBef>
              <a:buFont typeface="Arial"/>
              <a:buChar char="•"/>
            </a:pPr>
            <a:r>
              <a:rPr lang="en-US" sz="1150" b="1">
                <a:solidFill>
                  <a:srgbClr val="000000"/>
                </a:solidFill>
                <a:latin typeface="Garet Bold"/>
                <a:ea typeface="Garet Bold"/>
                <a:cs typeface="Garet Bold"/>
                <a:sym typeface="Garet Bold"/>
              </a:rPr>
              <a:t>PERCENT COMPLETE:</a:t>
            </a:r>
            <a:r>
              <a:rPr lang="en-US" sz="1150">
                <a:solidFill>
                  <a:srgbClr val="000000"/>
                </a:solidFill>
                <a:latin typeface="Garet"/>
                <a:ea typeface="Garet"/>
                <a:cs typeface="Garet"/>
                <a:sym typeface="Garet"/>
              </a:rPr>
              <a:t> 60 %</a:t>
            </a:r>
            <a:endParaRPr lang="en-US" sz="1150">
              <a:solidFill>
                <a:srgbClr val="000000"/>
              </a:solidFill>
              <a:latin typeface="Garet"/>
              <a:ea typeface="Garet"/>
              <a:cs typeface="Garet"/>
            </a:endParaRPr>
          </a:p>
          <a:p>
            <a:pPr marL="253365" lvl="1" indent="-126365" algn="l">
              <a:lnSpc>
                <a:spcPts val="1646"/>
              </a:lnSpc>
              <a:spcBef>
                <a:spcPct val="0"/>
              </a:spcBef>
              <a:buFont typeface="Arial"/>
              <a:buChar char="•"/>
            </a:pPr>
            <a:r>
              <a:rPr lang="en-US" sz="1150" b="1">
                <a:solidFill>
                  <a:srgbClr val="000000"/>
                </a:solidFill>
                <a:latin typeface="Garet Bold"/>
                <a:ea typeface="Garet Bold"/>
                <a:cs typeface="Garet Bold"/>
                <a:sym typeface="Garet Bold"/>
              </a:rPr>
              <a:t>BUDGET STATUS:</a:t>
            </a:r>
            <a:r>
              <a:rPr lang="en-US" sz="1150">
                <a:solidFill>
                  <a:srgbClr val="000000"/>
                </a:solidFill>
                <a:latin typeface="Garet"/>
                <a:ea typeface="Garet"/>
                <a:cs typeface="Garet"/>
                <a:sym typeface="Garet"/>
              </a:rPr>
              <a:t> ON BUDGET</a:t>
            </a:r>
            <a:endParaRPr lang="en-US" sz="1150">
              <a:solidFill>
                <a:srgbClr val="000000"/>
              </a:solidFill>
              <a:latin typeface="Garet"/>
              <a:ea typeface="Garet"/>
              <a:cs typeface="Garet"/>
            </a:endParaRPr>
          </a:p>
          <a:p>
            <a:pPr marL="253365" lvl="1" indent="-126365" algn="l">
              <a:lnSpc>
                <a:spcPts val="1646"/>
              </a:lnSpc>
              <a:spcBef>
                <a:spcPct val="0"/>
              </a:spcBef>
              <a:buFont typeface="Arial"/>
              <a:buChar char="•"/>
            </a:pPr>
            <a:r>
              <a:rPr lang="en-US" sz="1150" b="1">
                <a:solidFill>
                  <a:srgbClr val="000000"/>
                </a:solidFill>
                <a:latin typeface="Garet Bold"/>
                <a:ea typeface="Garet Bold"/>
                <a:cs typeface="Garet Bold"/>
                <a:sym typeface="Garet Bold"/>
              </a:rPr>
              <a:t>TIMELINE:</a:t>
            </a:r>
            <a:r>
              <a:rPr lang="en-US" sz="1150">
                <a:solidFill>
                  <a:srgbClr val="000000"/>
                </a:solidFill>
                <a:latin typeface="Garet"/>
                <a:ea typeface="Garet"/>
                <a:cs typeface="Garet"/>
                <a:sym typeface="Garet"/>
              </a:rPr>
              <a:t> </a:t>
            </a:r>
            <a:r>
              <a:rPr lang="en-US" sz="1150" b="1">
                <a:solidFill>
                  <a:srgbClr val="FF3131"/>
                </a:solidFill>
                <a:latin typeface="Garet Bold"/>
                <a:ea typeface="Garet Bold"/>
                <a:cs typeface="Garet Bold"/>
                <a:sym typeface="Garet Bold"/>
              </a:rPr>
              <a:t>DELAYED</a:t>
            </a:r>
            <a:endParaRPr lang="en-US" sz="1150" b="1">
              <a:solidFill>
                <a:srgbClr val="FF3131"/>
              </a:solidFill>
              <a:latin typeface="Garet Bold"/>
              <a:ea typeface="Garet Bold"/>
              <a:cs typeface="Garet Bold"/>
            </a:endParaRPr>
          </a:p>
          <a:p>
            <a:pPr marL="253365" lvl="1" indent="-126365">
              <a:lnSpc>
                <a:spcPts val="1646"/>
              </a:lnSpc>
              <a:spcBef>
                <a:spcPct val="0"/>
              </a:spcBef>
              <a:buFont typeface="Arial"/>
              <a:buChar char="•"/>
            </a:pPr>
            <a:r>
              <a:rPr lang="en-US" sz="1150" b="1">
                <a:solidFill>
                  <a:srgbClr val="000000"/>
                </a:solidFill>
                <a:latin typeface="Garet Bold"/>
                <a:ea typeface="Garet Bold"/>
                <a:cs typeface="Garet Bold"/>
                <a:sym typeface="Garet Bold"/>
              </a:rPr>
              <a:t>KEY MILESTONES ACHIEVED:</a:t>
            </a:r>
            <a:r>
              <a:rPr lang="en-US" sz="1150">
                <a:solidFill>
                  <a:srgbClr val="000000"/>
                </a:solidFill>
                <a:latin typeface="Garet"/>
                <a:ea typeface="Garet Bold"/>
                <a:cs typeface="Garet Bold"/>
                <a:sym typeface="Garet"/>
              </a:rPr>
              <a:t> </a:t>
            </a:r>
            <a:r>
              <a:rPr lang="en-US" sz="1150">
                <a:solidFill>
                  <a:srgbClr val="000000"/>
                </a:solidFill>
                <a:latin typeface="Garet"/>
                <a:ea typeface="+mn-lt"/>
                <a:cs typeface="+mn-lt"/>
                <a:sym typeface="Garet"/>
              </a:rPr>
              <a:t>Provide </a:t>
            </a:r>
            <a:r>
              <a:rPr lang="en-US" sz="1150">
                <a:solidFill>
                  <a:srgbClr val="000000"/>
                </a:solidFill>
                <a:latin typeface="Garet"/>
                <a:ea typeface="Calibri"/>
                <a:cs typeface="Calibri"/>
              </a:rPr>
              <a:t>Pio-Tech with a DB Link with DWH</a:t>
            </a:r>
          </a:p>
          <a:p>
            <a:pPr marL="755650" lvl="1" indent="-171450">
              <a:lnSpc>
                <a:spcPts val="1646"/>
              </a:lnSpc>
              <a:spcBef>
                <a:spcPct val="0"/>
              </a:spcBef>
              <a:buFont typeface="Arial"/>
              <a:buChar char="•"/>
            </a:pPr>
            <a:r>
              <a:rPr lang="en-US" sz="1150" b="1">
                <a:solidFill>
                  <a:srgbClr val="000000"/>
                </a:solidFill>
                <a:latin typeface="Garet"/>
                <a:ea typeface="Calibri"/>
                <a:cs typeface="Calibri"/>
              </a:rPr>
              <a:t>Action Item:</a:t>
            </a:r>
            <a:r>
              <a:rPr lang="en-US" sz="1150">
                <a:solidFill>
                  <a:srgbClr val="000000"/>
                </a:solidFill>
                <a:latin typeface="Garet"/>
                <a:ea typeface="Calibri"/>
                <a:cs typeface="Calibri"/>
              </a:rPr>
              <a:t> Pio Tech Team to provide us with the reports to compare with </a:t>
            </a:r>
            <a:r>
              <a:rPr lang="en-US" sz="1150" err="1">
                <a:solidFill>
                  <a:srgbClr val="000000"/>
                </a:solidFill>
                <a:latin typeface="Garet"/>
                <a:ea typeface="Calibri"/>
                <a:cs typeface="Calibri"/>
              </a:rPr>
              <a:t>Mr</a:t>
            </a:r>
            <a:r>
              <a:rPr lang="en-US" sz="1150">
                <a:solidFill>
                  <a:srgbClr val="000000"/>
                </a:solidFill>
                <a:latin typeface="Garet"/>
                <a:ea typeface="Calibri"/>
                <a:cs typeface="Calibri"/>
              </a:rPr>
              <a:t> Falah files</a:t>
            </a:r>
            <a:endParaRPr lang="en-US" sz="1150">
              <a:solidFill>
                <a:srgbClr val="000000"/>
              </a:solidFill>
              <a:latin typeface="Calibri"/>
              <a:ea typeface="Calibri"/>
              <a:cs typeface="Calibri"/>
            </a:endParaRPr>
          </a:p>
          <a:p>
            <a:pPr marL="253365" lvl="1" indent="-126365">
              <a:lnSpc>
                <a:spcPts val="1646"/>
              </a:lnSpc>
              <a:spcBef>
                <a:spcPct val="0"/>
              </a:spcBef>
              <a:buFont typeface="Arial"/>
              <a:buChar char="•"/>
            </a:pPr>
            <a:endParaRPr lang="en-US" sz="1150">
              <a:solidFill>
                <a:srgbClr val="000000"/>
              </a:solidFill>
              <a:latin typeface="Garet"/>
              <a:ea typeface="Calibri"/>
              <a:cs typeface="Calibri"/>
            </a:endParaRPr>
          </a:p>
        </p:txBody>
      </p:sp>
      <p:sp>
        <p:nvSpPr>
          <p:cNvPr id="13" name="TextBox 13"/>
          <p:cNvSpPr txBox="1"/>
          <p:nvPr/>
        </p:nvSpPr>
        <p:spPr>
          <a:xfrm>
            <a:off x="4855070" y="1839058"/>
            <a:ext cx="4289061" cy="2150910"/>
          </a:xfrm>
          <a:prstGeom prst="rect">
            <a:avLst/>
          </a:prstGeom>
        </p:spPr>
        <p:txBody>
          <a:bodyPr wrap="square" lIns="0" tIns="0" rIns="0" bIns="0" rtlCol="0" anchor="t">
            <a:spAutoFit/>
          </a:bodyPr>
          <a:lstStyle/>
          <a:p>
            <a:pPr marL="253365" lvl="1" indent="-126365" algn="just">
              <a:lnSpc>
                <a:spcPts val="1646"/>
              </a:lnSpc>
              <a:buFont typeface="Arial"/>
              <a:buChar char="•"/>
            </a:pPr>
            <a:r>
              <a:rPr lang="en-US" sz="1150" b="1">
                <a:solidFill>
                  <a:srgbClr val="000000"/>
                </a:solidFill>
                <a:latin typeface="Garet Bold"/>
                <a:ea typeface="Garet Bold"/>
                <a:cs typeface="Garet Bold"/>
                <a:sym typeface="Garet Bold"/>
              </a:rPr>
              <a:t>VENDOR:</a:t>
            </a:r>
            <a:r>
              <a:rPr lang="en-US" sz="1150">
                <a:solidFill>
                  <a:srgbClr val="000000"/>
                </a:solidFill>
                <a:latin typeface="Garet"/>
                <a:ea typeface="Garet"/>
                <a:cs typeface="Garet"/>
                <a:sym typeface="Garet"/>
              </a:rPr>
              <a:t> ICSFS-BANKS</a:t>
            </a:r>
            <a:endParaRPr lang="en-US" sz="1150"/>
          </a:p>
          <a:p>
            <a:pPr marL="253365" lvl="1" indent="-126365" algn="just">
              <a:lnSpc>
                <a:spcPts val="1646"/>
              </a:lnSpc>
              <a:buFont typeface="Arial"/>
              <a:buChar char="•"/>
            </a:pPr>
            <a:r>
              <a:rPr lang="en-US" sz="1150" b="1">
                <a:solidFill>
                  <a:srgbClr val="000000"/>
                </a:solidFill>
                <a:latin typeface="Garet Bold"/>
                <a:ea typeface="Garet Bold"/>
                <a:cs typeface="Garet Bold"/>
                <a:sym typeface="Garet Bold"/>
              </a:rPr>
              <a:t>BUSINESS OWNER:</a:t>
            </a:r>
            <a:r>
              <a:rPr lang="en-US" sz="1150">
                <a:solidFill>
                  <a:srgbClr val="000000"/>
                </a:solidFill>
                <a:latin typeface="Garet"/>
                <a:ea typeface="Garet"/>
                <a:cs typeface="Garet"/>
                <a:sym typeface="Garet"/>
              </a:rPr>
              <a:t> SAHER ABDELHADI</a:t>
            </a:r>
            <a:endParaRPr lang="en-US" sz="1150">
              <a:solidFill>
                <a:srgbClr val="000000"/>
              </a:solidFill>
              <a:latin typeface="Garet"/>
              <a:ea typeface="Garet"/>
              <a:cs typeface="Garet"/>
            </a:endParaRPr>
          </a:p>
          <a:p>
            <a:pPr marL="253365" lvl="1" indent="-126365" algn="just">
              <a:lnSpc>
                <a:spcPts val="1646"/>
              </a:lnSpc>
              <a:buFont typeface="Arial"/>
              <a:buChar char="•"/>
            </a:pPr>
            <a:r>
              <a:rPr lang="en-US" sz="1150" b="1">
                <a:solidFill>
                  <a:srgbClr val="000000"/>
                </a:solidFill>
                <a:latin typeface="Garet Bold"/>
                <a:ea typeface="Garet Bold"/>
                <a:cs typeface="Garet Bold"/>
                <a:sym typeface="Garet Bold"/>
              </a:rPr>
              <a:t>Percent Complete:</a:t>
            </a:r>
            <a:r>
              <a:rPr lang="en-US" sz="1150">
                <a:solidFill>
                  <a:srgbClr val="000000"/>
                </a:solidFill>
                <a:latin typeface="Garet"/>
                <a:ea typeface="Garet"/>
                <a:cs typeface="Garet"/>
                <a:sym typeface="Garet"/>
              </a:rPr>
              <a:t> 96 %</a:t>
            </a:r>
            <a:endParaRPr lang="en-US" sz="1150">
              <a:solidFill>
                <a:srgbClr val="000000"/>
              </a:solidFill>
              <a:latin typeface="Garet"/>
              <a:ea typeface="Garet"/>
              <a:cs typeface="Garet"/>
            </a:endParaRPr>
          </a:p>
          <a:p>
            <a:pPr marL="253365" lvl="1" indent="-126365" algn="just">
              <a:lnSpc>
                <a:spcPts val="1646"/>
              </a:lnSpc>
              <a:buFont typeface="Arial"/>
              <a:buChar char="•"/>
            </a:pPr>
            <a:r>
              <a:rPr lang="en-US" sz="1150" b="1">
                <a:solidFill>
                  <a:srgbClr val="000000"/>
                </a:solidFill>
                <a:latin typeface="Garet Bold"/>
                <a:ea typeface="Garet Bold"/>
                <a:cs typeface="Garet Bold"/>
                <a:sym typeface="Garet Bold"/>
              </a:rPr>
              <a:t>Budget Status:</a:t>
            </a:r>
            <a:r>
              <a:rPr lang="en-US" sz="1150">
                <a:solidFill>
                  <a:srgbClr val="000000"/>
                </a:solidFill>
                <a:latin typeface="Garet"/>
                <a:ea typeface="Garet"/>
                <a:cs typeface="Garet"/>
                <a:sym typeface="Garet"/>
              </a:rPr>
              <a:t> on budget</a:t>
            </a:r>
            <a:endParaRPr lang="en-US" sz="1150">
              <a:solidFill>
                <a:srgbClr val="000000"/>
              </a:solidFill>
              <a:latin typeface="Garet"/>
              <a:ea typeface="Garet"/>
              <a:cs typeface="Garet"/>
            </a:endParaRPr>
          </a:p>
          <a:p>
            <a:pPr marL="253365" lvl="1" indent="-126365" algn="just">
              <a:lnSpc>
                <a:spcPts val="1646"/>
              </a:lnSpc>
              <a:buFont typeface="Arial"/>
              <a:buChar char="•"/>
            </a:pPr>
            <a:r>
              <a:rPr lang="en-US" sz="1150" b="1">
                <a:solidFill>
                  <a:srgbClr val="000000"/>
                </a:solidFill>
                <a:latin typeface="Garet Bold"/>
                <a:ea typeface="Garet Bold"/>
                <a:cs typeface="Garet Bold"/>
                <a:sym typeface="Garet Bold"/>
              </a:rPr>
              <a:t>Timeline:</a:t>
            </a:r>
            <a:r>
              <a:rPr lang="en-US" sz="1150">
                <a:solidFill>
                  <a:srgbClr val="000000"/>
                </a:solidFill>
                <a:latin typeface="Garet"/>
                <a:ea typeface="Garet"/>
                <a:cs typeface="Garet"/>
                <a:sym typeface="Garet"/>
              </a:rPr>
              <a:t> </a:t>
            </a:r>
            <a:r>
              <a:rPr lang="en-US" sz="1150" b="1">
                <a:solidFill>
                  <a:srgbClr val="00BF63"/>
                </a:solidFill>
                <a:latin typeface="Garet Bold"/>
                <a:ea typeface="Garet"/>
                <a:cs typeface="Garet"/>
                <a:sym typeface="Garet Bold"/>
              </a:rPr>
              <a:t>on-track</a:t>
            </a:r>
            <a:endParaRPr lang="en-US" sz="1150" b="1">
              <a:solidFill>
                <a:srgbClr val="00BF63"/>
              </a:solidFill>
              <a:latin typeface="Garet Bold"/>
              <a:ea typeface="Garet Bold"/>
              <a:cs typeface="Garet Bold"/>
            </a:endParaRPr>
          </a:p>
          <a:p>
            <a:pPr marL="253365" lvl="1" indent="-126365" algn="just">
              <a:lnSpc>
                <a:spcPts val="1646"/>
              </a:lnSpc>
              <a:buFont typeface="Arial"/>
              <a:buChar char="•"/>
            </a:pPr>
            <a:r>
              <a:rPr lang="en-US" sz="1150" b="1">
                <a:solidFill>
                  <a:srgbClr val="000000"/>
                </a:solidFill>
                <a:latin typeface="Garet Bold"/>
                <a:ea typeface="Garet Bold"/>
                <a:cs typeface="Garet Bold"/>
                <a:sym typeface="Garet Bold"/>
              </a:rPr>
              <a:t>Key Milestones achieved:</a:t>
            </a:r>
            <a:r>
              <a:rPr lang="en-US" sz="1150">
                <a:solidFill>
                  <a:srgbClr val="000000"/>
                </a:solidFill>
                <a:latin typeface="Garet"/>
                <a:ea typeface="Garet"/>
                <a:cs typeface="Garet"/>
                <a:sym typeface="Garet"/>
              </a:rPr>
              <a:t> Sign-off </a:t>
            </a:r>
            <a:endParaRPr lang="en-US" sz="1150">
              <a:solidFill>
                <a:srgbClr val="000000"/>
              </a:solidFill>
              <a:latin typeface="Garet"/>
              <a:ea typeface="Garet"/>
              <a:cs typeface="Garet"/>
            </a:endParaRPr>
          </a:p>
          <a:p>
            <a:pPr marL="457200">
              <a:buFont typeface="Arial"/>
              <a:buChar char="•"/>
            </a:pPr>
            <a:r>
              <a:rPr lang="en-US" sz="1150" b="1">
                <a:solidFill>
                  <a:srgbClr val="000000"/>
                </a:solidFill>
                <a:latin typeface="Garet Bold"/>
                <a:ea typeface="Garet Bold"/>
                <a:cs typeface="Garet Bold"/>
                <a:sym typeface="Garet Bold"/>
              </a:rPr>
              <a:t>ACTION ITEM:</a:t>
            </a:r>
            <a:r>
              <a:rPr lang="en-US" sz="1000">
                <a:solidFill>
                  <a:srgbClr val="000000"/>
                </a:solidFill>
                <a:latin typeface="Garet"/>
                <a:ea typeface="Garet"/>
                <a:cs typeface="Garet"/>
                <a:sym typeface="Garet"/>
              </a:rPr>
              <a:t> </a:t>
            </a:r>
            <a:r>
              <a:rPr lang="en-US" sz="1000">
                <a:solidFill>
                  <a:srgbClr val="000000"/>
                </a:solidFill>
                <a:latin typeface="Garet"/>
                <a:ea typeface="+mn-lt"/>
                <a:cs typeface="+mn-lt"/>
                <a:sym typeface="Garet"/>
              </a:rPr>
              <a:t>ICS to </a:t>
            </a:r>
            <a:r>
              <a:rPr lang="en-US" sz="1100">
                <a:solidFill>
                  <a:srgbClr val="000000"/>
                </a:solidFill>
                <a:latin typeface="Calibri"/>
                <a:ea typeface="+mn-lt"/>
                <a:cs typeface="+mn-lt"/>
                <a:sym typeface="Garet"/>
              </a:rPr>
              <a:t>correct:</a:t>
            </a:r>
            <a:r>
              <a:rPr lang="en-US" sz="1100">
                <a:solidFill>
                  <a:srgbClr val="000000"/>
                </a:solidFill>
                <a:ea typeface="+mn-lt"/>
                <a:cs typeface="+mn-lt"/>
                <a:sym typeface="Garet"/>
              </a:rPr>
              <a:t> the below 3 fields:</a:t>
            </a:r>
            <a:endParaRPr lang="en-US" sz="1000">
              <a:solidFill>
                <a:srgbClr val="000000"/>
              </a:solidFill>
              <a:latin typeface="Calibri"/>
              <a:ea typeface="+mn-lt"/>
              <a:cs typeface="+mn-lt"/>
              <a:sym typeface="Garet"/>
            </a:endParaRPr>
          </a:p>
          <a:p>
            <a:pPr lvl="1">
              <a:buFont typeface="Arial"/>
              <a:buChar char="•"/>
            </a:pPr>
            <a:r>
              <a:rPr lang="en-US" sz="1100">
                <a:solidFill>
                  <a:srgbClr val="000000"/>
                </a:solidFill>
                <a:ea typeface="+mn-lt"/>
                <a:cs typeface="+mn-lt"/>
                <a:sym typeface="Garet"/>
              </a:rPr>
              <a:t>Internal transfer, mobile bank transactions, variance of salary transactions.</a:t>
            </a:r>
            <a:endParaRPr lang="en-US">
              <a:sym typeface="Garet"/>
            </a:endParaRPr>
          </a:p>
          <a:p>
            <a:pPr marL="253365" lvl="1" indent="-126365">
              <a:lnSpc>
                <a:spcPts val="1646"/>
              </a:lnSpc>
              <a:buFont typeface="Arial"/>
              <a:buChar char="•"/>
            </a:pPr>
            <a:endParaRPr lang="en-US" sz="1000">
              <a:solidFill>
                <a:srgbClr val="000000"/>
              </a:solidFill>
              <a:latin typeface="Calibri"/>
              <a:ea typeface="Calibri"/>
              <a:cs typeface="Calibri"/>
            </a:endParaRPr>
          </a:p>
          <a:p>
            <a:pPr algn="just">
              <a:lnSpc>
                <a:spcPts val="1646"/>
              </a:lnSpc>
              <a:spcBef>
                <a:spcPct val="0"/>
              </a:spcBef>
            </a:pPr>
            <a:endParaRPr lang="en-US" sz="1175">
              <a:solidFill>
                <a:srgbClr val="000000"/>
              </a:solidFill>
              <a:latin typeface="Garet"/>
              <a:ea typeface="Garet"/>
              <a:cs typeface="Garet"/>
              <a:sym typeface="Garet"/>
            </a:endParaRPr>
          </a:p>
        </p:txBody>
      </p:sp>
      <p:grpSp>
        <p:nvGrpSpPr>
          <p:cNvPr id="14" name="Group 14"/>
          <p:cNvGrpSpPr/>
          <p:nvPr/>
        </p:nvGrpSpPr>
        <p:grpSpPr>
          <a:xfrm>
            <a:off x="430290" y="4344124"/>
            <a:ext cx="4226259" cy="2703250"/>
            <a:chOff x="0" y="0"/>
            <a:chExt cx="1082051" cy="692114"/>
          </a:xfrm>
        </p:grpSpPr>
        <p:sp>
          <p:nvSpPr>
            <p:cNvPr id="15" name="Freeform 15"/>
            <p:cNvSpPr/>
            <p:nvPr/>
          </p:nvSpPr>
          <p:spPr>
            <a:xfrm>
              <a:off x="0" y="0"/>
              <a:ext cx="1082051" cy="692114"/>
            </a:xfrm>
            <a:custGeom>
              <a:avLst/>
              <a:gdLst/>
              <a:ahLst/>
              <a:cxnLst/>
              <a:rect l="l" t="t" r="r" b="b"/>
              <a:pathLst>
                <a:path w="1082051" h="692114">
                  <a:moveTo>
                    <a:pt x="20150" y="0"/>
                  </a:moveTo>
                  <a:lnTo>
                    <a:pt x="1061900" y="0"/>
                  </a:lnTo>
                  <a:cubicBezTo>
                    <a:pt x="1067244" y="0"/>
                    <a:pt x="1072370" y="2123"/>
                    <a:pt x="1076149" y="5902"/>
                  </a:cubicBezTo>
                  <a:cubicBezTo>
                    <a:pt x="1079928" y="9681"/>
                    <a:pt x="1082051" y="14806"/>
                    <a:pt x="1082051" y="20150"/>
                  </a:cubicBezTo>
                  <a:lnTo>
                    <a:pt x="1082051" y="671964"/>
                  </a:lnTo>
                  <a:cubicBezTo>
                    <a:pt x="1082051" y="677308"/>
                    <a:pt x="1079928" y="682433"/>
                    <a:pt x="1076149" y="686212"/>
                  </a:cubicBezTo>
                  <a:cubicBezTo>
                    <a:pt x="1072370" y="689991"/>
                    <a:pt x="1067244" y="692114"/>
                    <a:pt x="1061900" y="692114"/>
                  </a:cubicBezTo>
                  <a:lnTo>
                    <a:pt x="20150" y="692114"/>
                  </a:lnTo>
                  <a:cubicBezTo>
                    <a:pt x="14806" y="692114"/>
                    <a:pt x="9681" y="689991"/>
                    <a:pt x="5902" y="686212"/>
                  </a:cubicBezTo>
                  <a:cubicBezTo>
                    <a:pt x="2123" y="682433"/>
                    <a:pt x="0" y="677308"/>
                    <a:pt x="0" y="671964"/>
                  </a:cubicBezTo>
                  <a:lnTo>
                    <a:pt x="0" y="20150"/>
                  </a:lnTo>
                  <a:cubicBezTo>
                    <a:pt x="0" y="14806"/>
                    <a:pt x="2123" y="9681"/>
                    <a:pt x="5902" y="5902"/>
                  </a:cubicBezTo>
                  <a:cubicBezTo>
                    <a:pt x="9681" y="2123"/>
                    <a:pt x="14806" y="0"/>
                    <a:pt x="20150" y="0"/>
                  </a:cubicBezTo>
                  <a:close/>
                </a:path>
              </a:pathLst>
            </a:custGeom>
            <a:solidFill>
              <a:srgbClr val="E4E7E8"/>
            </a:solidFill>
            <a:ln cap="sq">
              <a:noFill/>
              <a:prstDash val="solid"/>
              <a:miter/>
            </a:ln>
          </p:spPr>
          <p:txBody>
            <a:bodyPr/>
            <a:lstStyle/>
            <a:p>
              <a:endParaRPr lang="en-US"/>
            </a:p>
          </p:txBody>
        </p:sp>
        <p:sp>
          <p:nvSpPr>
            <p:cNvPr id="16" name="TextBox 16"/>
            <p:cNvSpPr txBox="1"/>
            <p:nvPr/>
          </p:nvSpPr>
          <p:spPr>
            <a:xfrm>
              <a:off x="0" y="-28575"/>
              <a:ext cx="1082051" cy="720689"/>
            </a:xfrm>
            <a:prstGeom prst="rect">
              <a:avLst/>
            </a:prstGeom>
          </p:spPr>
          <p:txBody>
            <a:bodyPr lIns="50800" tIns="50800" rIns="50800" bIns="50800" rtlCol="0" anchor="t"/>
            <a:lstStyle/>
            <a:p>
              <a:pPr algn="ctr"/>
              <a:r>
                <a:rPr lang="en-US" sz="1200">
                  <a:solidFill>
                    <a:srgbClr val="03A39D"/>
                  </a:solidFill>
                  <a:latin typeface="Garet"/>
                  <a:sym typeface="Garet"/>
                </a:rPr>
                <a:t>Project Name</a:t>
              </a:r>
              <a:endParaRPr lang="en-US" sz="1200">
                <a:solidFill>
                  <a:srgbClr val="000000"/>
                </a:solidFill>
                <a:latin typeface="Garet"/>
                <a:sym typeface="Garet"/>
              </a:endParaRPr>
            </a:p>
          </p:txBody>
        </p:sp>
      </p:grpSp>
      <p:grpSp>
        <p:nvGrpSpPr>
          <p:cNvPr id="17" name="Group 17"/>
          <p:cNvGrpSpPr/>
          <p:nvPr/>
        </p:nvGrpSpPr>
        <p:grpSpPr>
          <a:xfrm>
            <a:off x="4855070" y="4344124"/>
            <a:ext cx="4226259" cy="2703250"/>
            <a:chOff x="0" y="0"/>
            <a:chExt cx="1082051" cy="692114"/>
          </a:xfrm>
        </p:grpSpPr>
        <p:sp>
          <p:nvSpPr>
            <p:cNvPr id="18" name="Freeform 18"/>
            <p:cNvSpPr/>
            <p:nvPr/>
          </p:nvSpPr>
          <p:spPr>
            <a:xfrm>
              <a:off x="0" y="0"/>
              <a:ext cx="1082051" cy="692114"/>
            </a:xfrm>
            <a:custGeom>
              <a:avLst/>
              <a:gdLst/>
              <a:ahLst/>
              <a:cxnLst/>
              <a:rect l="l" t="t" r="r" b="b"/>
              <a:pathLst>
                <a:path w="1082051" h="692114">
                  <a:moveTo>
                    <a:pt x="20150" y="0"/>
                  </a:moveTo>
                  <a:lnTo>
                    <a:pt x="1061900" y="0"/>
                  </a:lnTo>
                  <a:cubicBezTo>
                    <a:pt x="1067244" y="0"/>
                    <a:pt x="1072370" y="2123"/>
                    <a:pt x="1076149" y="5902"/>
                  </a:cubicBezTo>
                  <a:cubicBezTo>
                    <a:pt x="1079928" y="9681"/>
                    <a:pt x="1082051" y="14806"/>
                    <a:pt x="1082051" y="20150"/>
                  </a:cubicBezTo>
                  <a:lnTo>
                    <a:pt x="1082051" y="671964"/>
                  </a:lnTo>
                  <a:cubicBezTo>
                    <a:pt x="1082051" y="677308"/>
                    <a:pt x="1079928" y="682433"/>
                    <a:pt x="1076149" y="686212"/>
                  </a:cubicBezTo>
                  <a:cubicBezTo>
                    <a:pt x="1072370" y="689991"/>
                    <a:pt x="1067244" y="692114"/>
                    <a:pt x="1061900" y="692114"/>
                  </a:cubicBezTo>
                  <a:lnTo>
                    <a:pt x="20150" y="692114"/>
                  </a:lnTo>
                  <a:cubicBezTo>
                    <a:pt x="14806" y="692114"/>
                    <a:pt x="9681" y="689991"/>
                    <a:pt x="5902" y="686212"/>
                  </a:cubicBezTo>
                  <a:cubicBezTo>
                    <a:pt x="2123" y="682433"/>
                    <a:pt x="0" y="677308"/>
                    <a:pt x="0" y="671964"/>
                  </a:cubicBezTo>
                  <a:lnTo>
                    <a:pt x="0" y="20150"/>
                  </a:lnTo>
                  <a:cubicBezTo>
                    <a:pt x="0" y="14806"/>
                    <a:pt x="2123" y="9681"/>
                    <a:pt x="5902" y="5902"/>
                  </a:cubicBezTo>
                  <a:cubicBezTo>
                    <a:pt x="9681" y="2123"/>
                    <a:pt x="14806" y="0"/>
                    <a:pt x="20150" y="0"/>
                  </a:cubicBezTo>
                  <a:close/>
                </a:path>
              </a:pathLst>
            </a:custGeom>
            <a:solidFill>
              <a:srgbClr val="E4E7E8"/>
            </a:solidFill>
            <a:ln cap="sq">
              <a:noFill/>
              <a:prstDash val="solid"/>
              <a:miter/>
            </a:ln>
          </p:spPr>
          <p:txBody>
            <a:bodyPr/>
            <a:lstStyle/>
            <a:p>
              <a:endParaRPr lang="en-US"/>
            </a:p>
          </p:txBody>
        </p:sp>
        <p:sp>
          <p:nvSpPr>
            <p:cNvPr id="19" name="TextBox 19"/>
            <p:cNvSpPr txBox="1"/>
            <p:nvPr/>
          </p:nvSpPr>
          <p:spPr>
            <a:xfrm>
              <a:off x="0" y="-28575"/>
              <a:ext cx="1082051" cy="720689"/>
            </a:xfrm>
            <a:prstGeom prst="rect">
              <a:avLst/>
            </a:prstGeom>
          </p:spPr>
          <p:txBody>
            <a:bodyPr lIns="50800" tIns="50800" rIns="50800" bIns="50800" rtlCol="0" anchor="t"/>
            <a:lstStyle/>
            <a:p>
              <a:pPr algn="ctr">
                <a:lnSpc>
                  <a:spcPts val="1679"/>
                </a:lnSpc>
              </a:pPr>
              <a:r>
                <a:rPr lang="en-US" sz="1200">
                  <a:solidFill>
                    <a:srgbClr val="03A39D"/>
                  </a:solidFill>
                  <a:latin typeface="Garet"/>
                  <a:ea typeface="Garet"/>
                  <a:cs typeface="Garet"/>
                  <a:sym typeface="Garet"/>
                </a:rPr>
                <a:t>GPI SUBSCRIPTION</a:t>
              </a:r>
            </a:p>
          </p:txBody>
        </p:sp>
      </p:grpSp>
      <p:sp>
        <p:nvSpPr>
          <p:cNvPr id="20" name="AutoShape 20"/>
          <p:cNvSpPr/>
          <p:nvPr/>
        </p:nvSpPr>
        <p:spPr>
          <a:xfrm>
            <a:off x="5345842" y="4741975"/>
            <a:ext cx="3244715" cy="0"/>
          </a:xfrm>
          <a:prstGeom prst="line">
            <a:avLst/>
          </a:prstGeom>
          <a:ln w="9525" cap="flat">
            <a:solidFill>
              <a:srgbClr val="000000"/>
            </a:solidFill>
            <a:prstDash val="solid"/>
            <a:headEnd type="none" w="sm" len="sm"/>
            <a:tailEnd type="none" w="sm" len="sm"/>
          </a:ln>
        </p:spPr>
        <p:txBody>
          <a:bodyPr/>
          <a:lstStyle/>
          <a:p>
            <a:endParaRPr lang="en-US"/>
          </a:p>
        </p:txBody>
      </p:sp>
      <p:sp>
        <p:nvSpPr>
          <p:cNvPr id="21" name="AutoShape 21"/>
          <p:cNvSpPr/>
          <p:nvPr/>
        </p:nvSpPr>
        <p:spPr>
          <a:xfrm>
            <a:off x="884614" y="4743309"/>
            <a:ext cx="3244715" cy="0"/>
          </a:xfrm>
          <a:prstGeom prst="line">
            <a:avLst/>
          </a:prstGeom>
          <a:ln w="9525" cap="flat">
            <a:solidFill>
              <a:srgbClr val="000000"/>
            </a:solidFill>
            <a:prstDash val="solid"/>
            <a:headEnd type="none" w="sm" len="sm"/>
            <a:tailEnd type="none" w="sm" len="sm"/>
          </a:ln>
        </p:spPr>
        <p:txBody>
          <a:bodyPr/>
          <a:lstStyle/>
          <a:p>
            <a:endParaRPr lang="en-US"/>
          </a:p>
        </p:txBody>
      </p:sp>
      <p:sp>
        <p:nvSpPr>
          <p:cNvPr id="22" name="TextBox 22"/>
          <p:cNvSpPr txBox="1"/>
          <p:nvPr/>
        </p:nvSpPr>
        <p:spPr>
          <a:xfrm>
            <a:off x="4855070" y="4859502"/>
            <a:ext cx="4226259" cy="1429237"/>
          </a:xfrm>
          <a:prstGeom prst="rect">
            <a:avLst/>
          </a:prstGeom>
        </p:spPr>
        <p:txBody>
          <a:bodyPr lIns="0" tIns="0" rIns="0" bIns="0" rtlCol="0" anchor="t">
            <a:spAutoFit/>
          </a:bodyPr>
          <a:lstStyle/>
          <a:p>
            <a:pPr marL="253365" lvl="1" indent="-126365" algn="l">
              <a:lnSpc>
                <a:spcPts val="1646"/>
              </a:lnSpc>
              <a:buFont typeface="Arial"/>
              <a:buChar char="•"/>
            </a:pPr>
            <a:r>
              <a:rPr lang="en-US" sz="1150" b="1">
                <a:solidFill>
                  <a:srgbClr val="000000"/>
                </a:solidFill>
                <a:latin typeface="Garet Bold"/>
                <a:ea typeface="Garet Bold"/>
                <a:cs typeface="Garet Bold"/>
                <a:sym typeface="Garet Bold"/>
              </a:rPr>
              <a:t>VENDOR: </a:t>
            </a:r>
            <a:r>
              <a:rPr lang="en-US" sz="1150">
                <a:solidFill>
                  <a:srgbClr val="000000"/>
                </a:solidFill>
                <a:latin typeface="Garet"/>
                <a:ea typeface="Garet"/>
                <a:cs typeface="Garet"/>
                <a:sym typeface="Garet"/>
              </a:rPr>
              <a:t>AEG &amp; SWIFT</a:t>
            </a:r>
            <a:endParaRPr lang="en-US" sz="1150"/>
          </a:p>
          <a:p>
            <a:pPr marL="253365" lvl="1" indent="-126365" algn="l">
              <a:lnSpc>
                <a:spcPts val="1646"/>
              </a:lnSpc>
              <a:buFont typeface="Arial"/>
              <a:buChar char="•"/>
            </a:pPr>
            <a:r>
              <a:rPr lang="en-US" sz="1150" b="1">
                <a:solidFill>
                  <a:srgbClr val="000000"/>
                </a:solidFill>
                <a:latin typeface="Garet Bold"/>
                <a:ea typeface="Garet Bold"/>
                <a:cs typeface="Garet Bold"/>
                <a:sym typeface="Garet Bold"/>
              </a:rPr>
              <a:t>BUSINESS OWNER:</a:t>
            </a:r>
            <a:r>
              <a:rPr lang="en-US" sz="1150">
                <a:solidFill>
                  <a:srgbClr val="000000"/>
                </a:solidFill>
                <a:latin typeface="Garet"/>
                <a:ea typeface="Garet"/>
                <a:cs typeface="Garet"/>
                <a:sym typeface="Garet"/>
              </a:rPr>
              <a:t> ADNAN ZAKARIA</a:t>
            </a:r>
            <a:endParaRPr lang="en-US" sz="1150">
              <a:solidFill>
                <a:srgbClr val="000000"/>
              </a:solidFill>
              <a:latin typeface="Garet"/>
              <a:ea typeface="Garet"/>
              <a:cs typeface="Garet"/>
            </a:endParaRPr>
          </a:p>
          <a:p>
            <a:pPr marL="253365" lvl="1" indent="-126365" algn="l">
              <a:lnSpc>
                <a:spcPts val="1646"/>
              </a:lnSpc>
              <a:buFont typeface="Arial"/>
              <a:buChar char="•"/>
            </a:pPr>
            <a:r>
              <a:rPr lang="en-US" sz="1150" b="1">
                <a:solidFill>
                  <a:srgbClr val="000000"/>
                </a:solidFill>
                <a:latin typeface="Garet Bold"/>
                <a:ea typeface="Garet Bold"/>
                <a:cs typeface="Garet Bold"/>
                <a:sym typeface="Garet Bold"/>
              </a:rPr>
              <a:t>PERCENT COMPLETE:</a:t>
            </a:r>
            <a:r>
              <a:rPr lang="en-US" sz="1150">
                <a:solidFill>
                  <a:srgbClr val="000000"/>
                </a:solidFill>
                <a:latin typeface="Garet"/>
                <a:ea typeface="Garet"/>
                <a:cs typeface="Garet"/>
                <a:sym typeface="Garet"/>
              </a:rPr>
              <a:t> 100 %</a:t>
            </a:r>
            <a:endParaRPr lang="en-US" sz="1150">
              <a:solidFill>
                <a:srgbClr val="000000"/>
              </a:solidFill>
              <a:latin typeface="Garet"/>
              <a:ea typeface="Garet"/>
              <a:cs typeface="Garet"/>
            </a:endParaRPr>
          </a:p>
          <a:p>
            <a:pPr marL="253365" lvl="1" indent="-126365" algn="l">
              <a:lnSpc>
                <a:spcPts val="1646"/>
              </a:lnSpc>
              <a:buFont typeface="Arial"/>
              <a:buChar char="•"/>
            </a:pPr>
            <a:r>
              <a:rPr lang="en-US" sz="1150" b="1">
                <a:solidFill>
                  <a:srgbClr val="000000"/>
                </a:solidFill>
                <a:latin typeface="Garet Bold"/>
                <a:ea typeface="Garet Bold"/>
                <a:cs typeface="Garet Bold"/>
                <a:sym typeface="Garet Bold"/>
              </a:rPr>
              <a:t>BUDGET STATUS:</a:t>
            </a:r>
            <a:r>
              <a:rPr lang="en-US" sz="1150">
                <a:solidFill>
                  <a:srgbClr val="000000"/>
                </a:solidFill>
                <a:latin typeface="Garet"/>
                <a:ea typeface="Garet"/>
                <a:cs typeface="Garet"/>
                <a:sym typeface="Garet"/>
              </a:rPr>
              <a:t> ON BUDGET</a:t>
            </a:r>
            <a:endParaRPr lang="en-US" sz="1150">
              <a:solidFill>
                <a:srgbClr val="000000"/>
              </a:solidFill>
              <a:latin typeface="Garet"/>
              <a:ea typeface="Garet"/>
              <a:cs typeface="Garet"/>
            </a:endParaRPr>
          </a:p>
          <a:p>
            <a:pPr marL="253365" lvl="1" indent="-126365" algn="l">
              <a:lnSpc>
                <a:spcPts val="1646"/>
              </a:lnSpc>
              <a:buFont typeface="Arial"/>
              <a:buChar char="•"/>
            </a:pPr>
            <a:r>
              <a:rPr lang="en-US" sz="1150" b="1">
                <a:solidFill>
                  <a:srgbClr val="000000"/>
                </a:solidFill>
                <a:latin typeface="Garet Bold"/>
                <a:ea typeface="Garet Bold"/>
                <a:cs typeface="Garet Bold"/>
                <a:sym typeface="Garet Bold"/>
              </a:rPr>
              <a:t>TIMELINE:</a:t>
            </a:r>
            <a:r>
              <a:rPr lang="en-US" sz="1150">
                <a:solidFill>
                  <a:srgbClr val="000000"/>
                </a:solidFill>
                <a:latin typeface="Garet"/>
                <a:ea typeface="Garet"/>
                <a:cs typeface="Garet"/>
                <a:sym typeface="Garet"/>
              </a:rPr>
              <a:t> </a:t>
            </a:r>
            <a:r>
              <a:rPr lang="en-US" sz="1150" b="1">
                <a:solidFill>
                  <a:srgbClr val="00BF63"/>
                </a:solidFill>
                <a:latin typeface="Garet Bold"/>
                <a:ea typeface="Garet"/>
                <a:cs typeface="Garet"/>
                <a:sym typeface="Garet Bold"/>
              </a:rPr>
              <a:t>Completed</a:t>
            </a:r>
            <a:endParaRPr lang="en-US" sz="1150" b="1">
              <a:solidFill>
                <a:srgbClr val="00BF63"/>
              </a:solidFill>
              <a:latin typeface="Garet Bold"/>
              <a:ea typeface="Garet Bold"/>
              <a:cs typeface="Garet Bold"/>
            </a:endParaRPr>
          </a:p>
          <a:p>
            <a:pPr marL="253365" lvl="1" indent="-126365" algn="l">
              <a:lnSpc>
                <a:spcPts val="1646"/>
              </a:lnSpc>
              <a:buFont typeface="Arial"/>
              <a:buChar char="•"/>
            </a:pPr>
            <a:r>
              <a:rPr lang="en-US" sz="1150" b="1">
                <a:solidFill>
                  <a:srgbClr val="000000"/>
                </a:solidFill>
                <a:latin typeface="Garet Bold"/>
                <a:ea typeface="Garet Bold"/>
                <a:cs typeface="Garet Bold"/>
                <a:sym typeface="Garet Bold"/>
              </a:rPr>
              <a:t>KEY MILESTONES ACHIEVED:</a:t>
            </a:r>
            <a:r>
              <a:rPr lang="en-US" sz="1150">
                <a:solidFill>
                  <a:srgbClr val="000000"/>
                </a:solidFill>
                <a:latin typeface="Garet"/>
                <a:ea typeface="Garet"/>
                <a:cs typeface="Garet"/>
                <a:sym typeface="Garet"/>
              </a:rPr>
              <a:t> Sign-off</a:t>
            </a:r>
            <a:endParaRPr lang="en-US" sz="1150">
              <a:solidFill>
                <a:srgbClr val="000000"/>
              </a:solidFill>
              <a:latin typeface="Garet"/>
              <a:ea typeface="Garet"/>
              <a:cs typeface="Garet"/>
            </a:endParaRPr>
          </a:p>
          <a:p>
            <a:pPr marL="253365" lvl="1" indent="-126365">
              <a:lnSpc>
                <a:spcPts val="1646"/>
              </a:lnSpc>
              <a:buFont typeface="Arial"/>
              <a:buChar char="•"/>
            </a:pPr>
            <a:r>
              <a:rPr lang="en-US" sz="1150" b="1">
                <a:solidFill>
                  <a:srgbClr val="000000"/>
                </a:solidFill>
                <a:latin typeface="Garet Bold"/>
                <a:ea typeface="Garet Bold"/>
                <a:cs typeface="Garet Bold"/>
                <a:sym typeface="Garet Bold"/>
              </a:rPr>
              <a:t>ACTION ITEM:</a:t>
            </a:r>
            <a:r>
              <a:rPr lang="en-US" sz="1150">
                <a:solidFill>
                  <a:srgbClr val="000000"/>
                </a:solidFill>
                <a:latin typeface="Garet"/>
                <a:ea typeface="Garet"/>
                <a:cs typeface="Garet"/>
                <a:sym typeface="Garet"/>
              </a:rPr>
              <a:t> </a:t>
            </a:r>
            <a:endParaRPr lang="en-US" sz="1150">
              <a:solidFill>
                <a:srgbClr val="000000"/>
              </a:solidFill>
              <a:latin typeface="Garet"/>
              <a:ea typeface="Garet"/>
              <a:cs typeface="Garet"/>
            </a:endParaRPr>
          </a:p>
        </p:txBody>
      </p:sp>
      <p:sp>
        <p:nvSpPr>
          <p:cNvPr id="23" name="TextBox 23"/>
          <p:cNvSpPr txBox="1"/>
          <p:nvPr/>
        </p:nvSpPr>
        <p:spPr>
          <a:xfrm>
            <a:off x="430290" y="4803646"/>
            <a:ext cx="4226259" cy="1413849"/>
          </a:xfrm>
          <a:prstGeom prst="rect">
            <a:avLst/>
          </a:prstGeom>
        </p:spPr>
        <p:txBody>
          <a:bodyPr lIns="0" tIns="0" rIns="0" bIns="0" rtlCol="0" anchor="t">
            <a:spAutoFit/>
          </a:bodyPr>
          <a:lstStyle/>
          <a:p>
            <a:pPr marL="253365" lvl="1" indent="-126365" algn="l">
              <a:lnSpc>
                <a:spcPts val="1646"/>
              </a:lnSpc>
              <a:buFont typeface="Arial,Sans-Serif"/>
              <a:buChar char="•"/>
            </a:pPr>
            <a:r>
              <a:rPr lang="en-US" sz="1200" b="1">
                <a:solidFill>
                  <a:srgbClr val="000000"/>
                </a:solidFill>
                <a:latin typeface="Garet Bold"/>
                <a:ea typeface="Garet Bold"/>
                <a:cs typeface="Garet Bold"/>
                <a:sym typeface="Garet Bold"/>
              </a:rPr>
              <a:t>VENDOR:</a:t>
            </a:r>
            <a:r>
              <a:rPr lang="en-US" sz="1200">
                <a:solidFill>
                  <a:srgbClr val="000000"/>
                </a:solidFill>
                <a:latin typeface="Garet"/>
                <a:ea typeface="Garet"/>
                <a:cs typeface="Garet"/>
                <a:sym typeface="Garet"/>
              </a:rPr>
              <a:t> .</a:t>
            </a:r>
            <a:endParaRPr lang="en-US" sz="1200">
              <a:latin typeface="Garet"/>
            </a:endParaRPr>
          </a:p>
          <a:p>
            <a:pPr marL="253365" lvl="1" indent="-126365" algn="l">
              <a:lnSpc>
                <a:spcPts val="1646"/>
              </a:lnSpc>
              <a:buFont typeface="Arial,Sans-Serif"/>
              <a:buChar char="•"/>
            </a:pPr>
            <a:r>
              <a:rPr lang="en-US" sz="1200" b="1">
                <a:solidFill>
                  <a:srgbClr val="000000"/>
                </a:solidFill>
                <a:latin typeface="Garet Bold"/>
                <a:ea typeface="Garet Bold"/>
                <a:cs typeface="Garet Bold"/>
                <a:sym typeface="Garet Bold"/>
              </a:rPr>
              <a:t>BUSINESS OWNER:</a:t>
            </a:r>
            <a:r>
              <a:rPr lang="en-US" sz="1200">
                <a:solidFill>
                  <a:srgbClr val="000000"/>
                </a:solidFill>
                <a:latin typeface="Garet"/>
                <a:ea typeface="Garet"/>
                <a:cs typeface="Garet"/>
                <a:sym typeface="Garet"/>
              </a:rPr>
              <a:t> </a:t>
            </a:r>
            <a:endParaRPr lang="en-US" sz="1200">
              <a:solidFill>
                <a:srgbClr val="000000"/>
              </a:solidFill>
              <a:latin typeface="Garet"/>
              <a:ea typeface="Garet"/>
              <a:cs typeface="Garet"/>
            </a:endParaRPr>
          </a:p>
          <a:p>
            <a:pPr marL="253365" lvl="1" indent="-126365" algn="l">
              <a:lnSpc>
                <a:spcPts val="1646"/>
              </a:lnSpc>
              <a:buFont typeface="Arial,Sans-Serif"/>
              <a:buChar char="•"/>
            </a:pPr>
            <a:r>
              <a:rPr lang="en-US" sz="1200" b="1">
                <a:solidFill>
                  <a:srgbClr val="000000"/>
                </a:solidFill>
                <a:latin typeface="Garet Bold"/>
                <a:ea typeface="Garet Bold"/>
                <a:cs typeface="Garet Bold"/>
                <a:sym typeface="Garet Bold"/>
              </a:rPr>
              <a:t>PERCENT COMPLETE:</a:t>
            </a:r>
            <a:r>
              <a:rPr lang="en-US" sz="1200">
                <a:solidFill>
                  <a:srgbClr val="000000"/>
                </a:solidFill>
                <a:latin typeface="Garet"/>
                <a:ea typeface="Garet"/>
                <a:cs typeface="Garet"/>
                <a:sym typeface="Garet"/>
              </a:rPr>
              <a:t> </a:t>
            </a:r>
            <a:endParaRPr lang="en-US" sz="1200">
              <a:solidFill>
                <a:srgbClr val="000000"/>
              </a:solidFill>
              <a:latin typeface="Garet"/>
              <a:ea typeface="Garet"/>
              <a:cs typeface="Garet"/>
            </a:endParaRPr>
          </a:p>
          <a:p>
            <a:pPr marL="253365" lvl="1" indent="-126365" algn="l">
              <a:lnSpc>
                <a:spcPts val="1646"/>
              </a:lnSpc>
              <a:buFont typeface="Arial,Sans-Serif"/>
              <a:buChar char="•"/>
            </a:pPr>
            <a:r>
              <a:rPr lang="en-US" sz="1200" b="1">
                <a:solidFill>
                  <a:srgbClr val="000000"/>
                </a:solidFill>
                <a:latin typeface="Garet Bold"/>
                <a:ea typeface="Garet Bold"/>
                <a:cs typeface="Garet Bold"/>
                <a:sym typeface="Garet Bold"/>
              </a:rPr>
              <a:t>BUDGET STATUS:</a:t>
            </a:r>
            <a:endParaRPr lang="en-US" sz="1200">
              <a:solidFill>
                <a:srgbClr val="000000"/>
              </a:solidFill>
              <a:latin typeface="Garet Bold"/>
              <a:ea typeface="Garet"/>
              <a:cs typeface="Garet"/>
            </a:endParaRPr>
          </a:p>
          <a:p>
            <a:pPr marL="253365" lvl="1" indent="-126365" algn="l">
              <a:lnSpc>
                <a:spcPts val="1646"/>
              </a:lnSpc>
              <a:buFont typeface="Arial,Sans-Serif"/>
              <a:buChar char="•"/>
            </a:pPr>
            <a:r>
              <a:rPr lang="en-US" sz="1200" b="1">
                <a:solidFill>
                  <a:srgbClr val="000000"/>
                </a:solidFill>
                <a:latin typeface="Garet Bold"/>
                <a:ea typeface="Garet Bold"/>
                <a:cs typeface="Garet Bold"/>
                <a:sym typeface="Garet Bold"/>
              </a:rPr>
              <a:t>TIMELINE:</a:t>
            </a:r>
            <a:endParaRPr lang="en-US" sz="1200">
              <a:solidFill>
                <a:srgbClr val="000000"/>
              </a:solidFill>
              <a:latin typeface="Garet Bold"/>
              <a:ea typeface="Garet Bold"/>
              <a:cs typeface="Garet Bold"/>
            </a:endParaRPr>
          </a:p>
          <a:p>
            <a:pPr marL="253365" lvl="1" indent="-126365" algn="l">
              <a:lnSpc>
                <a:spcPts val="1646"/>
              </a:lnSpc>
              <a:buFont typeface="Arial,Sans-Serif"/>
              <a:buChar char="•"/>
            </a:pPr>
            <a:r>
              <a:rPr lang="en-US" sz="1200" b="1">
                <a:solidFill>
                  <a:srgbClr val="000000"/>
                </a:solidFill>
                <a:latin typeface="Garet Bold"/>
                <a:ea typeface="Garet Bold"/>
                <a:cs typeface="Garet Bold"/>
                <a:sym typeface="Garet Bold"/>
              </a:rPr>
              <a:t>KEY MILESTONES ACHIEVED:</a:t>
            </a:r>
            <a:endParaRPr lang="en-US" sz="1200">
              <a:solidFill>
                <a:srgbClr val="000000"/>
              </a:solidFill>
              <a:latin typeface="Garet Bold"/>
              <a:ea typeface="Garet"/>
              <a:cs typeface="Garet"/>
            </a:endParaRPr>
          </a:p>
          <a:p>
            <a:pPr marL="223520" lvl="1" indent="-111760">
              <a:lnSpc>
                <a:spcPts val="1450"/>
              </a:lnSpc>
              <a:buFont typeface="Arial,Sans-Serif"/>
              <a:buChar char="•"/>
            </a:pPr>
            <a:r>
              <a:rPr lang="en-US" sz="1000" b="1">
                <a:solidFill>
                  <a:srgbClr val="000000"/>
                </a:solidFill>
                <a:latin typeface="Garet Bold"/>
                <a:ea typeface="Garet Bold"/>
                <a:cs typeface="Garet Bold"/>
                <a:sym typeface="Garet Bold"/>
              </a:rPr>
              <a:t>ACTION ITEM:</a:t>
            </a:r>
            <a:r>
              <a:rPr lang="en-US" sz="1000" b="1">
                <a:solidFill>
                  <a:srgbClr val="000000"/>
                </a:solidFill>
                <a:latin typeface="Garet Bold"/>
                <a:ea typeface="Garet"/>
                <a:cs typeface="Garet"/>
                <a:sym typeface="Garet"/>
              </a:rPr>
              <a:t> </a:t>
            </a:r>
            <a:endParaRPr lang="en-US" sz="1000" b="1">
              <a:latin typeface="Garet Bold"/>
            </a:endParaRPr>
          </a:p>
        </p:txBody>
      </p:sp>
      <p:grpSp>
        <p:nvGrpSpPr>
          <p:cNvPr id="24" name="Group 24"/>
          <p:cNvGrpSpPr/>
          <p:nvPr/>
        </p:nvGrpSpPr>
        <p:grpSpPr>
          <a:xfrm>
            <a:off x="430290" y="7232064"/>
            <a:ext cx="4226259" cy="2618490"/>
            <a:chOff x="0" y="-28575"/>
            <a:chExt cx="1082051" cy="670413"/>
          </a:xfrm>
        </p:grpSpPr>
        <p:sp>
          <p:nvSpPr>
            <p:cNvPr id="25" name="Freeform 25"/>
            <p:cNvSpPr/>
            <p:nvPr/>
          </p:nvSpPr>
          <p:spPr>
            <a:xfrm>
              <a:off x="0" y="0"/>
              <a:ext cx="1082051" cy="641838"/>
            </a:xfrm>
            <a:custGeom>
              <a:avLst/>
              <a:gdLst/>
              <a:ahLst/>
              <a:cxnLst/>
              <a:rect l="l" t="t" r="r" b="b"/>
              <a:pathLst>
                <a:path w="1082051" h="641838">
                  <a:moveTo>
                    <a:pt x="20150" y="0"/>
                  </a:moveTo>
                  <a:lnTo>
                    <a:pt x="1061900" y="0"/>
                  </a:lnTo>
                  <a:cubicBezTo>
                    <a:pt x="1067244" y="0"/>
                    <a:pt x="1072370" y="2123"/>
                    <a:pt x="1076149" y="5902"/>
                  </a:cubicBezTo>
                  <a:cubicBezTo>
                    <a:pt x="1079928" y="9681"/>
                    <a:pt x="1082051" y="14806"/>
                    <a:pt x="1082051" y="20150"/>
                  </a:cubicBezTo>
                  <a:lnTo>
                    <a:pt x="1082051" y="621688"/>
                  </a:lnTo>
                  <a:cubicBezTo>
                    <a:pt x="1082051" y="627032"/>
                    <a:pt x="1079928" y="632157"/>
                    <a:pt x="1076149" y="635936"/>
                  </a:cubicBezTo>
                  <a:cubicBezTo>
                    <a:pt x="1072370" y="639715"/>
                    <a:pt x="1067244" y="641838"/>
                    <a:pt x="1061900" y="641838"/>
                  </a:cubicBezTo>
                  <a:lnTo>
                    <a:pt x="20150" y="641838"/>
                  </a:lnTo>
                  <a:cubicBezTo>
                    <a:pt x="14806" y="641838"/>
                    <a:pt x="9681" y="639715"/>
                    <a:pt x="5902" y="635936"/>
                  </a:cubicBezTo>
                  <a:cubicBezTo>
                    <a:pt x="2123" y="632157"/>
                    <a:pt x="0" y="627032"/>
                    <a:pt x="0" y="621688"/>
                  </a:cubicBezTo>
                  <a:lnTo>
                    <a:pt x="0" y="20150"/>
                  </a:lnTo>
                  <a:cubicBezTo>
                    <a:pt x="0" y="14806"/>
                    <a:pt x="2123" y="9681"/>
                    <a:pt x="5902" y="5902"/>
                  </a:cubicBezTo>
                  <a:cubicBezTo>
                    <a:pt x="9681" y="2123"/>
                    <a:pt x="14806" y="0"/>
                    <a:pt x="20150" y="0"/>
                  </a:cubicBezTo>
                  <a:close/>
                </a:path>
              </a:pathLst>
            </a:custGeom>
            <a:solidFill>
              <a:srgbClr val="E4E7E8"/>
            </a:solidFill>
            <a:ln cap="sq">
              <a:noFill/>
              <a:prstDash val="solid"/>
              <a:miter/>
            </a:ln>
          </p:spPr>
          <p:txBody>
            <a:bodyPr/>
            <a:lstStyle/>
            <a:p>
              <a:endParaRPr lang="en-US"/>
            </a:p>
          </p:txBody>
        </p:sp>
        <p:sp>
          <p:nvSpPr>
            <p:cNvPr id="26" name="TextBox 26"/>
            <p:cNvSpPr txBox="1"/>
            <p:nvPr/>
          </p:nvSpPr>
          <p:spPr>
            <a:xfrm>
              <a:off x="0" y="-28575"/>
              <a:ext cx="1082051" cy="670413"/>
            </a:xfrm>
            <a:prstGeom prst="rect">
              <a:avLst/>
            </a:prstGeom>
          </p:spPr>
          <p:txBody>
            <a:bodyPr lIns="50800" tIns="50800" rIns="50800" bIns="50800" rtlCol="0" anchor="t"/>
            <a:lstStyle/>
            <a:p>
              <a:pPr algn="ctr">
                <a:lnSpc>
                  <a:spcPts val="1679"/>
                </a:lnSpc>
              </a:pPr>
              <a:r>
                <a:rPr lang="en-US" sz="1200" err="1">
                  <a:solidFill>
                    <a:srgbClr val="03A39D"/>
                  </a:solidFill>
                  <a:latin typeface="Garet"/>
                  <a:sym typeface="Garet"/>
                </a:rPr>
                <a:t>Proje</a:t>
              </a:r>
              <a:r>
                <a:rPr lang="en-US" sz="1200">
                  <a:solidFill>
                    <a:srgbClr val="03A39D"/>
                  </a:solidFill>
                  <a:latin typeface="Garet"/>
                  <a:sym typeface="Garet"/>
                </a:rPr>
                <a:t>ct Name</a:t>
              </a:r>
              <a:endParaRPr lang="en-US"/>
            </a:p>
          </p:txBody>
        </p:sp>
      </p:grpSp>
      <p:grpSp>
        <p:nvGrpSpPr>
          <p:cNvPr id="27" name="Group 27"/>
          <p:cNvGrpSpPr/>
          <p:nvPr/>
        </p:nvGrpSpPr>
        <p:grpSpPr>
          <a:xfrm>
            <a:off x="4855070" y="7343672"/>
            <a:ext cx="4226259" cy="2506882"/>
            <a:chOff x="0" y="0"/>
            <a:chExt cx="1082051" cy="641838"/>
          </a:xfrm>
        </p:grpSpPr>
        <p:sp>
          <p:nvSpPr>
            <p:cNvPr id="28" name="Freeform 28"/>
            <p:cNvSpPr/>
            <p:nvPr/>
          </p:nvSpPr>
          <p:spPr>
            <a:xfrm>
              <a:off x="0" y="0"/>
              <a:ext cx="1082051" cy="641838"/>
            </a:xfrm>
            <a:custGeom>
              <a:avLst/>
              <a:gdLst/>
              <a:ahLst/>
              <a:cxnLst/>
              <a:rect l="l" t="t" r="r" b="b"/>
              <a:pathLst>
                <a:path w="1082051" h="641838">
                  <a:moveTo>
                    <a:pt x="20150" y="0"/>
                  </a:moveTo>
                  <a:lnTo>
                    <a:pt x="1061900" y="0"/>
                  </a:lnTo>
                  <a:cubicBezTo>
                    <a:pt x="1067244" y="0"/>
                    <a:pt x="1072370" y="2123"/>
                    <a:pt x="1076149" y="5902"/>
                  </a:cubicBezTo>
                  <a:cubicBezTo>
                    <a:pt x="1079928" y="9681"/>
                    <a:pt x="1082051" y="14806"/>
                    <a:pt x="1082051" y="20150"/>
                  </a:cubicBezTo>
                  <a:lnTo>
                    <a:pt x="1082051" y="621688"/>
                  </a:lnTo>
                  <a:cubicBezTo>
                    <a:pt x="1082051" y="627032"/>
                    <a:pt x="1079928" y="632157"/>
                    <a:pt x="1076149" y="635936"/>
                  </a:cubicBezTo>
                  <a:cubicBezTo>
                    <a:pt x="1072370" y="639715"/>
                    <a:pt x="1067244" y="641838"/>
                    <a:pt x="1061900" y="641838"/>
                  </a:cubicBezTo>
                  <a:lnTo>
                    <a:pt x="20150" y="641838"/>
                  </a:lnTo>
                  <a:cubicBezTo>
                    <a:pt x="14806" y="641838"/>
                    <a:pt x="9681" y="639715"/>
                    <a:pt x="5902" y="635936"/>
                  </a:cubicBezTo>
                  <a:cubicBezTo>
                    <a:pt x="2123" y="632157"/>
                    <a:pt x="0" y="627032"/>
                    <a:pt x="0" y="621688"/>
                  </a:cubicBezTo>
                  <a:lnTo>
                    <a:pt x="0" y="20150"/>
                  </a:lnTo>
                  <a:cubicBezTo>
                    <a:pt x="0" y="14806"/>
                    <a:pt x="2123" y="9681"/>
                    <a:pt x="5902" y="5902"/>
                  </a:cubicBezTo>
                  <a:cubicBezTo>
                    <a:pt x="9681" y="2123"/>
                    <a:pt x="14806" y="0"/>
                    <a:pt x="20150" y="0"/>
                  </a:cubicBezTo>
                  <a:close/>
                </a:path>
              </a:pathLst>
            </a:custGeom>
            <a:solidFill>
              <a:srgbClr val="E4E7E8"/>
            </a:solidFill>
            <a:ln cap="sq">
              <a:noFill/>
              <a:prstDash val="solid"/>
              <a:miter/>
            </a:ln>
          </p:spPr>
          <p:txBody>
            <a:bodyPr/>
            <a:lstStyle/>
            <a:p>
              <a:endParaRPr lang="en-US"/>
            </a:p>
          </p:txBody>
        </p:sp>
        <p:sp>
          <p:nvSpPr>
            <p:cNvPr id="29" name="TextBox 29"/>
            <p:cNvSpPr txBox="1"/>
            <p:nvPr/>
          </p:nvSpPr>
          <p:spPr>
            <a:xfrm>
              <a:off x="0" y="-28575"/>
              <a:ext cx="1082051" cy="670413"/>
            </a:xfrm>
            <a:prstGeom prst="rect">
              <a:avLst/>
            </a:prstGeom>
          </p:spPr>
          <p:txBody>
            <a:bodyPr lIns="50800" tIns="50800" rIns="50800" bIns="50800" rtlCol="0" anchor="t"/>
            <a:lstStyle/>
            <a:p>
              <a:pPr algn="ctr">
                <a:lnSpc>
                  <a:spcPts val="1679"/>
                </a:lnSpc>
              </a:pPr>
              <a:r>
                <a:rPr lang="en-US" sz="1200">
                  <a:solidFill>
                    <a:srgbClr val="03A39D"/>
                  </a:solidFill>
                  <a:latin typeface="Garet"/>
                  <a:ea typeface="Garet"/>
                  <a:cs typeface="Garet"/>
                  <a:sym typeface="Garet"/>
                </a:rPr>
                <a:t>MT2ISO PROJECT</a:t>
              </a:r>
            </a:p>
          </p:txBody>
        </p:sp>
      </p:grpSp>
      <p:sp>
        <p:nvSpPr>
          <p:cNvPr id="30" name="AutoShape 30"/>
          <p:cNvSpPr/>
          <p:nvPr/>
        </p:nvSpPr>
        <p:spPr>
          <a:xfrm>
            <a:off x="5345842" y="7741523"/>
            <a:ext cx="3244715" cy="0"/>
          </a:xfrm>
          <a:prstGeom prst="line">
            <a:avLst/>
          </a:prstGeom>
          <a:ln w="9525" cap="flat">
            <a:solidFill>
              <a:srgbClr val="000000"/>
            </a:solidFill>
            <a:prstDash val="solid"/>
            <a:headEnd type="none" w="sm" len="sm"/>
            <a:tailEnd type="none" w="sm" len="sm"/>
          </a:ln>
        </p:spPr>
        <p:txBody>
          <a:bodyPr/>
          <a:lstStyle/>
          <a:p>
            <a:endParaRPr lang="en-US"/>
          </a:p>
        </p:txBody>
      </p:sp>
      <p:sp>
        <p:nvSpPr>
          <p:cNvPr id="31" name="AutoShape 31"/>
          <p:cNvSpPr/>
          <p:nvPr/>
        </p:nvSpPr>
        <p:spPr>
          <a:xfrm>
            <a:off x="884614" y="7742857"/>
            <a:ext cx="3244715" cy="0"/>
          </a:xfrm>
          <a:prstGeom prst="line">
            <a:avLst/>
          </a:prstGeom>
          <a:ln w="9525" cap="flat">
            <a:solidFill>
              <a:srgbClr val="000000"/>
            </a:solidFill>
            <a:prstDash val="solid"/>
            <a:headEnd type="none" w="sm" len="sm"/>
            <a:tailEnd type="none" w="sm" len="sm"/>
          </a:ln>
        </p:spPr>
        <p:txBody>
          <a:bodyPr/>
          <a:lstStyle/>
          <a:p>
            <a:endParaRPr lang="en-US"/>
          </a:p>
        </p:txBody>
      </p:sp>
      <p:sp>
        <p:nvSpPr>
          <p:cNvPr id="32" name="TextBox 32"/>
          <p:cNvSpPr txBox="1"/>
          <p:nvPr/>
        </p:nvSpPr>
        <p:spPr>
          <a:xfrm>
            <a:off x="4855070" y="7810469"/>
            <a:ext cx="4226259" cy="1628651"/>
          </a:xfrm>
          <a:prstGeom prst="rect">
            <a:avLst/>
          </a:prstGeom>
        </p:spPr>
        <p:txBody>
          <a:bodyPr lIns="0" tIns="0" rIns="0" bIns="0" rtlCol="0" anchor="t">
            <a:spAutoFit/>
          </a:bodyPr>
          <a:lstStyle/>
          <a:p>
            <a:pPr marL="253365" lvl="1" indent="-126365" algn="l">
              <a:lnSpc>
                <a:spcPts val="1646"/>
              </a:lnSpc>
              <a:buFont typeface="Arial"/>
              <a:buChar char="•"/>
            </a:pPr>
            <a:r>
              <a:rPr lang="en-US" sz="1150" b="1">
                <a:solidFill>
                  <a:srgbClr val="000000"/>
                </a:solidFill>
                <a:latin typeface="Garet Bold"/>
                <a:ea typeface="Garet Bold"/>
                <a:cs typeface="Garet Bold"/>
                <a:sym typeface="Garet Bold"/>
              </a:rPr>
              <a:t>VENDOR:</a:t>
            </a:r>
            <a:r>
              <a:rPr lang="en-US" sz="1150">
                <a:solidFill>
                  <a:srgbClr val="000000"/>
                </a:solidFill>
                <a:latin typeface="Garet"/>
                <a:ea typeface="Garet"/>
                <a:cs typeface="Garet"/>
                <a:sym typeface="Garet"/>
              </a:rPr>
              <a:t> AEG</a:t>
            </a:r>
            <a:endParaRPr lang="en-US" sz="1150"/>
          </a:p>
          <a:p>
            <a:pPr marL="253365" lvl="1" indent="-126365" algn="l">
              <a:lnSpc>
                <a:spcPts val="1646"/>
              </a:lnSpc>
              <a:buFont typeface="Arial"/>
              <a:buChar char="•"/>
            </a:pPr>
            <a:r>
              <a:rPr lang="en-US" sz="1150" b="1">
                <a:solidFill>
                  <a:srgbClr val="000000"/>
                </a:solidFill>
                <a:latin typeface="Garet Bold"/>
                <a:ea typeface="Garet Bold"/>
                <a:cs typeface="Garet Bold"/>
                <a:sym typeface="Garet Bold"/>
              </a:rPr>
              <a:t>BUSINESS OWNER:</a:t>
            </a:r>
            <a:r>
              <a:rPr lang="en-US" sz="1150">
                <a:solidFill>
                  <a:srgbClr val="000000"/>
                </a:solidFill>
                <a:latin typeface="Garet"/>
                <a:ea typeface="Garet"/>
                <a:cs typeface="Garet"/>
                <a:sym typeface="Garet"/>
              </a:rPr>
              <a:t> ADNAN ZAKARIA</a:t>
            </a:r>
            <a:endParaRPr lang="en-US" sz="1150">
              <a:solidFill>
                <a:srgbClr val="000000"/>
              </a:solidFill>
              <a:latin typeface="Garet"/>
              <a:ea typeface="Garet"/>
              <a:cs typeface="Garet"/>
            </a:endParaRPr>
          </a:p>
          <a:p>
            <a:pPr marL="253365" lvl="1" indent="-126365">
              <a:lnSpc>
                <a:spcPts val="1646"/>
              </a:lnSpc>
              <a:buFont typeface="Arial"/>
              <a:buChar char="•"/>
            </a:pPr>
            <a:r>
              <a:rPr lang="en-US" sz="1150" b="1">
                <a:solidFill>
                  <a:srgbClr val="000000"/>
                </a:solidFill>
                <a:latin typeface="Garet Bold"/>
                <a:ea typeface="Garet Bold"/>
                <a:cs typeface="Garet Bold"/>
                <a:sym typeface="Garet Bold"/>
              </a:rPr>
              <a:t>PERCENT COMPLETE:</a:t>
            </a:r>
            <a:r>
              <a:rPr lang="en-US" sz="1150">
                <a:solidFill>
                  <a:srgbClr val="000000"/>
                </a:solidFill>
                <a:latin typeface="Garet"/>
                <a:ea typeface="Garet Bold"/>
                <a:cs typeface="Garet Bold"/>
                <a:sym typeface="Garet"/>
              </a:rPr>
              <a:t> 100</a:t>
            </a:r>
            <a:r>
              <a:rPr lang="en-US" sz="1150">
                <a:solidFill>
                  <a:srgbClr val="000000"/>
                </a:solidFill>
                <a:latin typeface="Garet"/>
                <a:ea typeface="Garet"/>
                <a:cs typeface="Garet"/>
                <a:sym typeface="Garet"/>
              </a:rPr>
              <a:t> %</a:t>
            </a:r>
            <a:endParaRPr lang="en-US" sz="1150">
              <a:solidFill>
                <a:srgbClr val="000000"/>
              </a:solidFill>
              <a:latin typeface="Garet"/>
              <a:ea typeface="Garet"/>
              <a:cs typeface="Garet"/>
            </a:endParaRPr>
          </a:p>
          <a:p>
            <a:pPr marL="253365" lvl="1" indent="-126365" algn="l">
              <a:lnSpc>
                <a:spcPts val="1646"/>
              </a:lnSpc>
              <a:buFont typeface="Arial"/>
              <a:buChar char="•"/>
            </a:pPr>
            <a:r>
              <a:rPr lang="en-US" sz="1150" b="1">
                <a:solidFill>
                  <a:srgbClr val="000000"/>
                </a:solidFill>
                <a:latin typeface="Garet Bold"/>
                <a:ea typeface="Garet Bold"/>
                <a:cs typeface="Garet Bold"/>
                <a:sym typeface="Garet Bold"/>
              </a:rPr>
              <a:t>BUDGET STATUS:</a:t>
            </a:r>
            <a:r>
              <a:rPr lang="en-US" sz="1150">
                <a:solidFill>
                  <a:srgbClr val="000000"/>
                </a:solidFill>
                <a:latin typeface="Garet"/>
                <a:ea typeface="Garet"/>
                <a:cs typeface="Garet"/>
                <a:sym typeface="Garet"/>
              </a:rPr>
              <a:t> ON BUDGET</a:t>
            </a:r>
            <a:endParaRPr lang="en-US" sz="1150">
              <a:solidFill>
                <a:srgbClr val="000000"/>
              </a:solidFill>
              <a:latin typeface="Garet"/>
              <a:ea typeface="Garet"/>
              <a:cs typeface="Garet"/>
            </a:endParaRPr>
          </a:p>
          <a:p>
            <a:pPr marL="253365" lvl="1" indent="-126365" algn="l">
              <a:lnSpc>
                <a:spcPts val="1646"/>
              </a:lnSpc>
              <a:buFont typeface="Arial"/>
              <a:buChar char="•"/>
            </a:pPr>
            <a:r>
              <a:rPr lang="en-US" sz="1150" b="1">
                <a:solidFill>
                  <a:srgbClr val="000000"/>
                </a:solidFill>
                <a:latin typeface="Garet Bold"/>
                <a:ea typeface="Garet Bold"/>
                <a:cs typeface="Garet Bold"/>
                <a:sym typeface="Garet Bold"/>
              </a:rPr>
              <a:t>TIMELINE: </a:t>
            </a:r>
            <a:r>
              <a:rPr lang="en-US" sz="1200" b="1">
                <a:solidFill>
                  <a:srgbClr val="00BF63"/>
                </a:solidFill>
                <a:latin typeface="Garet Bold"/>
                <a:ea typeface="Garet Bold"/>
                <a:cs typeface="Garet Bold"/>
                <a:sym typeface="Garet Bold"/>
              </a:rPr>
              <a:t>Completed</a:t>
            </a:r>
            <a:endParaRPr lang="en-US" sz="1150" b="1">
              <a:solidFill>
                <a:srgbClr val="00BF63"/>
              </a:solidFill>
              <a:latin typeface="Garet Bold"/>
              <a:ea typeface="Garet Bold"/>
              <a:cs typeface="Garet Bold"/>
            </a:endParaRPr>
          </a:p>
          <a:p>
            <a:pPr marL="253365" lvl="1" indent="-126365">
              <a:lnSpc>
                <a:spcPts val="1646"/>
              </a:lnSpc>
              <a:buFont typeface="Arial"/>
              <a:buChar char="•"/>
            </a:pPr>
            <a:r>
              <a:rPr lang="en-US" sz="1150" b="1">
                <a:solidFill>
                  <a:srgbClr val="000000"/>
                </a:solidFill>
                <a:latin typeface="Garet Bold"/>
                <a:ea typeface="Garet Bold"/>
                <a:cs typeface="Garet Bold"/>
                <a:sym typeface="Garet Bold"/>
              </a:rPr>
              <a:t>KEY MILESTONES ACHIEVED: </a:t>
            </a:r>
            <a:r>
              <a:rPr lang="en-US" sz="1150">
                <a:solidFill>
                  <a:srgbClr val="000000"/>
                </a:solidFill>
                <a:latin typeface="Garet"/>
                <a:ea typeface="Garet Bold"/>
                <a:cs typeface="Garet Bold"/>
                <a:sym typeface="Garet"/>
              </a:rPr>
              <a:t> Go-Live</a:t>
            </a:r>
            <a:endParaRPr lang="en-US" sz="1150">
              <a:solidFill>
                <a:srgbClr val="000000"/>
              </a:solidFill>
              <a:latin typeface="Garet Bold"/>
              <a:ea typeface="Garet"/>
              <a:cs typeface="Garet"/>
            </a:endParaRPr>
          </a:p>
          <a:p>
            <a:pPr marL="253365" lvl="1" indent="-126365">
              <a:lnSpc>
                <a:spcPts val="1646"/>
              </a:lnSpc>
              <a:buFont typeface="Arial"/>
              <a:buChar char="•"/>
            </a:pPr>
            <a:r>
              <a:rPr lang="en-US" sz="1150" b="1">
                <a:solidFill>
                  <a:srgbClr val="000000"/>
                </a:solidFill>
                <a:latin typeface="Garet Bold"/>
                <a:ea typeface="Garet Bold"/>
                <a:cs typeface="Garet Bold"/>
                <a:sym typeface="Garet Bold"/>
              </a:rPr>
              <a:t>ACTION ITEM: </a:t>
            </a:r>
            <a:r>
              <a:rPr lang="en-US" sz="1000">
                <a:solidFill>
                  <a:srgbClr val="000000"/>
                </a:solidFill>
                <a:latin typeface="Garet"/>
                <a:ea typeface="Garet Bold"/>
                <a:cs typeface="Garet Bold"/>
                <a:sym typeface="Garet Bold"/>
              </a:rPr>
              <a:t>We have moved the converter to the live environment .</a:t>
            </a:r>
            <a:endParaRPr lang="en-US" sz="1150">
              <a:solidFill>
                <a:srgbClr val="000000"/>
              </a:solidFill>
              <a:latin typeface="Garet Bold"/>
              <a:ea typeface="Garet"/>
              <a:cs typeface="Garet"/>
            </a:endParaRPr>
          </a:p>
        </p:txBody>
      </p:sp>
      <p:sp>
        <p:nvSpPr>
          <p:cNvPr id="33" name="TextBox 33"/>
          <p:cNvSpPr txBox="1"/>
          <p:nvPr/>
        </p:nvSpPr>
        <p:spPr>
          <a:xfrm>
            <a:off x="430290" y="7810469"/>
            <a:ext cx="4226259" cy="1617174"/>
          </a:xfrm>
          <a:prstGeom prst="rect">
            <a:avLst/>
          </a:prstGeom>
        </p:spPr>
        <p:txBody>
          <a:bodyPr lIns="0" tIns="0" rIns="0" bIns="0" rtlCol="0" anchor="t">
            <a:spAutoFit/>
          </a:bodyPr>
          <a:lstStyle/>
          <a:p>
            <a:pPr marL="253365" lvl="1" indent="-126365" algn="l">
              <a:lnSpc>
                <a:spcPts val="1646"/>
              </a:lnSpc>
              <a:buFont typeface="Arial"/>
              <a:buChar char="•"/>
            </a:pPr>
            <a:r>
              <a:rPr lang="en-US" sz="1150" b="1">
                <a:solidFill>
                  <a:srgbClr val="000000"/>
                </a:solidFill>
                <a:latin typeface="Garet Bold"/>
                <a:ea typeface="Garet Bold"/>
                <a:cs typeface="Garet Bold"/>
                <a:sym typeface="Garet Bold"/>
              </a:rPr>
              <a:t>VENDOR:</a:t>
            </a:r>
            <a:r>
              <a:rPr lang="en-US" sz="1150">
                <a:solidFill>
                  <a:srgbClr val="000000"/>
                </a:solidFill>
                <a:latin typeface="Garet"/>
                <a:ea typeface="Garet"/>
                <a:cs typeface="Garet"/>
                <a:sym typeface="Garet"/>
              </a:rPr>
              <a:t> .</a:t>
            </a:r>
            <a:endParaRPr lang="en-US" sz="1150">
              <a:solidFill>
                <a:srgbClr val="000000"/>
              </a:solidFill>
              <a:latin typeface="Garet"/>
              <a:ea typeface="Garet"/>
              <a:cs typeface="Garet"/>
            </a:endParaRPr>
          </a:p>
          <a:p>
            <a:pPr marL="253365" lvl="1" indent="-126365" algn="l">
              <a:lnSpc>
                <a:spcPts val="1646"/>
              </a:lnSpc>
              <a:buFont typeface="Arial"/>
              <a:buChar char="•"/>
            </a:pPr>
            <a:r>
              <a:rPr lang="en-US" sz="1150" b="1">
                <a:solidFill>
                  <a:srgbClr val="000000"/>
                </a:solidFill>
                <a:latin typeface="Garet Bold"/>
                <a:ea typeface="Garet Bold"/>
                <a:cs typeface="Garet Bold"/>
                <a:sym typeface="Garet Bold"/>
              </a:rPr>
              <a:t>BUSINESS OWNER:</a:t>
            </a:r>
            <a:r>
              <a:rPr lang="en-US" sz="1150">
                <a:solidFill>
                  <a:srgbClr val="000000"/>
                </a:solidFill>
                <a:latin typeface="Garet"/>
                <a:ea typeface="Garet"/>
                <a:cs typeface="Garet"/>
                <a:sym typeface="Garet"/>
              </a:rPr>
              <a:t> </a:t>
            </a:r>
            <a:endParaRPr lang="en-US" sz="1150">
              <a:solidFill>
                <a:srgbClr val="000000"/>
              </a:solidFill>
              <a:latin typeface="Garet"/>
              <a:ea typeface="Garet"/>
              <a:cs typeface="Garet"/>
            </a:endParaRPr>
          </a:p>
          <a:p>
            <a:pPr marL="253365" lvl="1" indent="-126365" algn="l">
              <a:lnSpc>
                <a:spcPts val="1646"/>
              </a:lnSpc>
              <a:buFont typeface="Arial"/>
              <a:buChar char="•"/>
            </a:pPr>
            <a:r>
              <a:rPr lang="en-US" sz="1150" b="1">
                <a:solidFill>
                  <a:srgbClr val="000000"/>
                </a:solidFill>
                <a:latin typeface="Garet Bold"/>
                <a:ea typeface="Garet Bold"/>
                <a:cs typeface="Garet Bold"/>
                <a:sym typeface="Garet Bold"/>
              </a:rPr>
              <a:t>PERCENT COMPLETE:</a:t>
            </a:r>
            <a:r>
              <a:rPr lang="en-US" sz="1150">
                <a:solidFill>
                  <a:srgbClr val="000000"/>
                </a:solidFill>
                <a:latin typeface="Garet"/>
                <a:ea typeface="Garet"/>
                <a:cs typeface="Garet"/>
                <a:sym typeface="Garet"/>
              </a:rPr>
              <a:t> </a:t>
            </a:r>
            <a:endParaRPr lang="en-US" sz="1150">
              <a:solidFill>
                <a:srgbClr val="000000"/>
              </a:solidFill>
              <a:latin typeface="Garet"/>
              <a:ea typeface="Garet"/>
              <a:cs typeface="Garet"/>
            </a:endParaRPr>
          </a:p>
          <a:p>
            <a:pPr marL="253365" lvl="1" indent="-126365" algn="l">
              <a:lnSpc>
                <a:spcPts val="1646"/>
              </a:lnSpc>
              <a:buFont typeface="Arial"/>
              <a:buChar char="•"/>
            </a:pPr>
            <a:r>
              <a:rPr lang="en-US" sz="1150" b="1">
                <a:solidFill>
                  <a:srgbClr val="000000"/>
                </a:solidFill>
                <a:latin typeface="Garet Bold"/>
                <a:ea typeface="Garet Bold"/>
                <a:cs typeface="Garet Bold"/>
                <a:sym typeface="Garet Bold"/>
              </a:rPr>
              <a:t>BUDGET STATUS:</a:t>
            </a:r>
            <a:endParaRPr lang="en-US" sz="1150">
              <a:solidFill>
                <a:srgbClr val="000000"/>
              </a:solidFill>
              <a:latin typeface="Garet"/>
              <a:ea typeface="Garet"/>
              <a:cs typeface="Garet"/>
            </a:endParaRPr>
          </a:p>
          <a:p>
            <a:pPr marL="253365" lvl="1" indent="-126365">
              <a:lnSpc>
                <a:spcPts val="1646"/>
              </a:lnSpc>
              <a:buFont typeface="Arial"/>
              <a:buChar char="•"/>
            </a:pPr>
            <a:r>
              <a:rPr lang="en-US" sz="1150" b="1">
                <a:solidFill>
                  <a:srgbClr val="000000"/>
                </a:solidFill>
                <a:latin typeface="Garet Bold"/>
                <a:ea typeface="Garet Bold"/>
                <a:cs typeface="Garet Bold"/>
                <a:sym typeface="Garet Bold"/>
              </a:rPr>
              <a:t>TIMELINE:</a:t>
            </a:r>
            <a:endParaRPr lang="en-US" sz="1150">
              <a:solidFill>
                <a:srgbClr val="000000"/>
              </a:solidFill>
              <a:latin typeface="Garet"/>
              <a:ea typeface="Garet Bold"/>
              <a:cs typeface="Garet Bold"/>
            </a:endParaRPr>
          </a:p>
          <a:p>
            <a:pPr marL="253365" lvl="1" indent="-126365" algn="l">
              <a:lnSpc>
                <a:spcPts val="1646"/>
              </a:lnSpc>
              <a:buFont typeface="Arial"/>
              <a:buChar char="•"/>
            </a:pPr>
            <a:r>
              <a:rPr lang="en-US" sz="1150" b="1">
                <a:solidFill>
                  <a:srgbClr val="000000"/>
                </a:solidFill>
                <a:latin typeface="Garet Bold"/>
                <a:ea typeface="Garet Bold"/>
                <a:cs typeface="Garet Bold"/>
                <a:sym typeface="Garet Bold"/>
              </a:rPr>
              <a:t>KEY MILESTONES ACHIEVED:</a:t>
            </a:r>
            <a:endParaRPr lang="en-US" sz="1150">
              <a:solidFill>
                <a:srgbClr val="000000"/>
              </a:solidFill>
              <a:latin typeface="Garet"/>
              <a:ea typeface="Garet"/>
              <a:cs typeface="Garet"/>
            </a:endParaRPr>
          </a:p>
          <a:p>
            <a:pPr marL="223520" lvl="1" indent="-111760" algn="l">
              <a:lnSpc>
                <a:spcPts val="1450"/>
              </a:lnSpc>
              <a:buFont typeface="Arial"/>
              <a:buChar char="•"/>
            </a:pPr>
            <a:r>
              <a:rPr lang="en-US" sz="1000" b="1">
                <a:solidFill>
                  <a:srgbClr val="000000"/>
                </a:solidFill>
                <a:latin typeface="Garet Bold"/>
                <a:ea typeface="Garet Bold"/>
                <a:cs typeface="Garet Bold"/>
                <a:sym typeface="Garet Bold"/>
              </a:rPr>
              <a:t>ACTION ITEM: </a:t>
            </a:r>
            <a:endParaRPr lang="en-US" sz="1000">
              <a:solidFill>
                <a:srgbClr val="000000"/>
              </a:solidFill>
              <a:latin typeface="Garet"/>
              <a:ea typeface="Garet"/>
              <a:cs typeface="Garet"/>
            </a:endParaRPr>
          </a:p>
          <a:p>
            <a:pPr algn="l">
              <a:lnSpc>
                <a:spcPts val="1646"/>
              </a:lnSpc>
              <a:spcBef>
                <a:spcPct val="0"/>
              </a:spcBef>
            </a:pPr>
            <a:endParaRPr lang="en-US" sz="1035">
              <a:solidFill>
                <a:srgbClr val="000000"/>
              </a:solidFill>
              <a:latin typeface="Garet"/>
              <a:ea typeface="Garet"/>
              <a:cs typeface="Garet"/>
              <a:sym typeface="Garet"/>
            </a:endParaRPr>
          </a:p>
        </p:txBody>
      </p:sp>
      <p:grpSp>
        <p:nvGrpSpPr>
          <p:cNvPr id="34" name="Group 34"/>
          <p:cNvGrpSpPr/>
          <p:nvPr/>
        </p:nvGrpSpPr>
        <p:grpSpPr>
          <a:xfrm>
            <a:off x="9281354" y="1381764"/>
            <a:ext cx="4226259" cy="2518046"/>
            <a:chOff x="0" y="0"/>
            <a:chExt cx="1082051" cy="644696"/>
          </a:xfrm>
        </p:grpSpPr>
        <p:sp>
          <p:nvSpPr>
            <p:cNvPr id="35" name="Freeform 35"/>
            <p:cNvSpPr/>
            <p:nvPr/>
          </p:nvSpPr>
          <p:spPr>
            <a:xfrm>
              <a:off x="0" y="0"/>
              <a:ext cx="1082051" cy="644696"/>
            </a:xfrm>
            <a:custGeom>
              <a:avLst/>
              <a:gdLst/>
              <a:ahLst/>
              <a:cxnLst/>
              <a:rect l="l" t="t" r="r" b="b"/>
              <a:pathLst>
                <a:path w="1082051" h="644696">
                  <a:moveTo>
                    <a:pt x="20150" y="0"/>
                  </a:moveTo>
                  <a:lnTo>
                    <a:pt x="1061900" y="0"/>
                  </a:lnTo>
                  <a:cubicBezTo>
                    <a:pt x="1067244" y="0"/>
                    <a:pt x="1072370" y="2123"/>
                    <a:pt x="1076149" y="5902"/>
                  </a:cubicBezTo>
                  <a:cubicBezTo>
                    <a:pt x="1079928" y="9681"/>
                    <a:pt x="1082051" y="14806"/>
                    <a:pt x="1082051" y="20150"/>
                  </a:cubicBezTo>
                  <a:lnTo>
                    <a:pt x="1082051" y="624546"/>
                  </a:lnTo>
                  <a:cubicBezTo>
                    <a:pt x="1082051" y="629890"/>
                    <a:pt x="1079928" y="635015"/>
                    <a:pt x="1076149" y="638794"/>
                  </a:cubicBezTo>
                  <a:cubicBezTo>
                    <a:pt x="1072370" y="642573"/>
                    <a:pt x="1067244" y="644696"/>
                    <a:pt x="1061900" y="644696"/>
                  </a:cubicBezTo>
                  <a:lnTo>
                    <a:pt x="20150" y="644696"/>
                  </a:lnTo>
                  <a:cubicBezTo>
                    <a:pt x="14806" y="644696"/>
                    <a:pt x="9681" y="642573"/>
                    <a:pt x="5902" y="638794"/>
                  </a:cubicBezTo>
                  <a:cubicBezTo>
                    <a:pt x="2123" y="635015"/>
                    <a:pt x="0" y="629890"/>
                    <a:pt x="0" y="624546"/>
                  </a:cubicBezTo>
                  <a:lnTo>
                    <a:pt x="0" y="20150"/>
                  </a:lnTo>
                  <a:cubicBezTo>
                    <a:pt x="0" y="14806"/>
                    <a:pt x="2123" y="9681"/>
                    <a:pt x="5902" y="5902"/>
                  </a:cubicBezTo>
                  <a:cubicBezTo>
                    <a:pt x="9681" y="2123"/>
                    <a:pt x="14806" y="0"/>
                    <a:pt x="20150" y="0"/>
                  </a:cubicBezTo>
                  <a:close/>
                </a:path>
              </a:pathLst>
            </a:custGeom>
            <a:solidFill>
              <a:srgbClr val="E4E7E8"/>
            </a:solidFill>
            <a:ln cap="sq">
              <a:noFill/>
              <a:prstDash val="solid"/>
              <a:miter/>
            </a:ln>
          </p:spPr>
          <p:txBody>
            <a:bodyPr/>
            <a:lstStyle/>
            <a:p>
              <a:endParaRPr lang="en-US"/>
            </a:p>
          </p:txBody>
        </p:sp>
        <p:sp>
          <p:nvSpPr>
            <p:cNvPr id="36" name="TextBox 36"/>
            <p:cNvSpPr txBox="1"/>
            <p:nvPr/>
          </p:nvSpPr>
          <p:spPr>
            <a:xfrm>
              <a:off x="0" y="-28575"/>
              <a:ext cx="1082051" cy="673271"/>
            </a:xfrm>
            <a:prstGeom prst="rect">
              <a:avLst/>
            </a:prstGeom>
          </p:spPr>
          <p:txBody>
            <a:bodyPr lIns="50800" tIns="50800" rIns="50800" bIns="50800" rtlCol="0" anchor="t"/>
            <a:lstStyle/>
            <a:p>
              <a:pPr algn="ctr">
                <a:lnSpc>
                  <a:spcPts val="1679"/>
                </a:lnSpc>
              </a:pPr>
              <a:r>
                <a:rPr lang="en-US" sz="1200">
                  <a:solidFill>
                    <a:srgbClr val="03A39D"/>
                  </a:solidFill>
                  <a:latin typeface="Garet"/>
                  <a:ea typeface="Garet"/>
                  <a:cs typeface="Garet"/>
                  <a:sym typeface="Garet"/>
                </a:rPr>
                <a:t>GAS STATION</a:t>
              </a:r>
            </a:p>
          </p:txBody>
        </p:sp>
      </p:grpSp>
      <p:grpSp>
        <p:nvGrpSpPr>
          <p:cNvPr id="37" name="Group 37"/>
          <p:cNvGrpSpPr/>
          <p:nvPr/>
        </p:nvGrpSpPr>
        <p:grpSpPr>
          <a:xfrm>
            <a:off x="13706134" y="1381764"/>
            <a:ext cx="4226259" cy="2518046"/>
            <a:chOff x="0" y="0"/>
            <a:chExt cx="1082051" cy="644696"/>
          </a:xfrm>
        </p:grpSpPr>
        <p:sp>
          <p:nvSpPr>
            <p:cNvPr id="38" name="Freeform 38"/>
            <p:cNvSpPr/>
            <p:nvPr/>
          </p:nvSpPr>
          <p:spPr>
            <a:xfrm>
              <a:off x="0" y="0"/>
              <a:ext cx="1082051" cy="644696"/>
            </a:xfrm>
            <a:custGeom>
              <a:avLst/>
              <a:gdLst/>
              <a:ahLst/>
              <a:cxnLst/>
              <a:rect l="l" t="t" r="r" b="b"/>
              <a:pathLst>
                <a:path w="1082051" h="644696">
                  <a:moveTo>
                    <a:pt x="20150" y="0"/>
                  </a:moveTo>
                  <a:lnTo>
                    <a:pt x="1061900" y="0"/>
                  </a:lnTo>
                  <a:cubicBezTo>
                    <a:pt x="1067244" y="0"/>
                    <a:pt x="1072370" y="2123"/>
                    <a:pt x="1076149" y="5902"/>
                  </a:cubicBezTo>
                  <a:cubicBezTo>
                    <a:pt x="1079928" y="9681"/>
                    <a:pt x="1082051" y="14806"/>
                    <a:pt x="1082051" y="20150"/>
                  </a:cubicBezTo>
                  <a:lnTo>
                    <a:pt x="1082051" y="624546"/>
                  </a:lnTo>
                  <a:cubicBezTo>
                    <a:pt x="1082051" y="629890"/>
                    <a:pt x="1079928" y="635015"/>
                    <a:pt x="1076149" y="638794"/>
                  </a:cubicBezTo>
                  <a:cubicBezTo>
                    <a:pt x="1072370" y="642573"/>
                    <a:pt x="1067244" y="644696"/>
                    <a:pt x="1061900" y="644696"/>
                  </a:cubicBezTo>
                  <a:lnTo>
                    <a:pt x="20150" y="644696"/>
                  </a:lnTo>
                  <a:cubicBezTo>
                    <a:pt x="14806" y="644696"/>
                    <a:pt x="9681" y="642573"/>
                    <a:pt x="5902" y="638794"/>
                  </a:cubicBezTo>
                  <a:cubicBezTo>
                    <a:pt x="2123" y="635015"/>
                    <a:pt x="0" y="629890"/>
                    <a:pt x="0" y="624546"/>
                  </a:cubicBezTo>
                  <a:lnTo>
                    <a:pt x="0" y="20150"/>
                  </a:lnTo>
                  <a:cubicBezTo>
                    <a:pt x="0" y="14806"/>
                    <a:pt x="2123" y="9681"/>
                    <a:pt x="5902" y="5902"/>
                  </a:cubicBezTo>
                  <a:cubicBezTo>
                    <a:pt x="9681" y="2123"/>
                    <a:pt x="14806" y="0"/>
                    <a:pt x="20150" y="0"/>
                  </a:cubicBezTo>
                  <a:close/>
                </a:path>
              </a:pathLst>
            </a:custGeom>
            <a:solidFill>
              <a:srgbClr val="E4E7E8"/>
            </a:solidFill>
            <a:ln cap="sq">
              <a:noFill/>
              <a:prstDash val="solid"/>
              <a:miter/>
            </a:ln>
          </p:spPr>
          <p:txBody>
            <a:bodyPr/>
            <a:lstStyle/>
            <a:p>
              <a:endParaRPr lang="en-US"/>
            </a:p>
          </p:txBody>
        </p:sp>
        <p:sp>
          <p:nvSpPr>
            <p:cNvPr id="39" name="TextBox 39"/>
            <p:cNvSpPr txBox="1"/>
            <p:nvPr/>
          </p:nvSpPr>
          <p:spPr>
            <a:xfrm>
              <a:off x="0" y="-28575"/>
              <a:ext cx="1082051" cy="673271"/>
            </a:xfrm>
            <a:prstGeom prst="rect">
              <a:avLst/>
            </a:prstGeom>
          </p:spPr>
          <p:txBody>
            <a:bodyPr lIns="50800" tIns="50800" rIns="50800" bIns="50800" rtlCol="0" anchor="t"/>
            <a:lstStyle/>
            <a:p>
              <a:pPr algn="ctr">
                <a:lnSpc>
                  <a:spcPts val="1679"/>
                </a:lnSpc>
              </a:pPr>
              <a:r>
                <a:rPr lang="en-US" sz="1200">
                  <a:solidFill>
                    <a:srgbClr val="03A39D"/>
                  </a:solidFill>
                  <a:latin typeface="Garet"/>
                  <a:ea typeface="Garet"/>
                  <a:cs typeface="Garet"/>
                  <a:sym typeface="Garet"/>
                </a:rPr>
                <a:t>XPI PROJECT</a:t>
              </a:r>
            </a:p>
          </p:txBody>
        </p:sp>
      </p:grpSp>
      <p:sp>
        <p:nvSpPr>
          <p:cNvPr id="40" name="AutoShape 40"/>
          <p:cNvSpPr/>
          <p:nvPr/>
        </p:nvSpPr>
        <p:spPr>
          <a:xfrm>
            <a:off x="9735678" y="1778281"/>
            <a:ext cx="3244715" cy="0"/>
          </a:xfrm>
          <a:prstGeom prst="line">
            <a:avLst/>
          </a:prstGeom>
          <a:ln w="9525" cap="flat">
            <a:solidFill>
              <a:srgbClr val="000000"/>
            </a:solidFill>
            <a:prstDash val="solid"/>
            <a:headEnd type="none" w="sm" len="sm"/>
            <a:tailEnd type="none" w="sm" len="sm"/>
          </a:ln>
        </p:spPr>
        <p:txBody>
          <a:bodyPr/>
          <a:lstStyle/>
          <a:p>
            <a:endParaRPr lang="en-US"/>
          </a:p>
        </p:txBody>
      </p:sp>
      <p:sp>
        <p:nvSpPr>
          <p:cNvPr id="41" name="AutoShape 41"/>
          <p:cNvSpPr/>
          <p:nvPr/>
        </p:nvSpPr>
        <p:spPr>
          <a:xfrm>
            <a:off x="14196906" y="1778281"/>
            <a:ext cx="3244715" cy="0"/>
          </a:xfrm>
          <a:prstGeom prst="line">
            <a:avLst/>
          </a:prstGeom>
          <a:ln w="9525" cap="flat">
            <a:solidFill>
              <a:srgbClr val="000000"/>
            </a:solidFill>
            <a:prstDash val="solid"/>
            <a:headEnd type="none" w="sm" len="sm"/>
            <a:tailEnd type="none" w="sm" len="sm"/>
          </a:ln>
        </p:spPr>
        <p:txBody>
          <a:bodyPr/>
          <a:lstStyle/>
          <a:p>
            <a:endParaRPr lang="en-US"/>
          </a:p>
        </p:txBody>
      </p:sp>
      <p:sp>
        <p:nvSpPr>
          <p:cNvPr id="42" name="TextBox 42"/>
          <p:cNvSpPr txBox="1"/>
          <p:nvPr/>
        </p:nvSpPr>
        <p:spPr>
          <a:xfrm>
            <a:off x="9281354" y="1869236"/>
            <a:ext cx="4226259" cy="1429237"/>
          </a:xfrm>
          <a:prstGeom prst="rect">
            <a:avLst/>
          </a:prstGeom>
        </p:spPr>
        <p:txBody>
          <a:bodyPr lIns="0" tIns="0" rIns="0" bIns="0" rtlCol="0" anchor="t">
            <a:spAutoFit/>
          </a:bodyPr>
          <a:lstStyle/>
          <a:p>
            <a:pPr marL="253365" lvl="1" indent="-126365" algn="l">
              <a:lnSpc>
                <a:spcPts val="1646"/>
              </a:lnSpc>
              <a:buFont typeface="Arial"/>
              <a:buChar char="•"/>
            </a:pPr>
            <a:r>
              <a:rPr lang="en-US" sz="1150" b="1">
                <a:solidFill>
                  <a:srgbClr val="000000"/>
                </a:solidFill>
                <a:latin typeface="Garet Bold"/>
                <a:ea typeface="Garet Bold"/>
                <a:cs typeface="Garet Bold"/>
                <a:sym typeface="Garet Bold"/>
              </a:rPr>
              <a:t>VENDOR:</a:t>
            </a:r>
            <a:r>
              <a:rPr lang="en-US" sz="1150">
                <a:solidFill>
                  <a:srgbClr val="000000"/>
                </a:solidFill>
                <a:latin typeface="Garet"/>
                <a:ea typeface="Garet"/>
                <a:cs typeface="Garet"/>
                <a:sym typeface="Garet"/>
              </a:rPr>
              <a:t> CBI</a:t>
            </a:r>
            <a:endParaRPr lang="en-US"/>
          </a:p>
          <a:p>
            <a:pPr marL="253365" lvl="1" indent="-126365">
              <a:lnSpc>
                <a:spcPts val="1646"/>
              </a:lnSpc>
              <a:buFont typeface="Arial"/>
              <a:buChar char="•"/>
            </a:pPr>
            <a:r>
              <a:rPr lang="en-US" sz="1150" b="1">
                <a:solidFill>
                  <a:srgbClr val="000000"/>
                </a:solidFill>
                <a:latin typeface="Garet Bold"/>
                <a:ea typeface="Garet Bold"/>
                <a:cs typeface="Garet Bold"/>
                <a:sym typeface="Garet Bold"/>
              </a:rPr>
              <a:t>BUSINESS OWNER:</a:t>
            </a:r>
            <a:r>
              <a:rPr lang="en-US" sz="1150" b="1">
                <a:solidFill>
                  <a:srgbClr val="000000"/>
                </a:solidFill>
                <a:latin typeface="Garet Bold"/>
                <a:ea typeface="Garet"/>
                <a:cs typeface="Garet"/>
                <a:sym typeface="Garet"/>
              </a:rPr>
              <a:t> </a:t>
            </a:r>
            <a:r>
              <a:rPr lang="en-US" sz="1150" b="1" err="1">
                <a:solidFill>
                  <a:srgbClr val="000000"/>
                </a:solidFill>
                <a:latin typeface="Garet Bold"/>
                <a:ea typeface="Garet"/>
                <a:cs typeface="Garet"/>
                <a:sym typeface="Garet"/>
              </a:rPr>
              <a:t>Bzhar</a:t>
            </a:r>
            <a:r>
              <a:rPr lang="en-US" sz="1150" b="1">
                <a:solidFill>
                  <a:srgbClr val="000000"/>
                </a:solidFill>
                <a:latin typeface="Garet Bold"/>
                <a:ea typeface="Garet"/>
                <a:cs typeface="Garet"/>
                <a:sym typeface="Garet"/>
              </a:rPr>
              <a:t> Omar</a:t>
            </a:r>
            <a:endParaRPr lang="en-US" sz="1150" b="1">
              <a:solidFill>
                <a:srgbClr val="000000"/>
              </a:solidFill>
              <a:latin typeface="Garet Bold"/>
              <a:ea typeface="Garet"/>
              <a:cs typeface="Garet"/>
            </a:endParaRPr>
          </a:p>
          <a:p>
            <a:pPr marL="253365" lvl="1" indent="-126365" algn="l">
              <a:lnSpc>
                <a:spcPts val="1646"/>
              </a:lnSpc>
              <a:spcBef>
                <a:spcPct val="0"/>
              </a:spcBef>
              <a:buFont typeface="Arial"/>
              <a:buChar char="•"/>
            </a:pPr>
            <a:r>
              <a:rPr lang="en-US" sz="1150" b="1">
                <a:solidFill>
                  <a:srgbClr val="000000"/>
                </a:solidFill>
                <a:latin typeface="Garet Bold"/>
                <a:ea typeface="Garet Bold"/>
                <a:cs typeface="Garet Bold"/>
                <a:sym typeface="Garet Bold"/>
              </a:rPr>
              <a:t>PERCENT COMPLETE:</a:t>
            </a:r>
            <a:r>
              <a:rPr lang="en-US" sz="1150">
                <a:solidFill>
                  <a:srgbClr val="000000"/>
                </a:solidFill>
                <a:latin typeface="Garet"/>
                <a:ea typeface="Garet"/>
                <a:cs typeface="Garet"/>
                <a:sym typeface="Garet"/>
              </a:rPr>
              <a:t> 100 %</a:t>
            </a:r>
            <a:endParaRPr lang="en-US" sz="1150">
              <a:solidFill>
                <a:srgbClr val="000000"/>
              </a:solidFill>
              <a:latin typeface="Garet"/>
              <a:ea typeface="Garet"/>
              <a:cs typeface="Garet"/>
            </a:endParaRPr>
          </a:p>
          <a:p>
            <a:pPr marL="253365" lvl="1" indent="-126365" algn="l">
              <a:lnSpc>
                <a:spcPts val="1646"/>
              </a:lnSpc>
              <a:spcBef>
                <a:spcPct val="0"/>
              </a:spcBef>
              <a:buFont typeface="Arial"/>
              <a:buChar char="•"/>
            </a:pPr>
            <a:r>
              <a:rPr lang="en-US" sz="1150" b="1">
                <a:solidFill>
                  <a:srgbClr val="000000"/>
                </a:solidFill>
                <a:latin typeface="Garet Bold"/>
                <a:ea typeface="Garet Bold"/>
                <a:cs typeface="Garet Bold"/>
                <a:sym typeface="Garet Bold"/>
              </a:rPr>
              <a:t>BUDGET STATUS:</a:t>
            </a:r>
            <a:r>
              <a:rPr lang="en-US" sz="1150">
                <a:solidFill>
                  <a:srgbClr val="000000"/>
                </a:solidFill>
                <a:latin typeface="Garet"/>
                <a:ea typeface="Garet"/>
                <a:cs typeface="Garet"/>
                <a:sym typeface="Garet"/>
              </a:rPr>
              <a:t> ON BUDGET</a:t>
            </a:r>
            <a:endParaRPr lang="en-US" sz="1150">
              <a:solidFill>
                <a:srgbClr val="000000"/>
              </a:solidFill>
              <a:latin typeface="Garet"/>
              <a:ea typeface="Garet"/>
              <a:cs typeface="Garet"/>
            </a:endParaRPr>
          </a:p>
          <a:p>
            <a:pPr marL="253365" lvl="1" indent="-126365" algn="l">
              <a:lnSpc>
                <a:spcPts val="1646"/>
              </a:lnSpc>
              <a:spcBef>
                <a:spcPct val="0"/>
              </a:spcBef>
              <a:buFont typeface="Arial"/>
              <a:buChar char="•"/>
            </a:pPr>
            <a:r>
              <a:rPr lang="en-US" sz="1150" b="1">
                <a:solidFill>
                  <a:srgbClr val="000000"/>
                </a:solidFill>
                <a:latin typeface="Garet Bold"/>
                <a:ea typeface="Garet Bold"/>
                <a:cs typeface="Garet Bold"/>
                <a:sym typeface="Garet Bold"/>
              </a:rPr>
              <a:t>TIMELINE:</a:t>
            </a:r>
            <a:r>
              <a:rPr lang="en-US" sz="1150">
                <a:solidFill>
                  <a:srgbClr val="000000"/>
                </a:solidFill>
                <a:latin typeface="Garet"/>
                <a:ea typeface="Garet"/>
                <a:cs typeface="Garet"/>
                <a:sym typeface="Garet"/>
              </a:rPr>
              <a:t> </a:t>
            </a:r>
            <a:r>
              <a:rPr lang="en-US" sz="1200" b="1">
                <a:solidFill>
                  <a:srgbClr val="00BF63"/>
                </a:solidFill>
                <a:latin typeface="Garet Bold"/>
                <a:ea typeface="Garet"/>
                <a:cs typeface="Garet"/>
                <a:sym typeface="Garet"/>
              </a:rPr>
              <a:t>on-track</a:t>
            </a:r>
            <a:endParaRPr lang="en-US" sz="1150" b="1">
              <a:solidFill>
                <a:srgbClr val="FF3131"/>
              </a:solidFill>
              <a:latin typeface="Garet Bold"/>
              <a:ea typeface="Garet Bold"/>
              <a:cs typeface="Garet Bold"/>
            </a:endParaRPr>
          </a:p>
          <a:p>
            <a:pPr marL="253365" lvl="1" indent="-126365">
              <a:lnSpc>
                <a:spcPts val="1646"/>
              </a:lnSpc>
              <a:spcBef>
                <a:spcPct val="0"/>
              </a:spcBef>
              <a:buFont typeface="Arial"/>
              <a:buChar char="•"/>
            </a:pPr>
            <a:r>
              <a:rPr lang="en-US" sz="1150" b="1">
                <a:solidFill>
                  <a:srgbClr val="000000"/>
                </a:solidFill>
                <a:latin typeface="Garet Bold"/>
                <a:ea typeface="Garet Bold"/>
                <a:cs typeface="Garet Bold"/>
                <a:sym typeface="Garet Bold"/>
              </a:rPr>
              <a:t>KEY MILESTONES ACHIEVED:</a:t>
            </a:r>
            <a:r>
              <a:rPr lang="en-US" sz="1150">
                <a:solidFill>
                  <a:srgbClr val="000000"/>
                </a:solidFill>
                <a:latin typeface="Garet"/>
                <a:ea typeface="Garet"/>
                <a:cs typeface="Garet"/>
                <a:sym typeface="Garet"/>
              </a:rPr>
              <a:t> Go-Live</a:t>
            </a:r>
            <a:endParaRPr lang="en-US" sz="1150">
              <a:solidFill>
                <a:srgbClr val="000000"/>
              </a:solidFill>
              <a:latin typeface="Garet"/>
              <a:ea typeface="Garet"/>
              <a:cs typeface="Garet"/>
            </a:endParaRPr>
          </a:p>
          <a:p>
            <a:pPr marL="253365" lvl="1" indent="-126365">
              <a:lnSpc>
                <a:spcPts val="1646"/>
              </a:lnSpc>
              <a:spcBef>
                <a:spcPct val="0"/>
              </a:spcBef>
              <a:buFont typeface="Arial"/>
              <a:buChar char="•"/>
            </a:pPr>
            <a:r>
              <a:rPr lang="en-US" sz="1150" b="1">
                <a:solidFill>
                  <a:srgbClr val="000000"/>
                </a:solidFill>
                <a:latin typeface="Garet Bold"/>
                <a:ea typeface="Garet Bold"/>
                <a:cs typeface="Garet Bold"/>
                <a:sym typeface="Garet Bold"/>
              </a:rPr>
              <a:t>ACTION ITEM: </a:t>
            </a:r>
            <a:r>
              <a:rPr lang="en-US" sz="1150">
                <a:solidFill>
                  <a:srgbClr val="000000"/>
                </a:solidFill>
                <a:latin typeface="Garet Bold"/>
                <a:ea typeface="Garet Bold"/>
                <a:cs typeface="Garet Bold"/>
                <a:sym typeface="Garet"/>
              </a:rPr>
              <a:t>Credentials received from CBI</a:t>
            </a:r>
            <a:endParaRPr lang="en-US" sz="1150">
              <a:solidFill>
                <a:srgbClr val="000000"/>
              </a:solidFill>
              <a:latin typeface="Garet"/>
              <a:ea typeface="Garet"/>
              <a:cs typeface="Garet"/>
            </a:endParaRPr>
          </a:p>
        </p:txBody>
      </p:sp>
      <p:sp>
        <p:nvSpPr>
          <p:cNvPr id="43" name="TextBox 43"/>
          <p:cNvSpPr txBox="1"/>
          <p:nvPr/>
        </p:nvSpPr>
        <p:spPr>
          <a:xfrm>
            <a:off x="13706134" y="1869236"/>
            <a:ext cx="4226259" cy="1635384"/>
          </a:xfrm>
          <a:prstGeom prst="rect">
            <a:avLst/>
          </a:prstGeom>
        </p:spPr>
        <p:txBody>
          <a:bodyPr lIns="0" tIns="0" rIns="0" bIns="0" rtlCol="0" anchor="t">
            <a:spAutoFit/>
          </a:bodyPr>
          <a:lstStyle/>
          <a:p>
            <a:pPr marL="253852" lvl="1" indent="-126926" algn="just">
              <a:lnSpc>
                <a:spcPts val="1646"/>
              </a:lnSpc>
              <a:buFont typeface="Arial"/>
              <a:buChar char="•"/>
            </a:pPr>
            <a:r>
              <a:rPr lang="en-US" sz="1175" b="1">
                <a:solidFill>
                  <a:srgbClr val="000000"/>
                </a:solidFill>
                <a:latin typeface="Garet Bold"/>
                <a:ea typeface="Garet Bold"/>
                <a:cs typeface="Garet Bold"/>
                <a:sym typeface="Garet Bold"/>
              </a:rPr>
              <a:t>VENDOR:</a:t>
            </a:r>
            <a:r>
              <a:rPr lang="en-US" sz="1175">
                <a:solidFill>
                  <a:srgbClr val="000000"/>
                </a:solidFill>
                <a:latin typeface="Garet"/>
                <a:ea typeface="Garet"/>
                <a:cs typeface="Garet"/>
                <a:sym typeface="Garet"/>
              </a:rPr>
              <a:t> ICSFS-BANKS</a:t>
            </a:r>
          </a:p>
          <a:p>
            <a:pPr marL="253852" lvl="1" indent="-126926" algn="just">
              <a:lnSpc>
                <a:spcPts val="1646"/>
              </a:lnSpc>
              <a:buFont typeface="Arial"/>
              <a:buChar char="•"/>
            </a:pPr>
            <a:r>
              <a:rPr lang="en-US" sz="1175" b="1">
                <a:solidFill>
                  <a:srgbClr val="000000"/>
                </a:solidFill>
                <a:latin typeface="Garet Bold"/>
                <a:ea typeface="Garet Bold"/>
                <a:cs typeface="Garet Bold"/>
                <a:sym typeface="Garet Bold"/>
              </a:rPr>
              <a:t>BUSINESS OWNER:</a:t>
            </a:r>
            <a:r>
              <a:rPr lang="en-US" sz="1175">
                <a:solidFill>
                  <a:srgbClr val="000000"/>
                </a:solidFill>
                <a:latin typeface="Garet"/>
                <a:ea typeface="Garet"/>
                <a:cs typeface="Garet"/>
                <a:sym typeface="Garet"/>
              </a:rPr>
              <a:t> SAHER ABDELHADI</a:t>
            </a:r>
          </a:p>
          <a:p>
            <a:pPr marL="253852" lvl="1" indent="-126926" algn="just">
              <a:lnSpc>
                <a:spcPts val="1646"/>
              </a:lnSpc>
              <a:buFont typeface="Arial"/>
              <a:buChar char="•"/>
            </a:pPr>
            <a:r>
              <a:rPr lang="en-US" sz="1175" b="1">
                <a:solidFill>
                  <a:srgbClr val="000000"/>
                </a:solidFill>
                <a:latin typeface="Garet Bold"/>
                <a:ea typeface="Garet Bold"/>
                <a:cs typeface="Garet Bold"/>
                <a:sym typeface="Garet Bold"/>
              </a:rPr>
              <a:t>Percent Complete:</a:t>
            </a:r>
            <a:r>
              <a:rPr lang="en-US" sz="1175">
                <a:solidFill>
                  <a:srgbClr val="000000"/>
                </a:solidFill>
                <a:latin typeface="Garet"/>
                <a:ea typeface="Garet"/>
                <a:cs typeface="Garet"/>
                <a:sym typeface="Garet"/>
              </a:rPr>
              <a:t> 95 %</a:t>
            </a:r>
          </a:p>
          <a:p>
            <a:pPr marL="253852" lvl="1" indent="-126926" algn="just">
              <a:lnSpc>
                <a:spcPts val="1646"/>
              </a:lnSpc>
              <a:buFont typeface="Arial"/>
              <a:buChar char="•"/>
            </a:pPr>
            <a:r>
              <a:rPr lang="en-US" sz="1175" b="1">
                <a:solidFill>
                  <a:srgbClr val="000000"/>
                </a:solidFill>
                <a:latin typeface="Garet Bold"/>
                <a:ea typeface="Garet Bold"/>
                <a:cs typeface="Garet Bold"/>
                <a:sym typeface="Garet Bold"/>
              </a:rPr>
              <a:t>Budget Status:</a:t>
            </a:r>
            <a:r>
              <a:rPr lang="en-US" sz="1175">
                <a:solidFill>
                  <a:srgbClr val="000000"/>
                </a:solidFill>
                <a:latin typeface="Garet"/>
                <a:ea typeface="Garet"/>
                <a:cs typeface="Garet"/>
                <a:sym typeface="Garet"/>
              </a:rPr>
              <a:t> on budget</a:t>
            </a:r>
          </a:p>
          <a:p>
            <a:pPr marL="253852" lvl="1" indent="-126926" algn="just">
              <a:lnSpc>
                <a:spcPts val="1646"/>
              </a:lnSpc>
              <a:buFont typeface="Arial"/>
              <a:buChar char="•"/>
            </a:pPr>
            <a:r>
              <a:rPr lang="en-US" sz="1175" b="1">
                <a:solidFill>
                  <a:srgbClr val="000000"/>
                </a:solidFill>
                <a:latin typeface="Garet Bold"/>
                <a:ea typeface="Garet Bold"/>
                <a:cs typeface="Garet Bold"/>
                <a:sym typeface="Garet Bold"/>
              </a:rPr>
              <a:t>Timeline:</a:t>
            </a:r>
            <a:r>
              <a:rPr lang="en-US" sz="1175">
                <a:solidFill>
                  <a:srgbClr val="000000"/>
                </a:solidFill>
                <a:latin typeface="Garet"/>
                <a:ea typeface="Garet"/>
                <a:cs typeface="Garet"/>
                <a:sym typeface="Garet"/>
              </a:rPr>
              <a:t> </a:t>
            </a:r>
            <a:r>
              <a:rPr lang="en-US" sz="1175" b="1">
                <a:solidFill>
                  <a:srgbClr val="00BF63"/>
                </a:solidFill>
                <a:latin typeface="Garet Bold"/>
                <a:ea typeface="Garet Bold"/>
                <a:cs typeface="Garet Bold"/>
                <a:sym typeface="Garet Bold"/>
              </a:rPr>
              <a:t>on-track</a:t>
            </a:r>
          </a:p>
          <a:p>
            <a:pPr marL="253852" lvl="1" indent="-126926" algn="just">
              <a:lnSpc>
                <a:spcPts val="1646"/>
              </a:lnSpc>
              <a:buFont typeface="Arial"/>
              <a:buChar char="•"/>
            </a:pPr>
            <a:r>
              <a:rPr lang="en-US" sz="1175" b="1">
                <a:solidFill>
                  <a:srgbClr val="000000"/>
                </a:solidFill>
                <a:latin typeface="Garet Bold"/>
                <a:ea typeface="Garet Bold"/>
                <a:cs typeface="Garet Bold"/>
                <a:sym typeface="Garet Bold"/>
              </a:rPr>
              <a:t>Key Milestones achieved:</a:t>
            </a:r>
            <a:r>
              <a:rPr lang="en-US" sz="1175">
                <a:solidFill>
                  <a:srgbClr val="000000"/>
                </a:solidFill>
                <a:latin typeface="Garet"/>
                <a:ea typeface="Garet"/>
                <a:cs typeface="Garet"/>
                <a:sym typeface="Garet"/>
              </a:rPr>
              <a:t> ongoing module</a:t>
            </a:r>
          </a:p>
          <a:p>
            <a:pPr marL="253365" lvl="1" indent="-126365" algn="l">
              <a:lnSpc>
                <a:spcPts val="1646"/>
              </a:lnSpc>
              <a:buFont typeface="Arial"/>
              <a:buChar char="•"/>
            </a:pPr>
            <a:r>
              <a:rPr lang="en-US" sz="1150" b="1">
                <a:solidFill>
                  <a:srgbClr val="000000"/>
                </a:solidFill>
                <a:latin typeface="Garet Bold"/>
                <a:ea typeface="Garet Bold"/>
                <a:cs typeface="Garet Bold"/>
                <a:sym typeface="Garet Bold"/>
              </a:rPr>
              <a:t>ACTION ITEM:</a:t>
            </a:r>
            <a:r>
              <a:rPr lang="en-US" sz="1150">
                <a:solidFill>
                  <a:srgbClr val="000000"/>
                </a:solidFill>
                <a:latin typeface="Garet"/>
                <a:ea typeface="Garet"/>
                <a:cs typeface="Garet"/>
                <a:sym typeface="Garet"/>
              </a:rPr>
              <a:t> </a:t>
            </a:r>
            <a:endParaRPr lang="en-US" sz="1150">
              <a:solidFill>
                <a:srgbClr val="000000"/>
              </a:solidFill>
              <a:latin typeface="Garet"/>
              <a:ea typeface="Garet"/>
              <a:cs typeface="Garet"/>
            </a:endParaRPr>
          </a:p>
          <a:p>
            <a:pPr algn="just">
              <a:lnSpc>
                <a:spcPts val="1646"/>
              </a:lnSpc>
              <a:spcBef>
                <a:spcPct val="0"/>
              </a:spcBef>
            </a:pPr>
            <a:endParaRPr lang="en-US" sz="1175">
              <a:solidFill>
                <a:srgbClr val="000000"/>
              </a:solidFill>
              <a:latin typeface="Garet"/>
              <a:ea typeface="Garet"/>
              <a:cs typeface="Garet"/>
              <a:sym typeface="Garet"/>
            </a:endParaRPr>
          </a:p>
        </p:txBody>
      </p:sp>
      <p:grpSp>
        <p:nvGrpSpPr>
          <p:cNvPr id="44" name="Group 44"/>
          <p:cNvGrpSpPr/>
          <p:nvPr/>
        </p:nvGrpSpPr>
        <p:grpSpPr>
          <a:xfrm>
            <a:off x="9281354" y="4361743"/>
            <a:ext cx="4226259" cy="2703250"/>
            <a:chOff x="0" y="0"/>
            <a:chExt cx="1082051" cy="692114"/>
          </a:xfrm>
        </p:grpSpPr>
        <p:sp>
          <p:nvSpPr>
            <p:cNvPr id="45" name="Freeform 45"/>
            <p:cNvSpPr/>
            <p:nvPr/>
          </p:nvSpPr>
          <p:spPr>
            <a:xfrm>
              <a:off x="0" y="0"/>
              <a:ext cx="1082051" cy="692114"/>
            </a:xfrm>
            <a:custGeom>
              <a:avLst/>
              <a:gdLst/>
              <a:ahLst/>
              <a:cxnLst/>
              <a:rect l="l" t="t" r="r" b="b"/>
              <a:pathLst>
                <a:path w="1082051" h="692114">
                  <a:moveTo>
                    <a:pt x="20150" y="0"/>
                  </a:moveTo>
                  <a:lnTo>
                    <a:pt x="1061900" y="0"/>
                  </a:lnTo>
                  <a:cubicBezTo>
                    <a:pt x="1067244" y="0"/>
                    <a:pt x="1072370" y="2123"/>
                    <a:pt x="1076149" y="5902"/>
                  </a:cubicBezTo>
                  <a:cubicBezTo>
                    <a:pt x="1079928" y="9681"/>
                    <a:pt x="1082051" y="14806"/>
                    <a:pt x="1082051" y="20150"/>
                  </a:cubicBezTo>
                  <a:lnTo>
                    <a:pt x="1082051" y="671964"/>
                  </a:lnTo>
                  <a:cubicBezTo>
                    <a:pt x="1082051" y="677308"/>
                    <a:pt x="1079928" y="682433"/>
                    <a:pt x="1076149" y="686212"/>
                  </a:cubicBezTo>
                  <a:cubicBezTo>
                    <a:pt x="1072370" y="689991"/>
                    <a:pt x="1067244" y="692114"/>
                    <a:pt x="1061900" y="692114"/>
                  </a:cubicBezTo>
                  <a:lnTo>
                    <a:pt x="20150" y="692114"/>
                  </a:lnTo>
                  <a:cubicBezTo>
                    <a:pt x="14806" y="692114"/>
                    <a:pt x="9681" y="689991"/>
                    <a:pt x="5902" y="686212"/>
                  </a:cubicBezTo>
                  <a:cubicBezTo>
                    <a:pt x="2123" y="682433"/>
                    <a:pt x="0" y="677308"/>
                    <a:pt x="0" y="671964"/>
                  </a:cubicBezTo>
                  <a:lnTo>
                    <a:pt x="0" y="20150"/>
                  </a:lnTo>
                  <a:cubicBezTo>
                    <a:pt x="0" y="14806"/>
                    <a:pt x="2123" y="9681"/>
                    <a:pt x="5902" y="5902"/>
                  </a:cubicBezTo>
                  <a:cubicBezTo>
                    <a:pt x="9681" y="2123"/>
                    <a:pt x="14806" y="0"/>
                    <a:pt x="20150" y="0"/>
                  </a:cubicBezTo>
                  <a:close/>
                </a:path>
              </a:pathLst>
            </a:custGeom>
            <a:solidFill>
              <a:srgbClr val="E4E7E8"/>
            </a:solidFill>
            <a:ln cap="sq">
              <a:noFill/>
              <a:prstDash val="solid"/>
              <a:miter/>
            </a:ln>
          </p:spPr>
          <p:txBody>
            <a:bodyPr/>
            <a:lstStyle/>
            <a:p>
              <a:endParaRPr lang="en-US"/>
            </a:p>
          </p:txBody>
        </p:sp>
        <p:sp>
          <p:nvSpPr>
            <p:cNvPr id="46" name="TextBox 46"/>
            <p:cNvSpPr txBox="1"/>
            <p:nvPr/>
          </p:nvSpPr>
          <p:spPr>
            <a:xfrm>
              <a:off x="0" y="-28575"/>
              <a:ext cx="1082051" cy="720689"/>
            </a:xfrm>
            <a:prstGeom prst="rect">
              <a:avLst/>
            </a:prstGeom>
          </p:spPr>
          <p:txBody>
            <a:bodyPr lIns="50800" tIns="50800" rIns="50800" bIns="50800" rtlCol="0" anchor="t"/>
            <a:lstStyle/>
            <a:p>
              <a:pPr algn="ctr">
                <a:lnSpc>
                  <a:spcPts val="1679"/>
                </a:lnSpc>
              </a:pPr>
              <a:r>
                <a:rPr lang="en-US" sz="1200">
                  <a:solidFill>
                    <a:srgbClr val="03A39D"/>
                  </a:solidFill>
                  <a:latin typeface="Garet"/>
                  <a:ea typeface="Garet"/>
                  <a:cs typeface="Garet"/>
                  <a:sym typeface="Garet"/>
                </a:rPr>
                <a:t>ZENHR - PROJECT</a:t>
              </a:r>
            </a:p>
          </p:txBody>
        </p:sp>
      </p:grpSp>
      <p:grpSp>
        <p:nvGrpSpPr>
          <p:cNvPr id="47" name="Group 47"/>
          <p:cNvGrpSpPr/>
          <p:nvPr/>
        </p:nvGrpSpPr>
        <p:grpSpPr>
          <a:xfrm>
            <a:off x="13381059" y="4361743"/>
            <a:ext cx="4551334" cy="2839570"/>
            <a:chOff x="-83229" y="0"/>
            <a:chExt cx="1165280" cy="727016"/>
          </a:xfrm>
        </p:grpSpPr>
        <p:sp>
          <p:nvSpPr>
            <p:cNvPr id="48" name="Freeform 48"/>
            <p:cNvSpPr/>
            <p:nvPr/>
          </p:nvSpPr>
          <p:spPr>
            <a:xfrm>
              <a:off x="0" y="0"/>
              <a:ext cx="1082051" cy="692114"/>
            </a:xfrm>
            <a:custGeom>
              <a:avLst/>
              <a:gdLst/>
              <a:ahLst/>
              <a:cxnLst/>
              <a:rect l="l" t="t" r="r" b="b"/>
              <a:pathLst>
                <a:path w="1082051" h="692114">
                  <a:moveTo>
                    <a:pt x="20150" y="0"/>
                  </a:moveTo>
                  <a:lnTo>
                    <a:pt x="1061900" y="0"/>
                  </a:lnTo>
                  <a:cubicBezTo>
                    <a:pt x="1067244" y="0"/>
                    <a:pt x="1072370" y="2123"/>
                    <a:pt x="1076149" y="5902"/>
                  </a:cubicBezTo>
                  <a:cubicBezTo>
                    <a:pt x="1079928" y="9681"/>
                    <a:pt x="1082051" y="14806"/>
                    <a:pt x="1082051" y="20150"/>
                  </a:cubicBezTo>
                  <a:lnTo>
                    <a:pt x="1082051" y="671964"/>
                  </a:lnTo>
                  <a:cubicBezTo>
                    <a:pt x="1082051" y="677308"/>
                    <a:pt x="1079928" y="682433"/>
                    <a:pt x="1076149" y="686212"/>
                  </a:cubicBezTo>
                  <a:cubicBezTo>
                    <a:pt x="1072370" y="689991"/>
                    <a:pt x="1067244" y="692114"/>
                    <a:pt x="1061900" y="692114"/>
                  </a:cubicBezTo>
                  <a:lnTo>
                    <a:pt x="20150" y="692114"/>
                  </a:lnTo>
                  <a:cubicBezTo>
                    <a:pt x="14806" y="692114"/>
                    <a:pt x="9681" y="689991"/>
                    <a:pt x="5902" y="686212"/>
                  </a:cubicBezTo>
                  <a:cubicBezTo>
                    <a:pt x="2123" y="682433"/>
                    <a:pt x="0" y="677308"/>
                    <a:pt x="0" y="671964"/>
                  </a:cubicBezTo>
                  <a:lnTo>
                    <a:pt x="0" y="20150"/>
                  </a:lnTo>
                  <a:cubicBezTo>
                    <a:pt x="0" y="14806"/>
                    <a:pt x="2123" y="9681"/>
                    <a:pt x="5902" y="5902"/>
                  </a:cubicBezTo>
                  <a:cubicBezTo>
                    <a:pt x="9681" y="2123"/>
                    <a:pt x="14806" y="0"/>
                    <a:pt x="20150" y="0"/>
                  </a:cubicBezTo>
                  <a:close/>
                </a:path>
              </a:pathLst>
            </a:custGeom>
            <a:solidFill>
              <a:srgbClr val="E4E7E8"/>
            </a:solidFill>
            <a:ln cap="sq">
              <a:noFill/>
              <a:prstDash val="solid"/>
              <a:miter/>
            </a:ln>
          </p:spPr>
          <p:txBody>
            <a:bodyPr/>
            <a:lstStyle/>
            <a:p>
              <a:endParaRPr lang="en-US"/>
            </a:p>
          </p:txBody>
        </p:sp>
        <p:sp>
          <p:nvSpPr>
            <p:cNvPr id="49" name="TextBox 49"/>
            <p:cNvSpPr txBox="1"/>
            <p:nvPr/>
          </p:nvSpPr>
          <p:spPr>
            <a:xfrm>
              <a:off x="-83229" y="6327"/>
              <a:ext cx="1082051" cy="720689"/>
            </a:xfrm>
            <a:prstGeom prst="rect">
              <a:avLst/>
            </a:prstGeom>
          </p:spPr>
          <p:txBody>
            <a:bodyPr lIns="50800" tIns="50800" rIns="50800" bIns="50800" rtlCol="0" anchor="t"/>
            <a:lstStyle/>
            <a:p>
              <a:pPr algn="ctr">
                <a:lnSpc>
                  <a:spcPts val="1679"/>
                </a:lnSpc>
              </a:pPr>
              <a:r>
                <a:rPr lang="en-US" sz="1200">
                  <a:solidFill>
                    <a:srgbClr val="03A39D"/>
                  </a:solidFill>
                  <a:latin typeface="Garet"/>
                  <a:ea typeface="Garet"/>
                  <a:cs typeface="Garet"/>
                  <a:sym typeface="Garet"/>
                </a:rPr>
                <a:t>Compliance PREDATOR</a:t>
              </a:r>
            </a:p>
          </p:txBody>
        </p:sp>
      </p:grpSp>
      <p:sp>
        <p:nvSpPr>
          <p:cNvPr id="50" name="AutoShape 50"/>
          <p:cNvSpPr/>
          <p:nvPr/>
        </p:nvSpPr>
        <p:spPr>
          <a:xfrm>
            <a:off x="14196906" y="4759594"/>
            <a:ext cx="3244715" cy="0"/>
          </a:xfrm>
          <a:prstGeom prst="line">
            <a:avLst/>
          </a:prstGeom>
          <a:ln w="9525" cap="flat">
            <a:solidFill>
              <a:srgbClr val="000000"/>
            </a:solidFill>
            <a:prstDash val="solid"/>
            <a:headEnd type="none" w="sm" len="sm"/>
            <a:tailEnd type="none" w="sm" len="sm"/>
          </a:ln>
        </p:spPr>
        <p:txBody>
          <a:bodyPr/>
          <a:lstStyle/>
          <a:p>
            <a:endParaRPr lang="en-US"/>
          </a:p>
        </p:txBody>
      </p:sp>
      <p:sp>
        <p:nvSpPr>
          <p:cNvPr id="51" name="AutoShape 51"/>
          <p:cNvSpPr/>
          <p:nvPr/>
        </p:nvSpPr>
        <p:spPr>
          <a:xfrm>
            <a:off x="9735678" y="4760928"/>
            <a:ext cx="3244715" cy="0"/>
          </a:xfrm>
          <a:prstGeom prst="line">
            <a:avLst/>
          </a:prstGeom>
          <a:ln w="9525" cap="flat">
            <a:solidFill>
              <a:srgbClr val="000000"/>
            </a:solidFill>
            <a:prstDash val="solid"/>
            <a:headEnd type="none" w="sm" len="sm"/>
            <a:tailEnd type="none" w="sm" len="sm"/>
          </a:ln>
        </p:spPr>
        <p:txBody>
          <a:bodyPr/>
          <a:lstStyle/>
          <a:p>
            <a:endParaRPr lang="en-US"/>
          </a:p>
        </p:txBody>
      </p:sp>
      <p:sp>
        <p:nvSpPr>
          <p:cNvPr id="52" name="TextBox 52"/>
          <p:cNvSpPr txBox="1"/>
          <p:nvPr/>
        </p:nvSpPr>
        <p:spPr>
          <a:xfrm>
            <a:off x="13706134" y="4877121"/>
            <a:ext cx="4226259" cy="2044791"/>
          </a:xfrm>
          <a:prstGeom prst="rect">
            <a:avLst/>
          </a:prstGeom>
        </p:spPr>
        <p:txBody>
          <a:bodyPr lIns="0" tIns="0" rIns="0" bIns="0" rtlCol="0" anchor="t">
            <a:spAutoFit/>
          </a:bodyPr>
          <a:lstStyle/>
          <a:p>
            <a:pPr marL="253365" lvl="1" indent="-126365" algn="l">
              <a:lnSpc>
                <a:spcPts val="1646"/>
              </a:lnSpc>
              <a:buFont typeface="Arial"/>
              <a:buChar char="•"/>
            </a:pPr>
            <a:r>
              <a:rPr lang="en-US" sz="1150" b="1">
                <a:solidFill>
                  <a:srgbClr val="000000"/>
                </a:solidFill>
                <a:latin typeface="Garet Bold"/>
                <a:ea typeface="Garet Bold"/>
                <a:cs typeface="Garet Bold"/>
                <a:sym typeface="Garet Bold"/>
              </a:rPr>
              <a:t>VENDOR: </a:t>
            </a:r>
            <a:r>
              <a:rPr lang="en-US" sz="1150">
                <a:solidFill>
                  <a:srgbClr val="000000"/>
                </a:solidFill>
                <a:latin typeface="Garet"/>
                <a:ea typeface="Garet Bold"/>
                <a:cs typeface="Garet Bold"/>
                <a:sym typeface="Garet"/>
              </a:rPr>
              <a:t>GBG</a:t>
            </a:r>
            <a:endParaRPr lang="en-US" sz="1150"/>
          </a:p>
          <a:p>
            <a:pPr marL="253365" lvl="1" indent="-126365">
              <a:lnSpc>
                <a:spcPts val="1646"/>
              </a:lnSpc>
              <a:buFont typeface="Arial"/>
              <a:buChar char="•"/>
            </a:pPr>
            <a:r>
              <a:rPr lang="en-US" sz="1150" b="1">
                <a:solidFill>
                  <a:srgbClr val="000000"/>
                </a:solidFill>
                <a:latin typeface="Garet Bold"/>
                <a:ea typeface="Garet Bold"/>
                <a:cs typeface="Garet Bold"/>
                <a:sym typeface="Garet Bold"/>
              </a:rPr>
              <a:t>BUSINESS OWNER:</a:t>
            </a:r>
            <a:r>
              <a:rPr lang="en-US" sz="1150">
                <a:solidFill>
                  <a:srgbClr val="000000"/>
                </a:solidFill>
                <a:latin typeface="Garet"/>
                <a:ea typeface="Garet"/>
                <a:cs typeface="Garet"/>
                <a:sym typeface="Garet"/>
              </a:rPr>
              <a:t> Goran Burhan</a:t>
            </a:r>
            <a:endParaRPr lang="en-US" sz="1150">
              <a:solidFill>
                <a:srgbClr val="000000"/>
              </a:solidFill>
              <a:latin typeface="Garet"/>
              <a:ea typeface="Garet"/>
              <a:cs typeface="Garet"/>
            </a:endParaRPr>
          </a:p>
          <a:p>
            <a:pPr marL="253365" lvl="1" indent="-126365">
              <a:lnSpc>
                <a:spcPts val="1646"/>
              </a:lnSpc>
              <a:buFont typeface="Arial"/>
              <a:buChar char="•"/>
            </a:pPr>
            <a:r>
              <a:rPr lang="en-US" sz="1150" b="1">
                <a:solidFill>
                  <a:srgbClr val="000000"/>
                </a:solidFill>
                <a:latin typeface="Garet Bold"/>
                <a:ea typeface="Garet Bold"/>
                <a:cs typeface="Garet Bold"/>
                <a:sym typeface="Garet Bold"/>
              </a:rPr>
              <a:t>PERCENT COMPLETE:</a:t>
            </a:r>
            <a:r>
              <a:rPr lang="en-US" sz="1150">
                <a:solidFill>
                  <a:srgbClr val="000000"/>
                </a:solidFill>
                <a:latin typeface="Garet"/>
                <a:ea typeface="Garet Bold"/>
                <a:cs typeface="Garet Bold"/>
                <a:sym typeface="Garet"/>
              </a:rPr>
              <a:t> 95</a:t>
            </a:r>
            <a:r>
              <a:rPr lang="en-US" sz="1150">
                <a:solidFill>
                  <a:srgbClr val="000000"/>
                </a:solidFill>
                <a:latin typeface="Garet"/>
                <a:ea typeface="Garet"/>
                <a:cs typeface="Garet"/>
                <a:sym typeface="Garet"/>
              </a:rPr>
              <a:t> %</a:t>
            </a:r>
            <a:endParaRPr lang="en-US" sz="1150">
              <a:solidFill>
                <a:srgbClr val="000000"/>
              </a:solidFill>
              <a:latin typeface="Garet"/>
              <a:ea typeface="Garet"/>
              <a:cs typeface="Garet"/>
            </a:endParaRPr>
          </a:p>
          <a:p>
            <a:pPr marL="253365" lvl="1" indent="-126365" algn="l">
              <a:lnSpc>
                <a:spcPts val="1646"/>
              </a:lnSpc>
              <a:buFont typeface="Arial"/>
              <a:buChar char="•"/>
            </a:pPr>
            <a:r>
              <a:rPr lang="en-US" sz="1150" b="1">
                <a:solidFill>
                  <a:srgbClr val="000000"/>
                </a:solidFill>
                <a:latin typeface="Garet Bold"/>
                <a:ea typeface="Garet Bold"/>
                <a:cs typeface="Garet Bold"/>
                <a:sym typeface="Garet Bold"/>
              </a:rPr>
              <a:t>BUDGET STATUS:</a:t>
            </a:r>
            <a:r>
              <a:rPr lang="en-US" sz="1150">
                <a:solidFill>
                  <a:srgbClr val="000000"/>
                </a:solidFill>
                <a:latin typeface="Garet"/>
                <a:ea typeface="Garet"/>
                <a:cs typeface="Garet"/>
                <a:sym typeface="Garet"/>
              </a:rPr>
              <a:t> ON BUDGET</a:t>
            </a:r>
            <a:endParaRPr lang="en-US" sz="1150">
              <a:solidFill>
                <a:srgbClr val="000000"/>
              </a:solidFill>
              <a:latin typeface="Garet"/>
              <a:ea typeface="Garet"/>
              <a:cs typeface="Garet"/>
            </a:endParaRPr>
          </a:p>
          <a:p>
            <a:pPr marL="253365" lvl="1" indent="-126365" algn="l">
              <a:lnSpc>
                <a:spcPts val="1646"/>
              </a:lnSpc>
              <a:buFont typeface="Arial"/>
              <a:buChar char="•"/>
            </a:pPr>
            <a:r>
              <a:rPr lang="en-US" sz="1150" b="1">
                <a:solidFill>
                  <a:srgbClr val="000000"/>
                </a:solidFill>
                <a:latin typeface="Garet Bold"/>
                <a:ea typeface="Garet Bold"/>
                <a:cs typeface="Garet Bold"/>
                <a:sym typeface="Garet Bold"/>
              </a:rPr>
              <a:t>TIMELINE:</a:t>
            </a:r>
            <a:r>
              <a:rPr lang="en-US" sz="1150">
                <a:solidFill>
                  <a:srgbClr val="000000"/>
                </a:solidFill>
                <a:latin typeface="Garet"/>
                <a:ea typeface="Garet"/>
                <a:cs typeface="Garet"/>
                <a:sym typeface="Garet"/>
              </a:rPr>
              <a:t> </a:t>
            </a:r>
            <a:r>
              <a:rPr lang="en-US" sz="1150" b="1">
                <a:solidFill>
                  <a:srgbClr val="00BF63"/>
                </a:solidFill>
                <a:latin typeface="Garet Bold"/>
                <a:ea typeface="Garet Bold"/>
                <a:cs typeface="Garet Bold"/>
                <a:sym typeface="Garet Bold"/>
              </a:rPr>
              <a:t>ON-TRACK</a:t>
            </a:r>
            <a:endParaRPr lang="en-US" sz="1150" b="1">
              <a:solidFill>
                <a:srgbClr val="00BF63"/>
              </a:solidFill>
              <a:latin typeface="Garet Bold"/>
              <a:ea typeface="Garet Bold"/>
              <a:cs typeface="Garet Bold"/>
            </a:endParaRPr>
          </a:p>
          <a:p>
            <a:pPr marL="253365" lvl="1" indent="-126365">
              <a:lnSpc>
                <a:spcPts val="1646"/>
              </a:lnSpc>
              <a:buFont typeface="Arial"/>
              <a:buChar char="•"/>
            </a:pPr>
            <a:r>
              <a:rPr lang="en-US" sz="1150" b="1">
                <a:solidFill>
                  <a:srgbClr val="000000"/>
                </a:solidFill>
                <a:latin typeface="Garet Bold"/>
                <a:ea typeface="Garet Bold"/>
                <a:cs typeface="Garet Bold"/>
                <a:sym typeface="Garet Bold"/>
              </a:rPr>
              <a:t>KEY MILESTONES ACHIEVED:</a:t>
            </a:r>
            <a:r>
              <a:rPr lang="en-US" sz="1150">
                <a:solidFill>
                  <a:srgbClr val="000000"/>
                </a:solidFill>
                <a:latin typeface="Garet"/>
                <a:ea typeface="Garet"/>
                <a:cs typeface="Garet"/>
                <a:sym typeface="Garet"/>
              </a:rPr>
              <a:t> COMPLETE THE TEST CASES and UAT for Stage and Dev</a:t>
            </a:r>
            <a:endParaRPr lang="en-US" sz="1150">
              <a:solidFill>
                <a:srgbClr val="000000"/>
              </a:solidFill>
              <a:latin typeface="Garet"/>
              <a:ea typeface="Garet"/>
              <a:cs typeface="Garet"/>
            </a:endParaRPr>
          </a:p>
          <a:p>
            <a:pPr marL="253365" lvl="1" indent="-126365">
              <a:lnSpc>
                <a:spcPts val="1646"/>
              </a:lnSpc>
              <a:buFont typeface="Arial"/>
              <a:buChar char="•"/>
            </a:pPr>
            <a:r>
              <a:rPr lang="en-US" sz="1150" b="1">
                <a:solidFill>
                  <a:srgbClr val="000000"/>
                </a:solidFill>
                <a:latin typeface="Garet Bold"/>
                <a:ea typeface="Garet Bold"/>
                <a:cs typeface="Garet Bold"/>
                <a:sym typeface="Garet Bold"/>
              </a:rPr>
              <a:t>ACTION ITEM:</a:t>
            </a:r>
            <a:r>
              <a:rPr lang="en-US" sz="1150">
                <a:solidFill>
                  <a:srgbClr val="000000"/>
                </a:solidFill>
                <a:latin typeface="Garet"/>
                <a:ea typeface="Garet Bold"/>
                <a:cs typeface="Garet Bold"/>
                <a:sym typeface="Garet"/>
              </a:rPr>
              <a:t> </a:t>
            </a:r>
            <a:r>
              <a:rPr lang="en-US" sz="1150">
                <a:solidFill>
                  <a:srgbClr val="000000"/>
                </a:solidFill>
                <a:latin typeface="Garet"/>
                <a:ea typeface="Garet Bold"/>
                <a:cs typeface="Garet Bold"/>
                <a:sym typeface="Garet Bold"/>
              </a:rPr>
              <a:t>Waiting for management to decide to go to life.</a:t>
            </a:r>
            <a:r>
              <a:rPr lang="en-US" sz="1150" b="1">
                <a:solidFill>
                  <a:srgbClr val="000000"/>
                </a:solidFill>
                <a:latin typeface="Garet Bold"/>
                <a:ea typeface="Garet Bold"/>
                <a:cs typeface="Garet Bold"/>
                <a:sym typeface="Garet Bold"/>
              </a:rPr>
              <a:t> </a:t>
            </a:r>
            <a:r>
              <a:rPr lang="en-US" sz="1150">
                <a:solidFill>
                  <a:srgbClr val="000000"/>
                </a:solidFill>
                <a:latin typeface="Garet"/>
                <a:ea typeface="Garet Bold"/>
                <a:cs typeface="Garet Bold"/>
                <a:sym typeface="Garet Bold"/>
              </a:rPr>
              <a:t>AFTER</a:t>
            </a:r>
            <a:r>
              <a:rPr lang="en-US" sz="1150">
                <a:solidFill>
                  <a:srgbClr val="000000"/>
                </a:solidFill>
                <a:latin typeface="Garet"/>
                <a:ea typeface="Garet"/>
                <a:cs typeface="Garet"/>
                <a:sym typeface="Garet"/>
              </a:rPr>
              <a:t> THAT WE WILL START THE GO-LIVE PHASE</a:t>
            </a:r>
            <a:endParaRPr lang="en-US" sz="1150">
              <a:solidFill>
                <a:srgbClr val="000000"/>
              </a:solidFill>
              <a:latin typeface="Garet"/>
              <a:ea typeface="Garet"/>
              <a:cs typeface="Garet"/>
            </a:endParaRPr>
          </a:p>
        </p:txBody>
      </p:sp>
      <p:sp>
        <p:nvSpPr>
          <p:cNvPr id="53" name="TextBox 53"/>
          <p:cNvSpPr txBox="1"/>
          <p:nvPr/>
        </p:nvSpPr>
        <p:spPr>
          <a:xfrm>
            <a:off x="9281354" y="4821264"/>
            <a:ext cx="4226259" cy="1634422"/>
          </a:xfrm>
          <a:prstGeom prst="rect">
            <a:avLst/>
          </a:prstGeom>
        </p:spPr>
        <p:txBody>
          <a:bodyPr lIns="0" tIns="0" rIns="0" bIns="0" rtlCol="0" anchor="t">
            <a:spAutoFit/>
          </a:bodyPr>
          <a:lstStyle/>
          <a:p>
            <a:pPr marL="253365" lvl="1" indent="-126365">
              <a:lnSpc>
                <a:spcPts val="1646"/>
              </a:lnSpc>
              <a:buFont typeface="Arial"/>
              <a:buChar char="•"/>
            </a:pPr>
            <a:r>
              <a:rPr lang="en-US" sz="1150" b="1">
                <a:solidFill>
                  <a:srgbClr val="000000"/>
                </a:solidFill>
                <a:latin typeface="Garet Bold"/>
                <a:ea typeface="+mn-lt"/>
                <a:cs typeface="+mn-lt"/>
                <a:sym typeface="Garet Bold"/>
              </a:rPr>
              <a:t>VENDOR</a:t>
            </a:r>
            <a:r>
              <a:rPr lang="en-US" sz="1150" b="1">
                <a:solidFill>
                  <a:srgbClr val="000000"/>
                </a:solidFill>
                <a:latin typeface="Garet Bold"/>
                <a:ea typeface="+mn-lt"/>
                <a:cs typeface="+mn-lt"/>
                <a:sym typeface="Garet"/>
              </a:rPr>
              <a:t>:</a:t>
            </a:r>
            <a:r>
              <a:rPr lang="en-US" sz="1150">
                <a:solidFill>
                  <a:srgbClr val="000000"/>
                </a:solidFill>
                <a:latin typeface="Garet"/>
                <a:ea typeface="+mn-lt"/>
                <a:cs typeface="+mn-lt"/>
                <a:sym typeface="Garet"/>
              </a:rPr>
              <a:t> </a:t>
            </a:r>
            <a:r>
              <a:rPr lang="en-US" sz="1150" err="1">
                <a:solidFill>
                  <a:srgbClr val="000000"/>
                </a:solidFill>
                <a:latin typeface="Garet"/>
                <a:ea typeface="+mn-lt"/>
                <a:cs typeface="+mn-lt"/>
                <a:sym typeface="Garet Bold"/>
              </a:rPr>
              <a:t>ZenHR</a:t>
            </a:r>
            <a:endParaRPr lang="en-US">
              <a:sym typeface="Garet Bold"/>
            </a:endParaRPr>
          </a:p>
          <a:p>
            <a:pPr marL="253365" lvl="1" indent="-126365">
              <a:lnSpc>
                <a:spcPts val="1646"/>
              </a:lnSpc>
              <a:buFont typeface="Arial"/>
              <a:buChar char="•"/>
            </a:pPr>
            <a:r>
              <a:rPr lang="en-US" sz="1150" b="1">
                <a:solidFill>
                  <a:srgbClr val="000000"/>
                </a:solidFill>
                <a:latin typeface="Garet Bold"/>
                <a:ea typeface="+mn-lt"/>
                <a:cs typeface="+mn-lt"/>
                <a:sym typeface="Garet"/>
              </a:rPr>
              <a:t>BUSINESS OWNER:</a:t>
            </a:r>
            <a:r>
              <a:rPr lang="en-US" sz="1150">
                <a:solidFill>
                  <a:srgbClr val="000000"/>
                </a:solidFill>
                <a:latin typeface="Garet"/>
                <a:ea typeface="+mn-lt"/>
                <a:cs typeface="+mn-lt"/>
                <a:sym typeface="Garet"/>
              </a:rPr>
              <a:t> </a:t>
            </a:r>
            <a:r>
              <a:rPr lang="en-US" sz="1150" err="1">
                <a:solidFill>
                  <a:srgbClr val="000000"/>
                </a:solidFill>
                <a:latin typeface="Garet"/>
                <a:ea typeface="+mn-lt"/>
                <a:cs typeface="+mn-lt"/>
                <a:sym typeface="Garet"/>
              </a:rPr>
              <a:t>Dilshad</a:t>
            </a:r>
            <a:r>
              <a:rPr lang="en-US" sz="1150">
                <a:solidFill>
                  <a:srgbClr val="000000"/>
                </a:solidFill>
                <a:latin typeface="Garet"/>
                <a:ea typeface="+mn-lt"/>
                <a:cs typeface="+mn-lt"/>
                <a:sym typeface="Garet"/>
              </a:rPr>
              <a:t> Ali</a:t>
            </a:r>
            <a:endParaRPr lang="en-US">
              <a:sym typeface="Garet"/>
            </a:endParaRPr>
          </a:p>
          <a:p>
            <a:pPr marL="253365" lvl="1" indent="-126365">
              <a:lnSpc>
                <a:spcPts val="1646"/>
              </a:lnSpc>
              <a:buFont typeface="Arial"/>
              <a:buChar char="•"/>
            </a:pPr>
            <a:r>
              <a:rPr lang="en-US" sz="1150" b="1">
                <a:solidFill>
                  <a:srgbClr val="000000"/>
                </a:solidFill>
                <a:latin typeface="Garet Bold"/>
                <a:ea typeface="+mn-lt"/>
                <a:cs typeface="+mn-lt"/>
                <a:sym typeface="Garet"/>
              </a:rPr>
              <a:t>PERCENT </a:t>
            </a:r>
            <a:r>
              <a:rPr lang="en-US" sz="1150" b="1">
                <a:solidFill>
                  <a:srgbClr val="000000"/>
                </a:solidFill>
                <a:latin typeface="Garet Bold"/>
                <a:ea typeface="+mn-lt"/>
                <a:cs typeface="+mn-lt"/>
                <a:sym typeface="Garet Bold"/>
              </a:rPr>
              <a:t>COMPLETE:</a:t>
            </a:r>
            <a:r>
              <a:rPr lang="en-US" sz="1150">
                <a:solidFill>
                  <a:srgbClr val="000000"/>
                </a:solidFill>
                <a:latin typeface="Garet"/>
                <a:ea typeface="+mn-lt"/>
                <a:cs typeface="+mn-lt"/>
                <a:sym typeface="Garet Bold"/>
              </a:rPr>
              <a:t> 95 </a:t>
            </a:r>
            <a:r>
              <a:rPr lang="en-US" sz="1150">
                <a:solidFill>
                  <a:srgbClr val="000000"/>
                </a:solidFill>
                <a:latin typeface="Garet"/>
                <a:ea typeface="+mn-lt"/>
                <a:cs typeface="+mn-lt"/>
                <a:sym typeface="Garet"/>
              </a:rPr>
              <a:t>%</a:t>
            </a:r>
            <a:endParaRPr lang="en-US">
              <a:latin typeface="Garet"/>
              <a:sym typeface="Garet"/>
            </a:endParaRPr>
          </a:p>
          <a:p>
            <a:pPr marL="253365" lvl="1" indent="-126365">
              <a:lnSpc>
                <a:spcPts val="1646"/>
              </a:lnSpc>
              <a:buFont typeface="Arial"/>
              <a:buChar char="•"/>
            </a:pPr>
            <a:r>
              <a:rPr lang="en-US" sz="1150" b="1">
                <a:solidFill>
                  <a:srgbClr val="000000"/>
                </a:solidFill>
                <a:latin typeface="Garet Bold"/>
                <a:ea typeface="+mn-lt"/>
                <a:cs typeface="+mn-lt"/>
                <a:sym typeface="Garet Bold"/>
              </a:rPr>
              <a:t>BUDGET STATUS</a:t>
            </a:r>
            <a:r>
              <a:rPr lang="en-US" sz="1150" b="1">
                <a:solidFill>
                  <a:srgbClr val="000000"/>
                </a:solidFill>
                <a:latin typeface="Garet Bold"/>
                <a:ea typeface="+mn-lt"/>
                <a:cs typeface="+mn-lt"/>
                <a:sym typeface="Garet"/>
              </a:rPr>
              <a:t>:</a:t>
            </a:r>
            <a:r>
              <a:rPr lang="en-US" sz="1150">
                <a:solidFill>
                  <a:srgbClr val="000000"/>
                </a:solidFill>
                <a:latin typeface="Garet"/>
                <a:ea typeface="+mn-lt"/>
                <a:cs typeface="+mn-lt"/>
                <a:sym typeface="Garet"/>
              </a:rPr>
              <a:t> ON BUDGET</a:t>
            </a:r>
            <a:endParaRPr lang="en-US">
              <a:sym typeface="Garet"/>
            </a:endParaRPr>
          </a:p>
          <a:p>
            <a:pPr marL="253365" lvl="1" indent="-126365">
              <a:lnSpc>
                <a:spcPts val="1646"/>
              </a:lnSpc>
              <a:buFont typeface="Arial"/>
              <a:buChar char="•"/>
            </a:pPr>
            <a:r>
              <a:rPr lang="en-US" sz="1150" b="1">
                <a:solidFill>
                  <a:srgbClr val="000000"/>
                </a:solidFill>
                <a:latin typeface="Garet Bold"/>
                <a:ea typeface="+mn-lt"/>
                <a:cs typeface="+mn-lt"/>
                <a:sym typeface="Garet"/>
              </a:rPr>
              <a:t>TIMELINE: </a:t>
            </a:r>
            <a:r>
              <a:rPr lang="en-GB" sz="1150" b="1">
                <a:solidFill>
                  <a:srgbClr val="00B050"/>
                </a:solidFill>
                <a:latin typeface="Garet Bold"/>
                <a:ea typeface="+mn-lt"/>
                <a:cs typeface="+mn-lt"/>
                <a:sym typeface="Garet"/>
              </a:rPr>
              <a:t>completed</a:t>
            </a:r>
            <a:r>
              <a:rPr lang="en-GB" sz="1150" b="1">
                <a:solidFill>
                  <a:srgbClr val="FFFF00"/>
                </a:solidFill>
                <a:latin typeface="Garet Bold"/>
                <a:ea typeface="+mn-lt"/>
                <a:cs typeface="+mn-lt"/>
                <a:sym typeface="Garet"/>
              </a:rPr>
              <a:t> </a:t>
            </a:r>
            <a:endParaRPr lang="en-US">
              <a:solidFill>
                <a:srgbClr val="FFFF00"/>
              </a:solidFill>
              <a:sym typeface="Garet"/>
            </a:endParaRPr>
          </a:p>
          <a:p>
            <a:pPr marL="253365" lvl="1" indent="-126365">
              <a:lnSpc>
                <a:spcPts val="1646"/>
              </a:lnSpc>
              <a:buFont typeface="Arial"/>
              <a:buChar char="•"/>
            </a:pPr>
            <a:r>
              <a:rPr lang="en-US" sz="1150" b="1">
                <a:solidFill>
                  <a:srgbClr val="000000"/>
                </a:solidFill>
                <a:latin typeface="Garet Bold"/>
                <a:ea typeface="+mn-lt"/>
                <a:cs typeface="+mn-lt"/>
                <a:sym typeface="Garet"/>
              </a:rPr>
              <a:t>KEY MILESTONES ACHIEVED</a:t>
            </a:r>
            <a:r>
              <a:rPr lang="en-US" sz="1150" b="1">
                <a:solidFill>
                  <a:srgbClr val="000000"/>
                </a:solidFill>
                <a:latin typeface="Garet Bold"/>
                <a:ea typeface="+mn-lt"/>
                <a:cs typeface="+mn-lt"/>
                <a:sym typeface="Garet Bold"/>
              </a:rPr>
              <a:t>:</a:t>
            </a:r>
            <a:r>
              <a:rPr lang="en-US" sz="1150" b="1">
                <a:solidFill>
                  <a:srgbClr val="000000"/>
                </a:solidFill>
                <a:latin typeface="Garet Bold"/>
                <a:ea typeface="+mn-lt"/>
                <a:cs typeface="+mn-lt"/>
                <a:sym typeface="Garet"/>
              </a:rPr>
              <a:t> </a:t>
            </a:r>
            <a:r>
              <a:rPr lang="en-US" sz="1150">
                <a:solidFill>
                  <a:srgbClr val="000000"/>
                </a:solidFill>
                <a:ea typeface="+mn-lt"/>
                <a:cs typeface="+mn-lt"/>
                <a:sym typeface="Garet"/>
              </a:rPr>
              <a:t>Go-Live Activities</a:t>
            </a:r>
            <a:endParaRPr lang="en-US" sz="1150">
              <a:latin typeface="Garet"/>
              <a:ea typeface="Calibri"/>
              <a:cs typeface="Calibri"/>
            </a:endParaRPr>
          </a:p>
          <a:p>
            <a:pPr marL="253365" lvl="1" indent="-126365">
              <a:lnSpc>
                <a:spcPts val="1646"/>
              </a:lnSpc>
              <a:buFont typeface="Arial"/>
              <a:buChar char="•"/>
            </a:pPr>
            <a:endParaRPr lang="en-US" sz="1150">
              <a:latin typeface="Garet"/>
              <a:ea typeface="Calibri"/>
              <a:cs typeface="Calibri"/>
            </a:endParaRPr>
          </a:p>
          <a:p>
            <a:pPr>
              <a:lnSpc>
                <a:spcPts val="1646"/>
              </a:lnSpc>
              <a:spcBef>
                <a:spcPct val="0"/>
              </a:spcBef>
            </a:pPr>
            <a:endParaRPr lang="en-US" sz="1150">
              <a:latin typeface="Garet"/>
            </a:endParaRPr>
          </a:p>
        </p:txBody>
      </p:sp>
      <p:grpSp>
        <p:nvGrpSpPr>
          <p:cNvPr id="54" name="Group 54"/>
          <p:cNvGrpSpPr/>
          <p:nvPr/>
        </p:nvGrpSpPr>
        <p:grpSpPr>
          <a:xfrm>
            <a:off x="9143546" y="7361290"/>
            <a:ext cx="4364067" cy="2669011"/>
            <a:chOff x="-35283" y="0"/>
            <a:chExt cx="1117334" cy="683348"/>
          </a:xfrm>
        </p:grpSpPr>
        <p:sp>
          <p:nvSpPr>
            <p:cNvPr id="55" name="Freeform 55"/>
            <p:cNvSpPr/>
            <p:nvPr/>
          </p:nvSpPr>
          <p:spPr>
            <a:xfrm>
              <a:off x="0" y="0"/>
              <a:ext cx="1082051" cy="641838"/>
            </a:xfrm>
            <a:custGeom>
              <a:avLst/>
              <a:gdLst/>
              <a:ahLst/>
              <a:cxnLst/>
              <a:rect l="l" t="t" r="r" b="b"/>
              <a:pathLst>
                <a:path w="1082051" h="641838">
                  <a:moveTo>
                    <a:pt x="20150" y="0"/>
                  </a:moveTo>
                  <a:lnTo>
                    <a:pt x="1061900" y="0"/>
                  </a:lnTo>
                  <a:cubicBezTo>
                    <a:pt x="1067244" y="0"/>
                    <a:pt x="1072370" y="2123"/>
                    <a:pt x="1076149" y="5902"/>
                  </a:cubicBezTo>
                  <a:cubicBezTo>
                    <a:pt x="1079928" y="9681"/>
                    <a:pt x="1082051" y="14806"/>
                    <a:pt x="1082051" y="20150"/>
                  </a:cubicBezTo>
                  <a:lnTo>
                    <a:pt x="1082051" y="621688"/>
                  </a:lnTo>
                  <a:cubicBezTo>
                    <a:pt x="1082051" y="627032"/>
                    <a:pt x="1079928" y="632157"/>
                    <a:pt x="1076149" y="635936"/>
                  </a:cubicBezTo>
                  <a:cubicBezTo>
                    <a:pt x="1072370" y="639715"/>
                    <a:pt x="1067244" y="641838"/>
                    <a:pt x="1061900" y="641838"/>
                  </a:cubicBezTo>
                  <a:lnTo>
                    <a:pt x="20150" y="641838"/>
                  </a:lnTo>
                  <a:cubicBezTo>
                    <a:pt x="14806" y="641838"/>
                    <a:pt x="9681" y="639715"/>
                    <a:pt x="5902" y="635936"/>
                  </a:cubicBezTo>
                  <a:cubicBezTo>
                    <a:pt x="2123" y="632157"/>
                    <a:pt x="0" y="627032"/>
                    <a:pt x="0" y="621688"/>
                  </a:cubicBezTo>
                  <a:lnTo>
                    <a:pt x="0" y="20150"/>
                  </a:lnTo>
                  <a:cubicBezTo>
                    <a:pt x="0" y="14806"/>
                    <a:pt x="2123" y="9681"/>
                    <a:pt x="5902" y="5902"/>
                  </a:cubicBezTo>
                  <a:cubicBezTo>
                    <a:pt x="9681" y="2123"/>
                    <a:pt x="14806" y="0"/>
                    <a:pt x="20150" y="0"/>
                  </a:cubicBezTo>
                  <a:close/>
                </a:path>
              </a:pathLst>
            </a:custGeom>
            <a:solidFill>
              <a:srgbClr val="E4E7E8"/>
            </a:solidFill>
            <a:ln cap="sq">
              <a:noFill/>
              <a:prstDash val="solid"/>
              <a:miter/>
            </a:ln>
          </p:spPr>
          <p:txBody>
            <a:bodyPr/>
            <a:lstStyle/>
            <a:p>
              <a:endParaRPr lang="en-US"/>
            </a:p>
          </p:txBody>
        </p:sp>
        <p:sp>
          <p:nvSpPr>
            <p:cNvPr id="56" name="TextBox 56"/>
            <p:cNvSpPr txBox="1"/>
            <p:nvPr/>
          </p:nvSpPr>
          <p:spPr>
            <a:xfrm>
              <a:off x="-35283" y="12935"/>
              <a:ext cx="1082051" cy="670413"/>
            </a:xfrm>
            <a:prstGeom prst="rect">
              <a:avLst/>
            </a:prstGeom>
          </p:spPr>
          <p:txBody>
            <a:bodyPr lIns="50800" tIns="50800" rIns="50800" bIns="50800" rtlCol="0" anchor="t"/>
            <a:lstStyle/>
            <a:p>
              <a:pPr algn="ctr">
                <a:lnSpc>
                  <a:spcPts val="1679"/>
                </a:lnSpc>
              </a:pPr>
              <a:r>
                <a:rPr lang="en-US" sz="1200">
                  <a:solidFill>
                    <a:srgbClr val="03A39D"/>
                  </a:solidFill>
                  <a:latin typeface="Garet"/>
                  <a:ea typeface="Garet"/>
                  <a:cs typeface="Garet"/>
                  <a:sym typeface="Garet"/>
                </a:rPr>
                <a:t>CENTRALIZED DATA WAREHOUSE – GAP ANALYSIS</a:t>
              </a:r>
            </a:p>
          </p:txBody>
        </p:sp>
      </p:grpSp>
      <p:grpSp>
        <p:nvGrpSpPr>
          <p:cNvPr id="57" name="Group 57"/>
          <p:cNvGrpSpPr/>
          <p:nvPr/>
        </p:nvGrpSpPr>
        <p:grpSpPr>
          <a:xfrm>
            <a:off x="13706134" y="7361290"/>
            <a:ext cx="4226259" cy="2664957"/>
            <a:chOff x="0" y="0"/>
            <a:chExt cx="1082051" cy="682310"/>
          </a:xfrm>
        </p:grpSpPr>
        <p:sp>
          <p:nvSpPr>
            <p:cNvPr id="58" name="Freeform 58"/>
            <p:cNvSpPr/>
            <p:nvPr/>
          </p:nvSpPr>
          <p:spPr>
            <a:xfrm>
              <a:off x="0" y="0"/>
              <a:ext cx="1082051" cy="641838"/>
            </a:xfrm>
            <a:custGeom>
              <a:avLst/>
              <a:gdLst/>
              <a:ahLst/>
              <a:cxnLst/>
              <a:rect l="l" t="t" r="r" b="b"/>
              <a:pathLst>
                <a:path w="1082051" h="641838">
                  <a:moveTo>
                    <a:pt x="20150" y="0"/>
                  </a:moveTo>
                  <a:lnTo>
                    <a:pt x="1061900" y="0"/>
                  </a:lnTo>
                  <a:cubicBezTo>
                    <a:pt x="1067244" y="0"/>
                    <a:pt x="1072370" y="2123"/>
                    <a:pt x="1076149" y="5902"/>
                  </a:cubicBezTo>
                  <a:cubicBezTo>
                    <a:pt x="1079928" y="9681"/>
                    <a:pt x="1082051" y="14806"/>
                    <a:pt x="1082051" y="20150"/>
                  </a:cubicBezTo>
                  <a:lnTo>
                    <a:pt x="1082051" y="621688"/>
                  </a:lnTo>
                  <a:cubicBezTo>
                    <a:pt x="1082051" y="627032"/>
                    <a:pt x="1079928" y="632157"/>
                    <a:pt x="1076149" y="635936"/>
                  </a:cubicBezTo>
                  <a:cubicBezTo>
                    <a:pt x="1072370" y="639715"/>
                    <a:pt x="1067244" y="641838"/>
                    <a:pt x="1061900" y="641838"/>
                  </a:cubicBezTo>
                  <a:lnTo>
                    <a:pt x="20150" y="641838"/>
                  </a:lnTo>
                  <a:cubicBezTo>
                    <a:pt x="14806" y="641838"/>
                    <a:pt x="9681" y="639715"/>
                    <a:pt x="5902" y="635936"/>
                  </a:cubicBezTo>
                  <a:cubicBezTo>
                    <a:pt x="2123" y="632157"/>
                    <a:pt x="0" y="627032"/>
                    <a:pt x="0" y="621688"/>
                  </a:cubicBezTo>
                  <a:lnTo>
                    <a:pt x="0" y="20150"/>
                  </a:lnTo>
                  <a:cubicBezTo>
                    <a:pt x="0" y="14806"/>
                    <a:pt x="2123" y="9681"/>
                    <a:pt x="5902" y="5902"/>
                  </a:cubicBezTo>
                  <a:cubicBezTo>
                    <a:pt x="9681" y="2123"/>
                    <a:pt x="14806" y="0"/>
                    <a:pt x="20150" y="0"/>
                  </a:cubicBezTo>
                  <a:close/>
                </a:path>
              </a:pathLst>
            </a:custGeom>
            <a:solidFill>
              <a:srgbClr val="E4E7E8"/>
            </a:solidFill>
            <a:ln cap="sq">
              <a:noFill/>
              <a:prstDash val="solid"/>
              <a:miter/>
            </a:ln>
          </p:spPr>
          <p:txBody>
            <a:bodyPr/>
            <a:lstStyle/>
            <a:p>
              <a:endParaRPr lang="en-US"/>
            </a:p>
          </p:txBody>
        </p:sp>
        <p:sp>
          <p:nvSpPr>
            <p:cNvPr id="59" name="TextBox 59"/>
            <p:cNvSpPr txBox="1"/>
            <p:nvPr/>
          </p:nvSpPr>
          <p:spPr>
            <a:xfrm>
              <a:off x="0" y="11897"/>
              <a:ext cx="1082051" cy="670413"/>
            </a:xfrm>
            <a:prstGeom prst="rect">
              <a:avLst/>
            </a:prstGeom>
          </p:spPr>
          <p:txBody>
            <a:bodyPr lIns="50800" tIns="50800" rIns="50800" bIns="50800" rtlCol="0" anchor="t"/>
            <a:lstStyle/>
            <a:p>
              <a:pPr algn="ctr">
                <a:lnSpc>
                  <a:spcPts val="1679"/>
                </a:lnSpc>
              </a:pPr>
              <a:r>
                <a:rPr lang="en-US" sz="1200">
                  <a:solidFill>
                    <a:srgbClr val="03A39D"/>
                  </a:solidFill>
                  <a:latin typeface="Garet"/>
                  <a:ea typeface="Garet"/>
                  <a:cs typeface="Garet"/>
                  <a:sym typeface="Garet"/>
                </a:rPr>
                <a:t>PROCESS ENHANCEMENT</a:t>
              </a:r>
            </a:p>
          </p:txBody>
        </p:sp>
      </p:grpSp>
      <p:sp>
        <p:nvSpPr>
          <p:cNvPr id="60" name="AutoShape 60"/>
          <p:cNvSpPr/>
          <p:nvPr/>
        </p:nvSpPr>
        <p:spPr>
          <a:xfrm>
            <a:off x="14196906" y="7759141"/>
            <a:ext cx="3244715" cy="0"/>
          </a:xfrm>
          <a:prstGeom prst="line">
            <a:avLst/>
          </a:prstGeom>
          <a:ln w="9525" cap="flat">
            <a:solidFill>
              <a:srgbClr val="000000"/>
            </a:solidFill>
            <a:prstDash val="solid"/>
            <a:headEnd type="none" w="sm" len="sm"/>
            <a:tailEnd type="none" w="sm" len="sm"/>
          </a:ln>
        </p:spPr>
        <p:txBody>
          <a:bodyPr/>
          <a:lstStyle/>
          <a:p>
            <a:endParaRPr lang="en-US"/>
          </a:p>
        </p:txBody>
      </p:sp>
      <p:sp>
        <p:nvSpPr>
          <p:cNvPr id="61" name="AutoShape 61"/>
          <p:cNvSpPr/>
          <p:nvPr/>
        </p:nvSpPr>
        <p:spPr>
          <a:xfrm>
            <a:off x="9735678" y="7760475"/>
            <a:ext cx="3244715" cy="0"/>
          </a:xfrm>
          <a:prstGeom prst="line">
            <a:avLst/>
          </a:prstGeom>
          <a:ln w="9525" cap="flat">
            <a:solidFill>
              <a:srgbClr val="000000"/>
            </a:solidFill>
            <a:prstDash val="solid"/>
            <a:headEnd type="none" w="sm" len="sm"/>
            <a:tailEnd type="none" w="sm" len="sm"/>
          </a:ln>
        </p:spPr>
        <p:txBody>
          <a:bodyPr/>
          <a:lstStyle/>
          <a:p>
            <a:endParaRPr lang="en-US"/>
          </a:p>
        </p:txBody>
      </p:sp>
      <p:sp>
        <p:nvSpPr>
          <p:cNvPr id="62" name="TextBox 62"/>
          <p:cNvSpPr txBox="1"/>
          <p:nvPr/>
        </p:nvSpPr>
        <p:spPr>
          <a:xfrm>
            <a:off x="13706134" y="7828087"/>
            <a:ext cx="4226259" cy="2044791"/>
          </a:xfrm>
          <a:prstGeom prst="rect">
            <a:avLst/>
          </a:prstGeom>
        </p:spPr>
        <p:txBody>
          <a:bodyPr lIns="0" tIns="0" rIns="0" bIns="0" rtlCol="0" anchor="t">
            <a:spAutoFit/>
          </a:bodyPr>
          <a:lstStyle/>
          <a:p>
            <a:pPr marL="253365" lvl="1" indent="-126365">
              <a:lnSpc>
                <a:spcPts val="1646"/>
              </a:lnSpc>
              <a:buFont typeface="Arial"/>
              <a:buChar char="•"/>
            </a:pPr>
            <a:r>
              <a:rPr lang="en-US" sz="1150" b="1">
                <a:solidFill>
                  <a:srgbClr val="000000"/>
                </a:solidFill>
                <a:latin typeface="Garet Bold"/>
                <a:ea typeface="Garet Bold"/>
                <a:cs typeface="Garet Bold"/>
                <a:sym typeface="Garet Bold"/>
              </a:rPr>
              <a:t>VENDOR:</a:t>
            </a:r>
            <a:r>
              <a:rPr lang="en-US" sz="1150">
                <a:solidFill>
                  <a:srgbClr val="000000"/>
                </a:solidFill>
                <a:latin typeface="Garet"/>
                <a:ea typeface="Garet"/>
                <a:cs typeface="Garet"/>
                <a:sym typeface="Garet"/>
              </a:rPr>
              <a:t> In - House</a:t>
            </a:r>
            <a:endParaRPr lang="en-US" sz="1150"/>
          </a:p>
          <a:p>
            <a:pPr marL="253365" lvl="1" indent="-126365">
              <a:lnSpc>
                <a:spcPts val="1646"/>
              </a:lnSpc>
              <a:buFont typeface="Arial"/>
              <a:buChar char="•"/>
            </a:pPr>
            <a:r>
              <a:rPr lang="en-US" sz="1150" b="1">
                <a:solidFill>
                  <a:srgbClr val="000000"/>
                </a:solidFill>
                <a:latin typeface="Garet Bold"/>
                <a:ea typeface="Garet Bold"/>
                <a:cs typeface="Garet Bold"/>
                <a:sym typeface="Garet Bold"/>
              </a:rPr>
              <a:t>BUSINESS OWNER:</a:t>
            </a:r>
            <a:r>
              <a:rPr lang="en-US" sz="1150">
                <a:solidFill>
                  <a:srgbClr val="000000"/>
                </a:solidFill>
                <a:latin typeface="Garet"/>
                <a:ea typeface="Garet"/>
                <a:cs typeface="Garet"/>
                <a:sym typeface="Garet"/>
              </a:rPr>
              <a:t> Hazim Al-Tamimi</a:t>
            </a:r>
            <a:endParaRPr lang="en-US" sz="1150">
              <a:solidFill>
                <a:srgbClr val="000000"/>
              </a:solidFill>
              <a:latin typeface="Garet"/>
              <a:ea typeface="Garet"/>
              <a:cs typeface="Garet"/>
            </a:endParaRPr>
          </a:p>
          <a:p>
            <a:pPr marL="253365" lvl="1" indent="-126365" algn="l">
              <a:lnSpc>
                <a:spcPts val="1646"/>
              </a:lnSpc>
              <a:buFont typeface="Arial"/>
              <a:buChar char="•"/>
            </a:pPr>
            <a:r>
              <a:rPr lang="en-US" sz="1150" b="1">
                <a:solidFill>
                  <a:srgbClr val="000000"/>
                </a:solidFill>
                <a:latin typeface="Garet Bold"/>
                <a:ea typeface="Garet Bold"/>
                <a:cs typeface="Garet Bold"/>
                <a:sym typeface="Garet Bold"/>
              </a:rPr>
              <a:t>PERCENT COMPLETE:</a:t>
            </a:r>
            <a:r>
              <a:rPr lang="en-US" sz="1150">
                <a:solidFill>
                  <a:srgbClr val="000000"/>
                </a:solidFill>
                <a:latin typeface="Garet"/>
                <a:ea typeface="Garet"/>
                <a:cs typeface="Garet"/>
                <a:sym typeface="Garet"/>
              </a:rPr>
              <a:t> 50%</a:t>
            </a:r>
            <a:endParaRPr lang="en-US" sz="1150">
              <a:solidFill>
                <a:srgbClr val="000000"/>
              </a:solidFill>
              <a:latin typeface="Garet"/>
              <a:ea typeface="Garet"/>
              <a:cs typeface="Garet"/>
            </a:endParaRPr>
          </a:p>
          <a:p>
            <a:pPr marL="253365" lvl="1" indent="-126365" algn="l">
              <a:lnSpc>
                <a:spcPts val="1646"/>
              </a:lnSpc>
              <a:buFont typeface="Arial"/>
              <a:buChar char="•"/>
            </a:pPr>
            <a:r>
              <a:rPr lang="en-US" sz="1150" b="1">
                <a:solidFill>
                  <a:srgbClr val="000000"/>
                </a:solidFill>
                <a:latin typeface="Garet Bold"/>
                <a:ea typeface="Garet Bold"/>
                <a:cs typeface="Garet Bold"/>
                <a:sym typeface="Garet Bold"/>
              </a:rPr>
              <a:t>BUDGET STATUS:</a:t>
            </a:r>
            <a:r>
              <a:rPr lang="en-US" sz="1150">
                <a:solidFill>
                  <a:srgbClr val="000000"/>
                </a:solidFill>
                <a:latin typeface="Garet"/>
                <a:ea typeface="Garet"/>
                <a:cs typeface="Garet"/>
                <a:sym typeface="Garet"/>
              </a:rPr>
              <a:t> ON BUDGET</a:t>
            </a:r>
            <a:endParaRPr lang="en-US" sz="1150">
              <a:solidFill>
                <a:srgbClr val="000000"/>
              </a:solidFill>
              <a:latin typeface="Garet"/>
              <a:ea typeface="Garet"/>
              <a:cs typeface="Garet"/>
            </a:endParaRPr>
          </a:p>
          <a:p>
            <a:pPr marL="253365" lvl="1" indent="-126365" algn="l">
              <a:lnSpc>
                <a:spcPts val="1646"/>
              </a:lnSpc>
              <a:buFont typeface="Arial"/>
              <a:buChar char="•"/>
            </a:pPr>
            <a:r>
              <a:rPr lang="en-US" sz="1150" b="1">
                <a:solidFill>
                  <a:srgbClr val="000000"/>
                </a:solidFill>
                <a:latin typeface="Garet Bold"/>
                <a:ea typeface="Garet Bold"/>
                <a:cs typeface="Garet Bold"/>
                <a:sym typeface="Garet Bold"/>
              </a:rPr>
              <a:t>TIMELINE: </a:t>
            </a:r>
            <a:r>
              <a:rPr lang="en-US" sz="1150" b="1">
                <a:solidFill>
                  <a:srgbClr val="00BF63"/>
                </a:solidFill>
                <a:latin typeface="Garet Bold"/>
                <a:ea typeface="Garet Bold"/>
                <a:cs typeface="Garet Bold"/>
                <a:sym typeface="Garet Bold"/>
              </a:rPr>
              <a:t>ON-TRACK</a:t>
            </a:r>
            <a:endParaRPr lang="en-US" sz="1150" b="1">
              <a:solidFill>
                <a:srgbClr val="00BF63"/>
              </a:solidFill>
              <a:latin typeface="Garet Bold"/>
              <a:ea typeface="Garet Bold"/>
              <a:cs typeface="Garet Bold"/>
            </a:endParaRPr>
          </a:p>
          <a:p>
            <a:pPr marL="253365" lvl="1" indent="-126365">
              <a:lnSpc>
                <a:spcPts val="1646"/>
              </a:lnSpc>
              <a:buFont typeface="Arial"/>
              <a:buChar char="•"/>
            </a:pPr>
            <a:r>
              <a:rPr lang="en-US" sz="1150" b="1">
                <a:solidFill>
                  <a:srgbClr val="000000"/>
                </a:solidFill>
                <a:latin typeface="Garet Bold"/>
                <a:ea typeface="Garet Bold"/>
                <a:cs typeface="Garet Bold"/>
                <a:sym typeface="Garet Bold"/>
              </a:rPr>
              <a:t>KEY MILESTONES ACHIEVED: </a:t>
            </a:r>
            <a:r>
              <a:rPr lang="en-US" sz="1150">
                <a:solidFill>
                  <a:srgbClr val="000000"/>
                </a:solidFill>
                <a:latin typeface="Garet Bold"/>
                <a:ea typeface="Garet Bold"/>
                <a:cs typeface="Garet Bold"/>
                <a:sym typeface="Garet"/>
              </a:rPr>
              <a:t>Detailed p</a:t>
            </a:r>
            <a:r>
              <a:rPr lang="en-US" sz="1150">
                <a:solidFill>
                  <a:srgbClr val="000000"/>
                </a:solidFill>
                <a:latin typeface="Garet"/>
                <a:ea typeface="Garet Bold"/>
                <a:cs typeface="Garet Bold"/>
                <a:sym typeface="Garet"/>
              </a:rPr>
              <a:t>rocesses and </a:t>
            </a:r>
            <a:r>
              <a:rPr lang="en-US" sz="1150" err="1">
                <a:solidFill>
                  <a:srgbClr val="000000"/>
                </a:solidFill>
                <a:latin typeface="Garet"/>
                <a:ea typeface="Garet Bold"/>
                <a:cs typeface="Garet Bold"/>
                <a:sym typeface="Garet"/>
              </a:rPr>
              <a:t>capa</a:t>
            </a:r>
            <a:r>
              <a:rPr lang="en-US" sz="1150">
                <a:solidFill>
                  <a:srgbClr val="000000"/>
                </a:solidFill>
                <a:latin typeface="Garet"/>
                <a:ea typeface="Garet Bold"/>
                <a:cs typeface="Garet Bold"/>
                <a:sym typeface="Garet"/>
              </a:rPr>
              <a:t>city processes for all departments received.</a:t>
            </a:r>
            <a:endParaRPr lang="en-US" sz="1150">
              <a:solidFill>
                <a:srgbClr val="000000"/>
              </a:solidFill>
              <a:latin typeface="Garet"/>
              <a:ea typeface="Garet"/>
              <a:cs typeface="Garet"/>
            </a:endParaRPr>
          </a:p>
          <a:p>
            <a:pPr marL="253365" lvl="1" indent="-126365">
              <a:lnSpc>
                <a:spcPts val="1646"/>
              </a:lnSpc>
              <a:buFont typeface="Arial"/>
              <a:buChar char="•"/>
            </a:pPr>
            <a:r>
              <a:rPr lang="en-US" sz="1150" b="1">
                <a:solidFill>
                  <a:srgbClr val="000000"/>
                </a:solidFill>
                <a:latin typeface="Garet Bold"/>
                <a:ea typeface="Garet Bold"/>
                <a:cs typeface="Garet Bold"/>
                <a:sym typeface="Garet Bold"/>
              </a:rPr>
              <a:t>ACTION ITEM: </a:t>
            </a:r>
            <a:r>
              <a:rPr lang="en-US" sz="1150">
                <a:solidFill>
                  <a:srgbClr val="000000"/>
                </a:solidFill>
                <a:latin typeface="Garet Bold"/>
                <a:ea typeface="Garet Bold"/>
                <a:cs typeface="Garet Bold"/>
                <a:sym typeface="Garet Bold"/>
              </a:rPr>
              <a:t>Progressing on the development phase. </a:t>
            </a:r>
            <a:endParaRPr lang="en-US" sz="1150">
              <a:solidFill>
                <a:srgbClr val="000000"/>
              </a:solidFill>
              <a:latin typeface="Garet Bold"/>
              <a:ea typeface="Garet"/>
              <a:cs typeface="Garet"/>
            </a:endParaRPr>
          </a:p>
        </p:txBody>
      </p:sp>
      <p:sp>
        <p:nvSpPr>
          <p:cNvPr id="63" name="TextBox 63"/>
          <p:cNvSpPr txBox="1"/>
          <p:nvPr/>
        </p:nvSpPr>
        <p:spPr>
          <a:xfrm>
            <a:off x="9281354" y="7828087"/>
            <a:ext cx="4226259" cy="2014719"/>
          </a:xfrm>
          <a:prstGeom prst="rect">
            <a:avLst/>
          </a:prstGeom>
        </p:spPr>
        <p:txBody>
          <a:bodyPr lIns="0" tIns="0" rIns="0" bIns="0" rtlCol="0" anchor="t">
            <a:spAutoFit/>
          </a:bodyPr>
          <a:lstStyle/>
          <a:p>
            <a:pPr marL="253365" lvl="1" indent="-126365">
              <a:lnSpc>
                <a:spcPts val="1646"/>
              </a:lnSpc>
              <a:buFont typeface="Arial"/>
              <a:buChar char="•"/>
            </a:pPr>
            <a:r>
              <a:rPr lang="en-US" sz="1150" b="1">
                <a:solidFill>
                  <a:srgbClr val="000000"/>
                </a:solidFill>
                <a:latin typeface="Garet Bold"/>
                <a:ea typeface="Garet Bold"/>
                <a:cs typeface="Garet Bold"/>
                <a:sym typeface="Garet Bold"/>
              </a:rPr>
              <a:t>VENDOR:</a:t>
            </a:r>
            <a:r>
              <a:rPr lang="en-US" sz="1150">
                <a:solidFill>
                  <a:srgbClr val="000000"/>
                </a:solidFill>
                <a:latin typeface="Garet"/>
                <a:ea typeface="Garet"/>
                <a:cs typeface="Garet"/>
                <a:sym typeface="Garet"/>
              </a:rPr>
              <a:t> Not defined yet</a:t>
            </a:r>
            <a:endParaRPr lang="en-US" sz="1150">
              <a:solidFill>
                <a:srgbClr val="000000"/>
              </a:solidFill>
              <a:latin typeface="Garet"/>
              <a:ea typeface="Garet"/>
              <a:cs typeface="Garet"/>
            </a:endParaRPr>
          </a:p>
          <a:p>
            <a:pPr marL="253365" lvl="1" indent="-126365">
              <a:lnSpc>
                <a:spcPts val="1646"/>
              </a:lnSpc>
              <a:buFont typeface="Arial"/>
              <a:buChar char="•"/>
            </a:pPr>
            <a:r>
              <a:rPr lang="en-US" sz="1150" b="1">
                <a:solidFill>
                  <a:srgbClr val="000000"/>
                </a:solidFill>
                <a:latin typeface="Garet Bold"/>
                <a:ea typeface="Garet Bold"/>
                <a:cs typeface="Garet Bold"/>
                <a:sym typeface="Garet Bold"/>
              </a:rPr>
              <a:t>BUSINESS OWNER:</a:t>
            </a:r>
            <a:r>
              <a:rPr lang="en-US" sz="1150">
                <a:solidFill>
                  <a:srgbClr val="000000"/>
                </a:solidFill>
                <a:latin typeface="Garet"/>
                <a:ea typeface="Garet"/>
                <a:cs typeface="Garet"/>
                <a:sym typeface="Garet"/>
              </a:rPr>
              <a:t> Hazim Al-Tamimi</a:t>
            </a:r>
            <a:endParaRPr lang="en-US" sz="1150">
              <a:solidFill>
                <a:srgbClr val="000000"/>
              </a:solidFill>
              <a:latin typeface="Garet"/>
              <a:ea typeface="Garet"/>
              <a:cs typeface="Garet"/>
            </a:endParaRPr>
          </a:p>
          <a:p>
            <a:pPr marL="253365" lvl="1" indent="-126365" algn="l">
              <a:lnSpc>
                <a:spcPts val="1646"/>
              </a:lnSpc>
              <a:buFont typeface="Arial"/>
              <a:buChar char="•"/>
            </a:pPr>
            <a:r>
              <a:rPr lang="en-US" sz="1150" b="1">
                <a:solidFill>
                  <a:srgbClr val="000000"/>
                </a:solidFill>
                <a:latin typeface="Garet Bold"/>
                <a:ea typeface="Garet Bold"/>
                <a:cs typeface="Garet Bold"/>
                <a:sym typeface="Garet Bold"/>
              </a:rPr>
              <a:t>PERCENT COMPLETE:</a:t>
            </a:r>
            <a:r>
              <a:rPr lang="en-US" sz="1150">
                <a:solidFill>
                  <a:srgbClr val="000000"/>
                </a:solidFill>
                <a:latin typeface="Garet"/>
                <a:ea typeface="Garet"/>
                <a:cs typeface="Garet"/>
                <a:sym typeface="Garet"/>
              </a:rPr>
              <a:t> 25%</a:t>
            </a:r>
            <a:endParaRPr lang="en-US" sz="1150">
              <a:solidFill>
                <a:srgbClr val="000000"/>
              </a:solidFill>
              <a:latin typeface="Garet"/>
              <a:ea typeface="Garet"/>
              <a:cs typeface="Garet"/>
            </a:endParaRPr>
          </a:p>
          <a:p>
            <a:pPr marL="253365" lvl="1" indent="-126365" algn="l">
              <a:lnSpc>
                <a:spcPts val="1646"/>
              </a:lnSpc>
              <a:buFont typeface="Arial"/>
              <a:buChar char="•"/>
            </a:pPr>
            <a:r>
              <a:rPr lang="en-US" sz="1150" b="1">
                <a:solidFill>
                  <a:srgbClr val="000000"/>
                </a:solidFill>
                <a:latin typeface="Garet Bold"/>
                <a:ea typeface="Garet Bold"/>
                <a:cs typeface="Garet Bold"/>
                <a:sym typeface="Garet Bold"/>
              </a:rPr>
              <a:t>BUDGET STATUS: </a:t>
            </a:r>
            <a:r>
              <a:rPr lang="en-US" sz="1150">
                <a:solidFill>
                  <a:srgbClr val="000000"/>
                </a:solidFill>
                <a:latin typeface="Garet"/>
                <a:ea typeface="Garet"/>
                <a:cs typeface="Garet"/>
                <a:sym typeface="Garet"/>
              </a:rPr>
              <a:t>ON BUDGET</a:t>
            </a:r>
            <a:endParaRPr lang="en-US" sz="1150">
              <a:solidFill>
                <a:srgbClr val="000000"/>
              </a:solidFill>
              <a:latin typeface="Garet"/>
              <a:ea typeface="Garet"/>
              <a:cs typeface="Garet"/>
            </a:endParaRPr>
          </a:p>
          <a:p>
            <a:pPr marL="253365" lvl="1" indent="-126365" algn="l">
              <a:lnSpc>
                <a:spcPts val="1646"/>
              </a:lnSpc>
              <a:buFont typeface="Arial"/>
              <a:buChar char="•"/>
            </a:pPr>
            <a:r>
              <a:rPr lang="en-US" sz="1150" b="1">
                <a:solidFill>
                  <a:srgbClr val="000000"/>
                </a:solidFill>
                <a:latin typeface="Garet Bold"/>
                <a:ea typeface="Garet Bold"/>
                <a:cs typeface="Garet Bold"/>
                <a:sym typeface="Garet Bold"/>
              </a:rPr>
              <a:t>TIMELINE:</a:t>
            </a:r>
            <a:r>
              <a:rPr lang="en-US" sz="1150">
                <a:solidFill>
                  <a:srgbClr val="000000"/>
                </a:solidFill>
                <a:latin typeface="Garet"/>
                <a:ea typeface="Garet"/>
                <a:cs typeface="Garet"/>
                <a:sym typeface="Garet"/>
              </a:rPr>
              <a:t> </a:t>
            </a:r>
            <a:r>
              <a:rPr lang="en-US" sz="1150" b="1">
                <a:solidFill>
                  <a:srgbClr val="00B050"/>
                </a:solidFill>
                <a:latin typeface="Garet Bold"/>
                <a:ea typeface="Garet"/>
                <a:cs typeface="Garet"/>
                <a:sym typeface="Garet Bold"/>
              </a:rPr>
              <a:t>On-Track</a:t>
            </a:r>
            <a:endParaRPr lang="en-US" sz="1150" b="1">
              <a:solidFill>
                <a:srgbClr val="00B050"/>
              </a:solidFill>
              <a:latin typeface="Garet Bold"/>
              <a:ea typeface="Garet Bold"/>
              <a:cs typeface="Garet Bold"/>
            </a:endParaRPr>
          </a:p>
          <a:p>
            <a:pPr marL="253365" lvl="1" indent="-126365">
              <a:lnSpc>
                <a:spcPts val="1646"/>
              </a:lnSpc>
              <a:buFont typeface="Arial"/>
              <a:buChar char="•"/>
            </a:pPr>
            <a:r>
              <a:rPr lang="en-US" sz="1150" b="1">
                <a:solidFill>
                  <a:srgbClr val="000000"/>
                </a:solidFill>
                <a:latin typeface="Garet Bold"/>
                <a:ea typeface="Garet Bold"/>
                <a:cs typeface="Garet Bold"/>
                <a:sym typeface="Garet Bold"/>
              </a:rPr>
              <a:t>KEY MILESTONES ACHIEVED: </a:t>
            </a:r>
            <a:r>
              <a:rPr lang="en-US" sz="1150">
                <a:solidFill>
                  <a:srgbClr val="000000"/>
                </a:solidFill>
                <a:latin typeface="Garet Bold"/>
                <a:ea typeface="Garet Bold"/>
                <a:cs typeface="Garet Bold"/>
                <a:sym typeface="Garet Bold"/>
              </a:rPr>
              <a:t>Gaps identification for all business functions within </a:t>
            </a:r>
            <a:r>
              <a:rPr lang="en-US" sz="1150" err="1">
                <a:solidFill>
                  <a:srgbClr val="000000"/>
                </a:solidFill>
                <a:latin typeface="Garet Bold"/>
                <a:ea typeface="Garet Bold"/>
                <a:cs typeface="Garet Bold"/>
                <a:sym typeface="Garet Bold"/>
              </a:rPr>
              <a:t>ou</a:t>
            </a:r>
            <a:r>
              <a:rPr lang="en-US" sz="1150">
                <a:solidFill>
                  <a:srgbClr val="000000"/>
                </a:solidFill>
                <a:latin typeface="Garet Bold"/>
                <a:ea typeface="Garet Bold"/>
                <a:cs typeface="Garet Bold"/>
                <a:sym typeface="Garet Bold"/>
              </a:rPr>
              <a:t>r bank.</a:t>
            </a:r>
            <a:endParaRPr lang="en-US" sz="1150">
              <a:solidFill>
                <a:srgbClr val="000000"/>
              </a:solidFill>
              <a:latin typeface="Garet"/>
              <a:ea typeface="Garet"/>
              <a:cs typeface="Garet"/>
            </a:endParaRPr>
          </a:p>
          <a:p>
            <a:pPr marL="223520" lvl="1" indent="-111760">
              <a:lnSpc>
                <a:spcPts val="1450"/>
              </a:lnSpc>
              <a:buFont typeface="Arial"/>
              <a:buChar char="•"/>
            </a:pPr>
            <a:r>
              <a:rPr lang="en-US" sz="1000" b="1">
                <a:solidFill>
                  <a:srgbClr val="000000"/>
                </a:solidFill>
                <a:latin typeface="Garet Bold"/>
                <a:ea typeface="Garet Bold"/>
                <a:cs typeface="Garet Bold"/>
                <a:sym typeface="Garet Bold"/>
              </a:rPr>
              <a:t>ACTION ITEM: </a:t>
            </a:r>
            <a:r>
              <a:rPr lang="en-US" sz="1100">
                <a:solidFill>
                  <a:srgbClr val="000000"/>
                </a:solidFill>
                <a:latin typeface="Garet"/>
                <a:ea typeface="Garet Bold"/>
                <a:cs typeface="Garet Bold"/>
                <a:sym typeface="Garet"/>
              </a:rPr>
              <a:t>Gaps </a:t>
            </a:r>
            <a:r>
              <a:rPr lang="en-US" sz="1100" err="1">
                <a:solidFill>
                  <a:srgbClr val="000000"/>
                </a:solidFill>
                <a:latin typeface="Garet"/>
                <a:ea typeface="Garet Bold"/>
                <a:cs typeface="Garet Bold"/>
                <a:sym typeface="Garet"/>
              </a:rPr>
              <a:t>resol</a:t>
            </a:r>
            <a:r>
              <a:rPr lang="en-US" sz="1100">
                <a:solidFill>
                  <a:srgbClr val="000000"/>
                </a:solidFill>
                <a:latin typeface="Garet"/>
                <a:ea typeface="Garet Bold"/>
                <a:cs typeface="Garet Bold"/>
                <a:sym typeface="Garet"/>
              </a:rPr>
              <a:t>ution plan for all identified gaps.</a:t>
            </a:r>
            <a:endParaRPr lang="en-US" sz="1100">
              <a:solidFill>
                <a:srgbClr val="000000"/>
              </a:solidFill>
              <a:latin typeface="Garet Bold"/>
              <a:ea typeface="Garet"/>
              <a:cs typeface="Garet"/>
            </a:endParaRPr>
          </a:p>
          <a:p>
            <a:pPr algn="l">
              <a:lnSpc>
                <a:spcPts val="1646"/>
              </a:lnSpc>
              <a:spcBef>
                <a:spcPct val="0"/>
              </a:spcBef>
            </a:pPr>
            <a:endParaRPr lang="en-US" sz="1035">
              <a:solidFill>
                <a:srgbClr val="000000"/>
              </a:solidFill>
              <a:latin typeface="Garet"/>
              <a:ea typeface="Garet"/>
              <a:cs typeface="Garet"/>
              <a:sym typeface="Garet"/>
            </a:endParaRPr>
          </a:p>
        </p:txBody>
      </p:sp>
      <p:sp>
        <p:nvSpPr>
          <p:cNvPr id="65" name="Freeform 13">
            <a:extLst>
              <a:ext uri="{FF2B5EF4-FFF2-40B4-BE49-F238E27FC236}">
                <a16:creationId xmlns:a16="http://schemas.microsoft.com/office/drawing/2014/main" id="{C0BA720B-8620-F11E-877F-2D09A467DB9B}"/>
              </a:ext>
            </a:extLst>
          </p:cNvPr>
          <p:cNvSpPr/>
          <p:nvPr/>
        </p:nvSpPr>
        <p:spPr>
          <a:xfrm>
            <a:off x="16527692" y="203308"/>
            <a:ext cx="1413312" cy="737575"/>
          </a:xfrm>
          <a:custGeom>
            <a:avLst/>
            <a:gdLst/>
            <a:ahLst/>
            <a:cxnLst/>
            <a:rect l="l" t="t" r="r" b="b"/>
            <a:pathLst>
              <a:path w="1851905" h="870481">
                <a:moveTo>
                  <a:pt x="0" y="0"/>
                </a:moveTo>
                <a:lnTo>
                  <a:pt x="1851905" y="0"/>
                </a:lnTo>
                <a:lnTo>
                  <a:pt x="1851905" y="870481"/>
                </a:lnTo>
                <a:lnTo>
                  <a:pt x="0" y="870481"/>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B458F-E61E-2DC8-2C0C-12A4D8AD53C7}"/>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65DDECA7-C91D-8403-4AAB-BE2F7F75AED2}"/>
              </a:ext>
            </a:extLst>
          </p:cNvPr>
          <p:cNvSpPr txBox="1"/>
          <p:nvPr/>
        </p:nvSpPr>
        <p:spPr>
          <a:xfrm>
            <a:off x="430290" y="184171"/>
            <a:ext cx="5608081" cy="741613"/>
          </a:xfrm>
          <a:prstGeom prst="rect">
            <a:avLst/>
          </a:prstGeom>
        </p:spPr>
        <p:txBody>
          <a:bodyPr lIns="0" tIns="0" rIns="0" bIns="0" rtlCol="0" anchor="t">
            <a:spAutoFit/>
          </a:bodyPr>
          <a:lstStyle/>
          <a:p>
            <a:pPr algn="l">
              <a:lnSpc>
                <a:spcPts val="6299"/>
              </a:lnSpc>
              <a:spcBef>
                <a:spcPct val="0"/>
              </a:spcBef>
            </a:pPr>
            <a:r>
              <a:rPr lang="en-US" sz="4500" b="1">
                <a:solidFill>
                  <a:srgbClr val="03A39D"/>
                </a:solidFill>
                <a:latin typeface="Inter Bold"/>
                <a:ea typeface="Inter Bold"/>
                <a:cs typeface="Inter Bold"/>
                <a:sym typeface="Inter Bold"/>
              </a:rPr>
              <a:t>Ongoing</a:t>
            </a:r>
            <a:r>
              <a:rPr lang="en-US" sz="4500" b="1">
                <a:solidFill>
                  <a:srgbClr val="1C1818"/>
                </a:solidFill>
                <a:latin typeface="Inter Bold"/>
                <a:ea typeface="Inter Bold"/>
                <a:cs typeface="Inter Bold"/>
                <a:sym typeface="Inter Bold"/>
              </a:rPr>
              <a:t> PROJECTS</a:t>
            </a:r>
          </a:p>
        </p:txBody>
      </p:sp>
      <p:grpSp>
        <p:nvGrpSpPr>
          <p:cNvPr id="4" name="Group 4">
            <a:extLst>
              <a:ext uri="{FF2B5EF4-FFF2-40B4-BE49-F238E27FC236}">
                <a16:creationId xmlns:a16="http://schemas.microsoft.com/office/drawing/2014/main" id="{87CC075B-B570-554F-D1A8-090B676F6DC8}"/>
              </a:ext>
            </a:extLst>
          </p:cNvPr>
          <p:cNvGrpSpPr/>
          <p:nvPr/>
        </p:nvGrpSpPr>
        <p:grpSpPr>
          <a:xfrm>
            <a:off x="430290" y="1252538"/>
            <a:ext cx="4226259" cy="2629654"/>
            <a:chOff x="0" y="-28575"/>
            <a:chExt cx="1082051" cy="673271"/>
          </a:xfrm>
        </p:grpSpPr>
        <p:sp>
          <p:nvSpPr>
            <p:cNvPr id="5" name="Freeform 5">
              <a:extLst>
                <a:ext uri="{FF2B5EF4-FFF2-40B4-BE49-F238E27FC236}">
                  <a16:creationId xmlns:a16="http://schemas.microsoft.com/office/drawing/2014/main" id="{FFACC606-36DA-9BFC-F04A-C983570F9FC9}"/>
                </a:ext>
              </a:extLst>
            </p:cNvPr>
            <p:cNvSpPr/>
            <p:nvPr/>
          </p:nvSpPr>
          <p:spPr>
            <a:xfrm>
              <a:off x="0" y="0"/>
              <a:ext cx="1082051" cy="644696"/>
            </a:xfrm>
            <a:custGeom>
              <a:avLst/>
              <a:gdLst/>
              <a:ahLst/>
              <a:cxnLst/>
              <a:rect l="l" t="t" r="r" b="b"/>
              <a:pathLst>
                <a:path w="1082051" h="644696">
                  <a:moveTo>
                    <a:pt x="20150" y="0"/>
                  </a:moveTo>
                  <a:lnTo>
                    <a:pt x="1061900" y="0"/>
                  </a:lnTo>
                  <a:cubicBezTo>
                    <a:pt x="1067244" y="0"/>
                    <a:pt x="1072370" y="2123"/>
                    <a:pt x="1076149" y="5902"/>
                  </a:cubicBezTo>
                  <a:cubicBezTo>
                    <a:pt x="1079928" y="9681"/>
                    <a:pt x="1082051" y="14806"/>
                    <a:pt x="1082051" y="20150"/>
                  </a:cubicBezTo>
                  <a:lnTo>
                    <a:pt x="1082051" y="624546"/>
                  </a:lnTo>
                  <a:cubicBezTo>
                    <a:pt x="1082051" y="629890"/>
                    <a:pt x="1079928" y="635015"/>
                    <a:pt x="1076149" y="638794"/>
                  </a:cubicBezTo>
                  <a:cubicBezTo>
                    <a:pt x="1072370" y="642573"/>
                    <a:pt x="1067244" y="644696"/>
                    <a:pt x="1061900" y="644696"/>
                  </a:cubicBezTo>
                  <a:lnTo>
                    <a:pt x="20150" y="644696"/>
                  </a:lnTo>
                  <a:cubicBezTo>
                    <a:pt x="14806" y="644696"/>
                    <a:pt x="9681" y="642573"/>
                    <a:pt x="5902" y="638794"/>
                  </a:cubicBezTo>
                  <a:cubicBezTo>
                    <a:pt x="2123" y="635015"/>
                    <a:pt x="0" y="629890"/>
                    <a:pt x="0" y="624546"/>
                  </a:cubicBezTo>
                  <a:lnTo>
                    <a:pt x="0" y="20150"/>
                  </a:lnTo>
                  <a:cubicBezTo>
                    <a:pt x="0" y="14806"/>
                    <a:pt x="2123" y="9681"/>
                    <a:pt x="5902" y="5902"/>
                  </a:cubicBezTo>
                  <a:cubicBezTo>
                    <a:pt x="9681" y="2123"/>
                    <a:pt x="14806" y="0"/>
                    <a:pt x="20150" y="0"/>
                  </a:cubicBezTo>
                  <a:close/>
                </a:path>
              </a:pathLst>
            </a:custGeom>
            <a:solidFill>
              <a:srgbClr val="E4E7E8"/>
            </a:solidFill>
            <a:ln cap="sq">
              <a:noFill/>
              <a:prstDash val="solid"/>
              <a:miter/>
            </a:ln>
          </p:spPr>
          <p:txBody>
            <a:bodyPr/>
            <a:lstStyle/>
            <a:p>
              <a:endParaRPr lang="en-US"/>
            </a:p>
          </p:txBody>
        </p:sp>
        <p:sp>
          <p:nvSpPr>
            <p:cNvPr id="6" name="TextBox 6">
              <a:extLst>
                <a:ext uri="{FF2B5EF4-FFF2-40B4-BE49-F238E27FC236}">
                  <a16:creationId xmlns:a16="http://schemas.microsoft.com/office/drawing/2014/main" id="{838B0580-9F2D-107B-796D-0D23A0EF10E6}"/>
                </a:ext>
              </a:extLst>
            </p:cNvPr>
            <p:cNvSpPr txBox="1"/>
            <p:nvPr/>
          </p:nvSpPr>
          <p:spPr>
            <a:xfrm>
              <a:off x="0" y="-28575"/>
              <a:ext cx="1082051" cy="673271"/>
            </a:xfrm>
            <a:prstGeom prst="rect">
              <a:avLst/>
            </a:prstGeom>
          </p:spPr>
          <p:txBody>
            <a:bodyPr lIns="50800" tIns="50800" rIns="50800" bIns="50800" rtlCol="0" anchor="t"/>
            <a:lstStyle/>
            <a:p>
              <a:pPr algn="ctr">
                <a:lnSpc>
                  <a:spcPts val="1679"/>
                </a:lnSpc>
              </a:pPr>
              <a:r>
                <a:rPr lang="en-US" sz="1200">
                  <a:solidFill>
                    <a:srgbClr val="03A39D"/>
                  </a:solidFill>
                  <a:ea typeface="+mn-lt"/>
                  <a:cs typeface="+mn-lt"/>
                  <a:sym typeface="Garet"/>
                </a:rPr>
                <a:t>Call Center migration</a:t>
              </a:r>
              <a:endParaRPr lang="en-US"/>
            </a:p>
          </p:txBody>
        </p:sp>
      </p:grpSp>
      <p:grpSp>
        <p:nvGrpSpPr>
          <p:cNvPr id="7" name="Group 7">
            <a:extLst>
              <a:ext uri="{FF2B5EF4-FFF2-40B4-BE49-F238E27FC236}">
                <a16:creationId xmlns:a16="http://schemas.microsoft.com/office/drawing/2014/main" id="{54D8C481-5637-70B4-4C37-D4B002708FEA}"/>
              </a:ext>
            </a:extLst>
          </p:cNvPr>
          <p:cNvGrpSpPr/>
          <p:nvPr/>
        </p:nvGrpSpPr>
        <p:grpSpPr>
          <a:xfrm>
            <a:off x="4855070" y="1252538"/>
            <a:ext cx="4226259" cy="2629654"/>
            <a:chOff x="0" y="-28575"/>
            <a:chExt cx="1082051" cy="673271"/>
          </a:xfrm>
        </p:grpSpPr>
        <p:sp>
          <p:nvSpPr>
            <p:cNvPr id="8" name="Freeform 8">
              <a:extLst>
                <a:ext uri="{FF2B5EF4-FFF2-40B4-BE49-F238E27FC236}">
                  <a16:creationId xmlns:a16="http://schemas.microsoft.com/office/drawing/2014/main" id="{A84D4544-B3EE-7124-5927-F3A1611B91EC}"/>
                </a:ext>
              </a:extLst>
            </p:cNvPr>
            <p:cNvSpPr/>
            <p:nvPr/>
          </p:nvSpPr>
          <p:spPr>
            <a:xfrm>
              <a:off x="0" y="0"/>
              <a:ext cx="1082051" cy="644696"/>
            </a:xfrm>
            <a:custGeom>
              <a:avLst/>
              <a:gdLst/>
              <a:ahLst/>
              <a:cxnLst/>
              <a:rect l="l" t="t" r="r" b="b"/>
              <a:pathLst>
                <a:path w="1082051" h="644696">
                  <a:moveTo>
                    <a:pt x="20150" y="0"/>
                  </a:moveTo>
                  <a:lnTo>
                    <a:pt x="1061900" y="0"/>
                  </a:lnTo>
                  <a:cubicBezTo>
                    <a:pt x="1067244" y="0"/>
                    <a:pt x="1072370" y="2123"/>
                    <a:pt x="1076149" y="5902"/>
                  </a:cubicBezTo>
                  <a:cubicBezTo>
                    <a:pt x="1079928" y="9681"/>
                    <a:pt x="1082051" y="14806"/>
                    <a:pt x="1082051" y="20150"/>
                  </a:cubicBezTo>
                  <a:lnTo>
                    <a:pt x="1082051" y="624546"/>
                  </a:lnTo>
                  <a:cubicBezTo>
                    <a:pt x="1082051" y="629890"/>
                    <a:pt x="1079928" y="635015"/>
                    <a:pt x="1076149" y="638794"/>
                  </a:cubicBezTo>
                  <a:cubicBezTo>
                    <a:pt x="1072370" y="642573"/>
                    <a:pt x="1067244" y="644696"/>
                    <a:pt x="1061900" y="644696"/>
                  </a:cubicBezTo>
                  <a:lnTo>
                    <a:pt x="20150" y="644696"/>
                  </a:lnTo>
                  <a:cubicBezTo>
                    <a:pt x="14806" y="644696"/>
                    <a:pt x="9681" y="642573"/>
                    <a:pt x="5902" y="638794"/>
                  </a:cubicBezTo>
                  <a:cubicBezTo>
                    <a:pt x="2123" y="635015"/>
                    <a:pt x="0" y="629890"/>
                    <a:pt x="0" y="624546"/>
                  </a:cubicBezTo>
                  <a:lnTo>
                    <a:pt x="0" y="20150"/>
                  </a:lnTo>
                  <a:cubicBezTo>
                    <a:pt x="0" y="14806"/>
                    <a:pt x="2123" y="9681"/>
                    <a:pt x="5902" y="5902"/>
                  </a:cubicBezTo>
                  <a:cubicBezTo>
                    <a:pt x="9681" y="2123"/>
                    <a:pt x="14806" y="0"/>
                    <a:pt x="20150" y="0"/>
                  </a:cubicBezTo>
                  <a:close/>
                </a:path>
              </a:pathLst>
            </a:custGeom>
            <a:solidFill>
              <a:srgbClr val="E4E7E8"/>
            </a:solidFill>
            <a:ln cap="sq">
              <a:noFill/>
              <a:prstDash val="solid"/>
              <a:miter/>
            </a:ln>
          </p:spPr>
          <p:txBody>
            <a:bodyPr/>
            <a:lstStyle/>
            <a:p>
              <a:endParaRPr lang="en-US"/>
            </a:p>
          </p:txBody>
        </p:sp>
        <p:sp>
          <p:nvSpPr>
            <p:cNvPr id="9" name="TextBox 9">
              <a:extLst>
                <a:ext uri="{FF2B5EF4-FFF2-40B4-BE49-F238E27FC236}">
                  <a16:creationId xmlns:a16="http://schemas.microsoft.com/office/drawing/2014/main" id="{38B53F43-E76A-91B4-49F4-AF00ECF3E79A}"/>
                </a:ext>
              </a:extLst>
            </p:cNvPr>
            <p:cNvSpPr txBox="1"/>
            <p:nvPr/>
          </p:nvSpPr>
          <p:spPr>
            <a:xfrm>
              <a:off x="0" y="-28575"/>
              <a:ext cx="1082051" cy="673271"/>
            </a:xfrm>
            <a:prstGeom prst="rect">
              <a:avLst/>
            </a:prstGeom>
          </p:spPr>
          <p:txBody>
            <a:bodyPr lIns="50800" tIns="50800" rIns="50800" bIns="50800" rtlCol="0" anchor="t"/>
            <a:lstStyle/>
            <a:p>
              <a:pPr algn="ctr"/>
              <a:r>
                <a:rPr lang="en-US" sz="1200">
                  <a:solidFill>
                    <a:srgbClr val="03A39D"/>
                  </a:solidFill>
                  <a:latin typeface="Garet"/>
                  <a:ea typeface="Calibri"/>
                  <a:cs typeface="Calibri"/>
                </a:rPr>
                <a:t>FIB – PCI DSS Project (Al </a:t>
              </a:r>
              <a:r>
                <a:rPr lang="en-US" sz="1200" err="1">
                  <a:solidFill>
                    <a:srgbClr val="03A39D"/>
                  </a:solidFill>
                  <a:latin typeface="Garet"/>
                  <a:ea typeface="Calibri"/>
                  <a:cs typeface="Calibri"/>
                </a:rPr>
                <a:t>Ejabi</a:t>
              </a:r>
              <a:r>
                <a:rPr lang="en-US" sz="1200">
                  <a:solidFill>
                    <a:srgbClr val="03A39D"/>
                  </a:solidFill>
                  <a:latin typeface="Garet"/>
                  <a:ea typeface="Calibri"/>
                  <a:cs typeface="Calibri"/>
                </a:rPr>
                <a:t>)</a:t>
              </a:r>
            </a:p>
            <a:p>
              <a:pPr algn="ctr">
                <a:lnSpc>
                  <a:spcPts val="1679"/>
                </a:lnSpc>
              </a:pPr>
              <a:endParaRPr lang="en-US" sz="1200">
                <a:solidFill>
                  <a:srgbClr val="03A39D"/>
                </a:solidFill>
                <a:latin typeface="Garet"/>
              </a:endParaRPr>
            </a:p>
          </p:txBody>
        </p:sp>
      </p:grpSp>
      <p:sp>
        <p:nvSpPr>
          <p:cNvPr id="10" name="AutoShape 10">
            <a:extLst>
              <a:ext uri="{FF2B5EF4-FFF2-40B4-BE49-F238E27FC236}">
                <a16:creationId xmlns:a16="http://schemas.microsoft.com/office/drawing/2014/main" id="{17BF6A8A-684C-382A-B2C5-546A7691E7E8}"/>
              </a:ext>
            </a:extLst>
          </p:cNvPr>
          <p:cNvSpPr/>
          <p:nvPr/>
        </p:nvSpPr>
        <p:spPr>
          <a:xfrm>
            <a:off x="884614" y="1760663"/>
            <a:ext cx="3244715" cy="0"/>
          </a:xfrm>
          <a:prstGeom prst="line">
            <a:avLst/>
          </a:prstGeom>
          <a:ln w="9525" cap="flat">
            <a:solidFill>
              <a:srgbClr val="000000"/>
            </a:solidFill>
            <a:prstDash val="solid"/>
            <a:headEnd type="none" w="sm" len="sm"/>
            <a:tailEnd type="none" w="sm" len="sm"/>
          </a:ln>
        </p:spPr>
        <p:txBody>
          <a:bodyPr/>
          <a:lstStyle/>
          <a:p>
            <a:endParaRPr lang="en-US"/>
          </a:p>
        </p:txBody>
      </p:sp>
      <p:sp>
        <p:nvSpPr>
          <p:cNvPr id="11" name="AutoShape 11">
            <a:extLst>
              <a:ext uri="{FF2B5EF4-FFF2-40B4-BE49-F238E27FC236}">
                <a16:creationId xmlns:a16="http://schemas.microsoft.com/office/drawing/2014/main" id="{2B9DA491-4E86-8352-CDFB-EDE114B4AAEB}"/>
              </a:ext>
            </a:extLst>
          </p:cNvPr>
          <p:cNvSpPr/>
          <p:nvPr/>
        </p:nvSpPr>
        <p:spPr>
          <a:xfrm>
            <a:off x="5345842" y="1760663"/>
            <a:ext cx="3244715" cy="0"/>
          </a:xfrm>
          <a:prstGeom prst="line">
            <a:avLst/>
          </a:prstGeom>
          <a:ln w="9525" cap="flat">
            <a:solidFill>
              <a:srgbClr val="000000"/>
            </a:solidFill>
            <a:prstDash val="solid"/>
            <a:headEnd type="none" w="sm" len="sm"/>
            <a:tailEnd type="none" w="sm" len="sm"/>
          </a:ln>
        </p:spPr>
        <p:txBody>
          <a:bodyPr/>
          <a:lstStyle/>
          <a:p>
            <a:endParaRPr lang="en-US"/>
          </a:p>
        </p:txBody>
      </p:sp>
      <p:sp>
        <p:nvSpPr>
          <p:cNvPr id="12" name="TextBox 12">
            <a:extLst>
              <a:ext uri="{FF2B5EF4-FFF2-40B4-BE49-F238E27FC236}">
                <a16:creationId xmlns:a16="http://schemas.microsoft.com/office/drawing/2014/main" id="{1D54887F-61DC-1D35-A1EE-61BAC02A999A}"/>
              </a:ext>
            </a:extLst>
          </p:cNvPr>
          <p:cNvSpPr txBox="1"/>
          <p:nvPr/>
        </p:nvSpPr>
        <p:spPr>
          <a:xfrm>
            <a:off x="430290" y="1851618"/>
            <a:ext cx="4226259" cy="1429237"/>
          </a:xfrm>
          <a:prstGeom prst="rect">
            <a:avLst/>
          </a:prstGeom>
        </p:spPr>
        <p:txBody>
          <a:bodyPr lIns="0" tIns="0" rIns="0" bIns="0" rtlCol="0" anchor="t">
            <a:spAutoFit/>
          </a:bodyPr>
          <a:lstStyle/>
          <a:p>
            <a:pPr marL="253365" lvl="1" indent="-126365">
              <a:lnSpc>
                <a:spcPts val="1646"/>
              </a:lnSpc>
              <a:buFont typeface="Arial"/>
              <a:buChar char="•"/>
            </a:pPr>
            <a:r>
              <a:rPr lang="en-US" sz="1150" b="1">
                <a:solidFill>
                  <a:srgbClr val="000000"/>
                </a:solidFill>
                <a:latin typeface="Garet Bold"/>
                <a:ea typeface="Garet Bold"/>
                <a:cs typeface="Garet Bold"/>
                <a:sym typeface="Garet Bold"/>
              </a:rPr>
              <a:t>VENDOR:</a:t>
            </a:r>
            <a:r>
              <a:rPr lang="en-US" sz="1400">
                <a:solidFill>
                  <a:srgbClr val="000000"/>
                </a:solidFill>
                <a:latin typeface="Calibri"/>
                <a:ea typeface="Calibri"/>
                <a:cs typeface="Calibri"/>
                <a:sym typeface="Garet"/>
              </a:rPr>
              <a:t>BMB </a:t>
            </a:r>
            <a:r>
              <a:rPr lang="en-US" sz="1150">
                <a:solidFill>
                  <a:srgbClr val="000000"/>
                </a:solidFill>
                <a:latin typeface="Garet"/>
                <a:ea typeface="Garet Bold"/>
                <a:cs typeface="Garet Bold"/>
                <a:sym typeface="Garet"/>
              </a:rPr>
              <a:t> </a:t>
            </a:r>
            <a:endParaRPr lang="en-US" sz="1150"/>
          </a:p>
          <a:p>
            <a:pPr marL="253365" lvl="1" indent="-126365">
              <a:lnSpc>
                <a:spcPts val="1646"/>
              </a:lnSpc>
              <a:buFont typeface="Arial"/>
              <a:buChar char="•"/>
            </a:pPr>
            <a:r>
              <a:rPr lang="en-US" sz="1150" b="1">
                <a:solidFill>
                  <a:srgbClr val="000000"/>
                </a:solidFill>
                <a:latin typeface="Garet Bold"/>
                <a:ea typeface="Garet Bold"/>
                <a:cs typeface="Garet Bold"/>
                <a:sym typeface="Garet Bold"/>
              </a:rPr>
              <a:t>BUSINESS OWNER:</a:t>
            </a:r>
            <a:r>
              <a:rPr lang="en-US" sz="1150">
                <a:solidFill>
                  <a:srgbClr val="000000"/>
                </a:solidFill>
                <a:latin typeface="Garet"/>
                <a:ea typeface="Garet"/>
                <a:cs typeface="Garet"/>
                <a:sym typeface="Garet"/>
              </a:rPr>
              <a:t> Jalal </a:t>
            </a:r>
            <a:r>
              <a:rPr lang="en-US" sz="1150" err="1">
                <a:solidFill>
                  <a:srgbClr val="000000"/>
                </a:solidFill>
                <a:latin typeface="Garet"/>
                <a:ea typeface="Garet"/>
                <a:cs typeface="Garet"/>
                <a:sym typeface="Garet"/>
              </a:rPr>
              <a:t>Burghul</a:t>
            </a:r>
            <a:endParaRPr lang="en-US" sz="1150">
              <a:solidFill>
                <a:srgbClr val="000000"/>
              </a:solidFill>
              <a:latin typeface="Garet"/>
              <a:ea typeface="Garet"/>
              <a:cs typeface="Garet"/>
            </a:endParaRPr>
          </a:p>
          <a:p>
            <a:pPr marL="253365" lvl="1" indent="-126365" algn="l">
              <a:lnSpc>
                <a:spcPts val="1646"/>
              </a:lnSpc>
              <a:spcBef>
                <a:spcPct val="0"/>
              </a:spcBef>
              <a:buFont typeface="Arial"/>
              <a:buChar char="•"/>
            </a:pPr>
            <a:r>
              <a:rPr lang="en-US" sz="1150" b="1">
                <a:solidFill>
                  <a:srgbClr val="000000"/>
                </a:solidFill>
                <a:latin typeface="Garet Bold"/>
                <a:ea typeface="Garet Bold"/>
                <a:cs typeface="Garet Bold"/>
                <a:sym typeface="Garet Bold"/>
              </a:rPr>
              <a:t>PERCENT COMPLETE:</a:t>
            </a:r>
            <a:r>
              <a:rPr lang="en-US" sz="1150">
                <a:solidFill>
                  <a:srgbClr val="000000"/>
                </a:solidFill>
                <a:latin typeface="Garet"/>
                <a:ea typeface="Garet"/>
                <a:cs typeface="Garet"/>
                <a:sym typeface="Garet"/>
              </a:rPr>
              <a:t> 95</a:t>
            </a:r>
            <a:r>
              <a:rPr lang="en-GB" sz="1150">
                <a:solidFill>
                  <a:srgbClr val="000000"/>
                </a:solidFill>
                <a:latin typeface="Garet"/>
                <a:ea typeface="Garet"/>
                <a:cs typeface="Garet"/>
                <a:sym typeface="Garet"/>
              </a:rPr>
              <a:t>%</a:t>
            </a:r>
            <a:endParaRPr lang="en-US" sz="1150">
              <a:solidFill>
                <a:srgbClr val="000000"/>
              </a:solidFill>
              <a:latin typeface="Garet"/>
              <a:ea typeface="Garet"/>
              <a:cs typeface="Garet"/>
            </a:endParaRPr>
          </a:p>
          <a:p>
            <a:pPr marL="253365" lvl="1" indent="-126365">
              <a:lnSpc>
                <a:spcPts val="1646"/>
              </a:lnSpc>
              <a:spcBef>
                <a:spcPct val="0"/>
              </a:spcBef>
              <a:buFont typeface="Arial"/>
              <a:buChar char="•"/>
            </a:pPr>
            <a:r>
              <a:rPr lang="en-US" sz="1150" b="1">
                <a:solidFill>
                  <a:srgbClr val="000000"/>
                </a:solidFill>
                <a:latin typeface="Garet Bold"/>
                <a:ea typeface="Garet Bold"/>
                <a:cs typeface="Garet Bold"/>
                <a:sym typeface="Garet Bold"/>
              </a:rPr>
              <a:t>BUDGET STATUS:</a:t>
            </a:r>
            <a:r>
              <a:rPr lang="en-US" sz="1150">
                <a:solidFill>
                  <a:srgbClr val="000000"/>
                </a:solidFill>
                <a:latin typeface="Garet"/>
                <a:ea typeface="Garet"/>
                <a:cs typeface="Garet"/>
                <a:sym typeface="Garet"/>
              </a:rPr>
              <a:t> </a:t>
            </a:r>
            <a:r>
              <a:rPr lang="en-US" sz="1200">
                <a:solidFill>
                  <a:srgbClr val="000000"/>
                </a:solidFill>
                <a:latin typeface="Garet"/>
                <a:ea typeface="Garet"/>
                <a:cs typeface="Garet"/>
                <a:sym typeface="Garet"/>
              </a:rPr>
              <a:t>ON BUDGET</a:t>
            </a:r>
            <a:endParaRPr lang="en-US" sz="1150">
              <a:solidFill>
                <a:srgbClr val="000000"/>
              </a:solidFill>
              <a:latin typeface="Garet"/>
              <a:ea typeface="Garet"/>
              <a:cs typeface="Garet"/>
            </a:endParaRPr>
          </a:p>
          <a:p>
            <a:pPr marL="253365" lvl="1" indent="-126365" algn="l">
              <a:lnSpc>
                <a:spcPts val="1646"/>
              </a:lnSpc>
              <a:spcBef>
                <a:spcPct val="0"/>
              </a:spcBef>
              <a:buFont typeface="Arial"/>
              <a:buChar char="•"/>
            </a:pPr>
            <a:r>
              <a:rPr lang="en-US" sz="1150" b="1">
                <a:solidFill>
                  <a:srgbClr val="000000"/>
                </a:solidFill>
                <a:latin typeface="Garet Bold"/>
                <a:ea typeface="Garet Bold"/>
                <a:cs typeface="Garet Bold"/>
                <a:sym typeface="Garet Bold"/>
              </a:rPr>
              <a:t>TIMELINE:</a:t>
            </a:r>
            <a:r>
              <a:rPr lang="en-US" sz="1150">
                <a:solidFill>
                  <a:srgbClr val="000000"/>
                </a:solidFill>
                <a:latin typeface="Garet"/>
                <a:ea typeface="Garet"/>
                <a:cs typeface="Garet"/>
                <a:sym typeface="Garet"/>
              </a:rPr>
              <a:t> On-Track</a:t>
            </a:r>
            <a:endParaRPr lang="en-US" sz="1150" b="1">
              <a:solidFill>
                <a:srgbClr val="FF3131"/>
              </a:solidFill>
              <a:latin typeface="Garet Bold"/>
              <a:ea typeface="Garet Bold"/>
              <a:cs typeface="Garet Bold"/>
            </a:endParaRPr>
          </a:p>
          <a:p>
            <a:pPr marL="253365" lvl="1" indent="-126365">
              <a:lnSpc>
                <a:spcPts val="1646"/>
              </a:lnSpc>
              <a:spcBef>
                <a:spcPct val="0"/>
              </a:spcBef>
              <a:buFont typeface="Arial"/>
              <a:buChar char="•"/>
            </a:pPr>
            <a:r>
              <a:rPr lang="en-US" sz="1150" b="1">
                <a:solidFill>
                  <a:srgbClr val="000000"/>
                </a:solidFill>
                <a:latin typeface="Garet Bold"/>
                <a:ea typeface="Garet Bold"/>
                <a:cs typeface="Garet Bold"/>
                <a:sym typeface="Garet Bold"/>
              </a:rPr>
              <a:t>KEY MILESTONES ACHIEVED:</a:t>
            </a:r>
            <a:r>
              <a:rPr lang="en-US" sz="1150">
                <a:solidFill>
                  <a:srgbClr val="000000"/>
                </a:solidFill>
                <a:latin typeface="Garet"/>
                <a:ea typeface="Garet"/>
                <a:cs typeface="Garet"/>
                <a:sym typeface="Garet"/>
              </a:rPr>
              <a:t> </a:t>
            </a:r>
            <a:endParaRPr lang="en-US" sz="1150">
              <a:solidFill>
                <a:srgbClr val="000000"/>
              </a:solidFill>
              <a:latin typeface="Garet"/>
              <a:ea typeface="Garet"/>
              <a:cs typeface="Garet"/>
              <a:sym typeface="Garet Bold"/>
            </a:endParaRPr>
          </a:p>
          <a:p>
            <a:pPr marL="253365" lvl="1" indent="-126365">
              <a:lnSpc>
                <a:spcPts val="1646"/>
              </a:lnSpc>
              <a:spcBef>
                <a:spcPct val="0"/>
              </a:spcBef>
              <a:buFont typeface="Arial"/>
              <a:buChar char="•"/>
            </a:pPr>
            <a:r>
              <a:rPr lang="en-US" sz="1150" b="1">
                <a:solidFill>
                  <a:srgbClr val="000000"/>
                </a:solidFill>
                <a:latin typeface="Garet Bold"/>
                <a:ea typeface="Garet Bold"/>
                <a:cs typeface="Garet Bold"/>
                <a:sym typeface="Garet Bold"/>
              </a:rPr>
              <a:t>ACTION ITEM: </a:t>
            </a:r>
            <a:r>
              <a:rPr lang="en-US" sz="1150">
                <a:solidFill>
                  <a:srgbClr val="000000"/>
                </a:solidFill>
                <a:latin typeface="Garet"/>
                <a:ea typeface="Garet Bold"/>
                <a:cs typeface="Garet Bold"/>
                <a:sym typeface="Garet"/>
              </a:rPr>
              <a:t> </a:t>
            </a:r>
            <a:endParaRPr lang="en-US" sz="1150">
              <a:solidFill>
                <a:srgbClr val="000000"/>
              </a:solidFill>
              <a:latin typeface="Garet"/>
              <a:ea typeface="Garet"/>
              <a:cs typeface="Garet"/>
            </a:endParaRPr>
          </a:p>
        </p:txBody>
      </p:sp>
      <p:sp>
        <p:nvSpPr>
          <p:cNvPr id="13" name="TextBox 13">
            <a:extLst>
              <a:ext uri="{FF2B5EF4-FFF2-40B4-BE49-F238E27FC236}">
                <a16:creationId xmlns:a16="http://schemas.microsoft.com/office/drawing/2014/main" id="{FE526AF1-3EB8-8A0A-EA12-9EFCF51EDFF4}"/>
              </a:ext>
            </a:extLst>
          </p:cNvPr>
          <p:cNvSpPr txBox="1"/>
          <p:nvPr/>
        </p:nvSpPr>
        <p:spPr>
          <a:xfrm>
            <a:off x="4855070" y="1851618"/>
            <a:ext cx="4226259" cy="1636345"/>
          </a:xfrm>
          <a:prstGeom prst="rect">
            <a:avLst/>
          </a:prstGeom>
        </p:spPr>
        <p:txBody>
          <a:bodyPr lIns="0" tIns="0" rIns="0" bIns="0" rtlCol="0" anchor="t">
            <a:spAutoFit/>
          </a:bodyPr>
          <a:lstStyle/>
          <a:p>
            <a:pPr marL="253365" lvl="1" indent="-126365">
              <a:lnSpc>
                <a:spcPts val="1646"/>
              </a:lnSpc>
              <a:buFont typeface="Arial,Sans-Serif"/>
              <a:buChar char="•"/>
            </a:pPr>
            <a:r>
              <a:rPr lang="en-US" sz="1200" b="1">
                <a:solidFill>
                  <a:srgbClr val="000000"/>
                </a:solidFill>
                <a:latin typeface="Garet Bold"/>
                <a:ea typeface="Garet Bold"/>
                <a:cs typeface="Garet Bold"/>
                <a:sym typeface="Garet Bold"/>
              </a:rPr>
              <a:t>VENDOR:</a:t>
            </a:r>
            <a:r>
              <a:rPr lang="en-US" sz="1200">
                <a:solidFill>
                  <a:srgbClr val="000000"/>
                </a:solidFill>
                <a:latin typeface="Garet"/>
                <a:ea typeface="Garet"/>
                <a:cs typeface="Garet"/>
                <a:sym typeface="Garet"/>
              </a:rPr>
              <a:t> </a:t>
            </a:r>
            <a:r>
              <a:rPr lang="en-US" sz="1200" err="1">
                <a:solidFill>
                  <a:srgbClr val="000000"/>
                </a:solidFill>
                <a:latin typeface="Garet"/>
                <a:ea typeface="Garet"/>
                <a:cs typeface="Garet"/>
                <a:sym typeface="Garet"/>
              </a:rPr>
              <a:t>ejabi</a:t>
            </a:r>
            <a:endParaRPr lang="en-US" sz="1200" err="1">
              <a:latin typeface="Garet"/>
              <a:ea typeface="Calibri"/>
              <a:cs typeface="Calibri"/>
            </a:endParaRPr>
          </a:p>
          <a:p>
            <a:pPr marL="253365" lvl="1" indent="-126365">
              <a:lnSpc>
                <a:spcPts val="1646"/>
              </a:lnSpc>
              <a:buFont typeface="Arial,Sans-Serif"/>
              <a:buChar char="•"/>
            </a:pPr>
            <a:r>
              <a:rPr lang="en-US" sz="1200" b="1">
                <a:solidFill>
                  <a:srgbClr val="000000"/>
                </a:solidFill>
                <a:latin typeface="Garet Bold"/>
                <a:ea typeface="Garet Bold"/>
                <a:cs typeface="Garet Bold"/>
                <a:sym typeface="Garet Bold"/>
              </a:rPr>
              <a:t>BUSINESS OWNER:</a:t>
            </a:r>
            <a:r>
              <a:rPr lang="en-US" sz="1200">
                <a:solidFill>
                  <a:srgbClr val="000000"/>
                </a:solidFill>
                <a:latin typeface="Garet"/>
                <a:ea typeface="Garet"/>
                <a:cs typeface="Garet"/>
                <a:sym typeface="Garet"/>
              </a:rPr>
              <a:t> Mr. Ibrahim</a:t>
            </a:r>
            <a:endParaRPr lang="en-US" sz="1200">
              <a:solidFill>
                <a:srgbClr val="000000"/>
              </a:solidFill>
              <a:latin typeface="Garet"/>
              <a:ea typeface="Garet"/>
              <a:cs typeface="Garet"/>
            </a:endParaRPr>
          </a:p>
          <a:p>
            <a:pPr marL="253365" lvl="1" indent="-126365">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PERCENT COMPLETE:</a:t>
            </a:r>
            <a:r>
              <a:rPr lang="en-US" sz="1200">
                <a:solidFill>
                  <a:srgbClr val="000000"/>
                </a:solidFill>
                <a:latin typeface="Garet"/>
                <a:ea typeface="Garet"/>
                <a:cs typeface="Garet"/>
                <a:sym typeface="Garet"/>
              </a:rPr>
              <a:t> 2%</a:t>
            </a:r>
            <a:endParaRPr lang="en-US" sz="1200">
              <a:solidFill>
                <a:srgbClr val="000000"/>
              </a:solidFill>
              <a:latin typeface="Garet"/>
              <a:ea typeface="Garet"/>
              <a:cs typeface="Garet"/>
            </a:endParaRPr>
          </a:p>
          <a:p>
            <a:pPr marL="253365" lvl="1" indent="-126365">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BUDGET STATUS:</a:t>
            </a:r>
            <a:r>
              <a:rPr lang="en-US" sz="1200">
                <a:solidFill>
                  <a:srgbClr val="000000"/>
                </a:solidFill>
                <a:latin typeface="Garet"/>
                <a:ea typeface="Garet"/>
                <a:cs typeface="Garet"/>
                <a:sym typeface="Garet"/>
              </a:rPr>
              <a:t> ON BUDGET</a:t>
            </a:r>
            <a:endParaRPr lang="en-US" sz="1200">
              <a:solidFill>
                <a:srgbClr val="000000"/>
              </a:solidFill>
              <a:latin typeface="Garet"/>
              <a:ea typeface="Garet"/>
              <a:cs typeface="Garet"/>
            </a:endParaRPr>
          </a:p>
          <a:p>
            <a:pPr marL="253365" lvl="1" indent="-126365">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TIMELINE:</a:t>
            </a:r>
            <a:r>
              <a:rPr lang="en-US" sz="1200">
                <a:solidFill>
                  <a:srgbClr val="000000"/>
                </a:solidFill>
                <a:latin typeface="Garet"/>
                <a:ea typeface="Garet"/>
                <a:cs typeface="Garet"/>
                <a:sym typeface="Garet"/>
              </a:rPr>
              <a:t> On-Track</a:t>
            </a:r>
            <a:endParaRPr lang="en-US" sz="1200">
              <a:solidFill>
                <a:srgbClr val="000000"/>
              </a:solidFill>
              <a:latin typeface="Garet"/>
              <a:ea typeface="Garet Bold"/>
              <a:cs typeface="Garet Bold"/>
            </a:endParaRPr>
          </a:p>
          <a:p>
            <a:pPr marL="253365" lvl="1" indent="-126365">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KEY MILESTONES ACHIEVED:</a:t>
            </a:r>
            <a:r>
              <a:rPr lang="en-US" sz="1200">
                <a:solidFill>
                  <a:srgbClr val="000000"/>
                </a:solidFill>
                <a:latin typeface="Garet"/>
                <a:ea typeface="Garet"/>
                <a:cs typeface="Garet"/>
                <a:sym typeface="Garet"/>
              </a:rPr>
              <a:t> </a:t>
            </a:r>
            <a:endParaRPr lang="en-US" sz="1200">
              <a:solidFill>
                <a:srgbClr val="000000"/>
              </a:solidFill>
              <a:latin typeface="Garet"/>
              <a:ea typeface="Garet"/>
              <a:cs typeface="Garet"/>
            </a:endParaRPr>
          </a:p>
          <a:p>
            <a:pPr marL="253365" lvl="1" indent="-126365">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ACTION ITEM:</a:t>
            </a:r>
            <a:r>
              <a:rPr lang="en-US" sz="1200" b="1">
                <a:solidFill>
                  <a:srgbClr val="000000"/>
                </a:solidFill>
                <a:latin typeface="Garet Bold"/>
                <a:ea typeface="Garet"/>
                <a:cs typeface="Garet"/>
                <a:sym typeface="Garet"/>
              </a:rPr>
              <a:t> </a:t>
            </a:r>
            <a:endParaRPr lang="en-US" sz="1200" b="1">
              <a:solidFill>
                <a:srgbClr val="000000"/>
              </a:solidFill>
              <a:latin typeface="Garet Bold"/>
              <a:ea typeface="Garet"/>
              <a:cs typeface="Garet"/>
            </a:endParaRPr>
          </a:p>
          <a:p>
            <a:pPr marL="127000" lvl="1" algn="just">
              <a:lnSpc>
                <a:spcPts val="1646"/>
              </a:lnSpc>
            </a:pPr>
            <a:endParaRPr lang="en-US" sz="1200">
              <a:solidFill>
                <a:srgbClr val="000000"/>
              </a:solidFill>
              <a:latin typeface="Garet"/>
              <a:ea typeface="Garet"/>
              <a:cs typeface="Garet"/>
            </a:endParaRPr>
          </a:p>
        </p:txBody>
      </p:sp>
      <p:grpSp>
        <p:nvGrpSpPr>
          <p:cNvPr id="14" name="Group 14">
            <a:extLst>
              <a:ext uri="{FF2B5EF4-FFF2-40B4-BE49-F238E27FC236}">
                <a16:creationId xmlns:a16="http://schemas.microsoft.com/office/drawing/2014/main" id="{88BE9A9E-5219-F3AC-E37C-928DF7D54CE6}"/>
              </a:ext>
            </a:extLst>
          </p:cNvPr>
          <p:cNvGrpSpPr/>
          <p:nvPr/>
        </p:nvGrpSpPr>
        <p:grpSpPr>
          <a:xfrm>
            <a:off x="430290" y="4344124"/>
            <a:ext cx="4226259" cy="2703250"/>
            <a:chOff x="0" y="0"/>
            <a:chExt cx="1082051" cy="692114"/>
          </a:xfrm>
        </p:grpSpPr>
        <p:sp>
          <p:nvSpPr>
            <p:cNvPr id="15" name="Freeform 15">
              <a:extLst>
                <a:ext uri="{FF2B5EF4-FFF2-40B4-BE49-F238E27FC236}">
                  <a16:creationId xmlns:a16="http://schemas.microsoft.com/office/drawing/2014/main" id="{D2688B4D-588A-311F-B0EB-F5715A1422A7}"/>
                </a:ext>
              </a:extLst>
            </p:cNvPr>
            <p:cNvSpPr/>
            <p:nvPr/>
          </p:nvSpPr>
          <p:spPr>
            <a:xfrm>
              <a:off x="0" y="0"/>
              <a:ext cx="1082051" cy="692114"/>
            </a:xfrm>
            <a:custGeom>
              <a:avLst/>
              <a:gdLst/>
              <a:ahLst/>
              <a:cxnLst/>
              <a:rect l="l" t="t" r="r" b="b"/>
              <a:pathLst>
                <a:path w="1082051" h="692114">
                  <a:moveTo>
                    <a:pt x="20150" y="0"/>
                  </a:moveTo>
                  <a:lnTo>
                    <a:pt x="1061900" y="0"/>
                  </a:lnTo>
                  <a:cubicBezTo>
                    <a:pt x="1067244" y="0"/>
                    <a:pt x="1072370" y="2123"/>
                    <a:pt x="1076149" y="5902"/>
                  </a:cubicBezTo>
                  <a:cubicBezTo>
                    <a:pt x="1079928" y="9681"/>
                    <a:pt x="1082051" y="14806"/>
                    <a:pt x="1082051" y="20150"/>
                  </a:cubicBezTo>
                  <a:lnTo>
                    <a:pt x="1082051" y="671964"/>
                  </a:lnTo>
                  <a:cubicBezTo>
                    <a:pt x="1082051" y="677308"/>
                    <a:pt x="1079928" y="682433"/>
                    <a:pt x="1076149" y="686212"/>
                  </a:cubicBezTo>
                  <a:cubicBezTo>
                    <a:pt x="1072370" y="689991"/>
                    <a:pt x="1067244" y="692114"/>
                    <a:pt x="1061900" y="692114"/>
                  </a:cubicBezTo>
                  <a:lnTo>
                    <a:pt x="20150" y="692114"/>
                  </a:lnTo>
                  <a:cubicBezTo>
                    <a:pt x="14806" y="692114"/>
                    <a:pt x="9681" y="689991"/>
                    <a:pt x="5902" y="686212"/>
                  </a:cubicBezTo>
                  <a:cubicBezTo>
                    <a:pt x="2123" y="682433"/>
                    <a:pt x="0" y="677308"/>
                    <a:pt x="0" y="671964"/>
                  </a:cubicBezTo>
                  <a:lnTo>
                    <a:pt x="0" y="20150"/>
                  </a:lnTo>
                  <a:cubicBezTo>
                    <a:pt x="0" y="14806"/>
                    <a:pt x="2123" y="9681"/>
                    <a:pt x="5902" y="5902"/>
                  </a:cubicBezTo>
                  <a:cubicBezTo>
                    <a:pt x="9681" y="2123"/>
                    <a:pt x="14806" y="0"/>
                    <a:pt x="20150" y="0"/>
                  </a:cubicBezTo>
                  <a:close/>
                </a:path>
              </a:pathLst>
            </a:custGeom>
            <a:solidFill>
              <a:srgbClr val="E4E7E8"/>
            </a:solidFill>
            <a:ln cap="sq">
              <a:noFill/>
              <a:prstDash val="solid"/>
              <a:miter/>
            </a:ln>
          </p:spPr>
          <p:txBody>
            <a:bodyPr/>
            <a:lstStyle/>
            <a:p>
              <a:endParaRPr lang="en-US"/>
            </a:p>
          </p:txBody>
        </p:sp>
        <p:sp>
          <p:nvSpPr>
            <p:cNvPr id="16" name="TextBox 16">
              <a:extLst>
                <a:ext uri="{FF2B5EF4-FFF2-40B4-BE49-F238E27FC236}">
                  <a16:creationId xmlns:a16="http://schemas.microsoft.com/office/drawing/2014/main" id="{6C452EF0-F917-EE1B-D59F-C45C5BA650CE}"/>
                </a:ext>
              </a:extLst>
            </p:cNvPr>
            <p:cNvSpPr txBox="1"/>
            <p:nvPr/>
          </p:nvSpPr>
          <p:spPr>
            <a:xfrm>
              <a:off x="0" y="-28575"/>
              <a:ext cx="1082051" cy="720689"/>
            </a:xfrm>
            <a:prstGeom prst="rect">
              <a:avLst/>
            </a:prstGeom>
          </p:spPr>
          <p:txBody>
            <a:bodyPr lIns="50800" tIns="50800" rIns="50800" bIns="50800" rtlCol="0" anchor="t"/>
            <a:lstStyle/>
            <a:p>
              <a:pPr algn="ctr"/>
              <a:r>
                <a:rPr lang="en-US" sz="1200">
                  <a:solidFill>
                    <a:srgbClr val="03A39D"/>
                  </a:solidFill>
                  <a:latin typeface="Garet"/>
                  <a:ea typeface="Garet"/>
                  <a:cs typeface="Garet"/>
                  <a:sym typeface="Garet"/>
                </a:rPr>
                <a:t>Project Name</a:t>
              </a:r>
              <a:endParaRPr lang="en-US" sz="1200">
                <a:solidFill>
                  <a:srgbClr val="000000"/>
                </a:solidFill>
                <a:latin typeface="Garet"/>
                <a:ea typeface="Garet"/>
                <a:cs typeface="Garet"/>
              </a:endParaRPr>
            </a:p>
          </p:txBody>
        </p:sp>
      </p:grpSp>
      <p:grpSp>
        <p:nvGrpSpPr>
          <p:cNvPr id="17" name="Group 17">
            <a:extLst>
              <a:ext uri="{FF2B5EF4-FFF2-40B4-BE49-F238E27FC236}">
                <a16:creationId xmlns:a16="http://schemas.microsoft.com/office/drawing/2014/main" id="{5240CA7A-E017-B561-29A5-BC084723CA27}"/>
              </a:ext>
            </a:extLst>
          </p:cNvPr>
          <p:cNvGrpSpPr/>
          <p:nvPr/>
        </p:nvGrpSpPr>
        <p:grpSpPr>
          <a:xfrm>
            <a:off x="4855070" y="4344124"/>
            <a:ext cx="4226259" cy="2703250"/>
            <a:chOff x="0" y="0"/>
            <a:chExt cx="1082051" cy="692114"/>
          </a:xfrm>
        </p:grpSpPr>
        <p:sp>
          <p:nvSpPr>
            <p:cNvPr id="18" name="Freeform 18">
              <a:extLst>
                <a:ext uri="{FF2B5EF4-FFF2-40B4-BE49-F238E27FC236}">
                  <a16:creationId xmlns:a16="http://schemas.microsoft.com/office/drawing/2014/main" id="{A69420F0-4ABE-5C6E-8F35-94232C0A0871}"/>
                </a:ext>
              </a:extLst>
            </p:cNvPr>
            <p:cNvSpPr/>
            <p:nvPr/>
          </p:nvSpPr>
          <p:spPr>
            <a:xfrm>
              <a:off x="0" y="0"/>
              <a:ext cx="1082051" cy="692114"/>
            </a:xfrm>
            <a:custGeom>
              <a:avLst/>
              <a:gdLst/>
              <a:ahLst/>
              <a:cxnLst/>
              <a:rect l="l" t="t" r="r" b="b"/>
              <a:pathLst>
                <a:path w="1082051" h="692114">
                  <a:moveTo>
                    <a:pt x="20150" y="0"/>
                  </a:moveTo>
                  <a:lnTo>
                    <a:pt x="1061900" y="0"/>
                  </a:lnTo>
                  <a:cubicBezTo>
                    <a:pt x="1067244" y="0"/>
                    <a:pt x="1072370" y="2123"/>
                    <a:pt x="1076149" y="5902"/>
                  </a:cubicBezTo>
                  <a:cubicBezTo>
                    <a:pt x="1079928" y="9681"/>
                    <a:pt x="1082051" y="14806"/>
                    <a:pt x="1082051" y="20150"/>
                  </a:cubicBezTo>
                  <a:lnTo>
                    <a:pt x="1082051" y="671964"/>
                  </a:lnTo>
                  <a:cubicBezTo>
                    <a:pt x="1082051" y="677308"/>
                    <a:pt x="1079928" y="682433"/>
                    <a:pt x="1076149" y="686212"/>
                  </a:cubicBezTo>
                  <a:cubicBezTo>
                    <a:pt x="1072370" y="689991"/>
                    <a:pt x="1067244" y="692114"/>
                    <a:pt x="1061900" y="692114"/>
                  </a:cubicBezTo>
                  <a:lnTo>
                    <a:pt x="20150" y="692114"/>
                  </a:lnTo>
                  <a:cubicBezTo>
                    <a:pt x="14806" y="692114"/>
                    <a:pt x="9681" y="689991"/>
                    <a:pt x="5902" y="686212"/>
                  </a:cubicBezTo>
                  <a:cubicBezTo>
                    <a:pt x="2123" y="682433"/>
                    <a:pt x="0" y="677308"/>
                    <a:pt x="0" y="671964"/>
                  </a:cubicBezTo>
                  <a:lnTo>
                    <a:pt x="0" y="20150"/>
                  </a:lnTo>
                  <a:cubicBezTo>
                    <a:pt x="0" y="14806"/>
                    <a:pt x="2123" y="9681"/>
                    <a:pt x="5902" y="5902"/>
                  </a:cubicBezTo>
                  <a:cubicBezTo>
                    <a:pt x="9681" y="2123"/>
                    <a:pt x="14806" y="0"/>
                    <a:pt x="20150" y="0"/>
                  </a:cubicBezTo>
                  <a:close/>
                </a:path>
              </a:pathLst>
            </a:custGeom>
            <a:solidFill>
              <a:srgbClr val="E4E7E8"/>
            </a:solidFill>
            <a:ln cap="sq">
              <a:noFill/>
              <a:prstDash val="solid"/>
              <a:miter/>
            </a:ln>
          </p:spPr>
          <p:txBody>
            <a:bodyPr/>
            <a:lstStyle/>
            <a:p>
              <a:endParaRPr lang="en-US"/>
            </a:p>
          </p:txBody>
        </p:sp>
        <p:sp>
          <p:nvSpPr>
            <p:cNvPr id="19" name="TextBox 19">
              <a:extLst>
                <a:ext uri="{FF2B5EF4-FFF2-40B4-BE49-F238E27FC236}">
                  <a16:creationId xmlns:a16="http://schemas.microsoft.com/office/drawing/2014/main" id="{DE3516AB-21A7-77D4-703E-6A3B7CEF7757}"/>
                </a:ext>
              </a:extLst>
            </p:cNvPr>
            <p:cNvSpPr txBox="1"/>
            <p:nvPr/>
          </p:nvSpPr>
          <p:spPr>
            <a:xfrm>
              <a:off x="0" y="-28575"/>
              <a:ext cx="1082051" cy="720689"/>
            </a:xfrm>
            <a:prstGeom prst="rect">
              <a:avLst/>
            </a:prstGeom>
          </p:spPr>
          <p:txBody>
            <a:bodyPr lIns="50800" tIns="50800" rIns="50800" bIns="50800" rtlCol="0" anchor="t"/>
            <a:lstStyle/>
            <a:p>
              <a:pPr algn="ctr"/>
              <a:r>
                <a:rPr lang="en-US" sz="1200">
                  <a:solidFill>
                    <a:srgbClr val="03A39D"/>
                  </a:solidFill>
                  <a:latin typeface="Garet"/>
                  <a:ea typeface="Garet"/>
                  <a:cs typeface="Garet"/>
                  <a:sym typeface="Garet"/>
                </a:rPr>
                <a:t>Project Name</a:t>
              </a:r>
              <a:endParaRPr lang="en-US" sz="1200">
                <a:solidFill>
                  <a:srgbClr val="000000"/>
                </a:solidFill>
                <a:latin typeface="Garet"/>
                <a:ea typeface="Garet"/>
                <a:cs typeface="Garet"/>
              </a:endParaRPr>
            </a:p>
          </p:txBody>
        </p:sp>
      </p:grpSp>
      <p:sp>
        <p:nvSpPr>
          <p:cNvPr id="20" name="AutoShape 20">
            <a:extLst>
              <a:ext uri="{FF2B5EF4-FFF2-40B4-BE49-F238E27FC236}">
                <a16:creationId xmlns:a16="http://schemas.microsoft.com/office/drawing/2014/main" id="{5E8BA489-D4EB-F5CE-BF33-7FDC5F8A9BE3}"/>
              </a:ext>
            </a:extLst>
          </p:cNvPr>
          <p:cNvSpPr/>
          <p:nvPr/>
        </p:nvSpPr>
        <p:spPr>
          <a:xfrm>
            <a:off x="5345842" y="4741975"/>
            <a:ext cx="3244715" cy="0"/>
          </a:xfrm>
          <a:prstGeom prst="line">
            <a:avLst/>
          </a:prstGeom>
          <a:ln w="9525" cap="flat">
            <a:solidFill>
              <a:srgbClr val="000000"/>
            </a:solidFill>
            <a:prstDash val="solid"/>
            <a:headEnd type="none" w="sm" len="sm"/>
            <a:tailEnd type="none" w="sm" len="sm"/>
          </a:ln>
        </p:spPr>
        <p:txBody>
          <a:bodyPr/>
          <a:lstStyle/>
          <a:p>
            <a:endParaRPr lang="en-US"/>
          </a:p>
        </p:txBody>
      </p:sp>
      <p:sp>
        <p:nvSpPr>
          <p:cNvPr id="21" name="AutoShape 21">
            <a:extLst>
              <a:ext uri="{FF2B5EF4-FFF2-40B4-BE49-F238E27FC236}">
                <a16:creationId xmlns:a16="http://schemas.microsoft.com/office/drawing/2014/main" id="{F23910B6-EA58-F86C-FAB5-796CC8094B1D}"/>
              </a:ext>
            </a:extLst>
          </p:cNvPr>
          <p:cNvSpPr/>
          <p:nvPr/>
        </p:nvSpPr>
        <p:spPr>
          <a:xfrm>
            <a:off x="884614" y="4743309"/>
            <a:ext cx="3244715" cy="0"/>
          </a:xfrm>
          <a:prstGeom prst="line">
            <a:avLst/>
          </a:prstGeom>
          <a:ln w="9525" cap="flat">
            <a:solidFill>
              <a:srgbClr val="000000"/>
            </a:solidFill>
            <a:prstDash val="solid"/>
            <a:headEnd type="none" w="sm" len="sm"/>
            <a:tailEnd type="none" w="sm" len="sm"/>
          </a:ln>
        </p:spPr>
        <p:txBody>
          <a:bodyPr/>
          <a:lstStyle/>
          <a:p>
            <a:endParaRPr lang="en-US"/>
          </a:p>
        </p:txBody>
      </p:sp>
      <p:sp>
        <p:nvSpPr>
          <p:cNvPr id="22" name="TextBox 22">
            <a:extLst>
              <a:ext uri="{FF2B5EF4-FFF2-40B4-BE49-F238E27FC236}">
                <a16:creationId xmlns:a16="http://schemas.microsoft.com/office/drawing/2014/main" id="{B9254DA3-DADC-C6D7-9D20-A9EF0A304231}"/>
              </a:ext>
            </a:extLst>
          </p:cNvPr>
          <p:cNvSpPr txBox="1"/>
          <p:nvPr/>
        </p:nvSpPr>
        <p:spPr>
          <a:xfrm>
            <a:off x="4855070" y="4859502"/>
            <a:ext cx="4226259" cy="1634422"/>
          </a:xfrm>
          <a:prstGeom prst="rect">
            <a:avLst/>
          </a:prstGeom>
        </p:spPr>
        <p:txBody>
          <a:bodyPr lIns="0" tIns="0" rIns="0" bIns="0" rtlCol="0" anchor="t">
            <a:spAutoFit/>
          </a:bodyPr>
          <a:lstStyle/>
          <a:p>
            <a:pPr marL="253365" lvl="1" indent="-126365" algn="l">
              <a:lnSpc>
                <a:spcPts val="1646"/>
              </a:lnSpc>
              <a:buFont typeface="Arial,Sans-Serif"/>
              <a:buChar char="•"/>
            </a:pPr>
            <a:r>
              <a:rPr lang="en-US" sz="1200" b="1">
                <a:solidFill>
                  <a:srgbClr val="000000"/>
                </a:solidFill>
                <a:latin typeface="Garet Bold"/>
                <a:ea typeface="Garet Bold"/>
                <a:cs typeface="Garet Bold"/>
                <a:sym typeface="Garet Bold"/>
              </a:rPr>
              <a:t>VENDOR:</a:t>
            </a:r>
            <a:r>
              <a:rPr lang="en-US" sz="1200">
                <a:solidFill>
                  <a:srgbClr val="000000"/>
                </a:solidFill>
                <a:latin typeface="Garet"/>
                <a:ea typeface="Garet Bold"/>
                <a:cs typeface="Garet Bold"/>
                <a:sym typeface="Garet Bold"/>
              </a:rPr>
              <a:t> </a:t>
            </a:r>
            <a:endParaRPr lang="en-US" sz="1200">
              <a:latin typeface="Garet"/>
            </a:endParaRPr>
          </a:p>
          <a:p>
            <a:pPr marL="253365" lvl="1" indent="-126365" algn="l">
              <a:lnSpc>
                <a:spcPts val="1646"/>
              </a:lnSpc>
              <a:buFont typeface="Arial,Sans-Serif"/>
              <a:buChar char="•"/>
            </a:pPr>
            <a:r>
              <a:rPr lang="en-US" sz="1200" b="1">
                <a:solidFill>
                  <a:srgbClr val="000000"/>
                </a:solidFill>
                <a:latin typeface="Garet Bold"/>
                <a:ea typeface="Garet Bold"/>
                <a:cs typeface="Garet Bold"/>
                <a:sym typeface="Garet Bold"/>
              </a:rPr>
              <a:t>BUSINESS OWNER:</a:t>
            </a:r>
            <a:r>
              <a:rPr lang="en-US" sz="1200">
                <a:solidFill>
                  <a:srgbClr val="000000"/>
                </a:solidFill>
                <a:latin typeface="Garet"/>
                <a:ea typeface="Garet"/>
                <a:cs typeface="Garet"/>
                <a:sym typeface="Garet"/>
              </a:rPr>
              <a:t> </a:t>
            </a:r>
            <a:endParaRPr lang="en-US" sz="1200">
              <a:solidFill>
                <a:srgbClr val="000000"/>
              </a:solidFill>
              <a:latin typeface="Garet"/>
              <a:ea typeface="Garet"/>
              <a:cs typeface="Garet"/>
            </a:endParaRPr>
          </a:p>
          <a:p>
            <a:pPr marL="253365" lvl="1" indent="-126365" algn="l">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PERCENT COMPLETE:</a:t>
            </a:r>
            <a:r>
              <a:rPr lang="en-US" sz="1200">
                <a:solidFill>
                  <a:srgbClr val="000000"/>
                </a:solidFill>
                <a:latin typeface="Garet"/>
                <a:ea typeface="Garet"/>
                <a:cs typeface="Garet"/>
                <a:sym typeface="Garet"/>
              </a:rPr>
              <a:t> </a:t>
            </a:r>
            <a:endParaRPr lang="en-US" sz="1200">
              <a:solidFill>
                <a:srgbClr val="000000"/>
              </a:solidFill>
              <a:latin typeface="Garet"/>
              <a:ea typeface="Garet"/>
              <a:cs typeface="Garet"/>
            </a:endParaRPr>
          </a:p>
          <a:p>
            <a:pPr marL="253365" lvl="1" indent="-126365" algn="l">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BUDGET STATUS:</a:t>
            </a:r>
            <a:r>
              <a:rPr lang="en-US" sz="1200">
                <a:solidFill>
                  <a:srgbClr val="000000"/>
                </a:solidFill>
                <a:latin typeface="Garet"/>
                <a:ea typeface="Garet"/>
                <a:cs typeface="Garet"/>
                <a:sym typeface="Garet"/>
              </a:rPr>
              <a:t> </a:t>
            </a:r>
            <a:endParaRPr lang="en-US" sz="1200">
              <a:solidFill>
                <a:srgbClr val="000000"/>
              </a:solidFill>
              <a:latin typeface="Garet"/>
              <a:ea typeface="Garet"/>
              <a:cs typeface="Garet"/>
            </a:endParaRPr>
          </a:p>
          <a:p>
            <a:pPr marL="253365" lvl="1" indent="-126365" algn="l">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TIMELINE:</a:t>
            </a:r>
            <a:r>
              <a:rPr lang="en-US" sz="1200">
                <a:solidFill>
                  <a:srgbClr val="000000"/>
                </a:solidFill>
                <a:latin typeface="Garet"/>
                <a:ea typeface="Garet"/>
                <a:cs typeface="Garet"/>
                <a:sym typeface="Garet"/>
              </a:rPr>
              <a:t> </a:t>
            </a:r>
            <a:endParaRPr lang="en-US" sz="1200">
              <a:solidFill>
                <a:srgbClr val="000000"/>
              </a:solidFill>
              <a:latin typeface="Garet"/>
              <a:ea typeface="Garet Bold"/>
              <a:cs typeface="Garet Bold"/>
            </a:endParaRPr>
          </a:p>
          <a:p>
            <a:pPr marL="253365" lvl="1" indent="-126365" algn="l">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KEY MILESTONES ACHIEVED:</a:t>
            </a:r>
            <a:r>
              <a:rPr lang="en-US" sz="1200">
                <a:solidFill>
                  <a:srgbClr val="000000"/>
                </a:solidFill>
                <a:latin typeface="Garet"/>
                <a:ea typeface="Garet"/>
                <a:cs typeface="Garet"/>
                <a:sym typeface="Garet"/>
              </a:rPr>
              <a:t> </a:t>
            </a:r>
            <a:endParaRPr lang="en-US" sz="1200">
              <a:solidFill>
                <a:srgbClr val="000000"/>
              </a:solidFill>
              <a:latin typeface="Garet"/>
              <a:ea typeface="Garet"/>
              <a:cs typeface="Garet"/>
            </a:endParaRPr>
          </a:p>
          <a:p>
            <a:pPr marL="253365" lvl="1" indent="-126365">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ACTION ITEM:</a:t>
            </a:r>
            <a:r>
              <a:rPr lang="en-US" sz="1200" b="1">
                <a:solidFill>
                  <a:srgbClr val="000000"/>
                </a:solidFill>
                <a:latin typeface="Garet Bold"/>
                <a:ea typeface="Garet"/>
                <a:cs typeface="Garet"/>
                <a:sym typeface="Garet"/>
              </a:rPr>
              <a:t> </a:t>
            </a:r>
            <a:endParaRPr lang="en-US" sz="1200">
              <a:solidFill>
                <a:srgbClr val="000000"/>
              </a:solidFill>
              <a:latin typeface="Garet Bold"/>
              <a:ea typeface="Garet"/>
              <a:cs typeface="Garet"/>
            </a:endParaRPr>
          </a:p>
          <a:p>
            <a:pPr marL="253365" lvl="1" indent="-126365">
              <a:lnSpc>
                <a:spcPts val="1646"/>
              </a:lnSpc>
              <a:buFont typeface="Arial"/>
              <a:buChar char="•"/>
            </a:pPr>
            <a:endParaRPr lang="en-US" sz="1150">
              <a:solidFill>
                <a:srgbClr val="000000"/>
              </a:solidFill>
              <a:latin typeface="Garet"/>
              <a:ea typeface="Garet"/>
              <a:cs typeface="Garet"/>
            </a:endParaRPr>
          </a:p>
        </p:txBody>
      </p:sp>
      <p:sp>
        <p:nvSpPr>
          <p:cNvPr id="23" name="TextBox 23">
            <a:extLst>
              <a:ext uri="{FF2B5EF4-FFF2-40B4-BE49-F238E27FC236}">
                <a16:creationId xmlns:a16="http://schemas.microsoft.com/office/drawing/2014/main" id="{ACAF0F6F-17F1-2F07-AFAB-1F3B5CE0CB10}"/>
              </a:ext>
            </a:extLst>
          </p:cNvPr>
          <p:cNvSpPr txBox="1"/>
          <p:nvPr/>
        </p:nvSpPr>
        <p:spPr>
          <a:xfrm>
            <a:off x="430290" y="4803646"/>
            <a:ext cx="4226259" cy="1634422"/>
          </a:xfrm>
          <a:prstGeom prst="rect">
            <a:avLst/>
          </a:prstGeom>
        </p:spPr>
        <p:txBody>
          <a:bodyPr lIns="0" tIns="0" rIns="0" bIns="0" rtlCol="0" anchor="t">
            <a:spAutoFit/>
          </a:bodyPr>
          <a:lstStyle/>
          <a:p>
            <a:pPr marL="253365" lvl="1" indent="-126365" algn="l">
              <a:lnSpc>
                <a:spcPts val="1646"/>
              </a:lnSpc>
              <a:buFont typeface="Arial,Sans-Serif"/>
              <a:buChar char="•"/>
            </a:pPr>
            <a:r>
              <a:rPr lang="en-US" sz="1200" b="1">
                <a:solidFill>
                  <a:srgbClr val="000000"/>
                </a:solidFill>
                <a:latin typeface="Garet Bold"/>
                <a:ea typeface="Garet Bold"/>
                <a:cs typeface="Garet Bold"/>
                <a:sym typeface="Garet Bold"/>
              </a:rPr>
              <a:t>VENDOR:</a:t>
            </a:r>
            <a:r>
              <a:rPr lang="en-US" sz="1200">
                <a:solidFill>
                  <a:srgbClr val="000000"/>
                </a:solidFill>
                <a:latin typeface="Garet"/>
                <a:ea typeface="Garet"/>
                <a:cs typeface="Garet"/>
                <a:sym typeface="Garet"/>
              </a:rPr>
              <a:t> </a:t>
            </a:r>
            <a:endParaRPr lang="en-US" sz="1200">
              <a:latin typeface="Garet"/>
            </a:endParaRPr>
          </a:p>
          <a:p>
            <a:pPr marL="253365" lvl="1" indent="-126365" algn="l">
              <a:lnSpc>
                <a:spcPts val="1646"/>
              </a:lnSpc>
              <a:buFont typeface="Arial,Sans-Serif"/>
              <a:buChar char="•"/>
            </a:pPr>
            <a:r>
              <a:rPr lang="en-US" sz="1200" b="1">
                <a:solidFill>
                  <a:srgbClr val="000000"/>
                </a:solidFill>
                <a:latin typeface="Garet Bold"/>
                <a:ea typeface="Garet Bold"/>
                <a:cs typeface="Garet Bold"/>
                <a:sym typeface="Garet Bold"/>
              </a:rPr>
              <a:t>BUSINESS OWNER:</a:t>
            </a:r>
            <a:r>
              <a:rPr lang="en-US" sz="1200">
                <a:solidFill>
                  <a:srgbClr val="000000"/>
                </a:solidFill>
                <a:latin typeface="Garet"/>
                <a:ea typeface="Garet"/>
                <a:cs typeface="Garet"/>
                <a:sym typeface="Garet"/>
              </a:rPr>
              <a:t> </a:t>
            </a:r>
            <a:endParaRPr lang="en-US" sz="1200">
              <a:solidFill>
                <a:srgbClr val="000000"/>
              </a:solidFill>
              <a:latin typeface="Garet"/>
              <a:ea typeface="Garet"/>
              <a:cs typeface="Garet"/>
            </a:endParaRPr>
          </a:p>
          <a:p>
            <a:pPr marL="253365" lvl="1" indent="-126365" algn="l">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PERCENT COMPLETE:</a:t>
            </a:r>
            <a:r>
              <a:rPr lang="en-US" sz="1200">
                <a:solidFill>
                  <a:srgbClr val="000000"/>
                </a:solidFill>
                <a:latin typeface="Garet"/>
                <a:ea typeface="Garet"/>
                <a:cs typeface="Garet"/>
                <a:sym typeface="Garet"/>
              </a:rPr>
              <a:t> </a:t>
            </a:r>
            <a:endParaRPr lang="en-US" sz="1200">
              <a:solidFill>
                <a:srgbClr val="000000"/>
              </a:solidFill>
              <a:latin typeface="Garet"/>
              <a:ea typeface="Garet"/>
              <a:cs typeface="Garet"/>
            </a:endParaRPr>
          </a:p>
          <a:p>
            <a:pPr marL="253365" lvl="1" indent="-126365" algn="l">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BUDGET STATUS:</a:t>
            </a:r>
            <a:r>
              <a:rPr lang="en-US" sz="1200">
                <a:solidFill>
                  <a:srgbClr val="000000"/>
                </a:solidFill>
                <a:latin typeface="Garet"/>
                <a:ea typeface="Garet"/>
                <a:cs typeface="Garet"/>
                <a:sym typeface="Garet"/>
              </a:rPr>
              <a:t> </a:t>
            </a:r>
            <a:endParaRPr lang="en-US" sz="1200">
              <a:solidFill>
                <a:srgbClr val="000000"/>
              </a:solidFill>
              <a:latin typeface="Garet"/>
              <a:ea typeface="Garet"/>
              <a:cs typeface="Garet"/>
            </a:endParaRPr>
          </a:p>
          <a:p>
            <a:pPr marL="253365" lvl="1" indent="-126365" algn="l">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TIMELINE:</a:t>
            </a:r>
            <a:r>
              <a:rPr lang="en-US" sz="1200">
                <a:solidFill>
                  <a:srgbClr val="000000"/>
                </a:solidFill>
                <a:latin typeface="Garet"/>
                <a:ea typeface="Garet Bold"/>
                <a:cs typeface="Garet Bold"/>
                <a:sym typeface="Garet Bold"/>
              </a:rPr>
              <a:t> </a:t>
            </a:r>
            <a:endParaRPr lang="en-US" sz="1200">
              <a:solidFill>
                <a:srgbClr val="000000"/>
              </a:solidFill>
              <a:latin typeface="Garet"/>
              <a:ea typeface="Garet Bold"/>
              <a:cs typeface="Garet Bold"/>
            </a:endParaRPr>
          </a:p>
          <a:p>
            <a:pPr marL="253365" lvl="1" indent="-126365" algn="l">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KEY MILESTONES ACHIEVED:</a:t>
            </a:r>
            <a:r>
              <a:rPr lang="en-US" sz="1200">
                <a:solidFill>
                  <a:srgbClr val="000000"/>
                </a:solidFill>
                <a:latin typeface="Garet"/>
                <a:ea typeface="Garet"/>
                <a:cs typeface="Garet"/>
                <a:sym typeface="Garet"/>
              </a:rPr>
              <a:t> </a:t>
            </a:r>
            <a:endParaRPr lang="en-US" sz="1200">
              <a:solidFill>
                <a:srgbClr val="000000"/>
              </a:solidFill>
              <a:latin typeface="Garet"/>
              <a:ea typeface="Garet"/>
              <a:cs typeface="Garet"/>
            </a:endParaRPr>
          </a:p>
          <a:p>
            <a:pPr marL="253365" lvl="1" indent="-126365">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ACTION ITEM:</a:t>
            </a:r>
            <a:r>
              <a:rPr lang="en-US" sz="1200" b="1">
                <a:solidFill>
                  <a:srgbClr val="000000"/>
                </a:solidFill>
                <a:latin typeface="Garet Bold"/>
                <a:ea typeface="Garet"/>
                <a:cs typeface="Garet"/>
                <a:sym typeface="Garet"/>
              </a:rPr>
              <a:t> </a:t>
            </a:r>
            <a:endParaRPr lang="en-US" sz="1200">
              <a:solidFill>
                <a:srgbClr val="000000"/>
              </a:solidFill>
              <a:latin typeface="Garet Bold"/>
              <a:ea typeface="Garet"/>
              <a:cs typeface="Garet"/>
            </a:endParaRPr>
          </a:p>
          <a:p>
            <a:pPr marL="253365" lvl="1" indent="-126365">
              <a:lnSpc>
                <a:spcPts val="1646"/>
              </a:lnSpc>
              <a:buFont typeface="Arial"/>
              <a:buChar char="•"/>
            </a:pPr>
            <a:endParaRPr lang="en-US" sz="1150">
              <a:solidFill>
                <a:srgbClr val="000000"/>
              </a:solidFill>
              <a:latin typeface="Garet"/>
              <a:ea typeface="Garet"/>
              <a:cs typeface="Garet"/>
            </a:endParaRPr>
          </a:p>
        </p:txBody>
      </p:sp>
      <p:grpSp>
        <p:nvGrpSpPr>
          <p:cNvPr id="24" name="Group 24">
            <a:extLst>
              <a:ext uri="{FF2B5EF4-FFF2-40B4-BE49-F238E27FC236}">
                <a16:creationId xmlns:a16="http://schemas.microsoft.com/office/drawing/2014/main" id="{7EF67556-3EB5-EA42-6BD4-260991D68438}"/>
              </a:ext>
            </a:extLst>
          </p:cNvPr>
          <p:cNvGrpSpPr/>
          <p:nvPr/>
        </p:nvGrpSpPr>
        <p:grpSpPr>
          <a:xfrm>
            <a:off x="430290" y="7343672"/>
            <a:ext cx="4226259" cy="2506882"/>
            <a:chOff x="0" y="0"/>
            <a:chExt cx="1082051" cy="641838"/>
          </a:xfrm>
        </p:grpSpPr>
        <p:sp>
          <p:nvSpPr>
            <p:cNvPr id="25" name="Freeform 25">
              <a:extLst>
                <a:ext uri="{FF2B5EF4-FFF2-40B4-BE49-F238E27FC236}">
                  <a16:creationId xmlns:a16="http://schemas.microsoft.com/office/drawing/2014/main" id="{97161496-5310-6180-4299-8A40FBE6B38E}"/>
                </a:ext>
              </a:extLst>
            </p:cNvPr>
            <p:cNvSpPr/>
            <p:nvPr/>
          </p:nvSpPr>
          <p:spPr>
            <a:xfrm>
              <a:off x="0" y="0"/>
              <a:ext cx="1082051" cy="641838"/>
            </a:xfrm>
            <a:custGeom>
              <a:avLst/>
              <a:gdLst/>
              <a:ahLst/>
              <a:cxnLst/>
              <a:rect l="l" t="t" r="r" b="b"/>
              <a:pathLst>
                <a:path w="1082051" h="641838">
                  <a:moveTo>
                    <a:pt x="20150" y="0"/>
                  </a:moveTo>
                  <a:lnTo>
                    <a:pt x="1061900" y="0"/>
                  </a:lnTo>
                  <a:cubicBezTo>
                    <a:pt x="1067244" y="0"/>
                    <a:pt x="1072370" y="2123"/>
                    <a:pt x="1076149" y="5902"/>
                  </a:cubicBezTo>
                  <a:cubicBezTo>
                    <a:pt x="1079928" y="9681"/>
                    <a:pt x="1082051" y="14806"/>
                    <a:pt x="1082051" y="20150"/>
                  </a:cubicBezTo>
                  <a:lnTo>
                    <a:pt x="1082051" y="621688"/>
                  </a:lnTo>
                  <a:cubicBezTo>
                    <a:pt x="1082051" y="627032"/>
                    <a:pt x="1079928" y="632157"/>
                    <a:pt x="1076149" y="635936"/>
                  </a:cubicBezTo>
                  <a:cubicBezTo>
                    <a:pt x="1072370" y="639715"/>
                    <a:pt x="1067244" y="641838"/>
                    <a:pt x="1061900" y="641838"/>
                  </a:cubicBezTo>
                  <a:lnTo>
                    <a:pt x="20150" y="641838"/>
                  </a:lnTo>
                  <a:cubicBezTo>
                    <a:pt x="14806" y="641838"/>
                    <a:pt x="9681" y="639715"/>
                    <a:pt x="5902" y="635936"/>
                  </a:cubicBezTo>
                  <a:cubicBezTo>
                    <a:pt x="2123" y="632157"/>
                    <a:pt x="0" y="627032"/>
                    <a:pt x="0" y="621688"/>
                  </a:cubicBezTo>
                  <a:lnTo>
                    <a:pt x="0" y="20150"/>
                  </a:lnTo>
                  <a:cubicBezTo>
                    <a:pt x="0" y="14806"/>
                    <a:pt x="2123" y="9681"/>
                    <a:pt x="5902" y="5902"/>
                  </a:cubicBezTo>
                  <a:cubicBezTo>
                    <a:pt x="9681" y="2123"/>
                    <a:pt x="14806" y="0"/>
                    <a:pt x="20150" y="0"/>
                  </a:cubicBezTo>
                  <a:close/>
                </a:path>
              </a:pathLst>
            </a:custGeom>
            <a:solidFill>
              <a:srgbClr val="E4E7E8"/>
            </a:solidFill>
            <a:ln cap="sq">
              <a:noFill/>
              <a:prstDash val="solid"/>
              <a:miter/>
            </a:ln>
          </p:spPr>
          <p:txBody>
            <a:bodyPr/>
            <a:lstStyle/>
            <a:p>
              <a:endParaRPr lang="en-US"/>
            </a:p>
          </p:txBody>
        </p:sp>
        <p:sp>
          <p:nvSpPr>
            <p:cNvPr id="26" name="TextBox 26">
              <a:extLst>
                <a:ext uri="{FF2B5EF4-FFF2-40B4-BE49-F238E27FC236}">
                  <a16:creationId xmlns:a16="http://schemas.microsoft.com/office/drawing/2014/main" id="{D92DF4AA-4397-6178-2E02-9488BD3DE40C}"/>
                </a:ext>
              </a:extLst>
            </p:cNvPr>
            <p:cNvSpPr txBox="1"/>
            <p:nvPr/>
          </p:nvSpPr>
          <p:spPr>
            <a:xfrm>
              <a:off x="0" y="-28575"/>
              <a:ext cx="1082051" cy="670413"/>
            </a:xfrm>
            <a:prstGeom prst="rect">
              <a:avLst/>
            </a:prstGeom>
          </p:spPr>
          <p:txBody>
            <a:bodyPr lIns="50800" tIns="50800" rIns="50800" bIns="50800" rtlCol="0" anchor="t"/>
            <a:lstStyle/>
            <a:p>
              <a:pPr algn="ctr"/>
              <a:r>
                <a:rPr lang="en-US" sz="1200">
                  <a:solidFill>
                    <a:srgbClr val="03A39D"/>
                  </a:solidFill>
                  <a:latin typeface="Garet"/>
                  <a:ea typeface="Garet"/>
                  <a:cs typeface="Garet"/>
                  <a:sym typeface="Garet"/>
                </a:rPr>
                <a:t>Project Name</a:t>
              </a:r>
              <a:endParaRPr lang="en-US" sz="1200">
                <a:solidFill>
                  <a:srgbClr val="000000"/>
                </a:solidFill>
                <a:latin typeface="Garet"/>
                <a:ea typeface="Garet"/>
                <a:cs typeface="Garet"/>
              </a:endParaRPr>
            </a:p>
          </p:txBody>
        </p:sp>
      </p:grpSp>
      <p:grpSp>
        <p:nvGrpSpPr>
          <p:cNvPr id="27" name="Group 27">
            <a:extLst>
              <a:ext uri="{FF2B5EF4-FFF2-40B4-BE49-F238E27FC236}">
                <a16:creationId xmlns:a16="http://schemas.microsoft.com/office/drawing/2014/main" id="{8C1E8699-9AA2-6DDC-29A0-C5E890B2CADE}"/>
              </a:ext>
            </a:extLst>
          </p:cNvPr>
          <p:cNvGrpSpPr/>
          <p:nvPr/>
        </p:nvGrpSpPr>
        <p:grpSpPr>
          <a:xfrm>
            <a:off x="4855070" y="7343672"/>
            <a:ext cx="4226259" cy="2506882"/>
            <a:chOff x="0" y="0"/>
            <a:chExt cx="1082051" cy="641838"/>
          </a:xfrm>
        </p:grpSpPr>
        <p:sp>
          <p:nvSpPr>
            <p:cNvPr id="28" name="Freeform 28">
              <a:extLst>
                <a:ext uri="{FF2B5EF4-FFF2-40B4-BE49-F238E27FC236}">
                  <a16:creationId xmlns:a16="http://schemas.microsoft.com/office/drawing/2014/main" id="{B8A4210A-873F-11E5-CFC4-B1765B16C029}"/>
                </a:ext>
              </a:extLst>
            </p:cNvPr>
            <p:cNvSpPr/>
            <p:nvPr/>
          </p:nvSpPr>
          <p:spPr>
            <a:xfrm>
              <a:off x="0" y="0"/>
              <a:ext cx="1082051" cy="641838"/>
            </a:xfrm>
            <a:custGeom>
              <a:avLst/>
              <a:gdLst/>
              <a:ahLst/>
              <a:cxnLst/>
              <a:rect l="l" t="t" r="r" b="b"/>
              <a:pathLst>
                <a:path w="1082051" h="641838">
                  <a:moveTo>
                    <a:pt x="20150" y="0"/>
                  </a:moveTo>
                  <a:lnTo>
                    <a:pt x="1061900" y="0"/>
                  </a:lnTo>
                  <a:cubicBezTo>
                    <a:pt x="1067244" y="0"/>
                    <a:pt x="1072370" y="2123"/>
                    <a:pt x="1076149" y="5902"/>
                  </a:cubicBezTo>
                  <a:cubicBezTo>
                    <a:pt x="1079928" y="9681"/>
                    <a:pt x="1082051" y="14806"/>
                    <a:pt x="1082051" y="20150"/>
                  </a:cubicBezTo>
                  <a:lnTo>
                    <a:pt x="1082051" y="621688"/>
                  </a:lnTo>
                  <a:cubicBezTo>
                    <a:pt x="1082051" y="627032"/>
                    <a:pt x="1079928" y="632157"/>
                    <a:pt x="1076149" y="635936"/>
                  </a:cubicBezTo>
                  <a:cubicBezTo>
                    <a:pt x="1072370" y="639715"/>
                    <a:pt x="1067244" y="641838"/>
                    <a:pt x="1061900" y="641838"/>
                  </a:cubicBezTo>
                  <a:lnTo>
                    <a:pt x="20150" y="641838"/>
                  </a:lnTo>
                  <a:cubicBezTo>
                    <a:pt x="14806" y="641838"/>
                    <a:pt x="9681" y="639715"/>
                    <a:pt x="5902" y="635936"/>
                  </a:cubicBezTo>
                  <a:cubicBezTo>
                    <a:pt x="2123" y="632157"/>
                    <a:pt x="0" y="627032"/>
                    <a:pt x="0" y="621688"/>
                  </a:cubicBezTo>
                  <a:lnTo>
                    <a:pt x="0" y="20150"/>
                  </a:lnTo>
                  <a:cubicBezTo>
                    <a:pt x="0" y="14806"/>
                    <a:pt x="2123" y="9681"/>
                    <a:pt x="5902" y="5902"/>
                  </a:cubicBezTo>
                  <a:cubicBezTo>
                    <a:pt x="9681" y="2123"/>
                    <a:pt x="14806" y="0"/>
                    <a:pt x="20150" y="0"/>
                  </a:cubicBezTo>
                  <a:close/>
                </a:path>
              </a:pathLst>
            </a:custGeom>
            <a:solidFill>
              <a:srgbClr val="E4E7E8"/>
            </a:solidFill>
            <a:ln cap="sq">
              <a:noFill/>
              <a:prstDash val="solid"/>
              <a:miter/>
            </a:ln>
          </p:spPr>
          <p:txBody>
            <a:bodyPr/>
            <a:lstStyle/>
            <a:p>
              <a:endParaRPr lang="en-US"/>
            </a:p>
          </p:txBody>
        </p:sp>
        <p:sp>
          <p:nvSpPr>
            <p:cNvPr id="29" name="TextBox 29">
              <a:extLst>
                <a:ext uri="{FF2B5EF4-FFF2-40B4-BE49-F238E27FC236}">
                  <a16:creationId xmlns:a16="http://schemas.microsoft.com/office/drawing/2014/main" id="{CC5C73B6-D2B0-FCB1-F21F-F165FC7B50CE}"/>
                </a:ext>
              </a:extLst>
            </p:cNvPr>
            <p:cNvSpPr txBox="1"/>
            <p:nvPr/>
          </p:nvSpPr>
          <p:spPr>
            <a:xfrm>
              <a:off x="0" y="-28575"/>
              <a:ext cx="1082051" cy="670413"/>
            </a:xfrm>
            <a:prstGeom prst="rect">
              <a:avLst/>
            </a:prstGeom>
          </p:spPr>
          <p:txBody>
            <a:bodyPr lIns="50800" tIns="50800" rIns="50800" bIns="50800" rtlCol="0" anchor="t"/>
            <a:lstStyle/>
            <a:p>
              <a:pPr algn="ctr"/>
              <a:r>
                <a:rPr lang="en-US" sz="1200">
                  <a:solidFill>
                    <a:srgbClr val="03A39D"/>
                  </a:solidFill>
                  <a:latin typeface="Garet"/>
                  <a:ea typeface="Garet"/>
                  <a:cs typeface="Garet"/>
                  <a:sym typeface="Garet"/>
                </a:rPr>
                <a:t>Project Name</a:t>
              </a:r>
              <a:endParaRPr lang="en-US" sz="1200">
                <a:solidFill>
                  <a:srgbClr val="000000"/>
                </a:solidFill>
                <a:latin typeface="Garet"/>
                <a:ea typeface="Garet"/>
                <a:cs typeface="Garet"/>
                <a:sym typeface="Garet"/>
              </a:endParaRPr>
            </a:p>
          </p:txBody>
        </p:sp>
      </p:grpSp>
      <p:sp>
        <p:nvSpPr>
          <p:cNvPr id="30" name="AutoShape 30">
            <a:extLst>
              <a:ext uri="{FF2B5EF4-FFF2-40B4-BE49-F238E27FC236}">
                <a16:creationId xmlns:a16="http://schemas.microsoft.com/office/drawing/2014/main" id="{3C682A65-CD74-7653-93B2-790E33893A6E}"/>
              </a:ext>
            </a:extLst>
          </p:cNvPr>
          <p:cNvSpPr/>
          <p:nvPr/>
        </p:nvSpPr>
        <p:spPr>
          <a:xfrm>
            <a:off x="5345842" y="7741523"/>
            <a:ext cx="3244715" cy="0"/>
          </a:xfrm>
          <a:prstGeom prst="line">
            <a:avLst/>
          </a:prstGeom>
          <a:ln w="9525" cap="flat">
            <a:solidFill>
              <a:srgbClr val="000000"/>
            </a:solidFill>
            <a:prstDash val="solid"/>
            <a:headEnd type="none" w="sm" len="sm"/>
            <a:tailEnd type="none" w="sm" len="sm"/>
          </a:ln>
        </p:spPr>
        <p:txBody>
          <a:bodyPr/>
          <a:lstStyle/>
          <a:p>
            <a:endParaRPr lang="en-US"/>
          </a:p>
        </p:txBody>
      </p:sp>
      <p:sp>
        <p:nvSpPr>
          <p:cNvPr id="31" name="AutoShape 31">
            <a:extLst>
              <a:ext uri="{FF2B5EF4-FFF2-40B4-BE49-F238E27FC236}">
                <a16:creationId xmlns:a16="http://schemas.microsoft.com/office/drawing/2014/main" id="{7E948B2F-65B6-003B-ECA2-AEDC73048481}"/>
              </a:ext>
            </a:extLst>
          </p:cNvPr>
          <p:cNvSpPr/>
          <p:nvPr/>
        </p:nvSpPr>
        <p:spPr>
          <a:xfrm>
            <a:off x="884614" y="7742857"/>
            <a:ext cx="3244715" cy="0"/>
          </a:xfrm>
          <a:prstGeom prst="line">
            <a:avLst/>
          </a:prstGeom>
          <a:ln w="9525" cap="flat">
            <a:solidFill>
              <a:srgbClr val="000000"/>
            </a:solidFill>
            <a:prstDash val="solid"/>
            <a:headEnd type="none" w="sm" len="sm"/>
            <a:tailEnd type="none" w="sm" len="sm"/>
          </a:ln>
        </p:spPr>
        <p:txBody>
          <a:bodyPr/>
          <a:lstStyle/>
          <a:p>
            <a:endParaRPr lang="en-US"/>
          </a:p>
        </p:txBody>
      </p:sp>
      <p:sp>
        <p:nvSpPr>
          <p:cNvPr id="32" name="TextBox 32">
            <a:extLst>
              <a:ext uri="{FF2B5EF4-FFF2-40B4-BE49-F238E27FC236}">
                <a16:creationId xmlns:a16="http://schemas.microsoft.com/office/drawing/2014/main" id="{AF8FF41F-A5D0-69B4-4018-39F27C4E9496}"/>
              </a:ext>
            </a:extLst>
          </p:cNvPr>
          <p:cNvSpPr txBox="1"/>
          <p:nvPr/>
        </p:nvSpPr>
        <p:spPr>
          <a:xfrm>
            <a:off x="4855070" y="7810469"/>
            <a:ext cx="4226259" cy="1628651"/>
          </a:xfrm>
          <a:prstGeom prst="rect">
            <a:avLst/>
          </a:prstGeom>
        </p:spPr>
        <p:txBody>
          <a:bodyPr lIns="0" tIns="0" rIns="0" bIns="0" rtlCol="0" anchor="t">
            <a:spAutoFit/>
          </a:bodyPr>
          <a:lstStyle/>
          <a:p>
            <a:pPr marL="253365" lvl="1" indent="-126365" algn="l">
              <a:lnSpc>
                <a:spcPts val="1646"/>
              </a:lnSpc>
              <a:buFont typeface="Arial,Sans-Serif"/>
              <a:buChar char="•"/>
            </a:pPr>
            <a:r>
              <a:rPr lang="en-US" sz="1200" b="1">
                <a:solidFill>
                  <a:srgbClr val="000000"/>
                </a:solidFill>
                <a:latin typeface="Garet Bold"/>
                <a:ea typeface="Garet Bold"/>
                <a:cs typeface="Garet Bold"/>
                <a:sym typeface="Garet Bold"/>
              </a:rPr>
              <a:t>VENDOR:</a:t>
            </a:r>
            <a:r>
              <a:rPr lang="en-US" sz="1200" b="1">
                <a:solidFill>
                  <a:srgbClr val="000000"/>
                </a:solidFill>
                <a:latin typeface="Garet"/>
                <a:ea typeface="Garet"/>
                <a:cs typeface="Garet"/>
                <a:sym typeface="Garet"/>
              </a:rPr>
              <a:t> </a:t>
            </a:r>
            <a:endParaRPr lang="en-US" sz="1200" b="1">
              <a:latin typeface="Garet"/>
            </a:endParaRPr>
          </a:p>
          <a:p>
            <a:pPr marL="253365" lvl="1" indent="-126365" algn="l">
              <a:lnSpc>
                <a:spcPts val="1646"/>
              </a:lnSpc>
              <a:buFont typeface="Arial,Sans-Serif"/>
              <a:buChar char="•"/>
            </a:pPr>
            <a:r>
              <a:rPr lang="en-US" sz="1200" b="1">
                <a:solidFill>
                  <a:srgbClr val="000000"/>
                </a:solidFill>
                <a:latin typeface="Garet Bold"/>
                <a:ea typeface="Garet Bold"/>
                <a:cs typeface="Garet Bold"/>
                <a:sym typeface="Garet Bold"/>
              </a:rPr>
              <a:t>BUSINESS OWNER:</a:t>
            </a:r>
            <a:r>
              <a:rPr lang="en-US" sz="1200" b="1">
                <a:solidFill>
                  <a:srgbClr val="000000"/>
                </a:solidFill>
                <a:latin typeface="Garet"/>
                <a:ea typeface="Garet"/>
                <a:cs typeface="Garet"/>
                <a:sym typeface="Garet"/>
              </a:rPr>
              <a:t> </a:t>
            </a:r>
            <a:endParaRPr lang="en-US" sz="1200" b="1">
              <a:solidFill>
                <a:srgbClr val="000000"/>
              </a:solidFill>
              <a:latin typeface="Garet"/>
              <a:ea typeface="Garet"/>
              <a:cs typeface="Garet"/>
            </a:endParaRPr>
          </a:p>
          <a:p>
            <a:pPr marL="253365" lvl="1" indent="-126365">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PERCENT COMPLETE:</a:t>
            </a:r>
            <a:r>
              <a:rPr lang="en-US" sz="1200" b="1">
                <a:solidFill>
                  <a:srgbClr val="000000"/>
                </a:solidFill>
                <a:latin typeface="Garet"/>
                <a:ea typeface="Garet"/>
                <a:cs typeface="Garet"/>
                <a:sym typeface="Garet"/>
              </a:rPr>
              <a:t> </a:t>
            </a:r>
            <a:endParaRPr lang="en-US" sz="1200" b="1">
              <a:solidFill>
                <a:srgbClr val="000000"/>
              </a:solidFill>
              <a:latin typeface="Garet"/>
              <a:ea typeface="Garet"/>
              <a:cs typeface="Garet"/>
            </a:endParaRPr>
          </a:p>
          <a:p>
            <a:pPr marL="253365" lvl="1" indent="-126365" algn="l">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BUDGET STATUS:</a:t>
            </a:r>
            <a:r>
              <a:rPr lang="en-US" sz="1200" b="1">
                <a:solidFill>
                  <a:srgbClr val="000000"/>
                </a:solidFill>
                <a:latin typeface="Garet"/>
                <a:ea typeface="Garet"/>
                <a:cs typeface="Garet"/>
                <a:sym typeface="Garet"/>
              </a:rPr>
              <a:t> </a:t>
            </a:r>
            <a:endParaRPr lang="en-US" sz="1200" b="1">
              <a:solidFill>
                <a:srgbClr val="000000"/>
              </a:solidFill>
              <a:latin typeface="Garet"/>
              <a:ea typeface="Garet"/>
              <a:cs typeface="Garet"/>
            </a:endParaRPr>
          </a:p>
          <a:p>
            <a:pPr marL="253365" lvl="1" indent="-126365" algn="l">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TIMELINE:</a:t>
            </a:r>
            <a:r>
              <a:rPr lang="en-US" sz="1200" b="1">
                <a:solidFill>
                  <a:srgbClr val="000000"/>
                </a:solidFill>
                <a:latin typeface="Garet"/>
                <a:ea typeface="Garet Bold"/>
                <a:cs typeface="Garet Bold"/>
                <a:sym typeface="Garet Bold"/>
              </a:rPr>
              <a:t> </a:t>
            </a:r>
            <a:endParaRPr lang="en-US" sz="1200" b="1">
              <a:solidFill>
                <a:srgbClr val="000000"/>
              </a:solidFill>
              <a:latin typeface="Garet"/>
              <a:ea typeface="Garet Bold"/>
              <a:cs typeface="Garet Bold"/>
            </a:endParaRPr>
          </a:p>
          <a:p>
            <a:pPr marL="253365" lvl="1" indent="-126365">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KEY MILESTONES ACHIEVED:</a:t>
            </a:r>
            <a:r>
              <a:rPr lang="en-US" sz="1200" b="1">
                <a:solidFill>
                  <a:srgbClr val="000000"/>
                </a:solidFill>
                <a:latin typeface="Garet"/>
                <a:ea typeface="Garet Bold"/>
                <a:cs typeface="Garet Bold"/>
                <a:sym typeface="Garet Bold"/>
              </a:rPr>
              <a:t> </a:t>
            </a:r>
            <a:endParaRPr lang="en-US" sz="1200" b="1">
              <a:solidFill>
                <a:srgbClr val="000000"/>
              </a:solidFill>
              <a:latin typeface="Garet"/>
              <a:ea typeface="Garet"/>
              <a:cs typeface="Garet"/>
            </a:endParaRPr>
          </a:p>
          <a:p>
            <a:pPr marL="253365" lvl="1" indent="-126365">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ACTION ITEM: </a:t>
            </a:r>
            <a:endParaRPr lang="en-US" sz="1200" b="1">
              <a:solidFill>
                <a:srgbClr val="000000"/>
              </a:solidFill>
              <a:latin typeface="Garet"/>
              <a:ea typeface="Garet Bold"/>
              <a:cs typeface="Garet Bold"/>
            </a:endParaRPr>
          </a:p>
          <a:p>
            <a:pPr marL="253365" lvl="1" indent="-126365">
              <a:lnSpc>
                <a:spcPts val="1646"/>
              </a:lnSpc>
              <a:buFont typeface="Arial"/>
              <a:buChar char="•"/>
            </a:pPr>
            <a:endParaRPr lang="en-US" sz="1150" b="1">
              <a:solidFill>
                <a:srgbClr val="000000"/>
              </a:solidFill>
              <a:latin typeface="Garet"/>
              <a:ea typeface="Garet"/>
              <a:cs typeface="Garet"/>
            </a:endParaRPr>
          </a:p>
        </p:txBody>
      </p:sp>
      <p:sp>
        <p:nvSpPr>
          <p:cNvPr id="33" name="TextBox 33">
            <a:extLst>
              <a:ext uri="{FF2B5EF4-FFF2-40B4-BE49-F238E27FC236}">
                <a16:creationId xmlns:a16="http://schemas.microsoft.com/office/drawing/2014/main" id="{2146BE73-9E29-6B63-0426-041C1B34ACC2}"/>
              </a:ext>
            </a:extLst>
          </p:cNvPr>
          <p:cNvSpPr txBox="1"/>
          <p:nvPr/>
        </p:nvSpPr>
        <p:spPr>
          <a:xfrm>
            <a:off x="430290" y="7810469"/>
            <a:ext cx="4226259" cy="1634422"/>
          </a:xfrm>
          <a:prstGeom prst="rect">
            <a:avLst/>
          </a:prstGeom>
        </p:spPr>
        <p:txBody>
          <a:bodyPr lIns="0" tIns="0" rIns="0" bIns="0" rtlCol="0" anchor="t">
            <a:spAutoFit/>
          </a:bodyPr>
          <a:lstStyle/>
          <a:p>
            <a:pPr marL="253365" lvl="1" indent="-126365" algn="l">
              <a:lnSpc>
                <a:spcPts val="1646"/>
              </a:lnSpc>
              <a:buFont typeface="Arial,Sans-Serif"/>
              <a:buChar char="•"/>
            </a:pPr>
            <a:r>
              <a:rPr lang="en-US" sz="1200" b="1">
                <a:solidFill>
                  <a:srgbClr val="000000"/>
                </a:solidFill>
                <a:latin typeface="Garet Bold"/>
                <a:ea typeface="Garet Bold"/>
                <a:cs typeface="Garet Bold"/>
                <a:sym typeface="Garet Bold"/>
              </a:rPr>
              <a:t>VENDOR:</a:t>
            </a:r>
            <a:r>
              <a:rPr lang="en-US" sz="1200" b="1">
                <a:solidFill>
                  <a:srgbClr val="000000"/>
                </a:solidFill>
                <a:latin typeface="Garet"/>
                <a:ea typeface="Garet"/>
                <a:cs typeface="Garet"/>
                <a:sym typeface="Garet"/>
              </a:rPr>
              <a:t> </a:t>
            </a:r>
            <a:endParaRPr lang="en-US" sz="1200" b="1">
              <a:solidFill>
                <a:srgbClr val="000000"/>
              </a:solidFill>
              <a:latin typeface="Garet"/>
              <a:ea typeface="Garet"/>
              <a:cs typeface="Garet"/>
            </a:endParaRPr>
          </a:p>
          <a:p>
            <a:pPr marL="253365" lvl="1" indent="-126365" algn="l">
              <a:lnSpc>
                <a:spcPts val="1646"/>
              </a:lnSpc>
              <a:buFont typeface="Arial,Sans-Serif"/>
              <a:buChar char="•"/>
            </a:pPr>
            <a:r>
              <a:rPr lang="en-US" sz="1200" b="1">
                <a:solidFill>
                  <a:srgbClr val="000000"/>
                </a:solidFill>
                <a:latin typeface="Garet Bold"/>
                <a:ea typeface="Garet Bold"/>
                <a:cs typeface="Garet Bold"/>
                <a:sym typeface="Garet Bold"/>
              </a:rPr>
              <a:t>BUSINESS OWNER:</a:t>
            </a:r>
            <a:r>
              <a:rPr lang="en-US" sz="1200" b="1">
                <a:solidFill>
                  <a:srgbClr val="000000"/>
                </a:solidFill>
                <a:latin typeface="Garet"/>
                <a:ea typeface="Garet"/>
                <a:cs typeface="Garet"/>
                <a:sym typeface="Garet"/>
              </a:rPr>
              <a:t> </a:t>
            </a:r>
            <a:endParaRPr lang="en-US" sz="1200" b="1">
              <a:solidFill>
                <a:srgbClr val="000000"/>
              </a:solidFill>
              <a:latin typeface="Garet"/>
              <a:ea typeface="Garet"/>
              <a:cs typeface="Garet"/>
            </a:endParaRPr>
          </a:p>
          <a:p>
            <a:pPr marL="253365" lvl="1" indent="-126365" algn="l">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PERCENT COMPLETE:</a:t>
            </a:r>
            <a:r>
              <a:rPr lang="en-US" sz="1200" b="1">
                <a:solidFill>
                  <a:srgbClr val="000000"/>
                </a:solidFill>
                <a:latin typeface="Garet"/>
                <a:ea typeface="Garet"/>
                <a:cs typeface="Garet"/>
                <a:sym typeface="Garet"/>
              </a:rPr>
              <a:t> </a:t>
            </a:r>
            <a:endParaRPr lang="en-US" sz="1200" b="1">
              <a:solidFill>
                <a:srgbClr val="000000"/>
              </a:solidFill>
              <a:latin typeface="Garet"/>
              <a:ea typeface="Garet"/>
              <a:cs typeface="Garet"/>
            </a:endParaRPr>
          </a:p>
          <a:p>
            <a:pPr marL="253365" lvl="1" indent="-126365" algn="l">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BUDGET STATUS:</a:t>
            </a:r>
            <a:r>
              <a:rPr lang="en-US" sz="1200" b="1">
                <a:solidFill>
                  <a:srgbClr val="000000"/>
                </a:solidFill>
                <a:latin typeface="Garet"/>
                <a:ea typeface="Garet Bold"/>
                <a:cs typeface="Garet Bold"/>
                <a:sym typeface="Garet Bold"/>
              </a:rPr>
              <a:t> </a:t>
            </a:r>
            <a:endParaRPr lang="en-US" sz="1200" b="1">
              <a:solidFill>
                <a:srgbClr val="000000"/>
              </a:solidFill>
              <a:latin typeface="Garet"/>
              <a:ea typeface="Garet"/>
              <a:cs typeface="Garet"/>
            </a:endParaRPr>
          </a:p>
          <a:p>
            <a:pPr marL="253365" lvl="1" indent="-126365" algn="l">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TIMELINE:</a:t>
            </a:r>
            <a:r>
              <a:rPr lang="en-US" sz="1200" b="1">
                <a:solidFill>
                  <a:srgbClr val="000000"/>
                </a:solidFill>
                <a:latin typeface="Garet"/>
                <a:ea typeface="Garet"/>
                <a:cs typeface="Garet"/>
                <a:sym typeface="Garet"/>
              </a:rPr>
              <a:t> </a:t>
            </a:r>
            <a:endParaRPr lang="en-US" sz="1200" b="1">
              <a:solidFill>
                <a:srgbClr val="000000"/>
              </a:solidFill>
              <a:latin typeface="Garet"/>
              <a:ea typeface="Garet Bold"/>
              <a:cs typeface="Garet Bold"/>
            </a:endParaRPr>
          </a:p>
          <a:p>
            <a:pPr marL="253365" lvl="1" indent="-126365" algn="l">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KEY MILESTONES ACHIEVED:</a:t>
            </a:r>
            <a:r>
              <a:rPr lang="en-US" sz="1200" b="1">
                <a:solidFill>
                  <a:srgbClr val="000000"/>
                </a:solidFill>
                <a:latin typeface="Garet"/>
                <a:ea typeface="Garet"/>
                <a:cs typeface="Garet"/>
                <a:sym typeface="Garet"/>
              </a:rPr>
              <a:t> </a:t>
            </a:r>
            <a:endParaRPr lang="en-US" sz="1200" b="1">
              <a:solidFill>
                <a:srgbClr val="000000"/>
              </a:solidFill>
              <a:latin typeface="Garet"/>
              <a:ea typeface="Garet"/>
              <a:cs typeface="Garet"/>
            </a:endParaRPr>
          </a:p>
          <a:p>
            <a:pPr marL="253365" lvl="1" indent="-126365" algn="l">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ACTION ITEM: </a:t>
            </a:r>
            <a:endParaRPr lang="en-US" sz="1200" b="1">
              <a:solidFill>
                <a:srgbClr val="000000"/>
              </a:solidFill>
              <a:latin typeface="Garet"/>
              <a:ea typeface="Garet"/>
              <a:cs typeface="Garet"/>
            </a:endParaRPr>
          </a:p>
          <a:p>
            <a:pPr marL="253365" lvl="1" indent="-126365" algn="l">
              <a:lnSpc>
                <a:spcPts val="1646"/>
              </a:lnSpc>
              <a:buFont typeface="Arial"/>
              <a:buChar char="•"/>
            </a:pPr>
            <a:endParaRPr lang="en-US" sz="1150" b="1">
              <a:solidFill>
                <a:srgbClr val="000000"/>
              </a:solidFill>
              <a:latin typeface="Garet"/>
              <a:ea typeface="Garet"/>
              <a:cs typeface="Garet"/>
            </a:endParaRPr>
          </a:p>
        </p:txBody>
      </p:sp>
      <p:grpSp>
        <p:nvGrpSpPr>
          <p:cNvPr id="34" name="Group 34">
            <a:extLst>
              <a:ext uri="{FF2B5EF4-FFF2-40B4-BE49-F238E27FC236}">
                <a16:creationId xmlns:a16="http://schemas.microsoft.com/office/drawing/2014/main" id="{E10CCA5F-A1B0-7A69-82FF-FA8C8F160074}"/>
              </a:ext>
            </a:extLst>
          </p:cNvPr>
          <p:cNvGrpSpPr/>
          <p:nvPr/>
        </p:nvGrpSpPr>
        <p:grpSpPr>
          <a:xfrm>
            <a:off x="9281354" y="1270156"/>
            <a:ext cx="4226259" cy="2629654"/>
            <a:chOff x="0" y="-28575"/>
            <a:chExt cx="1082051" cy="673271"/>
          </a:xfrm>
        </p:grpSpPr>
        <p:sp>
          <p:nvSpPr>
            <p:cNvPr id="35" name="Freeform 35">
              <a:extLst>
                <a:ext uri="{FF2B5EF4-FFF2-40B4-BE49-F238E27FC236}">
                  <a16:creationId xmlns:a16="http://schemas.microsoft.com/office/drawing/2014/main" id="{04BF0A06-13B1-0875-C447-7FF972515D57}"/>
                </a:ext>
              </a:extLst>
            </p:cNvPr>
            <p:cNvSpPr/>
            <p:nvPr/>
          </p:nvSpPr>
          <p:spPr>
            <a:xfrm>
              <a:off x="0" y="0"/>
              <a:ext cx="1082051" cy="644696"/>
            </a:xfrm>
            <a:custGeom>
              <a:avLst/>
              <a:gdLst/>
              <a:ahLst/>
              <a:cxnLst/>
              <a:rect l="l" t="t" r="r" b="b"/>
              <a:pathLst>
                <a:path w="1082051" h="644696">
                  <a:moveTo>
                    <a:pt x="20150" y="0"/>
                  </a:moveTo>
                  <a:lnTo>
                    <a:pt x="1061900" y="0"/>
                  </a:lnTo>
                  <a:cubicBezTo>
                    <a:pt x="1067244" y="0"/>
                    <a:pt x="1072370" y="2123"/>
                    <a:pt x="1076149" y="5902"/>
                  </a:cubicBezTo>
                  <a:cubicBezTo>
                    <a:pt x="1079928" y="9681"/>
                    <a:pt x="1082051" y="14806"/>
                    <a:pt x="1082051" y="20150"/>
                  </a:cubicBezTo>
                  <a:lnTo>
                    <a:pt x="1082051" y="624546"/>
                  </a:lnTo>
                  <a:cubicBezTo>
                    <a:pt x="1082051" y="629890"/>
                    <a:pt x="1079928" y="635015"/>
                    <a:pt x="1076149" y="638794"/>
                  </a:cubicBezTo>
                  <a:cubicBezTo>
                    <a:pt x="1072370" y="642573"/>
                    <a:pt x="1067244" y="644696"/>
                    <a:pt x="1061900" y="644696"/>
                  </a:cubicBezTo>
                  <a:lnTo>
                    <a:pt x="20150" y="644696"/>
                  </a:lnTo>
                  <a:cubicBezTo>
                    <a:pt x="14806" y="644696"/>
                    <a:pt x="9681" y="642573"/>
                    <a:pt x="5902" y="638794"/>
                  </a:cubicBezTo>
                  <a:cubicBezTo>
                    <a:pt x="2123" y="635015"/>
                    <a:pt x="0" y="629890"/>
                    <a:pt x="0" y="624546"/>
                  </a:cubicBezTo>
                  <a:lnTo>
                    <a:pt x="0" y="20150"/>
                  </a:lnTo>
                  <a:cubicBezTo>
                    <a:pt x="0" y="14806"/>
                    <a:pt x="2123" y="9681"/>
                    <a:pt x="5902" y="5902"/>
                  </a:cubicBezTo>
                  <a:cubicBezTo>
                    <a:pt x="9681" y="2123"/>
                    <a:pt x="14806" y="0"/>
                    <a:pt x="20150" y="0"/>
                  </a:cubicBezTo>
                  <a:close/>
                </a:path>
              </a:pathLst>
            </a:custGeom>
            <a:solidFill>
              <a:srgbClr val="E4E7E8"/>
            </a:solidFill>
            <a:ln cap="sq">
              <a:noFill/>
              <a:prstDash val="solid"/>
              <a:miter/>
            </a:ln>
          </p:spPr>
          <p:txBody>
            <a:bodyPr/>
            <a:lstStyle/>
            <a:p>
              <a:endParaRPr lang="en-US"/>
            </a:p>
          </p:txBody>
        </p:sp>
        <p:sp>
          <p:nvSpPr>
            <p:cNvPr id="36" name="TextBox 36">
              <a:extLst>
                <a:ext uri="{FF2B5EF4-FFF2-40B4-BE49-F238E27FC236}">
                  <a16:creationId xmlns:a16="http://schemas.microsoft.com/office/drawing/2014/main" id="{7FCA44C5-7606-7FC7-C60D-021858297EDF}"/>
                </a:ext>
              </a:extLst>
            </p:cNvPr>
            <p:cNvSpPr txBox="1"/>
            <p:nvPr/>
          </p:nvSpPr>
          <p:spPr>
            <a:xfrm>
              <a:off x="0" y="-28575"/>
              <a:ext cx="1082051" cy="673271"/>
            </a:xfrm>
            <a:prstGeom prst="rect">
              <a:avLst/>
            </a:prstGeom>
          </p:spPr>
          <p:txBody>
            <a:bodyPr lIns="50800" tIns="50800" rIns="50800" bIns="50800" rtlCol="0" anchor="t"/>
            <a:lstStyle/>
            <a:p>
              <a:pPr algn="ctr"/>
              <a:endParaRPr lang="en-US" sz="1200">
                <a:solidFill>
                  <a:srgbClr val="03A39D"/>
                </a:solidFill>
                <a:latin typeface="Garet"/>
                <a:sym typeface="Garet"/>
              </a:endParaRPr>
            </a:p>
            <a:p>
              <a:pPr algn="ctr"/>
              <a:r>
                <a:rPr lang="en-US" sz="1200">
                  <a:solidFill>
                    <a:srgbClr val="03A39D"/>
                  </a:solidFill>
                  <a:latin typeface="Garet"/>
                  <a:sym typeface="Garet"/>
                </a:rPr>
                <a:t>PEPs EY - Assessment</a:t>
              </a:r>
              <a:endParaRPr lang="en-US">
                <a:ea typeface="Calibri"/>
                <a:cs typeface="Calibri"/>
              </a:endParaRPr>
            </a:p>
            <a:p>
              <a:pPr algn="ctr">
                <a:lnSpc>
                  <a:spcPts val="1679"/>
                </a:lnSpc>
              </a:pPr>
              <a:endParaRPr lang="en-US" sz="1200">
                <a:solidFill>
                  <a:srgbClr val="03A39D"/>
                </a:solidFill>
                <a:latin typeface="Garet"/>
                <a:ea typeface="Garet"/>
                <a:cs typeface="Garet"/>
              </a:endParaRPr>
            </a:p>
          </p:txBody>
        </p:sp>
      </p:grpSp>
      <p:grpSp>
        <p:nvGrpSpPr>
          <p:cNvPr id="37" name="Group 37">
            <a:extLst>
              <a:ext uri="{FF2B5EF4-FFF2-40B4-BE49-F238E27FC236}">
                <a16:creationId xmlns:a16="http://schemas.microsoft.com/office/drawing/2014/main" id="{4E4B057F-7AD4-B2DC-C106-659B1DCE6E0A}"/>
              </a:ext>
            </a:extLst>
          </p:cNvPr>
          <p:cNvGrpSpPr/>
          <p:nvPr/>
        </p:nvGrpSpPr>
        <p:grpSpPr>
          <a:xfrm>
            <a:off x="13706134" y="1270156"/>
            <a:ext cx="4226259" cy="2629654"/>
            <a:chOff x="0" y="-28575"/>
            <a:chExt cx="1082051" cy="673271"/>
          </a:xfrm>
        </p:grpSpPr>
        <p:sp>
          <p:nvSpPr>
            <p:cNvPr id="38" name="Freeform 38">
              <a:extLst>
                <a:ext uri="{FF2B5EF4-FFF2-40B4-BE49-F238E27FC236}">
                  <a16:creationId xmlns:a16="http://schemas.microsoft.com/office/drawing/2014/main" id="{F88E2434-4B1E-9377-2F7B-F9546002329B}"/>
                </a:ext>
              </a:extLst>
            </p:cNvPr>
            <p:cNvSpPr/>
            <p:nvPr/>
          </p:nvSpPr>
          <p:spPr>
            <a:xfrm>
              <a:off x="0" y="0"/>
              <a:ext cx="1082051" cy="644696"/>
            </a:xfrm>
            <a:custGeom>
              <a:avLst/>
              <a:gdLst/>
              <a:ahLst/>
              <a:cxnLst/>
              <a:rect l="l" t="t" r="r" b="b"/>
              <a:pathLst>
                <a:path w="1082051" h="644696">
                  <a:moveTo>
                    <a:pt x="20150" y="0"/>
                  </a:moveTo>
                  <a:lnTo>
                    <a:pt x="1061900" y="0"/>
                  </a:lnTo>
                  <a:cubicBezTo>
                    <a:pt x="1067244" y="0"/>
                    <a:pt x="1072370" y="2123"/>
                    <a:pt x="1076149" y="5902"/>
                  </a:cubicBezTo>
                  <a:cubicBezTo>
                    <a:pt x="1079928" y="9681"/>
                    <a:pt x="1082051" y="14806"/>
                    <a:pt x="1082051" y="20150"/>
                  </a:cubicBezTo>
                  <a:lnTo>
                    <a:pt x="1082051" y="624546"/>
                  </a:lnTo>
                  <a:cubicBezTo>
                    <a:pt x="1082051" y="629890"/>
                    <a:pt x="1079928" y="635015"/>
                    <a:pt x="1076149" y="638794"/>
                  </a:cubicBezTo>
                  <a:cubicBezTo>
                    <a:pt x="1072370" y="642573"/>
                    <a:pt x="1067244" y="644696"/>
                    <a:pt x="1061900" y="644696"/>
                  </a:cubicBezTo>
                  <a:lnTo>
                    <a:pt x="20150" y="644696"/>
                  </a:lnTo>
                  <a:cubicBezTo>
                    <a:pt x="14806" y="644696"/>
                    <a:pt x="9681" y="642573"/>
                    <a:pt x="5902" y="638794"/>
                  </a:cubicBezTo>
                  <a:cubicBezTo>
                    <a:pt x="2123" y="635015"/>
                    <a:pt x="0" y="629890"/>
                    <a:pt x="0" y="624546"/>
                  </a:cubicBezTo>
                  <a:lnTo>
                    <a:pt x="0" y="20150"/>
                  </a:lnTo>
                  <a:cubicBezTo>
                    <a:pt x="0" y="14806"/>
                    <a:pt x="2123" y="9681"/>
                    <a:pt x="5902" y="5902"/>
                  </a:cubicBezTo>
                  <a:cubicBezTo>
                    <a:pt x="9681" y="2123"/>
                    <a:pt x="14806" y="0"/>
                    <a:pt x="20150" y="0"/>
                  </a:cubicBezTo>
                  <a:close/>
                </a:path>
              </a:pathLst>
            </a:custGeom>
            <a:solidFill>
              <a:srgbClr val="E4E7E8"/>
            </a:solidFill>
            <a:ln cap="sq">
              <a:noFill/>
              <a:prstDash val="solid"/>
              <a:miter/>
            </a:ln>
          </p:spPr>
          <p:txBody>
            <a:bodyPr/>
            <a:lstStyle/>
            <a:p>
              <a:endParaRPr lang="en-US"/>
            </a:p>
          </p:txBody>
        </p:sp>
        <p:sp>
          <p:nvSpPr>
            <p:cNvPr id="39" name="TextBox 39">
              <a:extLst>
                <a:ext uri="{FF2B5EF4-FFF2-40B4-BE49-F238E27FC236}">
                  <a16:creationId xmlns:a16="http://schemas.microsoft.com/office/drawing/2014/main" id="{0BF8635F-B6AE-7827-BAE6-55289B84677F}"/>
                </a:ext>
              </a:extLst>
            </p:cNvPr>
            <p:cNvSpPr txBox="1"/>
            <p:nvPr/>
          </p:nvSpPr>
          <p:spPr>
            <a:xfrm>
              <a:off x="0" y="-28575"/>
              <a:ext cx="1082051" cy="673271"/>
            </a:xfrm>
            <a:prstGeom prst="rect">
              <a:avLst/>
            </a:prstGeom>
          </p:spPr>
          <p:txBody>
            <a:bodyPr lIns="50800" tIns="50800" rIns="50800" bIns="50800" rtlCol="0" anchor="t"/>
            <a:lstStyle/>
            <a:p>
              <a:pPr algn="ctr"/>
              <a:r>
                <a:rPr lang="en-US" sz="1200">
                  <a:solidFill>
                    <a:srgbClr val="03A39D"/>
                  </a:solidFill>
                  <a:latin typeface="Garet"/>
                  <a:ea typeface="Garet"/>
                  <a:cs typeface="Garet"/>
                  <a:sym typeface="Garet"/>
                </a:rPr>
                <a:t>Project Name</a:t>
              </a:r>
              <a:endParaRPr lang="en-US" sz="1200">
                <a:solidFill>
                  <a:srgbClr val="000000"/>
                </a:solidFill>
                <a:latin typeface="Garet"/>
                <a:ea typeface="Garet"/>
                <a:cs typeface="Garet"/>
                <a:sym typeface="Garet"/>
              </a:endParaRPr>
            </a:p>
            <a:p>
              <a:pPr algn="ctr">
                <a:lnSpc>
                  <a:spcPts val="1679"/>
                </a:lnSpc>
              </a:pPr>
              <a:endParaRPr lang="en-US" sz="1200">
                <a:solidFill>
                  <a:srgbClr val="03A39D"/>
                </a:solidFill>
                <a:latin typeface="Garet"/>
                <a:ea typeface="Garet"/>
                <a:cs typeface="Garet"/>
              </a:endParaRPr>
            </a:p>
          </p:txBody>
        </p:sp>
      </p:grpSp>
      <p:sp>
        <p:nvSpPr>
          <p:cNvPr id="40" name="AutoShape 40">
            <a:extLst>
              <a:ext uri="{FF2B5EF4-FFF2-40B4-BE49-F238E27FC236}">
                <a16:creationId xmlns:a16="http://schemas.microsoft.com/office/drawing/2014/main" id="{54B13D58-B1FF-168F-04E6-921ED6117217}"/>
              </a:ext>
            </a:extLst>
          </p:cNvPr>
          <p:cNvSpPr/>
          <p:nvPr/>
        </p:nvSpPr>
        <p:spPr>
          <a:xfrm>
            <a:off x="9735678" y="1778281"/>
            <a:ext cx="3244715" cy="0"/>
          </a:xfrm>
          <a:prstGeom prst="line">
            <a:avLst/>
          </a:prstGeom>
          <a:ln w="9525" cap="flat">
            <a:solidFill>
              <a:srgbClr val="000000"/>
            </a:solidFill>
            <a:prstDash val="solid"/>
            <a:headEnd type="none" w="sm" len="sm"/>
            <a:tailEnd type="none" w="sm" len="sm"/>
          </a:ln>
        </p:spPr>
        <p:txBody>
          <a:bodyPr/>
          <a:lstStyle/>
          <a:p>
            <a:endParaRPr lang="en-US"/>
          </a:p>
        </p:txBody>
      </p:sp>
      <p:sp>
        <p:nvSpPr>
          <p:cNvPr id="41" name="AutoShape 41">
            <a:extLst>
              <a:ext uri="{FF2B5EF4-FFF2-40B4-BE49-F238E27FC236}">
                <a16:creationId xmlns:a16="http://schemas.microsoft.com/office/drawing/2014/main" id="{25C82A70-3848-2F4D-6EB5-210EDA5C6CC6}"/>
              </a:ext>
            </a:extLst>
          </p:cNvPr>
          <p:cNvSpPr/>
          <p:nvPr/>
        </p:nvSpPr>
        <p:spPr>
          <a:xfrm>
            <a:off x="14196906" y="1778281"/>
            <a:ext cx="3244715" cy="0"/>
          </a:xfrm>
          <a:prstGeom prst="line">
            <a:avLst/>
          </a:prstGeom>
          <a:ln w="9525" cap="flat">
            <a:solidFill>
              <a:srgbClr val="000000"/>
            </a:solidFill>
            <a:prstDash val="solid"/>
            <a:headEnd type="none" w="sm" len="sm"/>
            <a:tailEnd type="none" w="sm" len="sm"/>
          </a:ln>
        </p:spPr>
        <p:txBody>
          <a:bodyPr/>
          <a:lstStyle/>
          <a:p>
            <a:endParaRPr lang="en-US"/>
          </a:p>
        </p:txBody>
      </p:sp>
      <p:sp>
        <p:nvSpPr>
          <p:cNvPr id="42" name="TextBox 42">
            <a:extLst>
              <a:ext uri="{FF2B5EF4-FFF2-40B4-BE49-F238E27FC236}">
                <a16:creationId xmlns:a16="http://schemas.microsoft.com/office/drawing/2014/main" id="{1ECB8478-0433-9808-C4D0-4DF1B011FC5E}"/>
              </a:ext>
            </a:extLst>
          </p:cNvPr>
          <p:cNvSpPr txBox="1"/>
          <p:nvPr/>
        </p:nvSpPr>
        <p:spPr>
          <a:xfrm>
            <a:off x="9281354" y="1869236"/>
            <a:ext cx="4226259" cy="2249975"/>
          </a:xfrm>
          <a:prstGeom prst="rect">
            <a:avLst/>
          </a:prstGeom>
        </p:spPr>
        <p:txBody>
          <a:bodyPr lIns="0" tIns="0" rIns="0" bIns="0" rtlCol="0" anchor="t">
            <a:spAutoFit/>
          </a:bodyPr>
          <a:lstStyle/>
          <a:p>
            <a:pPr marL="253365" lvl="1" indent="-126365" algn="l">
              <a:lnSpc>
                <a:spcPts val="1646"/>
              </a:lnSpc>
              <a:buFont typeface="Arial,Sans-Serif"/>
              <a:buChar char="•"/>
            </a:pPr>
            <a:r>
              <a:rPr lang="en-US" sz="1200" b="1">
                <a:solidFill>
                  <a:srgbClr val="000000"/>
                </a:solidFill>
                <a:latin typeface="Garet Bold"/>
                <a:ea typeface="Garet Bold"/>
                <a:cs typeface="Garet Bold"/>
                <a:sym typeface="Garet Bold"/>
              </a:rPr>
              <a:t>VENDOR:</a:t>
            </a:r>
            <a:r>
              <a:rPr lang="en-US" sz="1200">
                <a:solidFill>
                  <a:srgbClr val="000000"/>
                </a:solidFill>
                <a:latin typeface="Garet"/>
                <a:ea typeface="Garet"/>
                <a:cs typeface="Garet"/>
                <a:sym typeface="Garet"/>
              </a:rPr>
              <a:t> EY</a:t>
            </a:r>
            <a:endParaRPr lang="en-US" sz="1200">
              <a:latin typeface="Garet"/>
            </a:endParaRPr>
          </a:p>
          <a:p>
            <a:pPr marL="253365" lvl="1" indent="-126365">
              <a:lnSpc>
                <a:spcPts val="1646"/>
              </a:lnSpc>
              <a:buFont typeface="Arial,Sans-Serif"/>
              <a:buChar char="•"/>
            </a:pPr>
            <a:r>
              <a:rPr lang="en-US" sz="1200" b="1">
                <a:solidFill>
                  <a:srgbClr val="000000"/>
                </a:solidFill>
                <a:latin typeface="Garet Bold"/>
                <a:ea typeface="Garet Bold"/>
                <a:cs typeface="Garet Bold"/>
                <a:sym typeface="Garet Bold"/>
              </a:rPr>
              <a:t>BUSINESS OWNER:</a:t>
            </a:r>
            <a:r>
              <a:rPr lang="en-US" sz="1200">
                <a:solidFill>
                  <a:srgbClr val="000000"/>
                </a:solidFill>
                <a:latin typeface="Garet"/>
                <a:ea typeface="Garet"/>
                <a:cs typeface="Garet"/>
                <a:sym typeface="Garet"/>
              </a:rPr>
              <a:t> Saher Abdelhadi</a:t>
            </a:r>
            <a:endParaRPr lang="en-US" sz="1200">
              <a:solidFill>
                <a:srgbClr val="000000"/>
              </a:solidFill>
              <a:latin typeface="Garet"/>
              <a:ea typeface="Garet"/>
              <a:cs typeface="Garet"/>
            </a:endParaRPr>
          </a:p>
          <a:p>
            <a:pPr marL="253365" lvl="1" indent="-126365" algn="l">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PERCENT COMPLETE:</a:t>
            </a:r>
            <a:r>
              <a:rPr lang="en-US" sz="1200">
                <a:solidFill>
                  <a:srgbClr val="000000"/>
                </a:solidFill>
                <a:latin typeface="Garet"/>
                <a:ea typeface="Garet"/>
                <a:cs typeface="Garet"/>
                <a:sym typeface="Garet"/>
              </a:rPr>
              <a:t> 50%</a:t>
            </a:r>
            <a:endParaRPr lang="en-US" sz="1200">
              <a:solidFill>
                <a:srgbClr val="000000"/>
              </a:solidFill>
              <a:latin typeface="Garet"/>
              <a:ea typeface="Garet"/>
              <a:cs typeface="Garet"/>
            </a:endParaRPr>
          </a:p>
          <a:p>
            <a:pPr marL="253365" lvl="1" indent="-126365">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BUDGET STATUS:</a:t>
            </a:r>
            <a:r>
              <a:rPr lang="en-US" sz="1200">
                <a:solidFill>
                  <a:srgbClr val="000000"/>
                </a:solidFill>
                <a:latin typeface="Garet"/>
                <a:ea typeface="Garet"/>
                <a:cs typeface="Garet"/>
                <a:sym typeface="Garet"/>
              </a:rPr>
              <a:t> </a:t>
            </a:r>
            <a:r>
              <a:rPr lang="en-US" sz="1200">
                <a:solidFill>
                  <a:srgbClr val="00B050"/>
                </a:solidFill>
                <a:latin typeface="Garet"/>
                <a:ea typeface="Garet"/>
                <a:cs typeface="Garet"/>
                <a:sym typeface="Garet"/>
              </a:rPr>
              <a:t>On Budget</a:t>
            </a:r>
            <a:endParaRPr lang="en-US" sz="1200">
              <a:solidFill>
                <a:srgbClr val="00B050"/>
              </a:solidFill>
              <a:latin typeface="Garet"/>
              <a:ea typeface="Garet"/>
              <a:cs typeface="Garet"/>
            </a:endParaRPr>
          </a:p>
          <a:p>
            <a:pPr marL="253365" lvl="1" indent="-126365" algn="l">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TIMELINE:</a:t>
            </a:r>
            <a:r>
              <a:rPr lang="en-US" sz="1200">
                <a:solidFill>
                  <a:srgbClr val="000000"/>
                </a:solidFill>
                <a:latin typeface="Garet"/>
                <a:ea typeface="Garet"/>
                <a:cs typeface="Garet"/>
                <a:sym typeface="Garet"/>
              </a:rPr>
              <a:t> On-Track</a:t>
            </a:r>
            <a:endParaRPr lang="en-US" sz="1200">
              <a:solidFill>
                <a:srgbClr val="000000"/>
              </a:solidFill>
              <a:latin typeface="Garet"/>
              <a:ea typeface="Garet Bold"/>
              <a:cs typeface="Garet Bold"/>
            </a:endParaRPr>
          </a:p>
          <a:p>
            <a:pPr marL="253365" lvl="1" indent="-126365">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KEY MILESTONES ACHIEVED:</a:t>
            </a:r>
            <a:r>
              <a:rPr lang="en-US" sz="1200">
                <a:solidFill>
                  <a:srgbClr val="000000"/>
                </a:solidFill>
                <a:latin typeface="Garet"/>
                <a:ea typeface="Garet"/>
                <a:cs typeface="Garet"/>
                <a:sym typeface="Garet"/>
              </a:rPr>
              <a:t> Compli</a:t>
            </a:r>
            <a:r>
              <a:rPr lang="en-US" sz="1200">
                <a:solidFill>
                  <a:srgbClr val="000000"/>
                </a:solidFill>
                <a:latin typeface="Garet"/>
                <a:ea typeface="Garet"/>
                <a:cs typeface="Garet"/>
                <a:sym typeface="Garet Bold"/>
              </a:rPr>
              <a:t>ance</a:t>
            </a:r>
            <a:r>
              <a:rPr lang="en-US" sz="1200">
                <a:solidFill>
                  <a:srgbClr val="000000"/>
                </a:solidFill>
                <a:latin typeface="Garet"/>
                <a:ea typeface="Garet"/>
                <a:cs typeface="Garet"/>
                <a:sym typeface="Garet"/>
              </a:rPr>
              <a:t> feedback covered the gaps within the PEPs EY report.</a:t>
            </a:r>
            <a:endParaRPr lang="en-US" sz="1200">
              <a:solidFill>
                <a:srgbClr val="000000"/>
              </a:solidFill>
              <a:latin typeface="Garet"/>
              <a:ea typeface="Garet"/>
              <a:cs typeface="Garet"/>
            </a:endParaRPr>
          </a:p>
          <a:p>
            <a:pPr marL="253365" lvl="1" indent="-126365">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ACTION ITEM: Developing controls, on the app. Based on the gaps of PEPs EY report.</a:t>
            </a:r>
            <a:endParaRPr lang="en-US" sz="1200">
              <a:solidFill>
                <a:srgbClr val="000000"/>
              </a:solidFill>
              <a:latin typeface="Garet"/>
              <a:ea typeface="Garet Bold"/>
              <a:cs typeface="Garet Bold"/>
            </a:endParaRPr>
          </a:p>
          <a:p>
            <a:pPr marL="253365" lvl="1" indent="-126365">
              <a:lnSpc>
                <a:spcPts val="1646"/>
              </a:lnSpc>
              <a:buFont typeface="Arial"/>
              <a:buChar char="•"/>
            </a:pPr>
            <a:endParaRPr lang="en-US" sz="1150">
              <a:solidFill>
                <a:srgbClr val="000000"/>
              </a:solidFill>
              <a:latin typeface="Garet"/>
              <a:ea typeface="Garet"/>
              <a:cs typeface="Garet"/>
            </a:endParaRPr>
          </a:p>
        </p:txBody>
      </p:sp>
      <p:sp>
        <p:nvSpPr>
          <p:cNvPr id="43" name="TextBox 43">
            <a:extLst>
              <a:ext uri="{FF2B5EF4-FFF2-40B4-BE49-F238E27FC236}">
                <a16:creationId xmlns:a16="http://schemas.microsoft.com/office/drawing/2014/main" id="{9320CD67-1D75-C16F-0771-6AA3AB84E528}"/>
              </a:ext>
            </a:extLst>
          </p:cNvPr>
          <p:cNvSpPr txBox="1"/>
          <p:nvPr/>
        </p:nvSpPr>
        <p:spPr>
          <a:xfrm>
            <a:off x="13706134" y="1869236"/>
            <a:ext cx="4226259" cy="1635384"/>
          </a:xfrm>
          <a:prstGeom prst="rect">
            <a:avLst/>
          </a:prstGeom>
        </p:spPr>
        <p:txBody>
          <a:bodyPr lIns="0" tIns="0" rIns="0" bIns="0" rtlCol="0" anchor="t">
            <a:spAutoFit/>
          </a:bodyPr>
          <a:lstStyle/>
          <a:p>
            <a:pPr marL="253365" lvl="1" indent="-126365">
              <a:lnSpc>
                <a:spcPts val="1646"/>
              </a:lnSpc>
              <a:buFont typeface="Arial,Sans-Serif"/>
              <a:buChar char="•"/>
            </a:pPr>
            <a:r>
              <a:rPr lang="en-US" sz="1200" b="1">
                <a:solidFill>
                  <a:srgbClr val="000000"/>
                </a:solidFill>
                <a:latin typeface="Garet Bold"/>
                <a:ea typeface="Garet Bold"/>
                <a:cs typeface="Garet Bold"/>
                <a:sym typeface="Garet Bold"/>
              </a:rPr>
              <a:t>VENDOR:</a:t>
            </a:r>
            <a:r>
              <a:rPr lang="en-US" sz="1200">
                <a:solidFill>
                  <a:srgbClr val="000000"/>
                </a:solidFill>
                <a:latin typeface="Garet"/>
                <a:ea typeface="Garet"/>
                <a:cs typeface="Garet"/>
                <a:sym typeface="Garet"/>
              </a:rPr>
              <a:t> </a:t>
            </a:r>
            <a:endParaRPr lang="en-US" sz="1200">
              <a:solidFill>
                <a:srgbClr val="000000"/>
              </a:solidFill>
              <a:latin typeface="Garet"/>
              <a:ea typeface="Garet"/>
              <a:cs typeface="Garet"/>
            </a:endParaRPr>
          </a:p>
          <a:p>
            <a:pPr marL="253365" lvl="1" indent="-126365">
              <a:lnSpc>
                <a:spcPts val="1646"/>
              </a:lnSpc>
              <a:buFont typeface="Arial,Sans-Serif"/>
              <a:buChar char="•"/>
            </a:pPr>
            <a:r>
              <a:rPr lang="en-US" sz="1200" b="1">
                <a:solidFill>
                  <a:srgbClr val="000000"/>
                </a:solidFill>
                <a:latin typeface="Garet Bold"/>
                <a:ea typeface="Garet Bold"/>
                <a:cs typeface="Garet Bold"/>
                <a:sym typeface="Garet Bold"/>
              </a:rPr>
              <a:t>BUSINESS OWNER:</a:t>
            </a:r>
            <a:r>
              <a:rPr lang="en-US" sz="1200">
                <a:solidFill>
                  <a:srgbClr val="000000"/>
                </a:solidFill>
                <a:latin typeface="Garet"/>
                <a:ea typeface="Garet"/>
                <a:cs typeface="Garet"/>
                <a:sym typeface="Garet"/>
              </a:rPr>
              <a:t> </a:t>
            </a:r>
            <a:endParaRPr lang="en-US" sz="1200">
              <a:solidFill>
                <a:srgbClr val="000000"/>
              </a:solidFill>
              <a:latin typeface="Garet"/>
              <a:ea typeface="Garet"/>
              <a:cs typeface="Garet"/>
            </a:endParaRPr>
          </a:p>
          <a:p>
            <a:pPr marL="253365" lvl="1" indent="-126365">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PERCENT COMPLETE:</a:t>
            </a:r>
            <a:r>
              <a:rPr lang="en-US" sz="1200">
                <a:solidFill>
                  <a:srgbClr val="000000"/>
                </a:solidFill>
                <a:latin typeface="Garet"/>
                <a:ea typeface="Garet"/>
                <a:cs typeface="Garet"/>
                <a:sym typeface="Garet"/>
              </a:rPr>
              <a:t> </a:t>
            </a:r>
            <a:endParaRPr lang="en-US" sz="1200">
              <a:solidFill>
                <a:srgbClr val="000000"/>
              </a:solidFill>
              <a:latin typeface="Garet"/>
              <a:ea typeface="Garet"/>
              <a:cs typeface="Garet"/>
            </a:endParaRPr>
          </a:p>
          <a:p>
            <a:pPr marL="253365" lvl="1" indent="-126365">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BUDGET STATUS:</a:t>
            </a:r>
            <a:r>
              <a:rPr lang="en-US" sz="1200">
                <a:solidFill>
                  <a:srgbClr val="000000"/>
                </a:solidFill>
                <a:latin typeface="Garet"/>
                <a:ea typeface="Garet"/>
                <a:cs typeface="Garet"/>
                <a:sym typeface="Garet"/>
              </a:rPr>
              <a:t> </a:t>
            </a:r>
            <a:endParaRPr lang="en-US" sz="1200">
              <a:solidFill>
                <a:srgbClr val="000000"/>
              </a:solidFill>
              <a:latin typeface="Garet"/>
              <a:ea typeface="Garet"/>
              <a:cs typeface="Garet"/>
            </a:endParaRPr>
          </a:p>
          <a:p>
            <a:pPr marL="253365" lvl="1" indent="-126365">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TIMELINE:</a:t>
            </a:r>
            <a:r>
              <a:rPr lang="en-US" sz="1200">
                <a:solidFill>
                  <a:srgbClr val="000000"/>
                </a:solidFill>
                <a:latin typeface="Garet"/>
                <a:ea typeface="Garet"/>
                <a:cs typeface="Garet"/>
                <a:sym typeface="Garet"/>
              </a:rPr>
              <a:t> </a:t>
            </a:r>
            <a:endParaRPr lang="en-US" sz="1200">
              <a:solidFill>
                <a:srgbClr val="000000"/>
              </a:solidFill>
              <a:latin typeface="Garet"/>
              <a:ea typeface="Garet Bold"/>
              <a:cs typeface="Garet Bold"/>
            </a:endParaRPr>
          </a:p>
          <a:p>
            <a:pPr marL="253365" lvl="1" indent="-126365">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KEY MILESTONES ACHIEVED:</a:t>
            </a:r>
            <a:r>
              <a:rPr lang="en-US" sz="1200">
                <a:solidFill>
                  <a:srgbClr val="000000"/>
                </a:solidFill>
                <a:latin typeface="Garet"/>
                <a:ea typeface="Garet"/>
                <a:cs typeface="Garet"/>
                <a:sym typeface="Garet"/>
              </a:rPr>
              <a:t> </a:t>
            </a:r>
            <a:endParaRPr lang="en-US" sz="1200">
              <a:solidFill>
                <a:srgbClr val="000000"/>
              </a:solidFill>
              <a:latin typeface="Garet"/>
              <a:ea typeface="Garet"/>
              <a:cs typeface="Garet"/>
            </a:endParaRPr>
          </a:p>
          <a:p>
            <a:pPr marL="253365" lvl="1" indent="-126365" algn="l">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ACTION ITEM:</a:t>
            </a:r>
            <a:r>
              <a:rPr lang="en-US" sz="1200" b="1">
                <a:solidFill>
                  <a:srgbClr val="000000"/>
                </a:solidFill>
                <a:latin typeface="Garet Bold"/>
                <a:ea typeface="Garet"/>
                <a:cs typeface="Garet"/>
                <a:sym typeface="Garet"/>
              </a:rPr>
              <a:t> </a:t>
            </a:r>
            <a:endParaRPr lang="en-US" sz="1200">
              <a:solidFill>
                <a:srgbClr val="000000"/>
              </a:solidFill>
              <a:latin typeface="Garet Bold"/>
              <a:ea typeface="Garet"/>
              <a:cs typeface="Garet"/>
            </a:endParaRPr>
          </a:p>
          <a:p>
            <a:pPr marL="253365" lvl="1" indent="-126365" algn="just">
              <a:lnSpc>
                <a:spcPts val="1646"/>
              </a:lnSpc>
              <a:buFont typeface="Arial"/>
              <a:buChar char="•"/>
            </a:pPr>
            <a:endParaRPr lang="en-US" sz="1150">
              <a:solidFill>
                <a:srgbClr val="000000"/>
              </a:solidFill>
              <a:latin typeface="Garet"/>
              <a:ea typeface="Garet"/>
              <a:cs typeface="Garet"/>
            </a:endParaRPr>
          </a:p>
        </p:txBody>
      </p:sp>
      <p:grpSp>
        <p:nvGrpSpPr>
          <p:cNvPr id="44" name="Group 44">
            <a:extLst>
              <a:ext uri="{FF2B5EF4-FFF2-40B4-BE49-F238E27FC236}">
                <a16:creationId xmlns:a16="http://schemas.microsoft.com/office/drawing/2014/main" id="{AAC694EB-154B-0D53-CAB1-F869DF185EDB}"/>
              </a:ext>
            </a:extLst>
          </p:cNvPr>
          <p:cNvGrpSpPr/>
          <p:nvPr/>
        </p:nvGrpSpPr>
        <p:grpSpPr>
          <a:xfrm>
            <a:off x="9281354" y="4250135"/>
            <a:ext cx="4226259" cy="2814858"/>
            <a:chOff x="0" y="-28575"/>
            <a:chExt cx="1082051" cy="720689"/>
          </a:xfrm>
        </p:grpSpPr>
        <p:sp>
          <p:nvSpPr>
            <p:cNvPr id="45" name="Freeform 45">
              <a:extLst>
                <a:ext uri="{FF2B5EF4-FFF2-40B4-BE49-F238E27FC236}">
                  <a16:creationId xmlns:a16="http://schemas.microsoft.com/office/drawing/2014/main" id="{7E3D88C2-220D-EFC7-A39C-D4E7DD3C3A5C}"/>
                </a:ext>
              </a:extLst>
            </p:cNvPr>
            <p:cNvSpPr/>
            <p:nvPr/>
          </p:nvSpPr>
          <p:spPr>
            <a:xfrm>
              <a:off x="0" y="0"/>
              <a:ext cx="1082051" cy="692114"/>
            </a:xfrm>
            <a:custGeom>
              <a:avLst/>
              <a:gdLst/>
              <a:ahLst/>
              <a:cxnLst/>
              <a:rect l="l" t="t" r="r" b="b"/>
              <a:pathLst>
                <a:path w="1082051" h="692114">
                  <a:moveTo>
                    <a:pt x="20150" y="0"/>
                  </a:moveTo>
                  <a:lnTo>
                    <a:pt x="1061900" y="0"/>
                  </a:lnTo>
                  <a:cubicBezTo>
                    <a:pt x="1067244" y="0"/>
                    <a:pt x="1072370" y="2123"/>
                    <a:pt x="1076149" y="5902"/>
                  </a:cubicBezTo>
                  <a:cubicBezTo>
                    <a:pt x="1079928" y="9681"/>
                    <a:pt x="1082051" y="14806"/>
                    <a:pt x="1082051" y="20150"/>
                  </a:cubicBezTo>
                  <a:lnTo>
                    <a:pt x="1082051" y="671964"/>
                  </a:lnTo>
                  <a:cubicBezTo>
                    <a:pt x="1082051" y="677308"/>
                    <a:pt x="1079928" y="682433"/>
                    <a:pt x="1076149" y="686212"/>
                  </a:cubicBezTo>
                  <a:cubicBezTo>
                    <a:pt x="1072370" y="689991"/>
                    <a:pt x="1067244" y="692114"/>
                    <a:pt x="1061900" y="692114"/>
                  </a:cubicBezTo>
                  <a:lnTo>
                    <a:pt x="20150" y="692114"/>
                  </a:lnTo>
                  <a:cubicBezTo>
                    <a:pt x="14806" y="692114"/>
                    <a:pt x="9681" y="689991"/>
                    <a:pt x="5902" y="686212"/>
                  </a:cubicBezTo>
                  <a:cubicBezTo>
                    <a:pt x="2123" y="682433"/>
                    <a:pt x="0" y="677308"/>
                    <a:pt x="0" y="671964"/>
                  </a:cubicBezTo>
                  <a:lnTo>
                    <a:pt x="0" y="20150"/>
                  </a:lnTo>
                  <a:cubicBezTo>
                    <a:pt x="0" y="14806"/>
                    <a:pt x="2123" y="9681"/>
                    <a:pt x="5902" y="5902"/>
                  </a:cubicBezTo>
                  <a:cubicBezTo>
                    <a:pt x="9681" y="2123"/>
                    <a:pt x="14806" y="0"/>
                    <a:pt x="20150" y="0"/>
                  </a:cubicBezTo>
                  <a:close/>
                </a:path>
              </a:pathLst>
            </a:custGeom>
            <a:solidFill>
              <a:srgbClr val="E4E7E8"/>
            </a:solidFill>
            <a:ln cap="sq">
              <a:noFill/>
              <a:prstDash val="solid"/>
              <a:miter/>
            </a:ln>
          </p:spPr>
          <p:txBody>
            <a:bodyPr/>
            <a:lstStyle/>
            <a:p>
              <a:endParaRPr lang="en-US"/>
            </a:p>
          </p:txBody>
        </p:sp>
        <p:sp>
          <p:nvSpPr>
            <p:cNvPr id="46" name="TextBox 46">
              <a:extLst>
                <a:ext uri="{FF2B5EF4-FFF2-40B4-BE49-F238E27FC236}">
                  <a16:creationId xmlns:a16="http://schemas.microsoft.com/office/drawing/2014/main" id="{56D0CAA4-3519-EA9E-84C5-FDC7457EA97B}"/>
                </a:ext>
              </a:extLst>
            </p:cNvPr>
            <p:cNvSpPr txBox="1"/>
            <p:nvPr/>
          </p:nvSpPr>
          <p:spPr>
            <a:xfrm>
              <a:off x="0" y="-28575"/>
              <a:ext cx="1082051" cy="720689"/>
            </a:xfrm>
            <a:prstGeom prst="rect">
              <a:avLst/>
            </a:prstGeom>
          </p:spPr>
          <p:txBody>
            <a:bodyPr lIns="50800" tIns="50800" rIns="50800" bIns="50800" rtlCol="0" anchor="t"/>
            <a:lstStyle/>
            <a:p>
              <a:pPr algn="ctr"/>
              <a:r>
                <a:rPr lang="en-US" sz="1200">
                  <a:solidFill>
                    <a:srgbClr val="03A39D"/>
                  </a:solidFill>
                  <a:latin typeface="Garet"/>
                  <a:ea typeface="Garet"/>
                  <a:cs typeface="Garet"/>
                  <a:sym typeface="Garet"/>
                </a:rPr>
                <a:t>Project Name</a:t>
              </a:r>
            </a:p>
          </p:txBody>
        </p:sp>
      </p:grpSp>
      <p:grpSp>
        <p:nvGrpSpPr>
          <p:cNvPr id="47" name="Group 47">
            <a:extLst>
              <a:ext uri="{FF2B5EF4-FFF2-40B4-BE49-F238E27FC236}">
                <a16:creationId xmlns:a16="http://schemas.microsoft.com/office/drawing/2014/main" id="{5DD0FCAC-0597-300A-B2A4-647A8B7C910A}"/>
              </a:ext>
            </a:extLst>
          </p:cNvPr>
          <p:cNvGrpSpPr/>
          <p:nvPr/>
        </p:nvGrpSpPr>
        <p:grpSpPr>
          <a:xfrm>
            <a:off x="13381059" y="4361743"/>
            <a:ext cx="4551334" cy="2839570"/>
            <a:chOff x="-83229" y="0"/>
            <a:chExt cx="1165280" cy="727016"/>
          </a:xfrm>
        </p:grpSpPr>
        <p:sp>
          <p:nvSpPr>
            <p:cNvPr id="48" name="Freeform 48">
              <a:extLst>
                <a:ext uri="{FF2B5EF4-FFF2-40B4-BE49-F238E27FC236}">
                  <a16:creationId xmlns:a16="http://schemas.microsoft.com/office/drawing/2014/main" id="{AA312ECD-6C65-A317-623E-CF5551166EFB}"/>
                </a:ext>
              </a:extLst>
            </p:cNvPr>
            <p:cNvSpPr/>
            <p:nvPr/>
          </p:nvSpPr>
          <p:spPr>
            <a:xfrm>
              <a:off x="0" y="0"/>
              <a:ext cx="1082051" cy="692114"/>
            </a:xfrm>
            <a:custGeom>
              <a:avLst/>
              <a:gdLst/>
              <a:ahLst/>
              <a:cxnLst/>
              <a:rect l="l" t="t" r="r" b="b"/>
              <a:pathLst>
                <a:path w="1082051" h="692114">
                  <a:moveTo>
                    <a:pt x="20150" y="0"/>
                  </a:moveTo>
                  <a:lnTo>
                    <a:pt x="1061900" y="0"/>
                  </a:lnTo>
                  <a:cubicBezTo>
                    <a:pt x="1067244" y="0"/>
                    <a:pt x="1072370" y="2123"/>
                    <a:pt x="1076149" y="5902"/>
                  </a:cubicBezTo>
                  <a:cubicBezTo>
                    <a:pt x="1079928" y="9681"/>
                    <a:pt x="1082051" y="14806"/>
                    <a:pt x="1082051" y="20150"/>
                  </a:cubicBezTo>
                  <a:lnTo>
                    <a:pt x="1082051" y="671964"/>
                  </a:lnTo>
                  <a:cubicBezTo>
                    <a:pt x="1082051" y="677308"/>
                    <a:pt x="1079928" y="682433"/>
                    <a:pt x="1076149" y="686212"/>
                  </a:cubicBezTo>
                  <a:cubicBezTo>
                    <a:pt x="1072370" y="689991"/>
                    <a:pt x="1067244" y="692114"/>
                    <a:pt x="1061900" y="692114"/>
                  </a:cubicBezTo>
                  <a:lnTo>
                    <a:pt x="20150" y="692114"/>
                  </a:lnTo>
                  <a:cubicBezTo>
                    <a:pt x="14806" y="692114"/>
                    <a:pt x="9681" y="689991"/>
                    <a:pt x="5902" y="686212"/>
                  </a:cubicBezTo>
                  <a:cubicBezTo>
                    <a:pt x="2123" y="682433"/>
                    <a:pt x="0" y="677308"/>
                    <a:pt x="0" y="671964"/>
                  </a:cubicBezTo>
                  <a:lnTo>
                    <a:pt x="0" y="20150"/>
                  </a:lnTo>
                  <a:cubicBezTo>
                    <a:pt x="0" y="14806"/>
                    <a:pt x="2123" y="9681"/>
                    <a:pt x="5902" y="5902"/>
                  </a:cubicBezTo>
                  <a:cubicBezTo>
                    <a:pt x="9681" y="2123"/>
                    <a:pt x="14806" y="0"/>
                    <a:pt x="20150" y="0"/>
                  </a:cubicBezTo>
                  <a:close/>
                </a:path>
              </a:pathLst>
            </a:custGeom>
            <a:solidFill>
              <a:srgbClr val="E4E7E8"/>
            </a:solidFill>
            <a:ln cap="sq">
              <a:noFill/>
              <a:prstDash val="solid"/>
              <a:miter/>
            </a:ln>
          </p:spPr>
          <p:txBody>
            <a:bodyPr/>
            <a:lstStyle/>
            <a:p>
              <a:endParaRPr lang="en-US"/>
            </a:p>
          </p:txBody>
        </p:sp>
        <p:sp>
          <p:nvSpPr>
            <p:cNvPr id="49" name="TextBox 49">
              <a:extLst>
                <a:ext uri="{FF2B5EF4-FFF2-40B4-BE49-F238E27FC236}">
                  <a16:creationId xmlns:a16="http://schemas.microsoft.com/office/drawing/2014/main" id="{6B940452-DA54-F959-1A44-DDBA48EBACC0}"/>
                </a:ext>
              </a:extLst>
            </p:cNvPr>
            <p:cNvSpPr txBox="1"/>
            <p:nvPr/>
          </p:nvSpPr>
          <p:spPr>
            <a:xfrm>
              <a:off x="-83229" y="6327"/>
              <a:ext cx="1082051" cy="720689"/>
            </a:xfrm>
            <a:prstGeom prst="rect">
              <a:avLst/>
            </a:prstGeom>
          </p:spPr>
          <p:txBody>
            <a:bodyPr lIns="50800" tIns="50800" rIns="50800" bIns="50800" rtlCol="0" anchor="t"/>
            <a:lstStyle/>
            <a:p>
              <a:pPr algn="ctr"/>
              <a:r>
                <a:rPr lang="en-US" sz="1200">
                  <a:solidFill>
                    <a:srgbClr val="03A39D"/>
                  </a:solidFill>
                  <a:latin typeface="Garet"/>
                  <a:ea typeface="Garet"/>
                  <a:cs typeface="Garet"/>
                  <a:sym typeface="Garet"/>
                </a:rPr>
                <a:t>Project Name</a:t>
              </a:r>
              <a:endParaRPr lang="en-US" sz="1200">
                <a:solidFill>
                  <a:srgbClr val="000000"/>
                </a:solidFill>
                <a:latin typeface="Garet"/>
                <a:ea typeface="Garet"/>
                <a:cs typeface="Garet"/>
                <a:sym typeface="Garet"/>
              </a:endParaRPr>
            </a:p>
          </p:txBody>
        </p:sp>
      </p:grpSp>
      <p:sp>
        <p:nvSpPr>
          <p:cNvPr id="50" name="AutoShape 50">
            <a:extLst>
              <a:ext uri="{FF2B5EF4-FFF2-40B4-BE49-F238E27FC236}">
                <a16:creationId xmlns:a16="http://schemas.microsoft.com/office/drawing/2014/main" id="{49ECB2E1-B5DE-294A-B20D-3144EFAB4DDE}"/>
              </a:ext>
            </a:extLst>
          </p:cNvPr>
          <p:cNvSpPr/>
          <p:nvPr/>
        </p:nvSpPr>
        <p:spPr>
          <a:xfrm>
            <a:off x="14196906" y="4759594"/>
            <a:ext cx="3244715" cy="0"/>
          </a:xfrm>
          <a:prstGeom prst="line">
            <a:avLst/>
          </a:prstGeom>
          <a:ln w="9525" cap="flat">
            <a:solidFill>
              <a:srgbClr val="000000"/>
            </a:solidFill>
            <a:prstDash val="solid"/>
            <a:headEnd type="none" w="sm" len="sm"/>
            <a:tailEnd type="none" w="sm" len="sm"/>
          </a:ln>
        </p:spPr>
        <p:txBody>
          <a:bodyPr/>
          <a:lstStyle/>
          <a:p>
            <a:endParaRPr lang="en-US"/>
          </a:p>
        </p:txBody>
      </p:sp>
      <p:sp>
        <p:nvSpPr>
          <p:cNvPr id="51" name="AutoShape 51">
            <a:extLst>
              <a:ext uri="{FF2B5EF4-FFF2-40B4-BE49-F238E27FC236}">
                <a16:creationId xmlns:a16="http://schemas.microsoft.com/office/drawing/2014/main" id="{0CB498C4-2F35-B7B1-F49F-3E900558F238}"/>
              </a:ext>
            </a:extLst>
          </p:cNvPr>
          <p:cNvSpPr/>
          <p:nvPr/>
        </p:nvSpPr>
        <p:spPr>
          <a:xfrm>
            <a:off x="9735678" y="4760928"/>
            <a:ext cx="3244715" cy="0"/>
          </a:xfrm>
          <a:prstGeom prst="line">
            <a:avLst/>
          </a:prstGeom>
          <a:ln w="9525" cap="flat">
            <a:solidFill>
              <a:srgbClr val="000000"/>
            </a:solidFill>
            <a:prstDash val="solid"/>
            <a:headEnd type="none" w="sm" len="sm"/>
            <a:tailEnd type="none" w="sm" len="sm"/>
          </a:ln>
        </p:spPr>
        <p:txBody>
          <a:bodyPr/>
          <a:lstStyle/>
          <a:p>
            <a:endParaRPr lang="en-US"/>
          </a:p>
        </p:txBody>
      </p:sp>
      <p:sp>
        <p:nvSpPr>
          <p:cNvPr id="52" name="TextBox 52">
            <a:extLst>
              <a:ext uri="{FF2B5EF4-FFF2-40B4-BE49-F238E27FC236}">
                <a16:creationId xmlns:a16="http://schemas.microsoft.com/office/drawing/2014/main" id="{2B736B07-4237-9394-BDF6-8CFE2B137508}"/>
              </a:ext>
            </a:extLst>
          </p:cNvPr>
          <p:cNvSpPr txBox="1"/>
          <p:nvPr/>
        </p:nvSpPr>
        <p:spPr>
          <a:xfrm>
            <a:off x="13706134" y="4877121"/>
            <a:ext cx="4226259" cy="1634422"/>
          </a:xfrm>
          <a:prstGeom prst="rect">
            <a:avLst/>
          </a:prstGeom>
        </p:spPr>
        <p:txBody>
          <a:bodyPr lIns="0" tIns="0" rIns="0" bIns="0" rtlCol="0" anchor="t">
            <a:spAutoFit/>
          </a:bodyPr>
          <a:lstStyle/>
          <a:p>
            <a:pPr marL="253365" lvl="1" indent="-126365" algn="l">
              <a:lnSpc>
                <a:spcPts val="1646"/>
              </a:lnSpc>
              <a:buFont typeface="Arial,Sans-Serif"/>
              <a:buChar char="•"/>
            </a:pPr>
            <a:r>
              <a:rPr lang="en-US" sz="1200" b="1">
                <a:solidFill>
                  <a:srgbClr val="000000"/>
                </a:solidFill>
                <a:latin typeface="Garet Bold"/>
                <a:ea typeface="Garet Bold"/>
                <a:cs typeface="Garet Bold"/>
                <a:sym typeface="Garet Bold"/>
              </a:rPr>
              <a:t>VENDOR:</a:t>
            </a:r>
            <a:r>
              <a:rPr lang="en-US" sz="1200">
                <a:solidFill>
                  <a:srgbClr val="000000"/>
                </a:solidFill>
                <a:latin typeface="Garet"/>
                <a:ea typeface="Garet Bold"/>
                <a:cs typeface="Garet Bold"/>
                <a:sym typeface="Garet Bold"/>
              </a:rPr>
              <a:t> </a:t>
            </a:r>
            <a:endParaRPr lang="en-US" sz="1200">
              <a:latin typeface="Garet"/>
            </a:endParaRPr>
          </a:p>
          <a:p>
            <a:pPr marL="253365" lvl="1" indent="-126365">
              <a:lnSpc>
                <a:spcPts val="1646"/>
              </a:lnSpc>
              <a:buFont typeface="Arial,Sans-Serif"/>
              <a:buChar char="•"/>
            </a:pPr>
            <a:r>
              <a:rPr lang="en-US" sz="1200" b="1">
                <a:solidFill>
                  <a:srgbClr val="000000"/>
                </a:solidFill>
                <a:latin typeface="Garet Bold"/>
                <a:ea typeface="Garet Bold"/>
                <a:cs typeface="Garet Bold"/>
                <a:sym typeface="Garet Bold"/>
              </a:rPr>
              <a:t>BUSINESS OWNER:</a:t>
            </a:r>
            <a:r>
              <a:rPr lang="en-US" sz="1200">
                <a:solidFill>
                  <a:srgbClr val="000000"/>
                </a:solidFill>
                <a:latin typeface="Garet"/>
                <a:ea typeface="Garet"/>
                <a:cs typeface="Garet"/>
                <a:sym typeface="Garet"/>
              </a:rPr>
              <a:t> </a:t>
            </a:r>
            <a:endParaRPr lang="en-US" sz="1200">
              <a:solidFill>
                <a:srgbClr val="000000"/>
              </a:solidFill>
              <a:latin typeface="Garet"/>
              <a:ea typeface="Garet"/>
              <a:cs typeface="Garet"/>
            </a:endParaRPr>
          </a:p>
          <a:p>
            <a:pPr marL="253365" lvl="1" indent="-126365" algn="l">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PERCENT COMPLETE:</a:t>
            </a:r>
            <a:r>
              <a:rPr lang="en-US" sz="1200">
                <a:solidFill>
                  <a:srgbClr val="000000"/>
                </a:solidFill>
                <a:latin typeface="Garet"/>
                <a:ea typeface="Garet"/>
                <a:cs typeface="Garet"/>
                <a:sym typeface="Garet"/>
              </a:rPr>
              <a:t> </a:t>
            </a:r>
            <a:endParaRPr lang="en-US" sz="1200">
              <a:solidFill>
                <a:srgbClr val="000000"/>
              </a:solidFill>
              <a:latin typeface="Garet"/>
              <a:ea typeface="Garet"/>
              <a:cs typeface="Garet"/>
            </a:endParaRPr>
          </a:p>
          <a:p>
            <a:pPr marL="253365" lvl="1" indent="-126365" algn="l">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BUDGET STATUS:</a:t>
            </a:r>
            <a:r>
              <a:rPr lang="en-US" sz="1200">
                <a:solidFill>
                  <a:srgbClr val="000000"/>
                </a:solidFill>
                <a:latin typeface="Garet"/>
                <a:ea typeface="Garet"/>
                <a:cs typeface="Garet"/>
                <a:sym typeface="Garet"/>
              </a:rPr>
              <a:t> </a:t>
            </a:r>
            <a:endParaRPr lang="en-US" sz="1200">
              <a:solidFill>
                <a:srgbClr val="000000"/>
              </a:solidFill>
              <a:latin typeface="Garet"/>
              <a:ea typeface="Garet"/>
              <a:cs typeface="Garet"/>
            </a:endParaRPr>
          </a:p>
          <a:p>
            <a:pPr marL="253365" lvl="1" indent="-126365" algn="l">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TIMELINE:</a:t>
            </a:r>
            <a:r>
              <a:rPr lang="en-US" sz="1200">
                <a:solidFill>
                  <a:srgbClr val="000000"/>
                </a:solidFill>
                <a:latin typeface="Garet"/>
                <a:ea typeface="Garet"/>
                <a:cs typeface="Garet"/>
                <a:sym typeface="Garet"/>
              </a:rPr>
              <a:t> </a:t>
            </a:r>
            <a:endParaRPr lang="en-US" sz="1200">
              <a:solidFill>
                <a:srgbClr val="000000"/>
              </a:solidFill>
              <a:latin typeface="Garet"/>
              <a:ea typeface="Garet Bold"/>
              <a:cs typeface="Garet Bold"/>
            </a:endParaRPr>
          </a:p>
          <a:p>
            <a:pPr marL="253365" lvl="1" indent="-126365" algn="l">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KEY MILESTONES ACHIEVED:</a:t>
            </a:r>
            <a:r>
              <a:rPr lang="en-US" sz="1200">
                <a:solidFill>
                  <a:srgbClr val="000000"/>
                </a:solidFill>
                <a:latin typeface="Garet"/>
                <a:ea typeface="Garet"/>
                <a:cs typeface="Garet"/>
                <a:sym typeface="Garet"/>
              </a:rPr>
              <a:t> </a:t>
            </a:r>
            <a:endParaRPr lang="en-US" sz="1200">
              <a:solidFill>
                <a:srgbClr val="000000"/>
              </a:solidFill>
              <a:latin typeface="Garet"/>
              <a:ea typeface="Garet"/>
              <a:cs typeface="Garet"/>
            </a:endParaRPr>
          </a:p>
          <a:p>
            <a:pPr marL="253365" lvl="1" indent="-126365">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ACTION ITEM:</a:t>
            </a:r>
            <a:r>
              <a:rPr lang="en-US" sz="1200" b="1">
                <a:solidFill>
                  <a:srgbClr val="000000"/>
                </a:solidFill>
                <a:latin typeface="Garet Bold"/>
                <a:ea typeface="Garet"/>
                <a:cs typeface="Garet"/>
                <a:sym typeface="Garet"/>
              </a:rPr>
              <a:t> </a:t>
            </a:r>
            <a:endParaRPr lang="en-US" sz="1200">
              <a:solidFill>
                <a:srgbClr val="000000"/>
              </a:solidFill>
              <a:latin typeface="Garet Bold"/>
              <a:ea typeface="Garet"/>
              <a:cs typeface="Garet"/>
            </a:endParaRPr>
          </a:p>
          <a:p>
            <a:pPr marL="253365" lvl="1" indent="-126365">
              <a:lnSpc>
                <a:spcPts val="1646"/>
              </a:lnSpc>
              <a:buFont typeface="Arial"/>
              <a:buChar char="•"/>
            </a:pPr>
            <a:endParaRPr lang="en-US" sz="1150">
              <a:solidFill>
                <a:srgbClr val="000000"/>
              </a:solidFill>
              <a:latin typeface="Garet"/>
              <a:ea typeface="Garet"/>
              <a:cs typeface="Garet"/>
            </a:endParaRPr>
          </a:p>
        </p:txBody>
      </p:sp>
      <p:sp>
        <p:nvSpPr>
          <p:cNvPr id="53" name="TextBox 53">
            <a:extLst>
              <a:ext uri="{FF2B5EF4-FFF2-40B4-BE49-F238E27FC236}">
                <a16:creationId xmlns:a16="http://schemas.microsoft.com/office/drawing/2014/main" id="{926B85B4-4BF1-2BB4-BC3A-781C6E9289E0}"/>
              </a:ext>
            </a:extLst>
          </p:cNvPr>
          <p:cNvSpPr txBox="1"/>
          <p:nvPr/>
        </p:nvSpPr>
        <p:spPr>
          <a:xfrm>
            <a:off x="9281354" y="4821264"/>
            <a:ext cx="4226259" cy="1634422"/>
          </a:xfrm>
          <a:prstGeom prst="rect">
            <a:avLst/>
          </a:prstGeom>
        </p:spPr>
        <p:txBody>
          <a:bodyPr lIns="0" tIns="0" rIns="0" bIns="0" rtlCol="0" anchor="t">
            <a:spAutoFit/>
          </a:bodyPr>
          <a:lstStyle/>
          <a:p>
            <a:pPr marL="253365" lvl="1" indent="-126365">
              <a:lnSpc>
                <a:spcPts val="1646"/>
              </a:lnSpc>
              <a:buFont typeface="Arial,Sans-Serif"/>
              <a:buChar char="•"/>
            </a:pPr>
            <a:r>
              <a:rPr lang="en-US" sz="1200" b="1">
                <a:solidFill>
                  <a:srgbClr val="000000"/>
                </a:solidFill>
                <a:latin typeface="Garet Bold"/>
                <a:ea typeface="+mn-lt"/>
                <a:cs typeface="+mn-lt"/>
                <a:sym typeface="Garet Bold"/>
              </a:rPr>
              <a:t>VENDOR</a:t>
            </a:r>
            <a:r>
              <a:rPr lang="en-US" sz="1200" b="1">
                <a:solidFill>
                  <a:srgbClr val="000000"/>
                </a:solidFill>
                <a:latin typeface="Garet Bold"/>
                <a:ea typeface="+mn-lt"/>
                <a:cs typeface="+mn-lt"/>
                <a:sym typeface="Garet"/>
              </a:rPr>
              <a:t>:</a:t>
            </a:r>
            <a:r>
              <a:rPr lang="en-US" sz="1200" b="1">
                <a:solidFill>
                  <a:srgbClr val="000000"/>
                </a:solidFill>
                <a:latin typeface="Garet"/>
                <a:ea typeface="+mn-lt"/>
                <a:cs typeface="+mn-lt"/>
                <a:sym typeface="Garet"/>
              </a:rPr>
              <a:t> </a:t>
            </a:r>
            <a:endParaRPr lang="en-US" sz="1200" b="1">
              <a:latin typeface="Garet"/>
            </a:endParaRPr>
          </a:p>
          <a:p>
            <a:pPr marL="253365" lvl="1" indent="-126365">
              <a:lnSpc>
                <a:spcPts val="1646"/>
              </a:lnSpc>
              <a:buFont typeface="Arial,Sans-Serif"/>
              <a:buChar char="•"/>
            </a:pPr>
            <a:r>
              <a:rPr lang="en-US" sz="1200" b="1">
                <a:solidFill>
                  <a:srgbClr val="000000"/>
                </a:solidFill>
                <a:latin typeface="Garet Bold"/>
                <a:ea typeface="+mn-lt"/>
                <a:cs typeface="+mn-lt"/>
                <a:sym typeface="Garet"/>
              </a:rPr>
              <a:t>BUSINESS OWNER:</a:t>
            </a:r>
            <a:r>
              <a:rPr lang="en-US" sz="1200" b="1">
                <a:solidFill>
                  <a:srgbClr val="000000"/>
                </a:solidFill>
                <a:latin typeface="Garet"/>
                <a:ea typeface="+mn-lt"/>
                <a:cs typeface="+mn-lt"/>
                <a:sym typeface="Garet"/>
              </a:rPr>
              <a:t> </a:t>
            </a:r>
            <a:endParaRPr lang="en-US" sz="1200" b="1">
              <a:latin typeface="Garet"/>
            </a:endParaRPr>
          </a:p>
          <a:p>
            <a:pPr marL="253365" lvl="1" indent="-126365">
              <a:lnSpc>
                <a:spcPts val="1646"/>
              </a:lnSpc>
              <a:spcBef>
                <a:spcPct val="0"/>
              </a:spcBef>
              <a:buFont typeface="Arial,Sans-Serif"/>
              <a:buChar char="•"/>
            </a:pPr>
            <a:r>
              <a:rPr lang="en-US" sz="1200" b="1">
                <a:solidFill>
                  <a:srgbClr val="000000"/>
                </a:solidFill>
                <a:latin typeface="Garet Bold"/>
                <a:ea typeface="+mn-lt"/>
                <a:cs typeface="+mn-lt"/>
                <a:sym typeface="Garet"/>
              </a:rPr>
              <a:t>PERCENT </a:t>
            </a:r>
            <a:r>
              <a:rPr lang="en-US" sz="1200" b="1">
                <a:solidFill>
                  <a:srgbClr val="000000"/>
                </a:solidFill>
                <a:latin typeface="Garet Bold"/>
                <a:ea typeface="+mn-lt"/>
                <a:cs typeface="+mn-lt"/>
                <a:sym typeface="Garet Bold"/>
              </a:rPr>
              <a:t>COMPLETE:</a:t>
            </a:r>
            <a:r>
              <a:rPr lang="en-US" sz="1200" b="1">
                <a:solidFill>
                  <a:srgbClr val="000000"/>
                </a:solidFill>
                <a:latin typeface="Garet"/>
                <a:ea typeface="+mn-lt"/>
                <a:cs typeface="+mn-lt"/>
                <a:sym typeface="Garet Bold"/>
              </a:rPr>
              <a:t> </a:t>
            </a:r>
            <a:endParaRPr lang="en-US" sz="1200" b="1">
              <a:latin typeface="Garet"/>
            </a:endParaRPr>
          </a:p>
          <a:p>
            <a:pPr marL="253365" lvl="1" indent="-126365">
              <a:lnSpc>
                <a:spcPts val="1646"/>
              </a:lnSpc>
              <a:spcBef>
                <a:spcPct val="0"/>
              </a:spcBef>
              <a:buFont typeface="Arial,Sans-Serif"/>
              <a:buChar char="•"/>
            </a:pPr>
            <a:r>
              <a:rPr lang="en-US" sz="1200" b="1">
                <a:solidFill>
                  <a:srgbClr val="000000"/>
                </a:solidFill>
                <a:latin typeface="Garet Bold"/>
                <a:ea typeface="+mn-lt"/>
                <a:cs typeface="+mn-lt"/>
                <a:sym typeface="Garet Bold"/>
              </a:rPr>
              <a:t>BUDGET STATUS</a:t>
            </a:r>
            <a:r>
              <a:rPr lang="en-US" sz="1200" b="1">
                <a:solidFill>
                  <a:srgbClr val="000000"/>
                </a:solidFill>
                <a:latin typeface="Garet Bold"/>
                <a:ea typeface="+mn-lt"/>
                <a:cs typeface="+mn-lt"/>
                <a:sym typeface="Garet"/>
              </a:rPr>
              <a:t>:</a:t>
            </a:r>
            <a:r>
              <a:rPr lang="en-US" sz="1200" b="1">
                <a:solidFill>
                  <a:srgbClr val="000000"/>
                </a:solidFill>
                <a:latin typeface="Garet"/>
                <a:ea typeface="+mn-lt"/>
                <a:cs typeface="+mn-lt"/>
                <a:sym typeface="Garet"/>
              </a:rPr>
              <a:t> </a:t>
            </a:r>
            <a:endParaRPr lang="en-US" sz="1200" b="1">
              <a:latin typeface="Garet"/>
            </a:endParaRPr>
          </a:p>
          <a:p>
            <a:pPr marL="253365" lvl="1" indent="-126365">
              <a:lnSpc>
                <a:spcPts val="1646"/>
              </a:lnSpc>
              <a:spcBef>
                <a:spcPct val="0"/>
              </a:spcBef>
              <a:buFont typeface="Arial,Sans-Serif"/>
              <a:buChar char="•"/>
            </a:pPr>
            <a:r>
              <a:rPr lang="en-US" sz="1200" b="1">
                <a:solidFill>
                  <a:srgbClr val="000000"/>
                </a:solidFill>
                <a:latin typeface="Garet Bold"/>
                <a:ea typeface="+mn-lt"/>
                <a:cs typeface="+mn-lt"/>
                <a:sym typeface="Garet"/>
              </a:rPr>
              <a:t>TIMELINE:</a:t>
            </a:r>
            <a:r>
              <a:rPr lang="en-US" sz="1200" b="1">
                <a:solidFill>
                  <a:srgbClr val="000000"/>
                </a:solidFill>
                <a:latin typeface="Garet"/>
                <a:ea typeface="+mn-lt"/>
                <a:cs typeface="+mn-lt"/>
                <a:sym typeface="Garet"/>
              </a:rPr>
              <a:t> </a:t>
            </a:r>
            <a:endParaRPr lang="en-US" sz="1200" b="1">
              <a:latin typeface="Garet"/>
            </a:endParaRPr>
          </a:p>
          <a:p>
            <a:pPr marL="253365" lvl="1" indent="-126365">
              <a:lnSpc>
                <a:spcPts val="1646"/>
              </a:lnSpc>
              <a:spcBef>
                <a:spcPct val="0"/>
              </a:spcBef>
              <a:buFont typeface="Arial,Sans-Serif"/>
              <a:buChar char="•"/>
            </a:pPr>
            <a:r>
              <a:rPr lang="en-US" sz="1200" b="1">
                <a:solidFill>
                  <a:srgbClr val="000000"/>
                </a:solidFill>
                <a:latin typeface="Garet Bold"/>
                <a:ea typeface="+mn-lt"/>
                <a:cs typeface="+mn-lt"/>
                <a:sym typeface="Garet"/>
              </a:rPr>
              <a:t>KEY MILESTONES ACHIEVED</a:t>
            </a:r>
            <a:r>
              <a:rPr lang="en-US" sz="1200" b="1">
                <a:solidFill>
                  <a:srgbClr val="000000"/>
                </a:solidFill>
                <a:latin typeface="Garet Bold"/>
                <a:ea typeface="+mn-lt"/>
                <a:cs typeface="+mn-lt"/>
                <a:sym typeface="Garet Bold"/>
              </a:rPr>
              <a:t>:</a:t>
            </a:r>
            <a:r>
              <a:rPr lang="en-US" sz="1200" b="1">
                <a:solidFill>
                  <a:srgbClr val="000000"/>
                </a:solidFill>
                <a:latin typeface="Garet"/>
                <a:ea typeface="+mn-lt"/>
                <a:cs typeface="+mn-lt"/>
                <a:sym typeface="Garet"/>
              </a:rPr>
              <a:t> </a:t>
            </a:r>
            <a:endParaRPr lang="en-US" sz="1200" b="1">
              <a:latin typeface="Garet"/>
              <a:ea typeface="Calibri"/>
              <a:cs typeface="Calibri"/>
            </a:endParaRPr>
          </a:p>
          <a:p>
            <a:pPr marL="253365" lvl="1" indent="-126365">
              <a:lnSpc>
                <a:spcPts val="1646"/>
              </a:lnSpc>
              <a:spcBef>
                <a:spcPct val="0"/>
              </a:spcBef>
              <a:buFont typeface="Arial,Sans-Serif"/>
              <a:buChar char="•"/>
            </a:pPr>
            <a:r>
              <a:rPr lang="en-US" sz="1200" b="1">
                <a:solidFill>
                  <a:srgbClr val="000000"/>
                </a:solidFill>
                <a:latin typeface="Garet Bold"/>
                <a:ea typeface="+mn-lt"/>
                <a:cs typeface="+mn-lt"/>
                <a:sym typeface="Garet Bold"/>
              </a:rPr>
              <a:t>ACTION ITEM:</a:t>
            </a:r>
            <a:r>
              <a:rPr lang="en-US" sz="1200" b="1">
                <a:solidFill>
                  <a:srgbClr val="000000"/>
                </a:solidFill>
                <a:latin typeface="Garet Bold"/>
                <a:ea typeface="+mn-lt"/>
                <a:cs typeface="+mn-lt"/>
                <a:sym typeface="Garet"/>
              </a:rPr>
              <a:t> </a:t>
            </a:r>
            <a:endParaRPr lang="en-US" sz="1200" b="1">
              <a:latin typeface="Garet"/>
            </a:endParaRPr>
          </a:p>
          <a:p>
            <a:pPr marL="253365" lvl="1" indent="-126365">
              <a:lnSpc>
                <a:spcPts val="1646"/>
              </a:lnSpc>
              <a:buFont typeface="Arial"/>
              <a:buChar char="•"/>
            </a:pPr>
            <a:endParaRPr lang="en-US" sz="1150" b="1">
              <a:latin typeface="Garet"/>
              <a:ea typeface="Calibri"/>
              <a:cs typeface="Calibri"/>
            </a:endParaRPr>
          </a:p>
        </p:txBody>
      </p:sp>
      <p:grpSp>
        <p:nvGrpSpPr>
          <p:cNvPr id="54" name="Group 54">
            <a:extLst>
              <a:ext uri="{FF2B5EF4-FFF2-40B4-BE49-F238E27FC236}">
                <a16:creationId xmlns:a16="http://schemas.microsoft.com/office/drawing/2014/main" id="{0A1F3382-2459-7874-2BA7-B03B73F2D136}"/>
              </a:ext>
            </a:extLst>
          </p:cNvPr>
          <p:cNvGrpSpPr/>
          <p:nvPr/>
        </p:nvGrpSpPr>
        <p:grpSpPr>
          <a:xfrm>
            <a:off x="9143546" y="7361290"/>
            <a:ext cx="4364067" cy="2669011"/>
            <a:chOff x="-35283" y="0"/>
            <a:chExt cx="1117334" cy="683348"/>
          </a:xfrm>
        </p:grpSpPr>
        <p:sp>
          <p:nvSpPr>
            <p:cNvPr id="55" name="Freeform 55">
              <a:extLst>
                <a:ext uri="{FF2B5EF4-FFF2-40B4-BE49-F238E27FC236}">
                  <a16:creationId xmlns:a16="http://schemas.microsoft.com/office/drawing/2014/main" id="{E15F7170-0465-474D-BA65-AD5E00E273AB}"/>
                </a:ext>
              </a:extLst>
            </p:cNvPr>
            <p:cNvSpPr/>
            <p:nvPr/>
          </p:nvSpPr>
          <p:spPr>
            <a:xfrm>
              <a:off x="0" y="0"/>
              <a:ext cx="1082051" cy="641838"/>
            </a:xfrm>
            <a:custGeom>
              <a:avLst/>
              <a:gdLst/>
              <a:ahLst/>
              <a:cxnLst/>
              <a:rect l="l" t="t" r="r" b="b"/>
              <a:pathLst>
                <a:path w="1082051" h="641838">
                  <a:moveTo>
                    <a:pt x="20150" y="0"/>
                  </a:moveTo>
                  <a:lnTo>
                    <a:pt x="1061900" y="0"/>
                  </a:lnTo>
                  <a:cubicBezTo>
                    <a:pt x="1067244" y="0"/>
                    <a:pt x="1072370" y="2123"/>
                    <a:pt x="1076149" y="5902"/>
                  </a:cubicBezTo>
                  <a:cubicBezTo>
                    <a:pt x="1079928" y="9681"/>
                    <a:pt x="1082051" y="14806"/>
                    <a:pt x="1082051" y="20150"/>
                  </a:cubicBezTo>
                  <a:lnTo>
                    <a:pt x="1082051" y="621688"/>
                  </a:lnTo>
                  <a:cubicBezTo>
                    <a:pt x="1082051" y="627032"/>
                    <a:pt x="1079928" y="632157"/>
                    <a:pt x="1076149" y="635936"/>
                  </a:cubicBezTo>
                  <a:cubicBezTo>
                    <a:pt x="1072370" y="639715"/>
                    <a:pt x="1067244" y="641838"/>
                    <a:pt x="1061900" y="641838"/>
                  </a:cubicBezTo>
                  <a:lnTo>
                    <a:pt x="20150" y="641838"/>
                  </a:lnTo>
                  <a:cubicBezTo>
                    <a:pt x="14806" y="641838"/>
                    <a:pt x="9681" y="639715"/>
                    <a:pt x="5902" y="635936"/>
                  </a:cubicBezTo>
                  <a:cubicBezTo>
                    <a:pt x="2123" y="632157"/>
                    <a:pt x="0" y="627032"/>
                    <a:pt x="0" y="621688"/>
                  </a:cubicBezTo>
                  <a:lnTo>
                    <a:pt x="0" y="20150"/>
                  </a:lnTo>
                  <a:cubicBezTo>
                    <a:pt x="0" y="14806"/>
                    <a:pt x="2123" y="9681"/>
                    <a:pt x="5902" y="5902"/>
                  </a:cubicBezTo>
                  <a:cubicBezTo>
                    <a:pt x="9681" y="2123"/>
                    <a:pt x="14806" y="0"/>
                    <a:pt x="20150" y="0"/>
                  </a:cubicBezTo>
                  <a:close/>
                </a:path>
              </a:pathLst>
            </a:custGeom>
            <a:solidFill>
              <a:srgbClr val="E4E7E8"/>
            </a:solidFill>
            <a:ln cap="sq">
              <a:noFill/>
              <a:prstDash val="solid"/>
              <a:miter/>
            </a:ln>
          </p:spPr>
          <p:txBody>
            <a:bodyPr/>
            <a:lstStyle/>
            <a:p>
              <a:endParaRPr lang="en-US"/>
            </a:p>
          </p:txBody>
        </p:sp>
        <p:sp>
          <p:nvSpPr>
            <p:cNvPr id="56" name="TextBox 56">
              <a:extLst>
                <a:ext uri="{FF2B5EF4-FFF2-40B4-BE49-F238E27FC236}">
                  <a16:creationId xmlns:a16="http://schemas.microsoft.com/office/drawing/2014/main" id="{FC1E148D-526B-8FD0-D9F4-0D7C2EC2E258}"/>
                </a:ext>
              </a:extLst>
            </p:cNvPr>
            <p:cNvSpPr txBox="1"/>
            <p:nvPr/>
          </p:nvSpPr>
          <p:spPr>
            <a:xfrm>
              <a:off x="-35283" y="12935"/>
              <a:ext cx="1082051" cy="670413"/>
            </a:xfrm>
            <a:prstGeom prst="rect">
              <a:avLst/>
            </a:prstGeom>
          </p:spPr>
          <p:txBody>
            <a:bodyPr lIns="50800" tIns="50800" rIns="50800" bIns="50800" rtlCol="0" anchor="t"/>
            <a:lstStyle/>
            <a:p>
              <a:pPr algn="ctr"/>
              <a:r>
                <a:rPr lang="en-US" sz="1200">
                  <a:solidFill>
                    <a:srgbClr val="03A39D"/>
                  </a:solidFill>
                  <a:latin typeface="Garet"/>
                  <a:ea typeface="Garet"/>
                  <a:cs typeface="Garet"/>
                  <a:sym typeface="Garet"/>
                </a:rPr>
                <a:t>Project Name</a:t>
              </a:r>
              <a:endParaRPr lang="en-US" sz="1200">
                <a:solidFill>
                  <a:srgbClr val="000000"/>
                </a:solidFill>
                <a:latin typeface="Garet"/>
                <a:ea typeface="Garet"/>
                <a:cs typeface="Garet"/>
                <a:sym typeface="Garet"/>
              </a:endParaRPr>
            </a:p>
          </p:txBody>
        </p:sp>
      </p:grpSp>
      <p:grpSp>
        <p:nvGrpSpPr>
          <p:cNvPr id="57" name="Group 57">
            <a:extLst>
              <a:ext uri="{FF2B5EF4-FFF2-40B4-BE49-F238E27FC236}">
                <a16:creationId xmlns:a16="http://schemas.microsoft.com/office/drawing/2014/main" id="{CB1D5DC8-2F2B-E467-5569-D6C3515412C3}"/>
              </a:ext>
            </a:extLst>
          </p:cNvPr>
          <p:cNvGrpSpPr/>
          <p:nvPr/>
        </p:nvGrpSpPr>
        <p:grpSpPr>
          <a:xfrm>
            <a:off x="13706134" y="7361290"/>
            <a:ext cx="4226259" cy="2664957"/>
            <a:chOff x="0" y="0"/>
            <a:chExt cx="1082051" cy="682310"/>
          </a:xfrm>
        </p:grpSpPr>
        <p:sp>
          <p:nvSpPr>
            <p:cNvPr id="58" name="Freeform 58">
              <a:extLst>
                <a:ext uri="{FF2B5EF4-FFF2-40B4-BE49-F238E27FC236}">
                  <a16:creationId xmlns:a16="http://schemas.microsoft.com/office/drawing/2014/main" id="{345B4883-FDE9-F976-211C-75EDF5E3D9DF}"/>
                </a:ext>
              </a:extLst>
            </p:cNvPr>
            <p:cNvSpPr/>
            <p:nvPr/>
          </p:nvSpPr>
          <p:spPr>
            <a:xfrm>
              <a:off x="0" y="0"/>
              <a:ext cx="1082051" cy="641838"/>
            </a:xfrm>
            <a:custGeom>
              <a:avLst/>
              <a:gdLst/>
              <a:ahLst/>
              <a:cxnLst/>
              <a:rect l="l" t="t" r="r" b="b"/>
              <a:pathLst>
                <a:path w="1082051" h="641838">
                  <a:moveTo>
                    <a:pt x="20150" y="0"/>
                  </a:moveTo>
                  <a:lnTo>
                    <a:pt x="1061900" y="0"/>
                  </a:lnTo>
                  <a:cubicBezTo>
                    <a:pt x="1067244" y="0"/>
                    <a:pt x="1072370" y="2123"/>
                    <a:pt x="1076149" y="5902"/>
                  </a:cubicBezTo>
                  <a:cubicBezTo>
                    <a:pt x="1079928" y="9681"/>
                    <a:pt x="1082051" y="14806"/>
                    <a:pt x="1082051" y="20150"/>
                  </a:cubicBezTo>
                  <a:lnTo>
                    <a:pt x="1082051" y="621688"/>
                  </a:lnTo>
                  <a:cubicBezTo>
                    <a:pt x="1082051" y="627032"/>
                    <a:pt x="1079928" y="632157"/>
                    <a:pt x="1076149" y="635936"/>
                  </a:cubicBezTo>
                  <a:cubicBezTo>
                    <a:pt x="1072370" y="639715"/>
                    <a:pt x="1067244" y="641838"/>
                    <a:pt x="1061900" y="641838"/>
                  </a:cubicBezTo>
                  <a:lnTo>
                    <a:pt x="20150" y="641838"/>
                  </a:lnTo>
                  <a:cubicBezTo>
                    <a:pt x="14806" y="641838"/>
                    <a:pt x="9681" y="639715"/>
                    <a:pt x="5902" y="635936"/>
                  </a:cubicBezTo>
                  <a:cubicBezTo>
                    <a:pt x="2123" y="632157"/>
                    <a:pt x="0" y="627032"/>
                    <a:pt x="0" y="621688"/>
                  </a:cubicBezTo>
                  <a:lnTo>
                    <a:pt x="0" y="20150"/>
                  </a:lnTo>
                  <a:cubicBezTo>
                    <a:pt x="0" y="14806"/>
                    <a:pt x="2123" y="9681"/>
                    <a:pt x="5902" y="5902"/>
                  </a:cubicBezTo>
                  <a:cubicBezTo>
                    <a:pt x="9681" y="2123"/>
                    <a:pt x="14806" y="0"/>
                    <a:pt x="20150" y="0"/>
                  </a:cubicBezTo>
                  <a:close/>
                </a:path>
              </a:pathLst>
            </a:custGeom>
            <a:solidFill>
              <a:srgbClr val="E4E7E8"/>
            </a:solidFill>
            <a:ln cap="sq">
              <a:noFill/>
              <a:prstDash val="solid"/>
              <a:miter/>
            </a:ln>
          </p:spPr>
          <p:txBody>
            <a:bodyPr/>
            <a:lstStyle/>
            <a:p>
              <a:endParaRPr lang="en-US"/>
            </a:p>
          </p:txBody>
        </p:sp>
        <p:sp>
          <p:nvSpPr>
            <p:cNvPr id="59" name="TextBox 59">
              <a:extLst>
                <a:ext uri="{FF2B5EF4-FFF2-40B4-BE49-F238E27FC236}">
                  <a16:creationId xmlns:a16="http://schemas.microsoft.com/office/drawing/2014/main" id="{003AFD93-3A5E-7968-23D2-3D2D634AD5EF}"/>
                </a:ext>
              </a:extLst>
            </p:cNvPr>
            <p:cNvSpPr txBox="1"/>
            <p:nvPr/>
          </p:nvSpPr>
          <p:spPr>
            <a:xfrm>
              <a:off x="0" y="11897"/>
              <a:ext cx="1082051" cy="670413"/>
            </a:xfrm>
            <a:prstGeom prst="rect">
              <a:avLst/>
            </a:prstGeom>
          </p:spPr>
          <p:txBody>
            <a:bodyPr lIns="50800" tIns="50800" rIns="50800" bIns="50800" rtlCol="0" anchor="t"/>
            <a:lstStyle/>
            <a:p>
              <a:pPr algn="ctr"/>
              <a:r>
                <a:rPr lang="en-US" sz="1200">
                  <a:solidFill>
                    <a:srgbClr val="03A39D"/>
                  </a:solidFill>
                  <a:latin typeface="Garet"/>
                  <a:ea typeface="Garet"/>
                  <a:cs typeface="Garet"/>
                  <a:sym typeface="Garet"/>
                </a:rPr>
                <a:t>Project Name</a:t>
              </a:r>
              <a:endParaRPr lang="en-US" sz="1200">
                <a:solidFill>
                  <a:srgbClr val="000000"/>
                </a:solidFill>
                <a:latin typeface="Garet"/>
                <a:ea typeface="Garet"/>
                <a:cs typeface="Garet"/>
                <a:sym typeface="Garet"/>
              </a:endParaRPr>
            </a:p>
          </p:txBody>
        </p:sp>
      </p:grpSp>
      <p:sp>
        <p:nvSpPr>
          <p:cNvPr id="60" name="AutoShape 60">
            <a:extLst>
              <a:ext uri="{FF2B5EF4-FFF2-40B4-BE49-F238E27FC236}">
                <a16:creationId xmlns:a16="http://schemas.microsoft.com/office/drawing/2014/main" id="{F24F881E-3062-7DAD-1EDA-7A79A5E21B0C}"/>
              </a:ext>
            </a:extLst>
          </p:cNvPr>
          <p:cNvSpPr/>
          <p:nvPr/>
        </p:nvSpPr>
        <p:spPr>
          <a:xfrm>
            <a:off x="14196906" y="7759141"/>
            <a:ext cx="3244715" cy="0"/>
          </a:xfrm>
          <a:prstGeom prst="line">
            <a:avLst/>
          </a:prstGeom>
          <a:ln w="9525" cap="flat">
            <a:solidFill>
              <a:srgbClr val="000000"/>
            </a:solidFill>
            <a:prstDash val="solid"/>
            <a:headEnd type="none" w="sm" len="sm"/>
            <a:tailEnd type="none" w="sm" len="sm"/>
          </a:ln>
        </p:spPr>
        <p:txBody>
          <a:bodyPr/>
          <a:lstStyle/>
          <a:p>
            <a:endParaRPr lang="en-US"/>
          </a:p>
        </p:txBody>
      </p:sp>
      <p:sp>
        <p:nvSpPr>
          <p:cNvPr id="61" name="AutoShape 61">
            <a:extLst>
              <a:ext uri="{FF2B5EF4-FFF2-40B4-BE49-F238E27FC236}">
                <a16:creationId xmlns:a16="http://schemas.microsoft.com/office/drawing/2014/main" id="{A6B2A86D-F5CC-7C3F-9D8A-B6C953F4BB75}"/>
              </a:ext>
            </a:extLst>
          </p:cNvPr>
          <p:cNvSpPr/>
          <p:nvPr/>
        </p:nvSpPr>
        <p:spPr>
          <a:xfrm>
            <a:off x="9735678" y="7760475"/>
            <a:ext cx="3244715" cy="0"/>
          </a:xfrm>
          <a:prstGeom prst="line">
            <a:avLst/>
          </a:prstGeom>
          <a:ln w="9525" cap="flat">
            <a:solidFill>
              <a:srgbClr val="000000"/>
            </a:solidFill>
            <a:prstDash val="solid"/>
            <a:headEnd type="none" w="sm" len="sm"/>
            <a:tailEnd type="none" w="sm" len="sm"/>
          </a:ln>
        </p:spPr>
        <p:txBody>
          <a:bodyPr/>
          <a:lstStyle/>
          <a:p>
            <a:endParaRPr lang="en-US"/>
          </a:p>
        </p:txBody>
      </p:sp>
      <p:sp>
        <p:nvSpPr>
          <p:cNvPr id="62" name="TextBox 62">
            <a:extLst>
              <a:ext uri="{FF2B5EF4-FFF2-40B4-BE49-F238E27FC236}">
                <a16:creationId xmlns:a16="http://schemas.microsoft.com/office/drawing/2014/main" id="{C37BB739-AE2E-4287-2AA8-E116A5B96694}"/>
              </a:ext>
            </a:extLst>
          </p:cNvPr>
          <p:cNvSpPr txBox="1"/>
          <p:nvPr/>
        </p:nvSpPr>
        <p:spPr>
          <a:xfrm>
            <a:off x="13706134" y="7828087"/>
            <a:ext cx="4226259" cy="1634422"/>
          </a:xfrm>
          <a:prstGeom prst="rect">
            <a:avLst/>
          </a:prstGeom>
        </p:spPr>
        <p:txBody>
          <a:bodyPr lIns="0" tIns="0" rIns="0" bIns="0" rtlCol="0" anchor="t">
            <a:spAutoFit/>
          </a:bodyPr>
          <a:lstStyle/>
          <a:p>
            <a:pPr marL="253365" lvl="1" indent="-126365">
              <a:lnSpc>
                <a:spcPts val="1646"/>
              </a:lnSpc>
              <a:buFont typeface="Arial,Sans-Serif"/>
              <a:buChar char="•"/>
            </a:pPr>
            <a:r>
              <a:rPr lang="en-US" sz="1200" b="1">
                <a:solidFill>
                  <a:srgbClr val="000000"/>
                </a:solidFill>
                <a:latin typeface="Garet Bold"/>
                <a:ea typeface="Garet Bold"/>
                <a:cs typeface="Garet Bold"/>
                <a:sym typeface="Garet Bold"/>
              </a:rPr>
              <a:t>VENDOR:</a:t>
            </a:r>
            <a:r>
              <a:rPr lang="en-US" sz="1200" b="1">
                <a:solidFill>
                  <a:srgbClr val="000000"/>
                </a:solidFill>
                <a:latin typeface="Garet"/>
                <a:ea typeface="Garet"/>
                <a:cs typeface="Garet"/>
                <a:sym typeface="Garet"/>
              </a:rPr>
              <a:t> </a:t>
            </a:r>
            <a:endParaRPr lang="en-US" sz="1200" b="1">
              <a:latin typeface="Garet"/>
            </a:endParaRPr>
          </a:p>
          <a:p>
            <a:pPr marL="253365" lvl="1" indent="-126365">
              <a:lnSpc>
                <a:spcPts val="1646"/>
              </a:lnSpc>
              <a:buFont typeface="Arial,Sans-Serif"/>
              <a:buChar char="•"/>
            </a:pPr>
            <a:r>
              <a:rPr lang="en-US" sz="1200" b="1">
                <a:solidFill>
                  <a:srgbClr val="000000"/>
                </a:solidFill>
                <a:latin typeface="Garet Bold"/>
                <a:ea typeface="Garet Bold"/>
                <a:cs typeface="Garet Bold"/>
                <a:sym typeface="Garet Bold"/>
              </a:rPr>
              <a:t>BUSINESS OWNER:</a:t>
            </a:r>
            <a:r>
              <a:rPr lang="en-US" sz="1200" b="1">
                <a:solidFill>
                  <a:srgbClr val="000000"/>
                </a:solidFill>
                <a:latin typeface="Garet"/>
                <a:ea typeface="Garet"/>
                <a:cs typeface="Garet"/>
                <a:sym typeface="Garet"/>
              </a:rPr>
              <a:t> </a:t>
            </a:r>
            <a:endParaRPr lang="en-US" sz="1200" b="1">
              <a:solidFill>
                <a:srgbClr val="000000"/>
              </a:solidFill>
              <a:latin typeface="Garet"/>
              <a:ea typeface="Garet"/>
              <a:cs typeface="Garet"/>
            </a:endParaRPr>
          </a:p>
          <a:p>
            <a:pPr marL="253365" lvl="1" indent="-126365" algn="l">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PERCENT COMPLETE:</a:t>
            </a:r>
            <a:r>
              <a:rPr lang="en-US" sz="1200" b="1">
                <a:solidFill>
                  <a:srgbClr val="000000"/>
                </a:solidFill>
                <a:latin typeface="Garet"/>
                <a:ea typeface="Garet"/>
                <a:cs typeface="Garet"/>
                <a:sym typeface="Garet"/>
              </a:rPr>
              <a:t> </a:t>
            </a:r>
            <a:endParaRPr lang="en-US" sz="1200" b="1">
              <a:solidFill>
                <a:srgbClr val="000000"/>
              </a:solidFill>
              <a:latin typeface="Garet"/>
              <a:ea typeface="Garet"/>
              <a:cs typeface="Garet"/>
            </a:endParaRPr>
          </a:p>
          <a:p>
            <a:pPr marL="253365" lvl="1" indent="-126365" algn="l">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BUDGET STATUS:</a:t>
            </a:r>
            <a:r>
              <a:rPr lang="en-US" sz="1200" b="1">
                <a:solidFill>
                  <a:srgbClr val="000000"/>
                </a:solidFill>
                <a:latin typeface="Garet"/>
                <a:ea typeface="Garet"/>
                <a:cs typeface="Garet"/>
                <a:sym typeface="Garet"/>
              </a:rPr>
              <a:t> </a:t>
            </a:r>
            <a:endParaRPr lang="en-US" sz="1200" b="1">
              <a:solidFill>
                <a:srgbClr val="000000"/>
              </a:solidFill>
              <a:latin typeface="Garet"/>
              <a:ea typeface="Garet"/>
              <a:cs typeface="Garet"/>
            </a:endParaRPr>
          </a:p>
          <a:p>
            <a:pPr marL="253365" lvl="1" indent="-126365" algn="l">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TIMELINE:</a:t>
            </a:r>
            <a:r>
              <a:rPr lang="en-US" sz="1200" b="1">
                <a:solidFill>
                  <a:srgbClr val="000000"/>
                </a:solidFill>
                <a:latin typeface="Garet"/>
                <a:ea typeface="Garet Bold"/>
                <a:cs typeface="Garet Bold"/>
                <a:sym typeface="Garet Bold"/>
              </a:rPr>
              <a:t> </a:t>
            </a:r>
            <a:endParaRPr lang="en-US" sz="1200" b="1">
              <a:solidFill>
                <a:srgbClr val="000000"/>
              </a:solidFill>
              <a:latin typeface="Garet"/>
              <a:ea typeface="Garet Bold"/>
              <a:cs typeface="Garet Bold"/>
            </a:endParaRPr>
          </a:p>
          <a:p>
            <a:pPr marL="253365" lvl="1" indent="-126365">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KEY MILESTONES ACHIEVED:</a:t>
            </a:r>
            <a:r>
              <a:rPr lang="en-US" sz="1200" b="1">
                <a:solidFill>
                  <a:srgbClr val="000000"/>
                </a:solidFill>
                <a:latin typeface="Garet"/>
                <a:ea typeface="Garet Bold"/>
                <a:cs typeface="Garet Bold"/>
                <a:sym typeface="Garet Bold"/>
              </a:rPr>
              <a:t> </a:t>
            </a:r>
            <a:endParaRPr lang="en-US" sz="1200" b="1">
              <a:solidFill>
                <a:srgbClr val="000000"/>
              </a:solidFill>
              <a:latin typeface="Garet"/>
              <a:ea typeface="Garet"/>
              <a:cs typeface="Garet"/>
            </a:endParaRPr>
          </a:p>
          <a:p>
            <a:pPr marL="253365" lvl="1" indent="-126365">
              <a:lnSpc>
                <a:spcPts val="1646"/>
              </a:lnSpc>
              <a:spcBef>
                <a:spcPct val="0"/>
              </a:spcBef>
              <a:buFont typeface="Arial,Sans-Serif"/>
              <a:buChar char="•"/>
            </a:pPr>
            <a:r>
              <a:rPr lang="en-US" sz="1200" b="1">
                <a:solidFill>
                  <a:srgbClr val="000000"/>
                </a:solidFill>
                <a:latin typeface="Garet Bold"/>
                <a:ea typeface="Garet Bold"/>
                <a:cs typeface="Garet Bold"/>
                <a:sym typeface="Garet Bold"/>
              </a:rPr>
              <a:t>ACTION ITEM: </a:t>
            </a:r>
            <a:endParaRPr lang="en-US" sz="1200" b="1">
              <a:solidFill>
                <a:srgbClr val="000000"/>
              </a:solidFill>
              <a:latin typeface="Garet"/>
              <a:ea typeface="Garet Bold"/>
              <a:cs typeface="Garet Bold"/>
            </a:endParaRPr>
          </a:p>
          <a:p>
            <a:pPr marL="253365" lvl="1" indent="-126365">
              <a:lnSpc>
                <a:spcPts val="1646"/>
              </a:lnSpc>
              <a:buFont typeface="Arial"/>
              <a:buChar char="•"/>
            </a:pPr>
            <a:endParaRPr lang="en-US" sz="1150" b="1">
              <a:solidFill>
                <a:srgbClr val="000000"/>
              </a:solidFill>
              <a:latin typeface="Garet"/>
              <a:ea typeface="Garet"/>
              <a:cs typeface="Garet"/>
            </a:endParaRPr>
          </a:p>
        </p:txBody>
      </p:sp>
      <p:sp>
        <p:nvSpPr>
          <p:cNvPr id="63" name="TextBox 63">
            <a:extLst>
              <a:ext uri="{FF2B5EF4-FFF2-40B4-BE49-F238E27FC236}">
                <a16:creationId xmlns:a16="http://schemas.microsoft.com/office/drawing/2014/main" id="{7E75647E-98B3-DA99-3B03-6082B688793F}"/>
              </a:ext>
            </a:extLst>
          </p:cNvPr>
          <p:cNvSpPr txBox="1"/>
          <p:nvPr/>
        </p:nvSpPr>
        <p:spPr>
          <a:xfrm>
            <a:off x="9281354" y="7828087"/>
            <a:ext cx="4226259" cy="1634422"/>
          </a:xfrm>
          <a:prstGeom prst="rect">
            <a:avLst/>
          </a:prstGeom>
        </p:spPr>
        <p:txBody>
          <a:bodyPr lIns="0" tIns="0" rIns="0" bIns="0" rtlCol="0" anchor="t">
            <a:spAutoFit/>
          </a:bodyPr>
          <a:lstStyle/>
          <a:p>
            <a:pPr marL="253365" lvl="1" indent="-126365">
              <a:lnSpc>
                <a:spcPts val="1646"/>
              </a:lnSpc>
              <a:buFont typeface="Arial,Sans-Serif"/>
              <a:buChar char="•"/>
            </a:pPr>
            <a:r>
              <a:rPr lang="en-US" sz="1200" b="1">
                <a:solidFill>
                  <a:srgbClr val="000000"/>
                </a:solidFill>
                <a:latin typeface="Garet Bold"/>
                <a:ea typeface="Garet"/>
                <a:cs typeface="Garet"/>
                <a:sym typeface="Garet Bold"/>
              </a:rPr>
              <a:t>VENDOR:</a:t>
            </a:r>
            <a:r>
              <a:rPr lang="en-US" sz="1200">
                <a:solidFill>
                  <a:srgbClr val="000000"/>
                </a:solidFill>
                <a:latin typeface="Garet"/>
                <a:ea typeface="Garet"/>
                <a:cs typeface="Garet"/>
                <a:sym typeface="Garet Bold"/>
              </a:rPr>
              <a:t> </a:t>
            </a:r>
            <a:endParaRPr lang="en-US" sz="1200">
              <a:solidFill>
                <a:srgbClr val="000000"/>
              </a:solidFill>
              <a:latin typeface="Garet"/>
              <a:ea typeface="Garet"/>
              <a:cs typeface="Garet"/>
            </a:endParaRPr>
          </a:p>
          <a:p>
            <a:pPr marL="253365" lvl="1" indent="-126365">
              <a:lnSpc>
                <a:spcPts val="1646"/>
              </a:lnSpc>
              <a:buFont typeface="Arial,Sans-Serif"/>
              <a:buChar char="•"/>
            </a:pPr>
            <a:r>
              <a:rPr lang="en-US" sz="1200" b="1">
                <a:solidFill>
                  <a:srgbClr val="000000"/>
                </a:solidFill>
                <a:latin typeface="Garet Bold"/>
                <a:ea typeface="Garet"/>
                <a:cs typeface="Garet"/>
                <a:sym typeface="Garet Bold"/>
              </a:rPr>
              <a:t>BUSINESS OWNER:</a:t>
            </a:r>
            <a:r>
              <a:rPr lang="en-US" sz="1200">
                <a:solidFill>
                  <a:srgbClr val="000000"/>
                </a:solidFill>
                <a:latin typeface="Garet"/>
                <a:ea typeface="Garet"/>
                <a:cs typeface="Garet"/>
                <a:sym typeface="Garet Bold"/>
              </a:rPr>
              <a:t> </a:t>
            </a:r>
            <a:endParaRPr lang="en-US" sz="1200">
              <a:solidFill>
                <a:srgbClr val="000000"/>
              </a:solidFill>
              <a:latin typeface="Garet"/>
              <a:ea typeface="Garet"/>
              <a:cs typeface="Garet"/>
            </a:endParaRPr>
          </a:p>
          <a:p>
            <a:pPr marL="253365" lvl="1" indent="-126365">
              <a:lnSpc>
                <a:spcPts val="1646"/>
              </a:lnSpc>
              <a:spcBef>
                <a:spcPct val="0"/>
              </a:spcBef>
              <a:buFont typeface="Arial,Sans-Serif"/>
              <a:buChar char="•"/>
            </a:pPr>
            <a:r>
              <a:rPr lang="en-US" sz="1200" b="1">
                <a:solidFill>
                  <a:srgbClr val="000000"/>
                </a:solidFill>
                <a:latin typeface="Garet Bold"/>
                <a:ea typeface="Garet"/>
                <a:cs typeface="Garet"/>
                <a:sym typeface="Garet Bold"/>
              </a:rPr>
              <a:t>PERCENT COMPLETE:</a:t>
            </a:r>
            <a:r>
              <a:rPr lang="en-US" sz="1200">
                <a:solidFill>
                  <a:srgbClr val="000000"/>
                </a:solidFill>
                <a:latin typeface="Garet"/>
                <a:ea typeface="Garet"/>
                <a:cs typeface="Garet"/>
                <a:sym typeface="Garet Bold"/>
              </a:rPr>
              <a:t> </a:t>
            </a:r>
            <a:endParaRPr lang="en-US" sz="1200">
              <a:solidFill>
                <a:srgbClr val="000000"/>
              </a:solidFill>
              <a:latin typeface="Garet"/>
              <a:ea typeface="Garet"/>
              <a:cs typeface="Garet"/>
            </a:endParaRPr>
          </a:p>
          <a:p>
            <a:pPr marL="253365" lvl="1" indent="-126365">
              <a:lnSpc>
                <a:spcPts val="1646"/>
              </a:lnSpc>
              <a:spcBef>
                <a:spcPct val="0"/>
              </a:spcBef>
              <a:buFont typeface="Arial,Sans-Serif"/>
              <a:buChar char="•"/>
            </a:pPr>
            <a:r>
              <a:rPr lang="en-US" sz="1200" b="1">
                <a:solidFill>
                  <a:srgbClr val="000000"/>
                </a:solidFill>
                <a:latin typeface="Garet Bold"/>
                <a:ea typeface="Garet"/>
                <a:cs typeface="Garet"/>
                <a:sym typeface="Garet Bold"/>
              </a:rPr>
              <a:t>BUDGET STATUS:</a:t>
            </a:r>
            <a:r>
              <a:rPr lang="en-US" sz="1200">
                <a:solidFill>
                  <a:srgbClr val="000000"/>
                </a:solidFill>
                <a:latin typeface="Garet"/>
                <a:ea typeface="Garet"/>
                <a:cs typeface="Garet"/>
                <a:sym typeface="Garet Bold"/>
              </a:rPr>
              <a:t> </a:t>
            </a:r>
            <a:endParaRPr lang="en-US" sz="1200">
              <a:solidFill>
                <a:srgbClr val="000000"/>
              </a:solidFill>
              <a:latin typeface="Garet"/>
              <a:ea typeface="Garet"/>
              <a:cs typeface="Garet"/>
            </a:endParaRPr>
          </a:p>
          <a:p>
            <a:pPr marL="253365" lvl="1" indent="-126365">
              <a:lnSpc>
                <a:spcPts val="1646"/>
              </a:lnSpc>
              <a:spcBef>
                <a:spcPct val="0"/>
              </a:spcBef>
              <a:buFont typeface="Arial,Sans-Serif"/>
              <a:buChar char="•"/>
            </a:pPr>
            <a:r>
              <a:rPr lang="en-US" sz="1200" b="1">
                <a:solidFill>
                  <a:srgbClr val="000000"/>
                </a:solidFill>
                <a:latin typeface="Garet Bold"/>
                <a:ea typeface="Garet"/>
                <a:cs typeface="Garet"/>
                <a:sym typeface="Garet Bold"/>
              </a:rPr>
              <a:t>TIMELINE:</a:t>
            </a:r>
            <a:r>
              <a:rPr lang="en-US" sz="1200">
                <a:solidFill>
                  <a:srgbClr val="000000"/>
                </a:solidFill>
                <a:latin typeface="Garet"/>
                <a:ea typeface="Garet"/>
                <a:cs typeface="Garet"/>
                <a:sym typeface="Garet Bold"/>
              </a:rPr>
              <a:t> </a:t>
            </a:r>
            <a:endParaRPr lang="en-US" sz="1200">
              <a:solidFill>
                <a:srgbClr val="000000"/>
              </a:solidFill>
              <a:latin typeface="Garet"/>
              <a:ea typeface="Garet"/>
              <a:cs typeface="Garet"/>
            </a:endParaRPr>
          </a:p>
          <a:p>
            <a:pPr marL="253365" lvl="1" indent="-126365">
              <a:lnSpc>
                <a:spcPts val="1646"/>
              </a:lnSpc>
              <a:spcBef>
                <a:spcPct val="0"/>
              </a:spcBef>
              <a:buFont typeface="Arial,Sans-Serif"/>
              <a:buChar char="•"/>
            </a:pPr>
            <a:r>
              <a:rPr lang="en-US" sz="1200" b="1">
                <a:solidFill>
                  <a:srgbClr val="000000"/>
                </a:solidFill>
                <a:latin typeface="Garet Bold"/>
                <a:ea typeface="Garet"/>
                <a:cs typeface="Garet"/>
                <a:sym typeface="Garet Bold"/>
              </a:rPr>
              <a:t>KEY MILESTONES ACHIEVED:</a:t>
            </a:r>
            <a:r>
              <a:rPr lang="en-US" sz="1200">
                <a:solidFill>
                  <a:srgbClr val="000000"/>
                </a:solidFill>
                <a:latin typeface="Garet"/>
                <a:ea typeface="Garet"/>
                <a:cs typeface="Garet"/>
                <a:sym typeface="Garet Bold"/>
              </a:rPr>
              <a:t> </a:t>
            </a:r>
            <a:endParaRPr lang="en-US" sz="1200">
              <a:solidFill>
                <a:srgbClr val="000000"/>
              </a:solidFill>
              <a:latin typeface="Garet"/>
              <a:ea typeface="Garet"/>
              <a:cs typeface="Garet"/>
            </a:endParaRPr>
          </a:p>
          <a:p>
            <a:pPr marL="253365" lvl="1" indent="-126365">
              <a:lnSpc>
                <a:spcPts val="1646"/>
              </a:lnSpc>
              <a:spcBef>
                <a:spcPct val="0"/>
              </a:spcBef>
              <a:buFont typeface="Arial,Sans-Serif"/>
              <a:buChar char="•"/>
            </a:pPr>
            <a:r>
              <a:rPr lang="en-US" sz="1200" b="1">
                <a:solidFill>
                  <a:srgbClr val="000000"/>
                </a:solidFill>
                <a:latin typeface="Garet Bold"/>
                <a:ea typeface="Garet"/>
                <a:cs typeface="Garet"/>
                <a:sym typeface="Garet Bold"/>
              </a:rPr>
              <a:t>ACTION ITEM: </a:t>
            </a:r>
            <a:endParaRPr lang="en-US" sz="1200">
              <a:solidFill>
                <a:srgbClr val="000000"/>
              </a:solidFill>
              <a:latin typeface="Garet Bold"/>
              <a:ea typeface="Garet"/>
              <a:cs typeface="Garet"/>
            </a:endParaRPr>
          </a:p>
          <a:p>
            <a:pPr marL="253365" lvl="1" indent="-126365">
              <a:lnSpc>
                <a:spcPts val="1646"/>
              </a:lnSpc>
              <a:buFont typeface="Arial"/>
              <a:buChar char="•"/>
            </a:pPr>
            <a:endParaRPr lang="en-US" sz="1150">
              <a:solidFill>
                <a:srgbClr val="000000"/>
              </a:solidFill>
              <a:latin typeface="Garet"/>
              <a:ea typeface="Garet"/>
              <a:cs typeface="Garet"/>
            </a:endParaRPr>
          </a:p>
        </p:txBody>
      </p:sp>
      <p:sp>
        <p:nvSpPr>
          <p:cNvPr id="65" name="Freeform 13">
            <a:extLst>
              <a:ext uri="{FF2B5EF4-FFF2-40B4-BE49-F238E27FC236}">
                <a16:creationId xmlns:a16="http://schemas.microsoft.com/office/drawing/2014/main" id="{FDAFB0F7-C863-01C8-2E1B-C5C2AA315DEF}"/>
              </a:ext>
            </a:extLst>
          </p:cNvPr>
          <p:cNvSpPr/>
          <p:nvPr/>
        </p:nvSpPr>
        <p:spPr>
          <a:xfrm>
            <a:off x="16527692" y="203308"/>
            <a:ext cx="1413312" cy="737575"/>
          </a:xfrm>
          <a:custGeom>
            <a:avLst/>
            <a:gdLst/>
            <a:ahLst/>
            <a:cxnLst/>
            <a:rect l="l" t="t" r="r" b="b"/>
            <a:pathLst>
              <a:path w="1851905" h="870481">
                <a:moveTo>
                  <a:pt x="0" y="0"/>
                </a:moveTo>
                <a:lnTo>
                  <a:pt x="1851905" y="0"/>
                </a:lnTo>
                <a:lnTo>
                  <a:pt x="1851905" y="870481"/>
                </a:lnTo>
                <a:lnTo>
                  <a:pt x="0" y="870481"/>
                </a:lnTo>
                <a:lnTo>
                  <a:pt x="0" y="0"/>
                </a:lnTo>
                <a:close/>
              </a:path>
            </a:pathLst>
          </a:custGeom>
          <a:blipFill>
            <a:blip r:embed="rId2"/>
            <a:stretch>
              <a:fillRect/>
            </a:stretch>
          </a:blipFill>
        </p:spPr>
        <p:txBody>
          <a:bodyPr/>
          <a:lstStyle/>
          <a:p>
            <a:endParaRPr lang="en-US"/>
          </a:p>
        </p:txBody>
      </p:sp>
    </p:spTree>
    <p:extLst>
      <p:ext uri="{BB962C8B-B14F-4D97-AF65-F5344CB8AC3E}">
        <p14:creationId xmlns:p14="http://schemas.microsoft.com/office/powerpoint/2010/main" val="2967639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857250"/>
            <a:ext cx="12063444" cy="2549609"/>
          </a:xfrm>
          <a:prstGeom prst="rect">
            <a:avLst/>
          </a:prstGeom>
        </p:spPr>
        <p:txBody>
          <a:bodyPr lIns="0" tIns="0" rIns="0" bIns="0" rtlCol="0" anchor="t">
            <a:spAutoFit/>
          </a:bodyPr>
          <a:lstStyle/>
          <a:p>
            <a:r>
              <a:rPr lang="en-US" sz="8000" b="1">
                <a:solidFill>
                  <a:srgbClr val="03A39D"/>
                </a:solidFill>
                <a:latin typeface="Inter Bold"/>
                <a:ea typeface="Inter Bold"/>
                <a:cs typeface="Inter Bold"/>
                <a:sym typeface="Inter Bold"/>
              </a:rPr>
              <a:t>XPI</a:t>
            </a:r>
            <a:r>
              <a:rPr lang="en-US" sz="8000" b="1">
                <a:solidFill>
                  <a:srgbClr val="1C1818"/>
                </a:solidFill>
                <a:latin typeface="Inter Bold"/>
                <a:ea typeface="Inter Bold"/>
                <a:cs typeface="Inter Bold"/>
                <a:sym typeface="Inter Bold"/>
              </a:rPr>
              <a:t> PROJECT</a:t>
            </a:r>
            <a:endParaRPr lang="en-US" sz="8000">
              <a:solidFill>
                <a:srgbClr val="000000"/>
              </a:solidFill>
              <a:latin typeface="Inter Bold"/>
              <a:ea typeface="Inter Bold"/>
              <a:cs typeface="Inter Bold"/>
            </a:endParaRPr>
          </a:p>
          <a:p>
            <a:pPr algn="l">
              <a:lnSpc>
                <a:spcPts val="11200"/>
              </a:lnSpc>
              <a:spcBef>
                <a:spcPct val="0"/>
              </a:spcBef>
            </a:pPr>
            <a:endParaRPr lang="en-US" sz="8000" b="1">
              <a:solidFill>
                <a:srgbClr val="1C1818"/>
              </a:solidFill>
              <a:latin typeface="Inter Bold"/>
              <a:ea typeface="Inter Bold"/>
              <a:cs typeface="Inter Bold"/>
            </a:endParaRPr>
          </a:p>
        </p:txBody>
      </p:sp>
      <p:sp>
        <p:nvSpPr>
          <p:cNvPr id="3" name="Freeform 3"/>
          <p:cNvSpPr/>
          <p:nvPr/>
        </p:nvSpPr>
        <p:spPr>
          <a:xfrm>
            <a:off x="0" y="0"/>
            <a:ext cx="1028700" cy="1028700"/>
          </a:xfrm>
          <a:custGeom>
            <a:avLst/>
            <a:gdLst/>
            <a:ahLst/>
            <a:cxnLst/>
            <a:rect l="l" t="t" r="r" b="b"/>
            <a:pathLst>
              <a:path w="1028700" h="1028700">
                <a:moveTo>
                  <a:pt x="0" y="0"/>
                </a:moveTo>
                <a:lnTo>
                  <a:pt x="1028700" y="0"/>
                </a:lnTo>
                <a:lnTo>
                  <a:pt x="1028700" y="1028700"/>
                </a:lnTo>
                <a:lnTo>
                  <a:pt x="0" y="10287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10" name="Group 10"/>
          <p:cNvGrpSpPr/>
          <p:nvPr/>
        </p:nvGrpSpPr>
        <p:grpSpPr>
          <a:xfrm>
            <a:off x="514350" y="8877758"/>
            <a:ext cx="295243" cy="295243"/>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A09A"/>
            </a:solidFill>
          </p:spPr>
          <p:txBody>
            <a:bodyPr/>
            <a:lstStyle/>
            <a:p>
              <a:endParaRPr lang="en-US"/>
            </a:p>
          </p:txBody>
        </p:sp>
        <p:sp>
          <p:nvSpPr>
            <p:cNvPr id="12" name="TextBox 12"/>
            <p:cNvSpPr txBox="1"/>
            <p:nvPr/>
          </p:nvSpPr>
          <p:spPr>
            <a:xfrm>
              <a:off x="76200" y="-47625"/>
              <a:ext cx="660400" cy="784225"/>
            </a:xfrm>
            <a:prstGeom prst="rect">
              <a:avLst/>
            </a:prstGeom>
          </p:spPr>
          <p:txBody>
            <a:bodyPr lIns="50800" tIns="50800" rIns="50800" bIns="50800" rtlCol="0" anchor="ctr"/>
            <a:lstStyle/>
            <a:p>
              <a:pPr algn="ctr">
                <a:lnSpc>
                  <a:spcPts val="3910"/>
                </a:lnSpc>
              </a:pPr>
              <a:endParaRPr/>
            </a:p>
          </p:txBody>
        </p:sp>
      </p:grpSp>
      <p:grpSp>
        <p:nvGrpSpPr>
          <p:cNvPr id="14" name="Group 14"/>
          <p:cNvGrpSpPr/>
          <p:nvPr/>
        </p:nvGrpSpPr>
        <p:grpSpPr>
          <a:xfrm>
            <a:off x="9864276" y="7543183"/>
            <a:ext cx="7124195" cy="1419873"/>
            <a:chOff x="0" y="0"/>
            <a:chExt cx="9498926" cy="1893165"/>
          </a:xfrm>
        </p:grpSpPr>
        <p:sp>
          <p:nvSpPr>
            <p:cNvPr id="15" name="Freeform 15"/>
            <p:cNvSpPr/>
            <p:nvPr/>
          </p:nvSpPr>
          <p:spPr>
            <a:xfrm>
              <a:off x="0" y="19403"/>
              <a:ext cx="1738820" cy="1738820"/>
            </a:xfrm>
            <a:custGeom>
              <a:avLst/>
              <a:gdLst/>
              <a:ahLst/>
              <a:cxnLst/>
              <a:rect l="l" t="t" r="r" b="b"/>
              <a:pathLst>
                <a:path w="1738820" h="1738820">
                  <a:moveTo>
                    <a:pt x="0" y="0"/>
                  </a:moveTo>
                  <a:lnTo>
                    <a:pt x="1738820" y="0"/>
                  </a:lnTo>
                  <a:lnTo>
                    <a:pt x="1738820" y="1738821"/>
                  </a:lnTo>
                  <a:lnTo>
                    <a:pt x="0" y="17388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Freeform 16"/>
            <p:cNvSpPr/>
            <p:nvPr/>
          </p:nvSpPr>
          <p:spPr>
            <a:xfrm>
              <a:off x="2603399" y="0"/>
              <a:ext cx="1713314" cy="1893165"/>
            </a:xfrm>
            <a:custGeom>
              <a:avLst/>
              <a:gdLst/>
              <a:ahLst/>
              <a:cxnLst/>
              <a:rect l="l" t="t" r="r" b="b"/>
              <a:pathLst>
                <a:path w="1713314" h="1893165">
                  <a:moveTo>
                    <a:pt x="0" y="0"/>
                  </a:moveTo>
                  <a:lnTo>
                    <a:pt x="1713314" y="0"/>
                  </a:lnTo>
                  <a:lnTo>
                    <a:pt x="1713314" y="1893165"/>
                  </a:lnTo>
                  <a:lnTo>
                    <a:pt x="0" y="189316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7" name="Freeform 17"/>
            <p:cNvSpPr/>
            <p:nvPr/>
          </p:nvSpPr>
          <p:spPr>
            <a:xfrm>
              <a:off x="5180313" y="20296"/>
              <a:ext cx="1737928" cy="1737928"/>
            </a:xfrm>
            <a:custGeom>
              <a:avLst/>
              <a:gdLst/>
              <a:ahLst/>
              <a:cxnLst/>
              <a:rect l="l" t="t" r="r" b="b"/>
              <a:pathLst>
                <a:path w="1737928" h="1737928">
                  <a:moveTo>
                    <a:pt x="0" y="0"/>
                  </a:moveTo>
                  <a:lnTo>
                    <a:pt x="1737928" y="0"/>
                  </a:lnTo>
                  <a:lnTo>
                    <a:pt x="1737928" y="1737928"/>
                  </a:lnTo>
                  <a:lnTo>
                    <a:pt x="0" y="173792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8" name="Freeform 18"/>
            <p:cNvSpPr/>
            <p:nvPr/>
          </p:nvSpPr>
          <p:spPr>
            <a:xfrm>
              <a:off x="7781841" y="19403"/>
              <a:ext cx="1717085" cy="1738820"/>
            </a:xfrm>
            <a:custGeom>
              <a:avLst/>
              <a:gdLst/>
              <a:ahLst/>
              <a:cxnLst/>
              <a:rect l="l" t="t" r="r" b="b"/>
              <a:pathLst>
                <a:path w="1717085" h="1738820">
                  <a:moveTo>
                    <a:pt x="0" y="0"/>
                  </a:moveTo>
                  <a:lnTo>
                    <a:pt x="1717085" y="0"/>
                  </a:lnTo>
                  <a:lnTo>
                    <a:pt x="1717085" y="1738821"/>
                  </a:lnTo>
                  <a:lnTo>
                    <a:pt x="0" y="173882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sp>
        <p:nvSpPr>
          <p:cNvPr id="19" name="TextBox 19"/>
          <p:cNvSpPr txBox="1"/>
          <p:nvPr/>
        </p:nvSpPr>
        <p:spPr>
          <a:xfrm>
            <a:off x="1028700" y="2187559"/>
            <a:ext cx="5364956" cy="358775"/>
          </a:xfrm>
          <a:prstGeom prst="rect">
            <a:avLst/>
          </a:prstGeom>
        </p:spPr>
        <p:txBody>
          <a:bodyPr lIns="0" tIns="0" rIns="0" bIns="0" rtlCol="0" anchor="t">
            <a:spAutoFit/>
          </a:bodyPr>
          <a:lstStyle/>
          <a:p>
            <a:pPr algn="just">
              <a:lnSpc>
                <a:spcPts val="2799"/>
              </a:lnSpc>
              <a:spcBef>
                <a:spcPct val="0"/>
              </a:spcBef>
            </a:pPr>
            <a:r>
              <a:rPr lang="en-US" sz="1999">
                <a:solidFill>
                  <a:srgbClr val="000000"/>
                </a:solidFill>
                <a:latin typeface="Poppins"/>
                <a:ea typeface="Poppins"/>
                <a:cs typeface="Poppins"/>
                <a:sym typeface="Poppins"/>
              </a:rPr>
              <a:t>Project Manager : </a:t>
            </a:r>
          </a:p>
        </p:txBody>
      </p:sp>
      <p:sp>
        <p:nvSpPr>
          <p:cNvPr id="20" name="TextBox 20"/>
          <p:cNvSpPr txBox="1"/>
          <p:nvPr/>
        </p:nvSpPr>
        <p:spPr>
          <a:xfrm>
            <a:off x="1028700" y="8899525"/>
            <a:ext cx="2377893" cy="358775"/>
          </a:xfrm>
          <a:prstGeom prst="rect">
            <a:avLst/>
          </a:prstGeom>
        </p:spPr>
        <p:txBody>
          <a:bodyPr lIns="0" tIns="0" rIns="0" bIns="0" rtlCol="0" anchor="t">
            <a:spAutoFit/>
          </a:bodyPr>
          <a:lstStyle/>
          <a:p>
            <a:pPr algn="just">
              <a:lnSpc>
                <a:spcPts val="2799"/>
              </a:lnSpc>
              <a:spcBef>
                <a:spcPct val="0"/>
              </a:spcBef>
            </a:pPr>
            <a:r>
              <a:rPr lang="en-US" sz="1999">
                <a:solidFill>
                  <a:srgbClr val="000000"/>
                </a:solidFill>
                <a:latin typeface="Poppins"/>
                <a:ea typeface="Poppins"/>
                <a:cs typeface="Poppins"/>
                <a:sym typeface="Poppins"/>
              </a:rPr>
              <a:t>11 January 2025</a:t>
            </a:r>
          </a:p>
        </p:txBody>
      </p:sp>
      <p:sp>
        <p:nvSpPr>
          <p:cNvPr id="22" name="Freeform 13">
            <a:extLst>
              <a:ext uri="{FF2B5EF4-FFF2-40B4-BE49-F238E27FC236}">
                <a16:creationId xmlns:a16="http://schemas.microsoft.com/office/drawing/2014/main" id="{276F2FA4-83AB-2138-F946-1C67548F2901}"/>
              </a:ext>
            </a:extLst>
          </p:cNvPr>
          <p:cNvSpPr/>
          <p:nvPr/>
        </p:nvSpPr>
        <p:spPr>
          <a:xfrm>
            <a:off x="16062518" y="309634"/>
            <a:ext cx="1851905" cy="870481"/>
          </a:xfrm>
          <a:custGeom>
            <a:avLst/>
            <a:gdLst/>
            <a:ahLst/>
            <a:cxnLst/>
            <a:rect l="l" t="t" r="r" b="b"/>
            <a:pathLst>
              <a:path w="1851905" h="870481">
                <a:moveTo>
                  <a:pt x="0" y="0"/>
                </a:moveTo>
                <a:lnTo>
                  <a:pt x="1851905" y="0"/>
                </a:lnTo>
                <a:lnTo>
                  <a:pt x="1851905" y="870481"/>
                </a:lnTo>
                <a:lnTo>
                  <a:pt x="0" y="870481"/>
                </a:lnTo>
                <a:lnTo>
                  <a:pt x="0" y="0"/>
                </a:lnTo>
                <a:close/>
              </a:path>
            </a:pathLst>
          </a:custGeom>
          <a:blipFill>
            <a:blip r:embed="rId7"/>
            <a:stretch>
              <a:fillRect/>
            </a:stretch>
          </a:blipFill>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857250"/>
            <a:ext cx="11014066" cy="1387393"/>
          </a:xfrm>
          <a:prstGeom prst="rect">
            <a:avLst/>
          </a:prstGeom>
        </p:spPr>
        <p:txBody>
          <a:bodyPr lIns="0" tIns="0" rIns="0" bIns="0" rtlCol="0" anchor="t">
            <a:spAutoFit/>
          </a:bodyPr>
          <a:lstStyle/>
          <a:p>
            <a:pPr algn="l">
              <a:lnSpc>
                <a:spcPts val="11200"/>
              </a:lnSpc>
              <a:spcBef>
                <a:spcPct val="0"/>
              </a:spcBef>
            </a:pPr>
            <a:r>
              <a:rPr lang="en-US" sz="8000" b="1">
                <a:solidFill>
                  <a:srgbClr val="03A39D"/>
                </a:solidFill>
                <a:latin typeface="Inter Bold"/>
                <a:ea typeface="Inter Bold"/>
                <a:cs typeface="Inter Bold"/>
                <a:sym typeface="Inter Bold"/>
              </a:rPr>
              <a:t>PREDATOR</a:t>
            </a:r>
            <a:r>
              <a:rPr lang="en-US" sz="8000" b="1">
                <a:solidFill>
                  <a:srgbClr val="1C1818"/>
                </a:solidFill>
                <a:latin typeface="Inter Bold"/>
                <a:ea typeface="Inter Bold"/>
                <a:cs typeface="Inter Bold"/>
                <a:sym typeface="Inter Bold"/>
              </a:rPr>
              <a:t> PROJECT</a:t>
            </a:r>
          </a:p>
        </p:txBody>
      </p:sp>
      <p:sp>
        <p:nvSpPr>
          <p:cNvPr id="3" name="Freeform 3"/>
          <p:cNvSpPr/>
          <p:nvPr/>
        </p:nvSpPr>
        <p:spPr>
          <a:xfrm>
            <a:off x="0" y="0"/>
            <a:ext cx="1028700" cy="1028700"/>
          </a:xfrm>
          <a:custGeom>
            <a:avLst/>
            <a:gdLst/>
            <a:ahLst/>
            <a:cxnLst/>
            <a:rect l="l" t="t" r="r" b="b"/>
            <a:pathLst>
              <a:path w="1028700" h="1028700">
                <a:moveTo>
                  <a:pt x="0" y="0"/>
                </a:moveTo>
                <a:lnTo>
                  <a:pt x="1028700" y="0"/>
                </a:lnTo>
                <a:lnTo>
                  <a:pt x="1028700" y="1028700"/>
                </a:lnTo>
                <a:lnTo>
                  <a:pt x="0" y="10287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10" name="Group 10"/>
          <p:cNvGrpSpPr/>
          <p:nvPr/>
        </p:nvGrpSpPr>
        <p:grpSpPr>
          <a:xfrm>
            <a:off x="514350" y="8877758"/>
            <a:ext cx="295243" cy="295243"/>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A09A"/>
            </a:solidFill>
          </p:spPr>
          <p:txBody>
            <a:bodyPr/>
            <a:lstStyle/>
            <a:p>
              <a:endParaRPr lang="en-US"/>
            </a:p>
          </p:txBody>
        </p:sp>
        <p:sp>
          <p:nvSpPr>
            <p:cNvPr id="12" name="TextBox 12"/>
            <p:cNvSpPr txBox="1"/>
            <p:nvPr/>
          </p:nvSpPr>
          <p:spPr>
            <a:xfrm>
              <a:off x="76200" y="-47625"/>
              <a:ext cx="660400" cy="784225"/>
            </a:xfrm>
            <a:prstGeom prst="rect">
              <a:avLst/>
            </a:prstGeom>
          </p:spPr>
          <p:txBody>
            <a:bodyPr lIns="50800" tIns="50800" rIns="50800" bIns="50800" rtlCol="0" anchor="ctr"/>
            <a:lstStyle/>
            <a:p>
              <a:pPr algn="ctr">
                <a:lnSpc>
                  <a:spcPts val="3910"/>
                </a:lnSpc>
              </a:pPr>
              <a:endParaRPr/>
            </a:p>
          </p:txBody>
        </p:sp>
      </p:grpSp>
      <p:grpSp>
        <p:nvGrpSpPr>
          <p:cNvPr id="14" name="Group 14"/>
          <p:cNvGrpSpPr/>
          <p:nvPr/>
        </p:nvGrpSpPr>
        <p:grpSpPr>
          <a:xfrm>
            <a:off x="9864276" y="7543183"/>
            <a:ext cx="7124195" cy="1419873"/>
            <a:chOff x="0" y="0"/>
            <a:chExt cx="9498926" cy="1893165"/>
          </a:xfrm>
        </p:grpSpPr>
        <p:sp>
          <p:nvSpPr>
            <p:cNvPr id="15" name="Freeform 15"/>
            <p:cNvSpPr/>
            <p:nvPr/>
          </p:nvSpPr>
          <p:spPr>
            <a:xfrm>
              <a:off x="0" y="19403"/>
              <a:ext cx="1738820" cy="1738820"/>
            </a:xfrm>
            <a:custGeom>
              <a:avLst/>
              <a:gdLst/>
              <a:ahLst/>
              <a:cxnLst/>
              <a:rect l="l" t="t" r="r" b="b"/>
              <a:pathLst>
                <a:path w="1738820" h="1738820">
                  <a:moveTo>
                    <a:pt x="0" y="0"/>
                  </a:moveTo>
                  <a:lnTo>
                    <a:pt x="1738820" y="0"/>
                  </a:lnTo>
                  <a:lnTo>
                    <a:pt x="1738820" y="1738821"/>
                  </a:lnTo>
                  <a:lnTo>
                    <a:pt x="0" y="17388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Freeform 16"/>
            <p:cNvSpPr/>
            <p:nvPr/>
          </p:nvSpPr>
          <p:spPr>
            <a:xfrm>
              <a:off x="2603399" y="0"/>
              <a:ext cx="1713314" cy="1893165"/>
            </a:xfrm>
            <a:custGeom>
              <a:avLst/>
              <a:gdLst/>
              <a:ahLst/>
              <a:cxnLst/>
              <a:rect l="l" t="t" r="r" b="b"/>
              <a:pathLst>
                <a:path w="1713314" h="1893165">
                  <a:moveTo>
                    <a:pt x="0" y="0"/>
                  </a:moveTo>
                  <a:lnTo>
                    <a:pt x="1713314" y="0"/>
                  </a:lnTo>
                  <a:lnTo>
                    <a:pt x="1713314" y="1893165"/>
                  </a:lnTo>
                  <a:lnTo>
                    <a:pt x="0" y="189316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7" name="Freeform 17"/>
            <p:cNvSpPr/>
            <p:nvPr/>
          </p:nvSpPr>
          <p:spPr>
            <a:xfrm>
              <a:off x="5180313" y="20296"/>
              <a:ext cx="1737928" cy="1737928"/>
            </a:xfrm>
            <a:custGeom>
              <a:avLst/>
              <a:gdLst/>
              <a:ahLst/>
              <a:cxnLst/>
              <a:rect l="l" t="t" r="r" b="b"/>
              <a:pathLst>
                <a:path w="1737928" h="1737928">
                  <a:moveTo>
                    <a:pt x="0" y="0"/>
                  </a:moveTo>
                  <a:lnTo>
                    <a:pt x="1737928" y="0"/>
                  </a:lnTo>
                  <a:lnTo>
                    <a:pt x="1737928" y="1737928"/>
                  </a:lnTo>
                  <a:lnTo>
                    <a:pt x="0" y="173792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8" name="Freeform 18"/>
            <p:cNvSpPr/>
            <p:nvPr/>
          </p:nvSpPr>
          <p:spPr>
            <a:xfrm>
              <a:off x="7781841" y="19403"/>
              <a:ext cx="1717085" cy="1738820"/>
            </a:xfrm>
            <a:custGeom>
              <a:avLst/>
              <a:gdLst/>
              <a:ahLst/>
              <a:cxnLst/>
              <a:rect l="l" t="t" r="r" b="b"/>
              <a:pathLst>
                <a:path w="1717085" h="1738820">
                  <a:moveTo>
                    <a:pt x="0" y="0"/>
                  </a:moveTo>
                  <a:lnTo>
                    <a:pt x="1717085" y="0"/>
                  </a:lnTo>
                  <a:lnTo>
                    <a:pt x="1717085" y="1738821"/>
                  </a:lnTo>
                  <a:lnTo>
                    <a:pt x="0" y="173882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sp>
        <p:nvSpPr>
          <p:cNvPr id="19" name="TextBox 19"/>
          <p:cNvSpPr txBox="1"/>
          <p:nvPr/>
        </p:nvSpPr>
        <p:spPr>
          <a:xfrm>
            <a:off x="1028700" y="2187559"/>
            <a:ext cx="5364956" cy="339324"/>
          </a:xfrm>
          <a:prstGeom prst="rect">
            <a:avLst/>
          </a:prstGeom>
        </p:spPr>
        <p:txBody>
          <a:bodyPr lIns="0" tIns="0" rIns="0" bIns="0" rtlCol="0" anchor="t">
            <a:spAutoFit/>
          </a:bodyPr>
          <a:lstStyle/>
          <a:p>
            <a:pPr algn="just">
              <a:lnSpc>
                <a:spcPts val="2799"/>
              </a:lnSpc>
              <a:spcBef>
                <a:spcPct val="0"/>
              </a:spcBef>
            </a:pPr>
            <a:r>
              <a:rPr lang="en-US" sz="1950">
                <a:solidFill>
                  <a:srgbClr val="000000"/>
                </a:solidFill>
                <a:latin typeface="Poppins"/>
                <a:ea typeface="Poppins"/>
                <a:cs typeface="Poppins"/>
                <a:sym typeface="Poppins"/>
              </a:rPr>
              <a:t>Project Manager : Ali </a:t>
            </a:r>
            <a:r>
              <a:rPr lang="en-US" sz="1950" err="1">
                <a:solidFill>
                  <a:srgbClr val="000000"/>
                </a:solidFill>
                <a:latin typeface="Poppins"/>
                <a:ea typeface="Poppins"/>
                <a:cs typeface="Poppins"/>
                <a:sym typeface="Poppins"/>
              </a:rPr>
              <a:t>Zirak</a:t>
            </a:r>
            <a:endParaRPr lang="en-US" sz="1999" err="1">
              <a:solidFill>
                <a:srgbClr val="000000"/>
              </a:solidFill>
              <a:latin typeface="Poppins"/>
              <a:ea typeface="Poppins"/>
              <a:cs typeface="Poppins"/>
              <a:sym typeface="Poppins"/>
            </a:endParaRPr>
          </a:p>
        </p:txBody>
      </p:sp>
      <p:sp>
        <p:nvSpPr>
          <p:cNvPr id="20" name="TextBox 20"/>
          <p:cNvSpPr txBox="1"/>
          <p:nvPr/>
        </p:nvSpPr>
        <p:spPr>
          <a:xfrm>
            <a:off x="1028700" y="8899525"/>
            <a:ext cx="2377893" cy="339324"/>
          </a:xfrm>
          <a:prstGeom prst="rect">
            <a:avLst/>
          </a:prstGeom>
        </p:spPr>
        <p:txBody>
          <a:bodyPr lIns="0" tIns="0" rIns="0" bIns="0" rtlCol="0" anchor="t">
            <a:spAutoFit/>
          </a:bodyPr>
          <a:lstStyle/>
          <a:p>
            <a:pPr algn="just">
              <a:lnSpc>
                <a:spcPts val="2799"/>
              </a:lnSpc>
              <a:spcBef>
                <a:spcPct val="0"/>
              </a:spcBef>
            </a:pPr>
            <a:r>
              <a:rPr lang="en-US" sz="1950">
                <a:solidFill>
                  <a:srgbClr val="000000"/>
                </a:solidFill>
                <a:latin typeface="Poppins"/>
                <a:ea typeface="Poppins"/>
                <a:cs typeface="Poppins"/>
                <a:sym typeface="Poppins"/>
              </a:rPr>
              <a:t>26 </a:t>
            </a:r>
            <a:r>
              <a:rPr lang="en-US" sz="1950" err="1">
                <a:solidFill>
                  <a:srgbClr val="000000"/>
                </a:solidFill>
                <a:latin typeface="Poppins"/>
                <a:ea typeface="Poppins"/>
                <a:cs typeface="Poppins"/>
                <a:sym typeface="Poppins"/>
              </a:rPr>
              <a:t>th</a:t>
            </a:r>
            <a:r>
              <a:rPr lang="en-US" sz="1950">
                <a:solidFill>
                  <a:srgbClr val="000000"/>
                </a:solidFill>
                <a:latin typeface="Poppins"/>
                <a:ea typeface="Poppins"/>
                <a:cs typeface="Poppins"/>
                <a:sym typeface="Poppins"/>
              </a:rPr>
              <a:t> Nov 2025</a:t>
            </a:r>
            <a:endParaRPr lang="en-US" sz="1999">
              <a:solidFill>
                <a:srgbClr val="000000"/>
              </a:solidFill>
              <a:latin typeface="Poppins"/>
              <a:ea typeface="Poppins"/>
              <a:cs typeface="Poppins"/>
              <a:sym typeface="Poppins"/>
            </a:endParaRPr>
          </a:p>
        </p:txBody>
      </p:sp>
      <p:sp>
        <p:nvSpPr>
          <p:cNvPr id="22" name="Freeform 13">
            <a:extLst>
              <a:ext uri="{FF2B5EF4-FFF2-40B4-BE49-F238E27FC236}">
                <a16:creationId xmlns:a16="http://schemas.microsoft.com/office/drawing/2014/main" id="{281ECF47-2071-BE8D-D78F-CC5E73E6D37A}"/>
              </a:ext>
            </a:extLst>
          </p:cNvPr>
          <p:cNvSpPr/>
          <p:nvPr/>
        </p:nvSpPr>
        <p:spPr>
          <a:xfrm>
            <a:off x="16062518" y="309634"/>
            <a:ext cx="1851905" cy="870481"/>
          </a:xfrm>
          <a:custGeom>
            <a:avLst/>
            <a:gdLst/>
            <a:ahLst/>
            <a:cxnLst/>
            <a:rect l="l" t="t" r="r" b="b"/>
            <a:pathLst>
              <a:path w="1851905" h="870481">
                <a:moveTo>
                  <a:pt x="0" y="0"/>
                </a:moveTo>
                <a:lnTo>
                  <a:pt x="1851905" y="0"/>
                </a:lnTo>
                <a:lnTo>
                  <a:pt x="1851905" y="870481"/>
                </a:lnTo>
                <a:lnTo>
                  <a:pt x="0" y="870481"/>
                </a:lnTo>
                <a:lnTo>
                  <a:pt x="0" y="0"/>
                </a:lnTo>
                <a:close/>
              </a:path>
            </a:pathLst>
          </a:custGeom>
          <a:blipFill>
            <a:blip r:embed="rId7"/>
            <a:stretch>
              <a:fillRect/>
            </a:stretch>
          </a:blipFill>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BB08D-0205-D16C-BF06-5ECD0294B20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8448A28-FA74-31F4-E668-758DEEA35095}"/>
              </a:ext>
            </a:extLst>
          </p:cNvPr>
          <p:cNvSpPr/>
          <p:nvPr/>
        </p:nvSpPr>
        <p:spPr>
          <a:xfrm>
            <a:off x="821533" y="1462082"/>
            <a:ext cx="16626842" cy="452903"/>
          </a:xfrm>
          <a:prstGeom prst="rect">
            <a:avLst/>
          </a:prstGeom>
          <a:solidFill>
            <a:srgbClr val="00A69C"/>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mj-lt"/>
                <a:ea typeface="+mn-ea"/>
                <a:cs typeface="+mn-cs"/>
              </a:rPr>
              <a:t>Project Highlights </a:t>
            </a:r>
          </a:p>
        </p:txBody>
      </p:sp>
      <p:sp>
        <p:nvSpPr>
          <p:cNvPr id="5" name="Title 1">
            <a:extLst>
              <a:ext uri="{FF2B5EF4-FFF2-40B4-BE49-F238E27FC236}">
                <a16:creationId xmlns:a16="http://schemas.microsoft.com/office/drawing/2014/main" id="{44DE7BA4-D51C-2609-6836-61F8AECB9755}"/>
              </a:ext>
            </a:extLst>
          </p:cNvPr>
          <p:cNvSpPr txBox="1">
            <a:spLocks/>
          </p:cNvSpPr>
          <p:nvPr/>
        </p:nvSpPr>
        <p:spPr>
          <a:xfrm>
            <a:off x="765843" y="124493"/>
            <a:ext cx="13441680" cy="1231106"/>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spcBef>
                <a:spcPct val="0"/>
              </a:spcBef>
              <a:defRPr/>
            </a:pPr>
            <a:r>
              <a:rPr lang="en-US" sz="8000" b="1">
                <a:solidFill>
                  <a:srgbClr val="03A39D"/>
                </a:solidFill>
                <a:latin typeface="Inter Bold"/>
                <a:ea typeface="Inter Bold"/>
              </a:rPr>
              <a:t>PREDATOR</a:t>
            </a:r>
            <a:r>
              <a:rPr lang="en-US" sz="8000" b="1">
                <a:solidFill>
                  <a:srgbClr val="1C1818"/>
                </a:solidFill>
                <a:latin typeface="Inter Bold"/>
                <a:ea typeface="Inter Bold"/>
              </a:rPr>
              <a:t> PROJECT</a:t>
            </a:r>
            <a:endParaRPr lang="en-US">
              <a:ea typeface="+mj-ea"/>
              <a:cs typeface="+mj-cs"/>
            </a:endParaRPr>
          </a:p>
        </p:txBody>
      </p:sp>
      <p:sp>
        <p:nvSpPr>
          <p:cNvPr id="6" name="Rectangle 5">
            <a:extLst>
              <a:ext uri="{FF2B5EF4-FFF2-40B4-BE49-F238E27FC236}">
                <a16:creationId xmlns:a16="http://schemas.microsoft.com/office/drawing/2014/main" id="{EEDB32A8-D9AC-62B8-2BDB-4287C033200E}"/>
              </a:ext>
            </a:extLst>
          </p:cNvPr>
          <p:cNvSpPr/>
          <p:nvPr/>
        </p:nvSpPr>
        <p:spPr bwMode="auto">
          <a:xfrm>
            <a:off x="15836117" y="2117372"/>
            <a:ext cx="1612257" cy="405768"/>
          </a:xfrm>
          <a:prstGeom prst="rect">
            <a:avLst/>
          </a:prstGeom>
          <a:solidFill>
            <a:srgbClr val="00A69C"/>
          </a:solid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anose="020B0604020202020204" pitchFamily="34" charset="0"/>
              </a:rPr>
              <a:t>Current Period</a:t>
            </a:r>
          </a:p>
        </p:txBody>
      </p:sp>
      <p:sp>
        <p:nvSpPr>
          <p:cNvPr id="7" name="Rectangle 6">
            <a:extLst>
              <a:ext uri="{FF2B5EF4-FFF2-40B4-BE49-F238E27FC236}">
                <a16:creationId xmlns:a16="http://schemas.microsoft.com/office/drawing/2014/main" id="{CB2E4CD9-E508-AEFE-ED77-1BC3353FE038}"/>
              </a:ext>
            </a:extLst>
          </p:cNvPr>
          <p:cNvSpPr/>
          <p:nvPr/>
        </p:nvSpPr>
        <p:spPr bwMode="auto">
          <a:xfrm>
            <a:off x="14111579" y="2117372"/>
            <a:ext cx="1620000" cy="405768"/>
          </a:xfrm>
          <a:prstGeom prst="rect">
            <a:avLst/>
          </a:prstGeom>
          <a:solidFill>
            <a:srgbClr val="00A69C"/>
          </a:solid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anose="020B0604020202020204" pitchFamily="34" charset="0"/>
              </a:rPr>
              <a:t>Previous Period</a:t>
            </a:r>
          </a:p>
        </p:txBody>
      </p:sp>
      <p:sp>
        <p:nvSpPr>
          <p:cNvPr id="8" name="Rectangle 7">
            <a:extLst>
              <a:ext uri="{FF2B5EF4-FFF2-40B4-BE49-F238E27FC236}">
                <a16:creationId xmlns:a16="http://schemas.microsoft.com/office/drawing/2014/main" id="{42DF8C42-1411-6E57-B27F-DE6DBAF776DB}"/>
              </a:ext>
            </a:extLst>
          </p:cNvPr>
          <p:cNvSpPr/>
          <p:nvPr/>
        </p:nvSpPr>
        <p:spPr bwMode="auto">
          <a:xfrm>
            <a:off x="14108566" y="2521505"/>
            <a:ext cx="1612256" cy="533700"/>
          </a:xfrm>
          <a:prstGeom prst="rect">
            <a:avLst/>
          </a:prstGeom>
          <a:solidFill>
            <a:srgbClr val="E2F0D9"/>
          </a:solidFill>
          <a:ln w="9525" cap="flat" cmpd="sng" algn="ctr">
            <a:solidFill>
              <a:srgbClr val="FFCCCC"/>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defTabSz="1564584">
              <a:defRPr/>
            </a:pPr>
            <a:r>
              <a:rPr lang="en-US" sz="1500" b="1" kern="0">
                <a:solidFill>
                  <a:prstClr val="black"/>
                </a:solidFill>
                <a:latin typeface="+mj-lt"/>
                <a:cs typeface="Arial" panose="020B0604020202020204" pitchFamily="34" charset="0"/>
              </a:rPr>
              <a:t>On Track</a:t>
            </a:r>
            <a:endParaRPr lang="en-GB" sz="1500" b="1" kern="0">
              <a:solidFill>
                <a:prstClr val="black"/>
              </a:solidFill>
              <a:latin typeface="+mj-lt"/>
              <a:cs typeface="Arial" panose="020B0604020202020204" pitchFamily="34" charset="0"/>
            </a:endParaRPr>
          </a:p>
        </p:txBody>
      </p:sp>
      <p:sp>
        <p:nvSpPr>
          <p:cNvPr id="9" name="Rectangle 8">
            <a:extLst>
              <a:ext uri="{FF2B5EF4-FFF2-40B4-BE49-F238E27FC236}">
                <a16:creationId xmlns:a16="http://schemas.microsoft.com/office/drawing/2014/main" id="{EBE0B4F2-F46B-3D9C-610C-09102FA83217}"/>
              </a:ext>
            </a:extLst>
          </p:cNvPr>
          <p:cNvSpPr/>
          <p:nvPr/>
        </p:nvSpPr>
        <p:spPr bwMode="auto">
          <a:xfrm>
            <a:off x="6067501" y="2104025"/>
            <a:ext cx="7830337" cy="2007694"/>
          </a:xfrm>
          <a:prstGeom prst="rect">
            <a:avLst/>
          </a:prstGeom>
          <a:no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lang="en-US" sz="1350">
                <a:ea typeface="+mn-lt"/>
                <a:cs typeface="+mn-lt"/>
              </a:rPr>
              <a:t>Last week The third round of Predator testing has been conducted by the Compliance team, and the related rules have been reviewed and tweaked based on the testing results. In parallel, the Windows Server license has been prepared and completed, supporting the environment readiness for the final testing activities.</a:t>
            </a:r>
            <a:endParaRPr lang="en-US"/>
          </a:p>
          <a:p>
            <a:r>
              <a:rPr lang="en-US" sz="1350">
                <a:ea typeface="+mn-lt"/>
                <a:cs typeface="+mn-lt"/>
              </a:rPr>
              <a:t>Progress continues on the final Predator testing cycle required before go-live. The second </a:t>
            </a:r>
            <a:r>
              <a:rPr lang="en-US" sz="1350" err="1">
                <a:ea typeface="+mn-lt"/>
                <a:cs typeface="+mn-lt"/>
              </a:rPr>
              <a:t>roun</a:t>
            </a:r>
            <a:endParaRPr lang="en-US" sz="1350">
              <a:ea typeface="+mn-lt"/>
              <a:cs typeface="+mn-lt"/>
            </a:endParaRPr>
          </a:p>
          <a:p>
            <a:r>
              <a:rPr lang="en-US" sz="1350">
                <a:ea typeface="+mn-lt"/>
                <a:cs typeface="+mn-lt"/>
              </a:rPr>
              <a:t>The System Admin team also increased the stage environment capacity by adding 8 additional cores. A final stress test will be conducted to evaluate the performance difference between the 16-core and 8-core environments. Following the completion of this stress test and the Compliance team’s confirmation that the alerts, rules, and operational process are ready, the team will proceed with go-live.</a:t>
            </a:r>
            <a:endParaRPr lang="en-US">
              <a:ea typeface="+mn-lt"/>
              <a:cs typeface="+mn-lt"/>
            </a:endParaRPr>
          </a:p>
          <a:p>
            <a:endParaRPr lang="en-US" sz="1350">
              <a:ea typeface="+mn-lt"/>
              <a:cs typeface="+mn-lt"/>
            </a:endParaRPr>
          </a:p>
        </p:txBody>
      </p:sp>
      <p:sp>
        <p:nvSpPr>
          <p:cNvPr id="10" name="Rectangle 9">
            <a:extLst>
              <a:ext uri="{FF2B5EF4-FFF2-40B4-BE49-F238E27FC236}">
                <a16:creationId xmlns:a16="http://schemas.microsoft.com/office/drawing/2014/main" id="{2D097F0E-EBB8-A8D0-0340-B427FF4CECE5}"/>
              </a:ext>
            </a:extLst>
          </p:cNvPr>
          <p:cNvSpPr/>
          <p:nvPr/>
        </p:nvSpPr>
        <p:spPr>
          <a:xfrm>
            <a:off x="821533" y="5756321"/>
            <a:ext cx="16626842" cy="452903"/>
          </a:xfrm>
          <a:prstGeom prst="rect">
            <a:avLst/>
          </a:prstGeom>
          <a:solidFill>
            <a:srgbClr val="00A69C"/>
          </a:solidFill>
          <a:ln w="952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mj-lt"/>
                <a:ea typeface="+mn-ea"/>
                <a:cs typeface="+mn-cs"/>
              </a:rPr>
              <a:t>Key Risks, Issues &amp; Decisions</a:t>
            </a:r>
          </a:p>
        </p:txBody>
      </p:sp>
      <p:graphicFrame>
        <p:nvGraphicFramePr>
          <p:cNvPr id="11" name="Table 6">
            <a:extLst>
              <a:ext uri="{FF2B5EF4-FFF2-40B4-BE49-F238E27FC236}">
                <a16:creationId xmlns:a16="http://schemas.microsoft.com/office/drawing/2014/main" id="{D4F13710-5576-3FDC-19F2-1A19F01FBEF5}"/>
              </a:ext>
            </a:extLst>
          </p:cNvPr>
          <p:cNvGraphicFramePr>
            <a:graphicFrameLocks noGrp="1"/>
          </p:cNvGraphicFramePr>
          <p:nvPr>
            <p:extLst>
              <p:ext uri="{D42A27DB-BD31-4B8C-83A1-F6EECF244321}">
                <p14:modId xmlns:p14="http://schemas.microsoft.com/office/powerpoint/2010/main" val="3825998057"/>
              </p:ext>
            </p:extLst>
          </p:nvPr>
        </p:nvGraphicFramePr>
        <p:xfrm>
          <a:off x="832104" y="6238427"/>
          <a:ext cx="16626844" cy="3356337"/>
        </p:xfrm>
        <a:graphic>
          <a:graphicData uri="http://schemas.openxmlformats.org/drawingml/2006/table">
            <a:tbl>
              <a:tblPr firstRow="1" bandRow="1">
                <a:tableStyleId>{5C22544A-7EE6-4342-B048-85BDC9FD1C3A}</a:tableStyleId>
              </a:tblPr>
              <a:tblGrid>
                <a:gridCol w="1975555">
                  <a:extLst>
                    <a:ext uri="{9D8B030D-6E8A-4147-A177-3AD203B41FA5}">
                      <a16:colId xmlns:a16="http://schemas.microsoft.com/office/drawing/2014/main" val="1940594143"/>
                    </a:ext>
                  </a:extLst>
                </a:gridCol>
                <a:gridCol w="6788258">
                  <a:extLst>
                    <a:ext uri="{9D8B030D-6E8A-4147-A177-3AD203B41FA5}">
                      <a16:colId xmlns:a16="http://schemas.microsoft.com/office/drawing/2014/main" val="273235595"/>
                    </a:ext>
                  </a:extLst>
                </a:gridCol>
                <a:gridCol w="2301858">
                  <a:extLst>
                    <a:ext uri="{9D8B030D-6E8A-4147-A177-3AD203B41FA5}">
                      <a16:colId xmlns:a16="http://schemas.microsoft.com/office/drawing/2014/main" val="1034871609"/>
                    </a:ext>
                  </a:extLst>
                </a:gridCol>
                <a:gridCol w="2237014">
                  <a:extLst>
                    <a:ext uri="{9D8B030D-6E8A-4147-A177-3AD203B41FA5}">
                      <a16:colId xmlns:a16="http://schemas.microsoft.com/office/drawing/2014/main" val="1556653191"/>
                    </a:ext>
                  </a:extLst>
                </a:gridCol>
                <a:gridCol w="3324159">
                  <a:extLst>
                    <a:ext uri="{9D8B030D-6E8A-4147-A177-3AD203B41FA5}">
                      <a16:colId xmlns:a16="http://schemas.microsoft.com/office/drawing/2014/main" val="666502604"/>
                    </a:ext>
                  </a:extLst>
                </a:gridCol>
              </a:tblGrid>
              <a:tr h="411480">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a:rPr>
                        <a:t>Area</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a:rPr>
                        <a:t>Item</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a:rPr>
                        <a:t>Status</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a:rPr>
                        <a:t>Due Date</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a:rPr>
                        <a:t>Owner</a:t>
                      </a:r>
                    </a:p>
                  </a:txBody>
                  <a:tcPr marL="137160" marR="137160" marT="68580" marB="6858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9013299"/>
                  </a:ext>
                </a:extLst>
              </a:tr>
              <a:tr h="1939017">
                <a:tc>
                  <a:txBody>
                    <a:bodyPr/>
                    <a:lstStyle/>
                    <a:p>
                      <a:r>
                        <a:rPr kumimoji="0" lang="en-US" sz="1600" b="1" i="0" u="none" strike="noStrike" kern="1200" cap="none" spc="0" normalizeH="0" baseline="0">
                          <a:ln>
                            <a:noFill/>
                          </a:ln>
                          <a:solidFill>
                            <a:srgbClr val="000000"/>
                          </a:solidFill>
                          <a:effectLst/>
                          <a:uLnTx/>
                          <a:uFillTx/>
                          <a:latin typeface="+mn-lt"/>
                          <a:ea typeface="+mn-ea"/>
                          <a:cs typeface="Arial"/>
                        </a:rPr>
                        <a:t>Risks</a:t>
                      </a:r>
                    </a:p>
                  </a:txBody>
                  <a:tcPr marL="137160" marR="137160" marT="68580" marB="6858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74320" indent="0" algn="l" rtl="0" eaLnBrk="1" latinLnBrk="0" hangingPunct="1">
                        <a:buClr>
                          <a:srgbClr val="002060"/>
                        </a:buClr>
                        <a:buSzPct val="150000"/>
                        <a:buNone/>
                      </a:pPr>
                      <a:r>
                        <a:rPr lang="en-US" sz="1500" kern="1200">
                          <a:solidFill>
                            <a:schemeClr val="dk1"/>
                          </a:solidFill>
                          <a:latin typeface="+mn-lt"/>
                          <a:ea typeface="+mn-ea"/>
                          <a:cs typeface="+mn-cs"/>
                        </a:rPr>
                        <a:t>Test finally from Compliance team</a:t>
                      </a:r>
                    </a:p>
                    <a:p>
                      <a:pPr marL="274320" lvl="0" indent="0" algn="l">
                        <a:buClr>
                          <a:srgbClr val="002060"/>
                        </a:buClr>
                        <a:buSzPct val="150000"/>
                        <a:buNone/>
                      </a:pPr>
                      <a:endParaRPr lang="en-US"/>
                    </a:p>
                  </a:txBody>
                  <a:tcPr marL="137160" marR="137160" marT="68580" marB="68580" anchor="ctr">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a:lnSpc>
                          <a:spcPct val="100000"/>
                        </a:lnSpc>
                        <a:spcBef>
                          <a:spcPts val="0"/>
                        </a:spcBef>
                        <a:spcAft>
                          <a:spcPts val="0"/>
                        </a:spcAft>
                        <a:buNone/>
                        <a:tabLst/>
                        <a:defRPr/>
                      </a:pPr>
                      <a:r>
                        <a:rPr lang="en-US" sz="1500" b="0" kern="1200">
                          <a:solidFill>
                            <a:srgbClr val="000000"/>
                          </a:solidFill>
                          <a:latin typeface="Arial"/>
                          <a:ea typeface="+mn-ea"/>
                          <a:cs typeface="Arial"/>
                        </a:rPr>
                        <a:t>Completed</a:t>
                      </a:r>
                      <a:endParaRPr lang="en-US"/>
                    </a:p>
                    <a:p>
                      <a:pPr marL="0" marR="0" lvl="0" indent="0" algn="ctr">
                        <a:lnSpc>
                          <a:spcPct val="100000"/>
                        </a:lnSpc>
                        <a:spcBef>
                          <a:spcPts val="0"/>
                        </a:spcBef>
                        <a:spcAft>
                          <a:spcPts val="0"/>
                        </a:spcAft>
                        <a:buFontTx/>
                        <a:buNone/>
                      </a:pPr>
                      <a:endParaRPr lang="en-US" sz="1500" b="0" kern="1200">
                        <a:solidFill>
                          <a:srgbClr val="000000"/>
                        </a:solidFill>
                        <a:latin typeface="Arial"/>
                        <a:ea typeface="+mn-ea"/>
                        <a:cs typeface="Arial"/>
                      </a:endParaRPr>
                    </a:p>
                    <a:p>
                      <a:pPr marL="0" marR="0" lvl="0" indent="0" algn="ctr">
                        <a:lnSpc>
                          <a:spcPct val="100000"/>
                        </a:lnSpc>
                        <a:spcBef>
                          <a:spcPts val="0"/>
                        </a:spcBef>
                        <a:spcAft>
                          <a:spcPts val="0"/>
                        </a:spcAft>
                        <a:buFontTx/>
                        <a:buNone/>
                      </a:pPr>
                      <a:endParaRPr lang="en-US" sz="1500" b="0" kern="1200">
                        <a:solidFill>
                          <a:srgbClr val="000000"/>
                        </a:solidFill>
                        <a:latin typeface="Arial"/>
                        <a:ea typeface="+mn-ea"/>
                        <a:cs typeface="Arial"/>
                      </a:endParaRPr>
                    </a:p>
                    <a:p>
                      <a:pPr marL="0" marR="0" lvl="0" indent="0" algn="ctr" rtl="0" eaLnBrk="1" fontAlgn="auto" latinLnBrk="0" hangingPunct="1">
                        <a:lnSpc>
                          <a:spcPct val="100000"/>
                        </a:lnSpc>
                        <a:spcBef>
                          <a:spcPts val="0"/>
                        </a:spcBef>
                        <a:spcAft>
                          <a:spcPts val="0"/>
                        </a:spcAft>
                        <a:buClr>
                          <a:srgbClr val="002060"/>
                        </a:buClr>
                        <a:buSzPct val="150000"/>
                        <a:buFontTx/>
                        <a:buNone/>
                      </a:pPr>
                      <a:endParaRPr lang="en-US" sz="1500" b="0" kern="1200">
                        <a:solidFill>
                          <a:srgbClr val="000000"/>
                        </a:solidFill>
                        <a:latin typeface="Arial"/>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
                          <a:srgbClr val="002060"/>
                        </a:buClr>
                        <a:buSzPct val="150000"/>
                        <a:buFontTx/>
                        <a:buNone/>
                        <a:tabLst/>
                        <a:defRPr/>
                      </a:pPr>
                      <a:endParaRPr lang="en-US" sz="1500" b="0" kern="1200">
                        <a:solidFill>
                          <a:srgbClr val="000000"/>
                        </a:solidFill>
                        <a:latin typeface="Arial"/>
                        <a:ea typeface="+mn-ea"/>
                        <a:cs typeface="Arial"/>
                      </a:endParaRPr>
                    </a:p>
                    <a:p>
                      <a:pPr marL="0" marR="0" lvl="0" indent="0" algn="ctr" defTabSz="914400" rtl="0" eaLnBrk="1" fontAlgn="auto" latinLnBrk="0" hangingPunct="1">
                        <a:lnSpc>
                          <a:spcPct val="100000"/>
                        </a:lnSpc>
                        <a:spcBef>
                          <a:spcPts val="0"/>
                        </a:spcBef>
                        <a:spcAft>
                          <a:spcPts val="0"/>
                        </a:spcAft>
                        <a:buClr>
                          <a:srgbClr val="002060"/>
                        </a:buClr>
                        <a:buSzPct val="150000"/>
                        <a:buFontTx/>
                        <a:buNone/>
                        <a:tabLst/>
                        <a:defRPr/>
                      </a:pPr>
                      <a:endParaRPr lang="en-US" sz="1500" b="0" kern="1200">
                        <a:solidFill>
                          <a:srgbClr val="000000"/>
                        </a:solidFill>
                        <a:latin typeface="Arial"/>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
                          <a:srgbClr val="002060"/>
                        </a:buClr>
                        <a:buSzPct val="150000"/>
                        <a:buFontTx/>
                        <a:buNone/>
                        <a:tabLst/>
                        <a:defRPr/>
                      </a:pPr>
                      <a:endParaRPr lang="en-US" sz="1500" b="0" kern="1200">
                        <a:solidFill>
                          <a:srgbClr val="000000"/>
                        </a:solidFill>
                        <a:latin typeface="Arial"/>
                        <a:ea typeface="+mn-ea"/>
                        <a:cs typeface="Arial" panose="020B0604020202020204" pitchFamily="34" charset="0"/>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a:lnSpc>
                          <a:spcPct val="100000"/>
                        </a:lnSpc>
                        <a:spcBef>
                          <a:spcPts val="0"/>
                        </a:spcBef>
                        <a:spcAft>
                          <a:spcPts val="0"/>
                        </a:spcAft>
                        <a:buNone/>
                      </a:pPr>
                      <a:r>
                        <a:rPr lang="en-US" sz="1200" b="1" i="0" u="none" strike="noStrike" kern="1200" noProof="0">
                          <a:solidFill>
                            <a:srgbClr val="000000"/>
                          </a:solidFill>
                          <a:latin typeface="Arial"/>
                          <a:ea typeface="+mn-ea"/>
                          <a:cs typeface="Arial"/>
                        </a:rPr>
                        <a:t>25th May</a:t>
                      </a:r>
                      <a:endParaRPr lang="en-US"/>
                    </a:p>
                    <a:p>
                      <a:pPr marL="0" marR="0" lvl="0" indent="0" algn="ctr">
                        <a:lnSpc>
                          <a:spcPct val="100000"/>
                        </a:lnSpc>
                        <a:spcBef>
                          <a:spcPts val="0"/>
                        </a:spcBef>
                        <a:spcAft>
                          <a:spcPts val="0"/>
                        </a:spcAft>
                        <a:buClrTx/>
                        <a:buSzTx/>
                        <a:buFontTx/>
                        <a:buNone/>
                      </a:pPr>
                      <a:endParaRPr lang="en-US" sz="1500" b="1" strike="noStrike" kern="1200">
                        <a:solidFill>
                          <a:srgbClr val="000000"/>
                        </a:solidFill>
                        <a:latin typeface="Arial"/>
                        <a:ea typeface="+mn-ea"/>
                        <a:cs typeface="Arial"/>
                      </a:endParaRPr>
                    </a:p>
                    <a:p>
                      <a:pPr marL="0" marR="0" lvl="0" indent="0" algn="ctr">
                        <a:lnSpc>
                          <a:spcPct val="100000"/>
                        </a:lnSpc>
                        <a:spcBef>
                          <a:spcPts val="0"/>
                        </a:spcBef>
                        <a:spcAft>
                          <a:spcPts val="0"/>
                        </a:spcAft>
                        <a:buClrTx/>
                        <a:buSzTx/>
                        <a:buFontTx/>
                        <a:buNone/>
                      </a:pPr>
                      <a:endParaRPr lang="en-US"/>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a:t>Compliance Team / Abdulrahman.</a:t>
                      </a:r>
                    </a:p>
                    <a:p>
                      <a:pPr lvl="0" algn="ctr">
                        <a:buNone/>
                      </a:pPr>
                      <a:endParaRPr lang="en-US" sz="1500" b="0" kern="1200">
                        <a:solidFill>
                          <a:srgbClr val="000000"/>
                        </a:solidFill>
                        <a:latin typeface="Arial"/>
                        <a:ea typeface="+mn-ea"/>
                        <a:cs typeface="Arial"/>
                      </a:endParaRPr>
                    </a:p>
                    <a:p>
                      <a:pPr marL="0" marR="0" lvl="0" indent="0" algn="ctr">
                        <a:lnSpc>
                          <a:spcPct val="100000"/>
                        </a:lnSpc>
                        <a:spcBef>
                          <a:spcPts val="0"/>
                        </a:spcBef>
                        <a:spcAft>
                          <a:spcPts val="0"/>
                        </a:spcAft>
                        <a:buNone/>
                      </a:pPr>
                      <a:endParaRPr lang="en-US" sz="1500" b="0" i="0" u="none" strike="noStrike" kern="1200" noProof="0">
                        <a:solidFill>
                          <a:srgbClr val="000000"/>
                        </a:solidFil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7621933"/>
                  </a:ext>
                </a:extLst>
              </a:tr>
              <a:tr h="594360">
                <a:tc>
                  <a:txBody>
                    <a:bodyPr/>
                    <a:lstStyle/>
                    <a:p>
                      <a:r>
                        <a:rPr kumimoji="0" lang="en-US" sz="1600" b="1" i="0" u="none" strike="noStrike" kern="1200" cap="none" spc="0" normalizeH="0" baseline="0">
                          <a:ln>
                            <a:noFill/>
                          </a:ln>
                          <a:solidFill>
                            <a:srgbClr val="000000"/>
                          </a:solidFill>
                          <a:effectLst/>
                          <a:uLnTx/>
                          <a:uFillTx/>
                          <a:latin typeface="+mn-lt"/>
                          <a:ea typeface="+mn-ea"/>
                          <a:cs typeface="Arial"/>
                        </a:rPr>
                        <a:t>Issues</a:t>
                      </a:r>
                    </a:p>
                  </a:txBody>
                  <a:tcPr marL="137160" marR="137160" marT="68580" marB="6858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Font typeface="Arial" panose="020B0604020202020204" pitchFamily="34" charset="0"/>
                        <a:buNone/>
                      </a:pPr>
                      <a:r>
                        <a:rPr lang="en-US" sz="1500" strike="noStrike"/>
                        <a:t>     Stresss test</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2060"/>
                        </a:buClr>
                        <a:buSzPct val="150000"/>
                        <a:buFontTx/>
                        <a:buNone/>
                        <a:tabLst/>
                        <a:defRPr/>
                      </a:pPr>
                      <a:r>
                        <a:rPr lang="en-US" sz="1500" b="0" strike="noStrike" kern="1200">
                          <a:solidFill>
                            <a:srgbClr val="000000"/>
                          </a:solidFill>
                          <a:latin typeface="+mn-lt"/>
                          <a:ea typeface="+mn-ea"/>
                          <a:cs typeface="Arial"/>
                        </a:rPr>
                        <a:t>Open</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1200" b="1" i="0" u="none" strike="noStrike" kern="1200" noProof="0">
                          <a:solidFill>
                            <a:srgbClr val="000000"/>
                          </a:solidFill>
                          <a:latin typeface="Arial"/>
                          <a:cs typeface="Arial"/>
                        </a:rPr>
                        <a:t>3rd June</a:t>
                      </a:r>
                      <a:endParaRPr lang="en-US" sz="1200" b="0" i="0" u="none" strike="noStrike" kern="1200" noProof="0">
                        <a:solidFill>
                          <a:srgbClr val="000000"/>
                        </a:solidFill>
                        <a:latin typeface="Arial"/>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1500" b="0" strike="noStrike" kern="1200">
                          <a:solidFill>
                            <a:srgbClr val="000000"/>
                          </a:solidFill>
                          <a:latin typeface="+mn-lt"/>
                          <a:ea typeface="+mn-ea"/>
                          <a:cs typeface="Arial"/>
                        </a:rPr>
                        <a:t>Abdulrahman Alhayk</a:t>
                      </a:r>
                      <a:endParaRPr lang="en-US"/>
                    </a:p>
                  </a:txBody>
                  <a:tcPr marL="137160" marR="137160" marT="68580" marB="6858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74165115"/>
                  </a:ext>
                </a:extLst>
              </a:tr>
              <a:tr h="383323">
                <a:tc>
                  <a:txBody>
                    <a:bodyPr/>
                    <a:lstStyle/>
                    <a:p>
                      <a:pPr marL="0" indent="0">
                        <a:buClr>
                          <a:srgbClr val="002060"/>
                        </a:buClr>
                        <a:buSzPct val="150000"/>
                        <a:buFontTx/>
                        <a:buNone/>
                      </a:pPr>
                      <a:r>
                        <a:rPr kumimoji="0" lang="en-US" sz="1600" b="1" i="0" u="none" strike="noStrike" kern="1200" cap="none" spc="0" normalizeH="0" baseline="0">
                          <a:ln>
                            <a:noFill/>
                          </a:ln>
                          <a:solidFill>
                            <a:srgbClr val="000000"/>
                          </a:solidFill>
                          <a:effectLst/>
                          <a:uLnTx/>
                          <a:uFillTx/>
                          <a:latin typeface="+mn-lt"/>
                          <a:ea typeface="+mn-ea"/>
                          <a:cs typeface="Arial"/>
                        </a:rPr>
                        <a:t>Decisions</a:t>
                      </a:r>
                      <a:endParaRPr kumimoji="0" lang="en-US" sz="1600" b="1" i="0" u="none" strike="noStrike" kern="1200" cap="none" spc="0" normalizeH="0" baseline="0">
                        <a:ln>
                          <a:noFill/>
                        </a:ln>
                        <a:solidFill>
                          <a:srgbClr val="000000"/>
                        </a:solidFill>
                        <a:effectLst/>
                        <a:uLnTx/>
                        <a:uFillTx/>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74320" marR="0" lvl="0" indent="0" algn="l" rtl="0" eaLnBrk="1" fontAlgn="auto" latinLnBrk="0" hangingPunct="1">
                        <a:lnSpc>
                          <a:spcPct val="100000"/>
                        </a:lnSpc>
                        <a:spcBef>
                          <a:spcPts val="0"/>
                        </a:spcBef>
                        <a:spcAft>
                          <a:spcPts val="0"/>
                        </a:spcAft>
                        <a:buClr>
                          <a:srgbClr val="002060"/>
                        </a:buClr>
                        <a:buSzPct val="150000"/>
                        <a:buFontTx/>
                        <a:buNone/>
                      </a:pPr>
                      <a:r>
                        <a:rPr lang="en-US"/>
                        <a:t> Go life for the week after that.</a:t>
                      </a:r>
                      <a:endParaRPr lang="en-US" sz="1800" b="0" i="0" u="none" strike="noStrike" noProof="0">
                        <a:latin typeface="Calibri"/>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2060"/>
                        </a:buClr>
                        <a:buSzPct val="150000"/>
                        <a:buFontTx/>
                        <a:buNone/>
                        <a:tabLst/>
                        <a:defRPr/>
                      </a:pPr>
                      <a:endParaRPr lang="en-US" sz="1500" b="0" kern="1200">
                        <a:solidFill>
                          <a:srgbClr val="000000"/>
                        </a:solidFill>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a:lnSpc>
                          <a:spcPct val="100000"/>
                        </a:lnSpc>
                        <a:spcBef>
                          <a:spcPts val="0"/>
                        </a:spcBef>
                        <a:spcAft>
                          <a:spcPts val="0"/>
                        </a:spcAft>
                        <a:buNone/>
                      </a:pPr>
                      <a:endParaRPr lang="en-US" sz="1200" b="1" i="0" u="none" strike="noStrike" kern="1200" noProof="0">
                        <a:solidFill>
                          <a:srgbClr val="000000"/>
                        </a:solidFill>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endParaRPr lang="en-US" sz="1500" b="0" kern="1200" err="1">
                        <a:solidFill>
                          <a:srgbClr val="000000"/>
                        </a:solidFill>
                        <a:latin typeface="+mn-lt"/>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8196877"/>
                  </a:ext>
                </a:extLst>
              </a:tr>
            </a:tbl>
          </a:graphicData>
        </a:graphic>
      </p:graphicFrame>
      <p:grpSp>
        <p:nvGrpSpPr>
          <p:cNvPr id="12" name="Group 11">
            <a:extLst>
              <a:ext uri="{FF2B5EF4-FFF2-40B4-BE49-F238E27FC236}">
                <a16:creationId xmlns:a16="http://schemas.microsoft.com/office/drawing/2014/main" id="{02E7B5F1-DC21-5115-FD39-5A3342BFB35C}"/>
              </a:ext>
            </a:extLst>
          </p:cNvPr>
          <p:cNvGrpSpPr/>
          <p:nvPr/>
        </p:nvGrpSpPr>
        <p:grpSpPr>
          <a:xfrm>
            <a:off x="860944" y="2053329"/>
            <a:ext cx="5041568" cy="1202997"/>
            <a:chOff x="567987" y="1398301"/>
            <a:chExt cx="3361045" cy="801998"/>
          </a:xfrm>
          <a:solidFill>
            <a:srgbClr val="00A69C"/>
          </a:solidFill>
        </p:grpSpPr>
        <p:sp>
          <p:nvSpPr>
            <p:cNvPr id="13" name="Rectangle 12">
              <a:extLst>
                <a:ext uri="{FF2B5EF4-FFF2-40B4-BE49-F238E27FC236}">
                  <a16:creationId xmlns:a16="http://schemas.microsoft.com/office/drawing/2014/main" id="{3726B678-83EC-82BD-DEDC-D050F4DBB97F}"/>
                </a:ext>
              </a:extLst>
            </p:cNvPr>
            <p:cNvSpPr/>
            <p:nvPr/>
          </p:nvSpPr>
          <p:spPr bwMode="auto">
            <a:xfrm>
              <a:off x="567987" y="1398301"/>
              <a:ext cx="1440000" cy="256198"/>
            </a:xfrm>
            <a:prstGeom prst="rect">
              <a:avLst/>
            </a:prstGeom>
            <a:grp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itchFamily="34" charset="0"/>
                </a:rPr>
                <a:t>Reporting Period</a:t>
              </a:r>
            </a:p>
          </p:txBody>
        </p:sp>
        <p:sp>
          <p:nvSpPr>
            <p:cNvPr id="14" name="Rectangle 13">
              <a:extLst>
                <a:ext uri="{FF2B5EF4-FFF2-40B4-BE49-F238E27FC236}">
                  <a16:creationId xmlns:a16="http://schemas.microsoft.com/office/drawing/2014/main" id="{218B412E-F80E-75AD-D205-D6D8DEDB0F10}"/>
                </a:ext>
              </a:extLst>
            </p:cNvPr>
            <p:cNvSpPr/>
            <p:nvPr/>
          </p:nvSpPr>
          <p:spPr bwMode="auto">
            <a:xfrm>
              <a:off x="2127836" y="1398301"/>
              <a:ext cx="1800000" cy="256198"/>
            </a:xfrm>
            <a:prstGeom prst="rect">
              <a:avLst/>
            </a:prstGeom>
            <a:grp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GB" sz="1500" b="1" kern="0">
                  <a:solidFill>
                    <a:schemeClr val="bg1"/>
                  </a:solidFill>
                  <a:latin typeface="+mj-lt"/>
                  <a:cs typeface="Arial"/>
                </a:rPr>
                <a:t>26</a:t>
              </a:r>
              <a:r>
                <a:rPr lang="en-GB" sz="1500" b="1" kern="0" baseline="30000">
                  <a:solidFill>
                    <a:schemeClr val="bg1"/>
                  </a:solidFill>
                  <a:latin typeface="+mj-lt"/>
                  <a:cs typeface="Arial"/>
                </a:rPr>
                <a:t>th</a:t>
              </a:r>
              <a:r>
                <a:rPr lang="en-GB" sz="1500" b="1" kern="0">
                  <a:solidFill>
                    <a:schemeClr val="bg1"/>
                  </a:solidFill>
                  <a:latin typeface="+mj-lt"/>
                  <a:cs typeface="Arial"/>
                </a:rPr>
                <a:t> </a:t>
              </a:r>
              <a:r>
                <a:rPr lang="en-GB" sz="1500" b="1" kern="0">
                  <a:solidFill>
                    <a:schemeClr val="bg1"/>
                  </a:solidFill>
                  <a:latin typeface="+mj-lt"/>
                  <a:cs typeface="Calibri"/>
                </a:rPr>
                <a:t>May </a:t>
              </a:r>
              <a:r>
                <a:rPr lang="en-GB" sz="1500" b="1" kern="0">
                  <a:solidFill>
                    <a:schemeClr val="bg1"/>
                  </a:solidFill>
                  <a:latin typeface="+mj-lt"/>
                  <a:cs typeface="Arial"/>
                </a:rPr>
                <a:t>2026 – 1</a:t>
              </a:r>
              <a:r>
                <a:rPr lang="en-GB" sz="1500" b="1" kern="0" baseline="30000">
                  <a:solidFill>
                    <a:schemeClr val="bg1"/>
                  </a:solidFill>
                  <a:latin typeface="+mj-lt"/>
                  <a:cs typeface="Arial"/>
                </a:rPr>
                <a:t>st</a:t>
              </a:r>
              <a:r>
                <a:rPr lang="en-GB" sz="1500" b="1" kern="0">
                  <a:solidFill>
                    <a:schemeClr val="bg1"/>
                  </a:solidFill>
                  <a:latin typeface="+mj-lt"/>
                  <a:cs typeface="Arial"/>
                </a:rPr>
                <a:t> June 2026</a:t>
              </a:r>
            </a:p>
          </p:txBody>
        </p:sp>
        <p:sp>
          <p:nvSpPr>
            <p:cNvPr id="16" name="Rectangle 15">
              <a:extLst>
                <a:ext uri="{FF2B5EF4-FFF2-40B4-BE49-F238E27FC236}">
                  <a16:creationId xmlns:a16="http://schemas.microsoft.com/office/drawing/2014/main" id="{C332AE40-34C7-AD96-0A43-C429CD7E27B7}"/>
                </a:ext>
              </a:extLst>
            </p:cNvPr>
            <p:cNvSpPr/>
            <p:nvPr/>
          </p:nvSpPr>
          <p:spPr bwMode="auto">
            <a:xfrm>
              <a:off x="570971" y="1682431"/>
              <a:ext cx="1440000" cy="238706"/>
            </a:xfrm>
            <a:prstGeom prst="rect">
              <a:avLst/>
            </a:prstGeom>
            <a:grp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defTabSz="1564584" eaLnBrk="1" fontAlgn="auto" latinLnBrk="0" hangingPunct="1">
                <a:lnSpc>
                  <a:spcPct val="100000"/>
                </a:lnSpc>
                <a:spcBef>
                  <a:spcPts val="0"/>
                </a:spcBef>
                <a:spcAft>
                  <a:spcPts val="0"/>
                </a:spcAft>
                <a:buClrTx/>
                <a:buSzTx/>
                <a:buFontTx/>
                <a:buNone/>
                <a:tabLst/>
                <a:defRPr/>
              </a:pPr>
              <a:r>
                <a:rPr lang="en-GB" sz="1500" b="1" kern="0">
                  <a:solidFill>
                    <a:schemeClr val="bg1"/>
                  </a:solidFill>
                  <a:latin typeface="+mj-lt"/>
                  <a:cs typeface="Arial" pitchFamily="34" charset="0"/>
                </a:rPr>
                <a:t>Business</a:t>
              </a:r>
              <a:r>
                <a:rPr kumimoji="0" lang="en-GB" sz="1500" b="1" i="0" u="none" strike="noStrike" kern="0" cap="none" spc="0" normalizeH="0" baseline="0" noProof="0">
                  <a:ln>
                    <a:noFill/>
                  </a:ln>
                  <a:solidFill>
                    <a:schemeClr val="bg1"/>
                  </a:solidFill>
                  <a:effectLst/>
                  <a:uLnTx/>
                  <a:uFillTx/>
                  <a:latin typeface="+mj-lt"/>
                  <a:cs typeface="Arial" pitchFamily="34" charset="0"/>
                </a:rPr>
                <a:t> Owner</a:t>
              </a:r>
            </a:p>
          </p:txBody>
        </p:sp>
        <p:sp>
          <p:nvSpPr>
            <p:cNvPr id="17" name="Rectangle 16">
              <a:extLst>
                <a:ext uri="{FF2B5EF4-FFF2-40B4-BE49-F238E27FC236}">
                  <a16:creationId xmlns:a16="http://schemas.microsoft.com/office/drawing/2014/main" id="{828D7B40-E87D-231A-024A-8A59F00874EB}"/>
                </a:ext>
              </a:extLst>
            </p:cNvPr>
            <p:cNvSpPr/>
            <p:nvPr/>
          </p:nvSpPr>
          <p:spPr bwMode="auto">
            <a:xfrm>
              <a:off x="2130820" y="1682431"/>
              <a:ext cx="1798212" cy="214907"/>
            </a:xfrm>
            <a:prstGeom prst="rect">
              <a:avLst/>
            </a:prstGeom>
            <a:grp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US" sz="1500" kern="0">
                  <a:latin typeface="+mj-lt"/>
                  <a:cs typeface="Arial" pitchFamily="34" charset="0"/>
                </a:rPr>
                <a:t> </a:t>
              </a:r>
              <a:r>
                <a:rPr lang="en-US" sz="1500" b="1" kern="0">
                  <a:solidFill>
                    <a:schemeClr val="bg1"/>
                  </a:solidFill>
                  <a:latin typeface="+mj-lt"/>
                  <a:cs typeface="Arial" pitchFamily="34" charset="0"/>
                </a:rPr>
                <a:t>Goran Burhan – Ibrahim Khalil</a:t>
              </a:r>
              <a:endParaRPr lang="en-GB" sz="1500" b="1" kern="0">
                <a:solidFill>
                  <a:schemeClr val="bg1"/>
                </a:solidFill>
                <a:latin typeface="+mj-lt"/>
                <a:cs typeface="Arial" pitchFamily="34" charset="0"/>
              </a:endParaRPr>
            </a:p>
          </p:txBody>
        </p:sp>
        <p:sp>
          <p:nvSpPr>
            <p:cNvPr id="18" name="Rectangle 17">
              <a:extLst>
                <a:ext uri="{FF2B5EF4-FFF2-40B4-BE49-F238E27FC236}">
                  <a16:creationId xmlns:a16="http://schemas.microsoft.com/office/drawing/2014/main" id="{62828A1A-4AAD-7043-F75A-A61CC86C8CEF}"/>
                </a:ext>
              </a:extLst>
            </p:cNvPr>
            <p:cNvSpPr/>
            <p:nvPr/>
          </p:nvSpPr>
          <p:spPr bwMode="auto">
            <a:xfrm>
              <a:off x="567987" y="1944101"/>
              <a:ext cx="1440000" cy="256198"/>
            </a:xfrm>
            <a:prstGeom prst="rect">
              <a:avLst/>
            </a:prstGeom>
            <a:grp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itchFamily="34" charset="0"/>
                </a:rPr>
                <a:t>Project Manager</a:t>
              </a:r>
            </a:p>
          </p:txBody>
        </p:sp>
        <p:sp>
          <p:nvSpPr>
            <p:cNvPr id="19" name="Rectangle 18">
              <a:extLst>
                <a:ext uri="{FF2B5EF4-FFF2-40B4-BE49-F238E27FC236}">
                  <a16:creationId xmlns:a16="http://schemas.microsoft.com/office/drawing/2014/main" id="{F2094858-EAF1-B6E3-017E-59E2E1DBCBD8}"/>
                </a:ext>
              </a:extLst>
            </p:cNvPr>
            <p:cNvSpPr/>
            <p:nvPr/>
          </p:nvSpPr>
          <p:spPr bwMode="auto">
            <a:xfrm>
              <a:off x="2127836" y="1944101"/>
              <a:ext cx="1800000" cy="256198"/>
            </a:xfrm>
            <a:prstGeom prst="rect">
              <a:avLst/>
            </a:prstGeom>
            <a:grp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GB" sz="1500" b="1" kern="0">
                  <a:solidFill>
                    <a:schemeClr val="bg1"/>
                  </a:solidFill>
                  <a:latin typeface="+mj-lt"/>
                  <a:cs typeface="Arial" pitchFamily="34" charset="0"/>
                </a:rPr>
                <a:t>Ali </a:t>
              </a:r>
              <a:r>
                <a:rPr lang="en-GB" sz="1500" b="1" kern="0" err="1">
                  <a:solidFill>
                    <a:schemeClr val="bg1"/>
                  </a:solidFill>
                  <a:latin typeface="+mj-lt"/>
                  <a:cs typeface="Arial" pitchFamily="34" charset="0"/>
                </a:rPr>
                <a:t>Zirak</a:t>
              </a:r>
              <a:r>
                <a:rPr lang="en-GB" sz="1500" b="1" kern="0">
                  <a:solidFill>
                    <a:schemeClr val="bg1"/>
                  </a:solidFill>
                  <a:latin typeface="+mj-lt"/>
                  <a:cs typeface="Arial" pitchFamily="34" charset="0"/>
                </a:rPr>
                <a:t> </a:t>
              </a:r>
            </a:p>
          </p:txBody>
        </p:sp>
      </p:grpSp>
      <p:grpSp>
        <p:nvGrpSpPr>
          <p:cNvPr id="20" name="Group 19">
            <a:extLst>
              <a:ext uri="{FF2B5EF4-FFF2-40B4-BE49-F238E27FC236}">
                <a16:creationId xmlns:a16="http://schemas.microsoft.com/office/drawing/2014/main" id="{3FEE7706-69BF-AEB9-C297-EC052D408635}"/>
              </a:ext>
            </a:extLst>
          </p:cNvPr>
          <p:cNvGrpSpPr/>
          <p:nvPr/>
        </p:nvGrpSpPr>
        <p:grpSpPr>
          <a:xfrm>
            <a:off x="826418" y="3984328"/>
            <a:ext cx="16601636" cy="1661530"/>
            <a:chOff x="546946" y="2118000"/>
            <a:chExt cx="8433316" cy="1513155"/>
          </a:xfrm>
        </p:grpSpPr>
        <p:sp>
          <p:nvSpPr>
            <p:cNvPr id="21" name="Rectangle 20">
              <a:extLst>
                <a:ext uri="{FF2B5EF4-FFF2-40B4-BE49-F238E27FC236}">
                  <a16:creationId xmlns:a16="http://schemas.microsoft.com/office/drawing/2014/main" id="{40BEDDC8-21E0-611B-B1E3-09C4DDE66CDC}"/>
                </a:ext>
              </a:extLst>
            </p:cNvPr>
            <p:cNvSpPr/>
            <p:nvPr/>
          </p:nvSpPr>
          <p:spPr bwMode="auto">
            <a:xfrm>
              <a:off x="554704" y="2954084"/>
              <a:ext cx="8425558" cy="277524"/>
            </a:xfrm>
            <a:prstGeom prst="rect">
              <a:avLst/>
            </a:prstGeom>
            <a:solidFill>
              <a:srgbClr val="002060"/>
            </a:solid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GB" sz="1650" b="1" kern="0">
                  <a:solidFill>
                    <a:schemeClr val="bg1"/>
                  </a:solidFill>
                  <a:latin typeface="+mj-lt"/>
                  <a:cs typeface="Arial" panose="020B0604020202020204" pitchFamily="34" charset="0"/>
                </a:rPr>
                <a:t>Key Risks, Issues, &amp; Decisions </a:t>
              </a:r>
            </a:p>
          </p:txBody>
        </p:sp>
        <p:sp>
          <p:nvSpPr>
            <p:cNvPr id="22" name="Rectangle 21">
              <a:extLst>
                <a:ext uri="{FF2B5EF4-FFF2-40B4-BE49-F238E27FC236}">
                  <a16:creationId xmlns:a16="http://schemas.microsoft.com/office/drawing/2014/main" id="{F48759DA-7C06-6A6F-0DB1-09D3024D3B8D}"/>
                </a:ext>
              </a:extLst>
            </p:cNvPr>
            <p:cNvSpPr/>
            <p:nvPr/>
          </p:nvSpPr>
          <p:spPr bwMode="gray">
            <a:xfrm>
              <a:off x="547685" y="2284797"/>
              <a:ext cx="8432577" cy="1263745"/>
            </a:xfrm>
            <a:prstGeom prst="rect">
              <a:avLst/>
            </a:prstGeom>
            <a:solidFill>
              <a:schemeClr val="bg1">
                <a:lumMod val="95000"/>
              </a:schemeClr>
            </a:solidFill>
            <a:ln w="19050" algn="ctr">
              <a:no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IN"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3" name="Rectangle 22">
              <a:extLst>
                <a:ext uri="{FF2B5EF4-FFF2-40B4-BE49-F238E27FC236}">
                  <a16:creationId xmlns:a16="http://schemas.microsoft.com/office/drawing/2014/main" id="{1215F906-3DCC-8F89-E714-DEA02CF77022}"/>
                </a:ext>
              </a:extLst>
            </p:cNvPr>
            <p:cNvSpPr/>
            <p:nvPr/>
          </p:nvSpPr>
          <p:spPr bwMode="gray">
            <a:xfrm>
              <a:off x="554699" y="2272675"/>
              <a:ext cx="6927175" cy="1259602"/>
            </a:xfrm>
            <a:prstGeom prst="rect">
              <a:avLst/>
            </a:prstGeom>
            <a:solidFill>
              <a:srgbClr val="00B0F0">
                <a:alpha val="13000"/>
              </a:srgbClr>
            </a:solidFill>
            <a:ln w="19050" algn="ctr">
              <a:no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24" name="Straight Connector 23">
              <a:extLst>
                <a:ext uri="{FF2B5EF4-FFF2-40B4-BE49-F238E27FC236}">
                  <a16:creationId xmlns:a16="http://schemas.microsoft.com/office/drawing/2014/main" id="{5AF701FD-DBB5-8A26-61E8-FC312899674F}"/>
                </a:ext>
              </a:extLst>
            </p:cNvPr>
            <p:cNvCxnSpPr>
              <a:cxnSpLocks/>
            </p:cNvCxnSpPr>
            <p:nvPr/>
          </p:nvCxnSpPr>
          <p:spPr>
            <a:xfrm>
              <a:off x="1115378" y="2938495"/>
              <a:ext cx="7590112" cy="65734"/>
            </a:xfrm>
            <a:prstGeom prst="line">
              <a:avLst/>
            </a:prstGeom>
            <a:ln w="22225">
              <a:solidFill>
                <a:schemeClr val="tx1">
                  <a:lumMod val="75000"/>
                  <a:lumOff val="2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035D7E8B-25D0-26E7-FF46-4CE738391C32}"/>
                </a:ext>
              </a:extLst>
            </p:cNvPr>
            <p:cNvSpPr txBox="1"/>
            <p:nvPr/>
          </p:nvSpPr>
          <p:spPr>
            <a:xfrm>
              <a:off x="1789074" y="2118000"/>
              <a:ext cx="1830889" cy="567590"/>
            </a:xfrm>
            <a:prstGeom prst="rect">
              <a:avLst/>
            </a:prstGeom>
            <a:noFill/>
          </p:spPr>
          <p:txBody>
            <a:bodyPr wrap="square" lIns="0" r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altLang="ko-KR" sz="1575"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Planning </a:t>
              </a:r>
            </a:p>
            <a:p>
              <a:pPr marL="0" marR="0" lvl="0" indent="0" algn="ctr" defTabSz="1371600" rtl="0" eaLnBrk="1" fontAlgn="auto" latinLnBrk="0" hangingPunct="1">
                <a:lnSpc>
                  <a:spcPct val="100000"/>
                </a:lnSpc>
                <a:spcBef>
                  <a:spcPts val="0"/>
                </a:spcBef>
                <a:spcAft>
                  <a:spcPts val="0"/>
                </a:spcAft>
                <a:buClrTx/>
                <a:buSzTx/>
                <a:buFontTx/>
                <a:buNone/>
                <a:tabLst/>
                <a:defRPr/>
              </a:pPr>
              <a:r>
                <a:rPr lang="en-US" altLang="ko-KR" sz="1575" b="1">
                  <a:solidFill>
                    <a:prstClr val="black"/>
                  </a:solidFill>
                  <a:latin typeface="Arial" panose="020B0604020202020204" pitchFamily="34" charset="0"/>
                  <a:cs typeface="Arial" panose="020B0604020202020204" pitchFamily="34" charset="0"/>
                </a:rPr>
                <a:t>for training - SIT – UAT  </a:t>
              </a:r>
              <a:endParaRPr kumimoji="0" lang="en-US" altLang="ko-KR" sz="1575"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7" name="TextBox 26">
              <a:extLst>
                <a:ext uri="{FF2B5EF4-FFF2-40B4-BE49-F238E27FC236}">
                  <a16:creationId xmlns:a16="http://schemas.microsoft.com/office/drawing/2014/main" id="{293CCC86-9D0A-C508-7DA7-CF1BE5F64CF1}"/>
                </a:ext>
              </a:extLst>
            </p:cNvPr>
            <p:cNvSpPr txBox="1"/>
            <p:nvPr/>
          </p:nvSpPr>
          <p:spPr>
            <a:xfrm>
              <a:off x="546946" y="2255991"/>
              <a:ext cx="1461722" cy="408424"/>
            </a:xfrm>
            <a:prstGeom prst="rect">
              <a:avLst/>
            </a:prstGeom>
            <a:noFill/>
          </p:spPr>
          <p:txBody>
            <a:bodyPr wrap="square" lIns="0" r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altLang="ko-KR" sz="1575"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Initiation and Requirements</a:t>
              </a:r>
              <a:endParaRPr kumimoji="0" lang="ko-KR" altLang="en-US" sz="1575"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cxnSp>
          <p:nvCxnSpPr>
            <p:cNvPr id="28" name="Straight Connector 27">
              <a:extLst>
                <a:ext uri="{FF2B5EF4-FFF2-40B4-BE49-F238E27FC236}">
                  <a16:creationId xmlns:a16="http://schemas.microsoft.com/office/drawing/2014/main" id="{D3CC0F5C-393C-2ECF-1320-2323946FBFBD}"/>
                </a:ext>
              </a:extLst>
            </p:cNvPr>
            <p:cNvCxnSpPr>
              <a:cxnSpLocks/>
            </p:cNvCxnSpPr>
            <p:nvPr/>
          </p:nvCxnSpPr>
          <p:spPr>
            <a:xfrm>
              <a:off x="1110270" y="2640775"/>
              <a:ext cx="0" cy="271613"/>
            </a:xfrm>
            <a:prstGeom prst="line">
              <a:avLst/>
            </a:prstGeom>
            <a:solidFill>
              <a:srgbClr val="BFBFBF"/>
            </a:solidFill>
            <a:ln w="19050">
              <a:solidFill>
                <a:srgbClr val="002060"/>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46597570-400A-B169-AC27-F8018D860F28}"/>
                </a:ext>
              </a:extLst>
            </p:cNvPr>
            <p:cNvSpPr txBox="1"/>
            <p:nvPr/>
          </p:nvSpPr>
          <p:spPr>
            <a:xfrm>
              <a:off x="554699" y="3322020"/>
              <a:ext cx="1096955" cy="272282"/>
            </a:xfrm>
            <a:prstGeom prst="rect">
              <a:avLst/>
            </a:prstGeom>
            <a:noFill/>
          </p:spPr>
          <p:txBody>
            <a:bodyPr wrap="square" lIns="0" tIns="0" rIns="0" b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altLang="ko-KR" sz="165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Feb</a:t>
              </a:r>
              <a:endParaRPr kumimoji="0" lang="ko-KR" altLang="en-US" sz="165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5" name="TextBox 34">
              <a:extLst>
                <a:ext uri="{FF2B5EF4-FFF2-40B4-BE49-F238E27FC236}">
                  <a16:creationId xmlns:a16="http://schemas.microsoft.com/office/drawing/2014/main" id="{DA4FE3F6-45FC-4535-BD88-6F6A50E9DBE2}"/>
                </a:ext>
              </a:extLst>
            </p:cNvPr>
            <p:cNvSpPr txBox="1"/>
            <p:nvPr/>
          </p:nvSpPr>
          <p:spPr>
            <a:xfrm>
              <a:off x="7379482" y="2316843"/>
              <a:ext cx="1404056" cy="408424"/>
            </a:xfrm>
            <a:prstGeom prst="rect">
              <a:avLst/>
            </a:prstGeom>
            <a:noFill/>
          </p:spPr>
          <p:txBody>
            <a:bodyPr wrap="square" lIns="0" r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575"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Go-live</a:t>
              </a:r>
              <a:endParaRPr kumimoji="0" lang="ko-KR" altLang="en-US" sz="1575"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cxnSp>
          <p:nvCxnSpPr>
            <p:cNvPr id="36" name="Straight Connector 35">
              <a:extLst>
                <a:ext uri="{FF2B5EF4-FFF2-40B4-BE49-F238E27FC236}">
                  <a16:creationId xmlns:a16="http://schemas.microsoft.com/office/drawing/2014/main" id="{CEDE1D9B-D727-0F7D-EA14-E4C12F559C80}"/>
                </a:ext>
              </a:extLst>
            </p:cNvPr>
            <p:cNvCxnSpPr>
              <a:cxnSpLocks/>
            </p:cNvCxnSpPr>
            <p:nvPr/>
          </p:nvCxnSpPr>
          <p:spPr>
            <a:xfrm>
              <a:off x="8093321" y="2673270"/>
              <a:ext cx="0" cy="258338"/>
            </a:xfrm>
            <a:prstGeom prst="line">
              <a:avLst/>
            </a:prstGeom>
            <a:ln w="19050">
              <a:solidFill>
                <a:srgbClr val="D1D1D1"/>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4E29E236-8F81-2EF0-C596-60B7A0823B00}"/>
                </a:ext>
              </a:extLst>
            </p:cNvPr>
            <p:cNvSpPr txBox="1"/>
            <p:nvPr/>
          </p:nvSpPr>
          <p:spPr>
            <a:xfrm>
              <a:off x="7551925" y="3126629"/>
              <a:ext cx="1096955" cy="504526"/>
            </a:xfrm>
            <a:prstGeom prst="rect">
              <a:avLst/>
            </a:prstGeom>
            <a:noFill/>
          </p:spPr>
          <p:txBody>
            <a:bodyPr wrap="square" lIns="0" tIns="0" rIns="0" bIns="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defRPr/>
              </a:pPr>
              <a:endParaRPr lang="en-US" sz="1200" b="1">
                <a:latin typeface="Arial"/>
                <a:ea typeface="맑은 고딕"/>
                <a:cs typeface="Arial"/>
              </a:endParaRPr>
            </a:p>
            <a:p>
              <a:pPr marL="0" marR="0" lvl="0" indent="0" algn="ctr" defTabSz="1371600">
                <a:lnSpc>
                  <a:spcPct val="100000"/>
                </a:lnSpc>
                <a:spcBef>
                  <a:spcPts val="0"/>
                </a:spcBef>
                <a:spcAft>
                  <a:spcPts val="0"/>
                </a:spcAft>
                <a:buClrTx/>
                <a:buSzTx/>
                <a:buFontTx/>
                <a:buNone/>
                <a:tabLst/>
                <a:defRPr/>
              </a:pPr>
              <a:r>
                <a:rPr lang="en-US" sz="1200" b="1">
                  <a:latin typeface="Arial"/>
                  <a:ea typeface="맑은 고딕"/>
                  <a:cs typeface="Arial"/>
                </a:rPr>
                <a:t>10th May</a:t>
              </a:r>
              <a:endParaRPr lang="en-US" sz="1200">
                <a:latin typeface="Arial"/>
                <a:ea typeface="맑은 고딕"/>
                <a:cs typeface="Arial"/>
              </a:endParaRPr>
            </a:p>
            <a:p>
              <a:pPr algn="ctr">
                <a:defRPr/>
              </a:pPr>
              <a:endParaRPr lang="en-US" altLang="ko-KR" sz="1200" b="1" i="0" u="none" strike="sngStrike" kern="1200" cap="none" spc="0" normalizeH="0" baseline="0" noProof="0">
                <a:ln>
                  <a:noFill/>
                </a:ln>
                <a:effectLst/>
                <a:uLnTx/>
                <a:uFillTx/>
                <a:latin typeface="Arial" panose="020B0604020202020204" pitchFamily="34" charset="0"/>
                <a:ea typeface="맑은 고딕"/>
                <a:cs typeface="Arial" panose="020B0604020202020204" pitchFamily="34" charset="0"/>
              </a:endParaRPr>
            </a:p>
          </p:txBody>
        </p:sp>
      </p:grpSp>
      <p:sp>
        <p:nvSpPr>
          <p:cNvPr id="77" name="TextBox 76">
            <a:extLst>
              <a:ext uri="{FF2B5EF4-FFF2-40B4-BE49-F238E27FC236}">
                <a16:creationId xmlns:a16="http://schemas.microsoft.com/office/drawing/2014/main" id="{4318D197-5967-977E-40D9-93732156D740}"/>
              </a:ext>
            </a:extLst>
          </p:cNvPr>
          <p:cNvSpPr txBox="1"/>
          <p:nvPr/>
        </p:nvSpPr>
        <p:spPr>
          <a:xfrm>
            <a:off x="5506694" y="4117238"/>
            <a:ext cx="3604247" cy="577081"/>
          </a:xfrm>
          <a:prstGeom prst="rect">
            <a:avLst/>
          </a:prstGeom>
          <a:noFill/>
        </p:spPr>
        <p:txBody>
          <a:bodyPr wrap="square" lIns="0" r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lang="en-US" altLang="ko-KR" sz="1575" b="1">
                <a:solidFill>
                  <a:prstClr val="black"/>
                </a:solidFill>
                <a:latin typeface="Arial" panose="020B0604020202020204" pitchFamily="34" charset="0"/>
                <a:cs typeface="Arial" panose="020B0604020202020204" pitchFamily="34" charset="0"/>
              </a:rPr>
              <a:t>Hardware </a:t>
            </a:r>
          </a:p>
          <a:p>
            <a:pPr marL="0" marR="0" lvl="0" indent="0" algn="ctr" defTabSz="1371600" rtl="0" eaLnBrk="1" fontAlgn="auto" latinLnBrk="0" hangingPunct="1">
              <a:lnSpc>
                <a:spcPct val="100000"/>
              </a:lnSpc>
              <a:spcBef>
                <a:spcPts val="0"/>
              </a:spcBef>
              <a:spcAft>
                <a:spcPts val="0"/>
              </a:spcAft>
              <a:buClrTx/>
              <a:buSzTx/>
              <a:buFontTx/>
              <a:buNone/>
              <a:tabLst/>
              <a:defRPr/>
            </a:pPr>
            <a:r>
              <a:rPr lang="en-US" altLang="ko-KR" sz="1575" b="1">
                <a:solidFill>
                  <a:prstClr val="black"/>
                </a:solidFill>
                <a:latin typeface="Arial" panose="020B0604020202020204" pitchFamily="34" charset="0"/>
                <a:cs typeface="Arial" panose="020B0604020202020204" pitchFamily="34" charset="0"/>
              </a:rPr>
              <a:t>Preparation</a:t>
            </a:r>
            <a:endParaRPr kumimoji="0" lang="en-US" altLang="ko-KR" sz="1575"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 name="TextBox 1">
            <a:extLst>
              <a:ext uri="{FF2B5EF4-FFF2-40B4-BE49-F238E27FC236}">
                <a16:creationId xmlns:a16="http://schemas.microsoft.com/office/drawing/2014/main" id="{2399786E-DC95-3567-DFF3-FF657B4B8C13}"/>
              </a:ext>
            </a:extLst>
          </p:cNvPr>
          <p:cNvSpPr txBox="1"/>
          <p:nvPr/>
        </p:nvSpPr>
        <p:spPr>
          <a:xfrm>
            <a:off x="3901957" y="4904935"/>
            <a:ext cx="2159441" cy="761747"/>
          </a:xfrm>
          <a:prstGeom prst="rect">
            <a:avLst/>
          </a:prstGeom>
          <a:noFill/>
        </p:spPr>
        <p:txBody>
          <a:bodyPr wrap="square" lIns="0" tIns="0" rIns="0" b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lang="en-US" altLang="ko-KR" sz="1650" b="1" strike="sngStrike">
                <a:solidFill>
                  <a:prstClr val="black"/>
                </a:solidFill>
                <a:latin typeface="Arial" panose="020B0604020202020204" pitchFamily="34" charset="0"/>
                <a:cs typeface="Arial" panose="020B0604020202020204" pitchFamily="34" charset="0"/>
              </a:rPr>
              <a:t>May</a:t>
            </a:r>
          </a:p>
          <a:p>
            <a:pPr marL="0" marR="0" lvl="0" indent="0" algn="ctr" defTabSz="1371600" rtl="0" eaLnBrk="1" fontAlgn="auto" latinLnBrk="0" hangingPunct="1">
              <a:lnSpc>
                <a:spcPct val="100000"/>
              </a:lnSpc>
              <a:spcBef>
                <a:spcPts val="0"/>
              </a:spcBef>
              <a:spcAft>
                <a:spcPts val="0"/>
              </a:spcAft>
              <a:buClrTx/>
              <a:buSzTx/>
              <a:buFontTx/>
              <a:buNone/>
              <a:tabLst/>
              <a:defRPr/>
            </a:pPr>
            <a:r>
              <a:rPr lang="en-US" altLang="ko-KR" sz="1650" b="1" strike="sngStrike">
                <a:solidFill>
                  <a:prstClr val="black"/>
                </a:solidFill>
                <a:latin typeface="Arial" panose="020B0604020202020204" pitchFamily="34" charset="0"/>
                <a:cs typeface="Arial" panose="020B0604020202020204" pitchFamily="34" charset="0"/>
              </a:rPr>
              <a:t>June</a:t>
            </a:r>
          </a:p>
          <a:p>
            <a:pPr marL="0" marR="0" lvl="0" indent="0" algn="ctr" defTabSz="1371600" rtl="0" eaLnBrk="1" fontAlgn="auto" latinLnBrk="0" hangingPunct="1">
              <a:lnSpc>
                <a:spcPct val="100000"/>
              </a:lnSpc>
              <a:spcBef>
                <a:spcPts val="0"/>
              </a:spcBef>
              <a:spcAft>
                <a:spcPts val="0"/>
              </a:spcAft>
              <a:buClrTx/>
              <a:buSzTx/>
              <a:buFontTx/>
              <a:buNone/>
              <a:tabLst/>
              <a:defRPr/>
            </a:pPr>
            <a:r>
              <a:rPr lang="en-US" altLang="ko-KR" sz="1650" b="1">
                <a:solidFill>
                  <a:prstClr val="black"/>
                </a:solidFill>
                <a:latin typeface="Arial" panose="020B0604020202020204" pitchFamily="34" charset="0"/>
                <a:cs typeface="Arial" panose="020B0604020202020204" pitchFamily="34" charset="0"/>
              </a:rPr>
              <a:t>July</a:t>
            </a:r>
            <a:endParaRPr lang="ko-KR" altLang="en-US" sz="1650" b="1">
              <a:solidFill>
                <a:prstClr val="black"/>
              </a:solidFill>
              <a:latin typeface="Arial" panose="020B0604020202020204" pitchFamily="34" charset="0"/>
              <a:cs typeface="Arial" panose="020B0604020202020204" pitchFamily="34" charset="0"/>
            </a:endParaRPr>
          </a:p>
        </p:txBody>
      </p:sp>
      <p:cxnSp>
        <p:nvCxnSpPr>
          <p:cNvPr id="55" name="Straight Connector 54">
            <a:extLst>
              <a:ext uri="{FF2B5EF4-FFF2-40B4-BE49-F238E27FC236}">
                <a16:creationId xmlns:a16="http://schemas.microsoft.com/office/drawing/2014/main" id="{46E98C2D-B3A4-B7BC-50FA-D7BFA9022D4D}"/>
              </a:ext>
            </a:extLst>
          </p:cNvPr>
          <p:cNvCxnSpPr>
            <a:cxnSpLocks/>
          </p:cNvCxnSpPr>
          <p:nvPr/>
        </p:nvCxnSpPr>
        <p:spPr>
          <a:xfrm>
            <a:off x="12707984" y="4403267"/>
            <a:ext cx="81977" cy="429086"/>
          </a:xfrm>
          <a:prstGeom prst="line">
            <a:avLst/>
          </a:prstGeom>
          <a:ln w="19050">
            <a:solidFill>
              <a:schemeClr val="bg1">
                <a:lumMod val="75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D5E75186-277F-1D68-6A98-CEB4DBFE2195}"/>
              </a:ext>
            </a:extLst>
          </p:cNvPr>
          <p:cNvSpPr txBox="1"/>
          <p:nvPr/>
        </p:nvSpPr>
        <p:spPr>
          <a:xfrm>
            <a:off x="11012729" y="4138277"/>
            <a:ext cx="3604247" cy="334707"/>
          </a:xfrm>
          <a:prstGeom prst="rect">
            <a:avLst/>
          </a:prstGeom>
          <a:noFill/>
        </p:spPr>
        <p:txBody>
          <a:bodyPr wrap="square" lIns="0" r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lang="en-US" altLang="ko-KR" sz="1575" b="1">
                <a:solidFill>
                  <a:prstClr val="black"/>
                </a:solidFill>
                <a:latin typeface="Arial" panose="020B0604020202020204" pitchFamily="34" charset="0"/>
                <a:cs typeface="Arial" panose="020B0604020202020204" pitchFamily="34" charset="0"/>
              </a:rPr>
              <a:t>App Installation &amp; SIT</a:t>
            </a:r>
            <a:endParaRPr kumimoji="0" lang="en-US" altLang="ko-KR" sz="1575"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9" name="TextBox 58">
            <a:extLst>
              <a:ext uri="{FF2B5EF4-FFF2-40B4-BE49-F238E27FC236}">
                <a16:creationId xmlns:a16="http://schemas.microsoft.com/office/drawing/2014/main" id="{549048DD-A33C-FF2A-6A71-9B58A01D4646}"/>
              </a:ext>
            </a:extLst>
          </p:cNvPr>
          <p:cNvSpPr txBox="1"/>
          <p:nvPr/>
        </p:nvSpPr>
        <p:spPr>
          <a:xfrm>
            <a:off x="6200909" y="5179457"/>
            <a:ext cx="2159441" cy="253916"/>
          </a:xfrm>
          <a:prstGeom prst="rect">
            <a:avLst/>
          </a:prstGeom>
          <a:noFill/>
        </p:spPr>
        <p:txBody>
          <a:bodyPr wrap="square" lIns="0" tIns="0" rIns="0" b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altLang="ko-KR" sz="1650" b="1" i="0" u="non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May</a:t>
            </a:r>
            <a:endParaRPr kumimoji="0" lang="ko-KR" altLang="en-US" sz="1650" b="1" i="0" u="non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0" name="TextBox 59">
            <a:extLst>
              <a:ext uri="{FF2B5EF4-FFF2-40B4-BE49-F238E27FC236}">
                <a16:creationId xmlns:a16="http://schemas.microsoft.com/office/drawing/2014/main" id="{FC680BCA-058C-615D-0A1C-03226A8B7617}"/>
              </a:ext>
            </a:extLst>
          </p:cNvPr>
          <p:cNvSpPr txBox="1"/>
          <p:nvPr/>
        </p:nvSpPr>
        <p:spPr>
          <a:xfrm>
            <a:off x="11735134" y="5143131"/>
            <a:ext cx="2159441" cy="369332"/>
          </a:xfrm>
          <a:prstGeom prst="rect">
            <a:avLst/>
          </a:prstGeom>
          <a:noFill/>
        </p:spPr>
        <p:txBody>
          <a:bodyPr wrap="square" lIns="0" tIns="0" rIns="0" bIns="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lang="en-US" altLang="ko-KR" sz="1200" b="1" strike="sngStrike">
              <a:solidFill>
                <a:prstClr val="black"/>
              </a:solidFill>
              <a:latin typeface="Arial"/>
              <a:ea typeface="맑은 고딕"/>
              <a:cs typeface="Arial"/>
            </a:endParaRPr>
          </a:p>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altLang="ko-KR" sz="1200" b="1" i="0" u="none" kern="1200" cap="none" spc="0" normalizeH="0" baseline="0" noProof="0">
                <a:ln>
                  <a:noFill/>
                </a:ln>
                <a:solidFill>
                  <a:prstClr val="black"/>
                </a:solidFill>
                <a:effectLst/>
                <a:uLnTx/>
                <a:uFillTx/>
                <a:latin typeface="Arial"/>
                <a:ea typeface="맑은 고딕"/>
                <a:cs typeface="Arial"/>
              </a:rPr>
              <a:t>Nov</a:t>
            </a:r>
            <a:endParaRPr kumimoji="0" lang="ko-KR" altLang="en-US" sz="1200" b="1" i="0" u="none" kern="1200" cap="none" spc="0" normalizeH="0" baseline="0" noProof="0">
              <a:ln>
                <a:noFill/>
              </a:ln>
              <a:solidFill>
                <a:prstClr val="black"/>
              </a:solidFill>
              <a:effectLst/>
              <a:uLnTx/>
              <a:uFillTx/>
              <a:latin typeface="Arial"/>
              <a:ea typeface="맑은 고딕"/>
              <a:cs typeface="Arial"/>
            </a:endParaRPr>
          </a:p>
        </p:txBody>
      </p:sp>
      <p:sp>
        <p:nvSpPr>
          <p:cNvPr id="30" name="Rectangle 29">
            <a:extLst>
              <a:ext uri="{FF2B5EF4-FFF2-40B4-BE49-F238E27FC236}">
                <a16:creationId xmlns:a16="http://schemas.microsoft.com/office/drawing/2014/main" id="{B0C91C1F-DD81-9340-1A91-938BAC697108}"/>
              </a:ext>
            </a:extLst>
          </p:cNvPr>
          <p:cNvSpPr/>
          <p:nvPr/>
        </p:nvSpPr>
        <p:spPr bwMode="auto">
          <a:xfrm>
            <a:off x="15847604" y="2530028"/>
            <a:ext cx="1574978" cy="533700"/>
          </a:xfrm>
          <a:prstGeom prst="rect">
            <a:avLst/>
          </a:prstGeom>
          <a:solidFill>
            <a:srgbClr val="E2F0D9"/>
          </a:solidFill>
          <a:ln w="9525" cap="flat" cmpd="sng" algn="ctr">
            <a:solidFill>
              <a:srgbClr val="FFCCCC"/>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defTabSz="1564584">
              <a:defRPr/>
            </a:pPr>
            <a:r>
              <a:rPr lang="en-US" sz="1500" b="1" kern="0">
                <a:solidFill>
                  <a:prstClr val="black"/>
                </a:solidFill>
                <a:latin typeface="+mj-lt"/>
                <a:cs typeface="Arial" panose="020B0604020202020204" pitchFamily="34" charset="0"/>
              </a:rPr>
              <a:t>On Track</a:t>
            </a:r>
            <a:endParaRPr lang="en-GB" sz="1500" b="1" kern="0">
              <a:solidFill>
                <a:prstClr val="black"/>
              </a:solidFill>
              <a:latin typeface="+mj-lt"/>
              <a:cs typeface="Arial" panose="020B0604020202020204" pitchFamily="34" charset="0"/>
            </a:endParaRPr>
          </a:p>
        </p:txBody>
      </p:sp>
      <p:grpSp>
        <p:nvGrpSpPr>
          <p:cNvPr id="29" name="Group 28">
            <a:extLst>
              <a:ext uri="{FF2B5EF4-FFF2-40B4-BE49-F238E27FC236}">
                <a16:creationId xmlns:a16="http://schemas.microsoft.com/office/drawing/2014/main" id="{1A5A077E-42AB-DE4F-E3D6-843DD0635F88}"/>
              </a:ext>
            </a:extLst>
          </p:cNvPr>
          <p:cNvGrpSpPr/>
          <p:nvPr/>
        </p:nvGrpSpPr>
        <p:grpSpPr>
          <a:xfrm>
            <a:off x="9800456" y="9674702"/>
            <a:ext cx="10637918" cy="505790"/>
            <a:chOff x="5956720" y="6443049"/>
            <a:chExt cx="7091945" cy="357913"/>
          </a:xfrm>
        </p:grpSpPr>
        <p:grpSp>
          <p:nvGrpSpPr>
            <p:cNvPr id="52" name="Group 51">
              <a:extLst>
                <a:ext uri="{FF2B5EF4-FFF2-40B4-BE49-F238E27FC236}">
                  <a16:creationId xmlns:a16="http://schemas.microsoft.com/office/drawing/2014/main" id="{1D8502C5-3E78-F588-1BCA-4D23A981F6F3}"/>
                </a:ext>
              </a:extLst>
            </p:cNvPr>
            <p:cNvGrpSpPr/>
            <p:nvPr/>
          </p:nvGrpSpPr>
          <p:grpSpPr>
            <a:xfrm>
              <a:off x="5956720" y="6443049"/>
              <a:ext cx="7091945" cy="357913"/>
              <a:chOff x="5966485" y="6485413"/>
              <a:chExt cx="7091945" cy="357913"/>
            </a:xfrm>
          </p:grpSpPr>
          <p:sp>
            <p:nvSpPr>
              <p:cNvPr id="62" name="Oval 61">
                <a:extLst>
                  <a:ext uri="{FF2B5EF4-FFF2-40B4-BE49-F238E27FC236}">
                    <a16:creationId xmlns:a16="http://schemas.microsoft.com/office/drawing/2014/main" id="{5440E574-D101-B186-1BCA-74D3D4F664F6}"/>
                  </a:ext>
                </a:extLst>
              </p:cNvPr>
              <p:cNvSpPr/>
              <p:nvPr/>
            </p:nvSpPr>
            <p:spPr>
              <a:xfrm>
                <a:off x="6950322" y="6494495"/>
                <a:ext cx="133346" cy="126401"/>
              </a:xfrm>
              <a:prstGeom prst="ellipse">
                <a:avLst/>
              </a:prstGeom>
              <a:solidFill>
                <a:srgbClr val="E2F0D9"/>
              </a:solidFill>
              <a:ln w="9525">
                <a:solidFill>
                  <a:srgbClr val="E2F0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63" name="Oval 62">
                <a:extLst>
                  <a:ext uri="{FF2B5EF4-FFF2-40B4-BE49-F238E27FC236}">
                    <a16:creationId xmlns:a16="http://schemas.microsoft.com/office/drawing/2014/main" id="{8F737FA3-D3AD-1A50-AEC3-37A7AD67F89B}"/>
                  </a:ext>
                </a:extLst>
              </p:cNvPr>
              <p:cNvSpPr/>
              <p:nvPr/>
            </p:nvSpPr>
            <p:spPr>
              <a:xfrm>
                <a:off x="7594167" y="6503611"/>
                <a:ext cx="135071" cy="126401"/>
              </a:xfrm>
              <a:prstGeom prst="ellipse">
                <a:avLst/>
              </a:prstGeom>
              <a:solidFill>
                <a:srgbClr val="FF0000"/>
              </a:solid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64" name="Oval 63">
                <a:extLst>
                  <a:ext uri="{FF2B5EF4-FFF2-40B4-BE49-F238E27FC236}">
                    <a16:creationId xmlns:a16="http://schemas.microsoft.com/office/drawing/2014/main" id="{4D24BBF3-B692-624C-756A-16073677B548}"/>
                  </a:ext>
                </a:extLst>
              </p:cNvPr>
              <p:cNvSpPr/>
              <p:nvPr/>
            </p:nvSpPr>
            <p:spPr>
              <a:xfrm>
                <a:off x="8149931" y="6505195"/>
                <a:ext cx="131200" cy="126401"/>
              </a:xfrm>
              <a:prstGeom prst="ellipse">
                <a:avLst/>
              </a:prstGeom>
              <a:solidFill>
                <a:srgbClr val="FFC000"/>
              </a:solidFill>
              <a:ln w="95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65" name="TextBox 64">
                <a:extLst>
                  <a:ext uri="{FF2B5EF4-FFF2-40B4-BE49-F238E27FC236}">
                    <a16:creationId xmlns:a16="http://schemas.microsoft.com/office/drawing/2014/main" id="{2DD86ED6-0633-76FB-298C-9D849DB1AA21}"/>
                  </a:ext>
                </a:extLst>
              </p:cNvPr>
              <p:cNvSpPr txBox="1"/>
              <p:nvPr/>
            </p:nvSpPr>
            <p:spPr>
              <a:xfrm>
                <a:off x="6734909" y="6611779"/>
                <a:ext cx="717687"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On track </a:t>
                </a:r>
              </a:p>
            </p:txBody>
          </p:sp>
          <p:sp>
            <p:nvSpPr>
              <p:cNvPr id="66" name="TextBox 65">
                <a:extLst>
                  <a:ext uri="{FF2B5EF4-FFF2-40B4-BE49-F238E27FC236}">
                    <a16:creationId xmlns:a16="http://schemas.microsoft.com/office/drawing/2014/main" id="{3889C028-D5F1-391A-23AE-03D4C5691B3C}"/>
                  </a:ext>
                </a:extLst>
              </p:cNvPr>
              <p:cNvSpPr txBox="1"/>
              <p:nvPr/>
            </p:nvSpPr>
            <p:spPr>
              <a:xfrm>
                <a:off x="7360310" y="6621931"/>
                <a:ext cx="664200"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Delayed</a:t>
                </a:r>
              </a:p>
            </p:txBody>
          </p:sp>
          <p:sp>
            <p:nvSpPr>
              <p:cNvPr id="67" name="TextBox 66">
                <a:extLst>
                  <a:ext uri="{FF2B5EF4-FFF2-40B4-BE49-F238E27FC236}">
                    <a16:creationId xmlns:a16="http://schemas.microsoft.com/office/drawing/2014/main" id="{C6F6E996-220D-FFFE-C98A-6909FA6348A7}"/>
                  </a:ext>
                </a:extLst>
              </p:cNvPr>
              <p:cNvSpPr txBox="1"/>
              <p:nvPr/>
            </p:nvSpPr>
            <p:spPr>
              <a:xfrm>
                <a:off x="7962993" y="6624764"/>
                <a:ext cx="664200"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At Risk</a:t>
                </a:r>
              </a:p>
            </p:txBody>
          </p:sp>
          <p:sp>
            <p:nvSpPr>
              <p:cNvPr id="68" name="TextBox 67">
                <a:extLst>
                  <a:ext uri="{FF2B5EF4-FFF2-40B4-BE49-F238E27FC236}">
                    <a16:creationId xmlns:a16="http://schemas.microsoft.com/office/drawing/2014/main" id="{C4F47EAE-63FF-2167-D2D0-85733E946FCE}"/>
                  </a:ext>
                </a:extLst>
              </p:cNvPr>
              <p:cNvSpPr txBox="1"/>
              <p:nvPr/>
            </p:nvSpPr>
            <p:spPr>
              <a:xfrm>
                <a:off x="9357110" y="6627882"/>
                <a:ext cx="970136"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Implemented</a:t>
                </a:r>
              </a:p>
            </p:txBody>
          </p:sp>
          <p:sp>
            <p:nvSpPr>
              <p:cNvPr id="69" name="Oval 68">
                <a:extLst>
                  <a:ext uri="{FF2B5EF4-FFF2-40B4-BE49-F238E27FC236}">
                    <a16:creationId xmlns:a16="http://schemas.microsoft.com/office/drawing/2014/main" id="{3C3CD4D9-71EC-3AD0-F87F-4B994267690C}"/>
                  </a:ext>
                </a:extLst>
              </p:cNvPr>
              <p:cNvSpPr/>
              <p:nvPr/>
            </p:nvSpPr>
            <p:spPr>
              <a:xfrm>
                <a:off x="10428038" y="6512756"/>
                <a:ext cx="137031" cy="126401"/>
              </a:xfrm>
              <a:prstGeom prst="ellipse">
                <a:avLst/>
              </a:prstGeom>
              <a:solidFill>
                <a:srgbClr val="00B0F0"/>
              </a:solid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43BC1426-43B0-02A8-A6A2-AB43A8F9400F}"/>
                  </a:ext>
                </a:extLst>
              </p:cNvPr>
              <p:cNvSpPr txBox="1"/>
              <p:nvPr/>
            </p:nvSpPr>
            <p:spPr>
              <a:xfrm>
                <a:off x="10194922" y="6621646"/>
                <a:ext cx="2311615"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US" sz="1200">
                    <a:latin typeface="Arial" panose="020B0604020202020204" pitchFamily="34" charset="0"/>
                    <a:cs typeface="Arial" panose="020B0604020202020204" pitchFamily="34" charset="0"/>
                  </a:rPr>
                  <a:t>On Hold</a:t>
                </a:r>
                <a:endParaRPr kumimoji="0" lang="en-US" sz="120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71" name="Oval 70">
                <a:extLst>
                  <a:ext uri="{FF2B5EF4-FFF2-40B4-BE49-F238E27FC236}">
                    <a16:creationId xmlns:a16="http://schemas.microsoft.com/office/drawing/2014/main" id="{214E2DFF-FF02-872A-CFB0-2F3DA789A7E4}"/>
                  </a:ext>
                </a:extLst>
              </p:cNvPr>
              <p:cNvSpPr/>
              <p:nvPr/>
            </p:nvSpPr>
            <p:spPr>
              <a:xfrm>
                <a:off x="11073431" y="6488248"/>
                <a:ext cx="137031" cy="126401"/>
              </a:xfrm>
              <a:prstGeom prst="ellipse">
                <a:avLst/>
              </a:prstGeom>
              <a:solidFill>
                <a:srgbClr val="FFFF00"/>
              </a:solidFill>
              <a:ln w="952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72" name="TextBox 71">
                <a:extLst>
                  <a:ext uri="{FF2B5EF4-FFF2-40B4-BE49-F238E27FC236}">
                    <a16:creationId xmlns:a16="http://schemas.microsoft.com/office/drawing/2014/main" id="{4525D051-1840-301B-8AD2-875C96FB8B4D}"/>
                  </a:ext>
                </a:extLst>
              </p:cNvPr>
              <p:cNvSpPr txBox="1"/>
              <p:nvPr/>
            </p:nvSpPr>
            <p:spPr>
              <a:xfrm>
                <a:off x="10746815" y="6611779"/>
                <a:ext cx="2311615"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Terminated</a:t>
                </a:r>
              </a:p>
            </p:txBody>
          </p:sp>
          <p:sp>
            <p:nvSpPr>
              <p:cNvPr id="76" name="Oval 75">
                <a:extLst>
                  <a:ext uri="{FF2B5EF4-FFF2-40B4-BE49-F238E27FC236}">
                    <a16:creationId xmlns:a16="http://schemas.microsoft.com/office/drawing/2014/main" id="{D15EB947-6347-B79B-3D1A-54254085C6F0}"/>
                  </a:ext>
                </a:extLst>
              </p:cNvPr>
              <p:cNvSpPr/>
              <p:nvPr/>
            </p:nvSpPr>
            <p:spPr>
              <a:xfrm>
                <a:off x="8836849" y="6505195"/>
                <a:ext cx="131200" cy="126401"/>
              </a:xfrm>
              <a:prstGeom prst="ellipse">
                <a:avLst/>
              </a:prstGeom>
              <a:solidFill>
                <a:srgbClr val="00B050"/>
              </a:solid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78" name="TextBox 77">
                <a:extLst>
                  <a:ext uri="{FF2B5EF4-FFF2-40B4-BE49-F238E27FC236}">
                    <a16:creationId xmlns:a16="http://schemas.microsoft.com/office/drawing/2014/main" id="{827F25FB-2EBE-5885-D8E5-15E21B5F5406}"/>
                  </a:ext>
                </a:extLst>
              </p:cNvPr>
              <p:cNvSpPr txBox="1"/>
              <p:nvPr/>
            </p:nvSpPr>
            <p:spPr>
              <a:xfrm>
                <a:off x="8555682" y="6620896"/>
                <a:ext cx="815094"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InProgress</a:t>
                </a:r>
              </a:p>
            </p:txBody>
          </p:sp>
          <p:sp>
            <p:nvSpPr>
              <p:cNvPr id="79" name="Oval 78">
                <a:extLst>
                  <a:ext uri="{FF2B5EF4-FFF2-40B4-BE49-F238E27FC236}">
                    <a16:creationId xmlns:a16="http://schemas.microsoft.com/office/drawing/2014/main" id="{21116351-9F7E-4551-81D6-B60B0D5930EC}"/>
                  </a:ext>
                </a:extLst>
              </p:cNvPr>
              <p:cNvSpPr/>
              <p:nvPr/>
            </p:nvSpPr>
            <p:spPr>
              <a:xfrm>
                <a:off x="6328246" y="6485413"/>
                <a:ext cx="133346" cy="126401"/>
              </a:xfrm>
              <a:prstGeom prst="ellipse">
                <a:avLst/>
              </a:prstGeom>
              <a:solidFill>
                <a:srgbClr val="BFBFBF"/>
              </a:solidFill>
              <a:ln w="9525">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80" name="TextBox 79">
                <a:extLst>
                  <a:ext uri="{FF2B5EF4-FFF2-40B4-BE49-F238E27FC236}">
                    <a16:creationId xmlns:a16="http://schemas.microsoft.com/office/drawing/2014/main" id="{DC911A4D-24D6-E474-4C9A-F42D425CA0B5}"/>
                  </a:ext>
                </a:extLst>
              </p:cNvPr>
              <p:cNvSpPr txBox="1"/>
              <p:nvPr/>
            </p:nvSpPr>
            <p:spPr>
              <a:xfrm>
                <a:off x="5966485" y="6601627"/>
                <a:ext cx="858416"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Not Started</a:t>
                </a:r>
              </a:p>
            </p:txBody>
          </p:sp>
        </p:grpSp>
        <p:sp>
          <p:nvSpPr>
            <p:cNvPr id="61" name="Oval 60">
              <a:extLst>
                <a:ext uri="{FF2B5EF4-FFF2-40B4-BE49-F238E27FC236}">
                  <a16:creationId xmlns:a16="http://schemas.microsoft.com/office/drawing/2014/main" id="{65EE7E67-318B-BFDE-FC7C-534F755E8B43}"/>
                </a:ext>
              </a:extLst>
            </p:cNvPr>
            <p:cNvSpPr/>
            <p:nvPr/>
          </p:nvSpPr>
          <p:spPr>
            <a:xfrm>
              <a:off x="9702904" y="6470392"/>
              <a:ext cx="131200" cy="126401"/>
            </a:xfrm>
            <a:prstGeom prst="ellipse">
              <a:avLst/>
            </a:prstGeom>
            <a:solidFill>
              <a:srgbClr val="003373"/>
            </a:solidFill>
            <a:ln w="9525">
              <a:solidFill>
                <a:srgbClr val="0033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grpSp>
      <p:sp>
        <p:nvSpPr>
          <p:cNvPr id="84" name="Oval 83">
            <a:extLst>
              <a:ext uri="{FF2B5EF4-FFF2-40B4-BE49-F238E27FC236}">
                <a16:creationId xmlns:a16="http://schemas.microsoft.com/office/drawing/2014/main" id="{124AD679-36E9-2BB5-6F81-939DA0672B4C}"/>
              </a:ext>
            </a:extLst>
          </p:cNvPr>
          <p:cNvSpPr/>
          <p:nvPr/>
        </p:nvSpPr>
        <p:spPr>
          <a:xfrm>
            <a:off x="15441844" y="4765205"/>
            <a:ext cx="519494" cy="324881"/>
          </a:xfrm>
          <a:prstGeom prst="ellipse">
            <a:avLst/>
          </a:prstGeom>
          <a:solidFill>
            <a:srgbClr val="BFBFBF"/>
          </a:solidFill>
          <a:ln w="9525">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24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7" name="Oval 36">
            <a:extLst>
              <a:ext uri="{FF2B5EF4-FFF2-40B4-BE49-F238E27FC236}">
                <a16:creationId xmlns:a16="http://schemas.microsoft.com/office/drawing/2014/main" id="{909ABC6C-79E6-795F-D147-399D747F8A4D}"/>
              </a:ext>
            </a:extLst>
          </p:cNvPr>
          <p:cNvSpPr/>
          <p:nvPr/>
        </p:nvSpPr>
        <p:spPr>
          <a:xfrm>
            <a:off x="1707614" y="4753389"/>
            <a:ext cx="458613" cy="336696"/>
          </a:xfrm>
          <a:prstGeom prst="ellipse">
            <a:avLst/>
          </a:prstGeom>
          <a:solidFill>
            <a:srgbClr val="003373"/>
          </a:solidFill>
          <a:ln w="9525">
            <a:solidFill>
              <a:srgbClr val="0033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24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40" name="TextBox 39">
            <a:extLst>
              <a:ext uri="{FF2B5EF4-FFF2-40B4-BE49-F238E27FC236}">
                <a16:creationId xmlns:a16="http://schemas.microsoft.com/office/drawing/2014/main" id="{B9D0D4CF-FD9C-8691-19C4-42D126DFDA88}"/>
              </a:ext>
            </a:extLst>
          </p:cNvPr>
          <p:cNvSpPr txBox="1"/>
          <p:nvPr/>
        </p:nvSpPr>
        <p:spPr>
          <a:xfrm>
            <a:off x="12620126" y="4149914"/>
            <a:ext cx="3604247" cy="334707"/>
          </a:xfrm>
          <a:prstGeom prst="rect">
            <a:avLst/>
          </a:prstGeom>
          <a:noFill/>
        </p:spPr>
        <p:txBody>
          <a:bodyPr wrap="square" lIns="0" r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altLang="ko-KR" sz="1575"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UAT</a:t>
            </a:r>
          </a:p>
        </p:txBody>
      </p:sp>
      <p:cxnSp>
        <p:nvCxnSpPr>
          <p:cNvPr id="41" name="Straight Connector 40">
            <a:extLst>
              <a:ext uri="{FF2B5EF4-FFF2-40B4-BE49-F238E27FC236}">
                <a16:creationId xmlns:a16="http://schemas.microsoft.com/office/drawing/2014/main" id="{86CDCCEC-6553-9A39-B478-0969E74083DD}"/>
              </a:ext>
            </a:extLst>
          </p:cNvPr>
          <p:cNvCxnSpPr>
            <a:cxnSpLocks/>
          </p:cNvCxnSpPr>
          <p:nvPr/>
        </p:nvCxnSpPr>
        <p:spPr>
          <a:xfrm>
            <a:off x="14422250" y="4549829"/>
            <a:ext cx="0" cy="215376"/>
          </a:xfrm>
          <a:prstGeom prst="line">
            <a:avLst/>
          </a:prstGeom>
          <a:ln w="19050">
            <a:solidFill>
              <a:schemeClr val="bg1">
                <a:lumMod val="75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B3CB6D2A-90F0-DCC4-869E-C29D7ED6F359}"/>
              </a:ext>
            </a:extLst>
          </p:cNvPr>
          <p:cNvSpPr/>
          <p:nvPr/>
        </p:nvSpPr>
        <p:spPr>
          <a:xfrm>
            <a:off x="6999120" y="4672031"/>
            <a:ext cx="435546" cy="405236"/>
          </a:xfrm>
          <a:prstGeom prst="ellipse">
            <a:avLst/>
          </a:prstGeom>
          <a:solidFill>
            <a:srgbClr val="003373"/>
          </a:solidFill>
          <a:ln w="9525">
            <a:solidFill>
              <a:srgbClr val="0033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cxnSp>
        <p:nvCxnSpPr>
          <p:cNvPr id="43" name="Straight Connector 42">
            <a:extLst>
              <a:ext uri="{FF2B5EF4-FFF2-40B4-BE49-F238E27FC236}">
                <a16:creationId xmlns:a16="http://schemas.microsoft.com/office/drawing/2014/main" id="{F06E1769-E56A-5635-2FF3-7D79F801A69B}"/>
              </a:ext>
            </a:extLst>
          </p:cNvPr>
          <p:cNvCxnSpPr>
            <a:cxnSpLocks/>
          </p:cNvCxnSpPr>
          <p:nvPr/>
        </p:nvCxnSpPr>
        <p:spPr>
          <a:xfrm>
            <a:off x="4949250" y="4542423"/>
            <a:ext cx="0" cy="215376"/>
          </a:xfrm>
          <a:prstGeom prst="line">
            <a:avLst/>
          </a:prstGeom>
          <a:solidFill>
            <a:srgbClr val="00B050"/>
          </a:solidFill>
          <a:ln w="19050">
            <a:solidFill>
              <a:srgbClr val="FF0000"/>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DDCA553B-437D-552F-09A7-04A2AD7671FB}"/>
              </a:ext>
            </a:extLst>
          </p:cNvPr>
          <p:cNvCxnSpPr>
            <a:cxnSpLocks/>
          </p:cNvCxnSpPr>
          <p:nvPr/>
        </p:nvCxnSpPr>
        <p:spPr>
          <a:xfrm>
            <a:off x="7234512" y="4484464"/>
            <a:ext cx="0" cy="298247"/>
          </a:xfrm>
          <a:prstGeom prst="line">
            <a:avLst/>
          </a:prstGeom>
          <a:solidFill>
            <a:srgbClr val="BFBFBF"/>
          </a:solidFill>
          <a:ln w="19050">
            <a:solidFill>
              <a:srgbClr val="002060"/>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1B2A6ECB-035A-F0D6-7C13-DED36715E6A6}"/>
              </a:ext>
            </a:extLst>
          </p:cNvPr>
          <p:cNvSpPr/>
          <p:nvPr/>
        </p:nvSpPr>
        <p:spPr>
          <a:xfrm>
            <a:off x="4766334" y="4590962"/>
            <a:ext cx="435546" cy="405236"/>
          </a:xfrm>
          <a:prstGeom prst="ellipse">
            <a:avLst/>
          </a:prstGeom>
          <a:solidFill>
            <a:srgbClr val="003373"/>
          </a:solidFill>
          <a:ln w="9525">
            <a:solidFill>
              <a:srgbClr val="0033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42" name="TextBox 41">
            <a:extLst>
              <a:ext uri="{FF2B5EF4-FFF2-40B4-BE49-F238E27FC236}">
                <a16:creationId xmlns:a16="http://schemas.microsoft.com/office/drawing/2014/main" id="{36339E06-71E7-3037-491B-9A4D0777FE61}"/>
              </a:ext>
            </a:extLst>
          </p:cNvPr>
          <p:cNvSpPr txBox="1"/>
          <p:nvPr/>
        </p:nvSpPr>
        <p:spPr>
          <a:xfrm>
            <a:off x="8211405" y="3838173"/>
            <a:ext cx="2331711" cy="1061829"/>
          </a:xfrm>
          <a:prstGeom prst="rect">
            <a:avLst/>
          </a:prstGeom>
          <a:noFill/>
        </p:spPr>
        <p:txBody>
          <a:bodyPr wrap="square" lIns="0" r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lang="en-US" altLang="ko-KR" sz="1575" b="1">
                <a:solidFill>
                  <a:prstClr val="black"/>
                </a:solidFill>
                <a:latin typeface="Arial" panose="020B0604020202020204" pitchFamily="34" charset="0"/>
                <a:cs typeface="Arial" panose="020B0604020202020204" pitchFamily="34" charset="0"/>
              </a:rPr>
              <a:t>Technical </a:t>
            </a:r>
          </a:p>
          <a:p>
            <a:pPr marL="0" marR="0" lvl="0" indent="0" algn="ctr" defTabSz="1371600" rtl="0" eaLnBrk="1" fontAlgn="auto" latinLnBrk="0" hangingPunct="1">
              <a:lnSpc>
                <a:spcPct val="100000"/>
              </a:lnSpc>
              <a:spcBef>
                <a:spcPts val="0"/>
              </a:spcBef>
              <a:spcAft>
                <a:spcPts val="0"/>
              </a:spcAft>
              <a:buClrTx/>
              <a:buSzTx/>
              <a:buFontTx/>
              <a:buNone/>
              <a:tabLst/>
              <a:defRPr/>
            </a:pPr>
            <a:r>
              <a:rPr lang="en-US" altLang="ko-KR" sz="1575" b="1">
                <a:solidFill>
                  <a:prstClr val="black"/>
                </a:solidFill>
                <a:latin typeface="Arial" panose="020B0604020202020204" pitchFamily="34" charset="0"/>
                <a:cs typeface="Arial" panose="020B0604020202020204" pitchFamily="34" charset="0"/>
              </a:rPr>
              <a:t>and Business</a:t>
            </a:r>
          </a:p>
          <a:p>
            <a:pPr marL="0" marR="0" lvl="0" indent="0" algn="ctr" defTabSz="1371600" rtl="0" eaLnBrk="1" fontAlgn="auto" latinLnBrk="0" hangingPunct="1">
              <a:lnSpc>
                <a:spcPct val="100000"/>
              </a:lnSpc>
              <a:spcBef>
                <a:spcPts val="0"/>
              </a:spcBef>
              <a:spcAft>
                <a:spcPts val="0"/>
              </a:spcAft>
              <a:buClrTx/>
              <a:buSzTx/>
              <a:buFontTx/>
              <a:buNone/>
              <a:tabLst/>
              <a:defRPr/>
            </a:pPr>
            <a:r>
              <a:rPr lang="en-US" altLang="ko-KR" sz="1575" b="1">
                <a:solidFill>
                  <a:prstClr val="black"/>
                </a:solidFill>
                <a:latin typeface="Arial" panose="020B0604020202020204" pitchFamily="34" charset="0"/>
                <a:cs typeface="Arial" panose="020B0604020202020204" pitchFamily="34" charset="0"/>
              </a:rPr>
              <a:t>Training </a:t>
            </a:r>
          </a:p>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altLang="ko-KR" sz="1575"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6" name="TextBox 45">
            <a:extLst>
              <a:ext uri="{FF2B5EF4-FFF2-40B4-BE49-F238E27FC236}">
                <a16:creationId xmlns:a16="http://schemas.microsoft.com/office/drawing/2014/main" id="{3B160CB0-27EF-0A1E-5054-264BEA1204B4}"/>
              </a:ext>
            </a:extLst>
          </p:cNvPr>
          <p:cNvSpPr txBox="1"/>
          <p:nvPr/>
        </p:nvSpPr>
        <p:spPr>
          <a:xfrm>
            <a:off x="8283667" y="5243377"/>
            <a:ext cx="2159441" cy="253916"/>
          </a:xfrm>
          <a:prstGeom prst="rect">
            <a:avLst/>
          </a:prstGeom>
          <a:noFill/>
        </p:spPr>
        <p:txBody>
          <a:bodyPr wrap="square" lIns="0" tIns="0" rIns="0" b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lang="en-US" altLang="ko-KR" sz="1650" b="1">
                <a:solidFill>
                  <a:prstClr val="black"/>
                </a:solidFill>
                <a:latin typeface="Arial" panose="020B0604020202020204" pitchFamily="34" charset="0"/>
                <a:cs typeface="Arial" panose="020B0604020202020204" pitchFamily="34" charset="0"/>
              </a:rPr>
              <a:t>July</a:t>
            </a:r>
            <a:endParaRPr kumimoji="0" lang="ko-KR" altLang="en-US" sz="1650" b="1" i="0" u="non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5" name="Oval 14">
            <a:extLst>
              <a:ext uri="{FF2B5EF4-FFF2-40B4-BE49-F238E27FC236}">
                <a16:creationId xmlns:a16="http://schemas.microsoft.com/office/drawing/2014/main" id="{D534557D-DD91-3998-0AD5-DABBB02E5DDF}"/>
              </a:ext>
            </a:extLst>
          </p:cNvPr>
          <p:cNvSpPr/>
          <p:nvPr/>
        </p:nvSpPr>
        <p:spPr>
          <a:xfrm>
            <a:off x="9128559" y="4717172"/>
            <a:ext cx="435546" cy="405236"/>
          </a:xfrm>
          <a:prstGeom prst="ellipse">
            <a:avLst/>
          </a:prstGeom>
          <a:solidFill>
            <a:srgbClr val="003373"/>
          </a:solidFill>
          <a:ln w="9525">
            <a:solidFill>
              <a:srgbClr val="0033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 name="Oval 2">
            <a:extLst>
              <a:ext uri="{FF2B5EF4-FFF2-40B4-BE49-F238E27FC236}">
                <a16:creationId xmlns:a16="http://schemas.microsoft.com/office/drawing/2014/main" id="{28FC0CCB-8720-23ED-7FC6-3401E3B55C27}"/>
              </a:ext>
            </a:extLst>
          </p:cNvPr>
          <p:cNvSpPr/>
          <p:nvPr/>
        </p:nvSpPr>
        <p:spPr>
          <a:xfrm>
            <a:off x="14217312" y="4614824"/>
            <a:ext cx="400695" cy="416924"/>
          </a:xfrm>
          <a:prstGeom prst="ellipse">
            <a:avLst/>
          </a:prstGeom>
          <a:solidFill>
            <a:srgbClr val="FF0000"/>
          </a:solid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50" name="Freeform 13">
            <a:extLst>
              <a:ext uri="{FF2B5EF4-FFF2-40B4-BE49-F238E27FC236}">
                <a16:creationId xmlns:a16="http://schemas.microsoft.com/office/drawing/2014/main" id="{4815BC90-4A9D-934B-5984-3C6216E80B4B}"/>
              </a:ext>
            </a:extLst>
          </p:cNvPr>
          <p:cNvSpPr/>
          <p:nvPr/>
        </p:nvSpPr>
        <p:spPr>
          <a:xfrm>
            <a:off x="16062518" y="309634"/>
            <a:ext cx="1851905" cy="870481"/>
          </a:xfrm>
          <a:custGeom>
            <a:avLst/>
            <a:gdLst/>
            <a:ahLst/>
            <a:cxnLst/>
            <a:rect l="l" t="t" r="r" b="b"/>
            <a:pathLst>
              <a:path w="1851905" h="870481">
                <a:moveTo>
                  <a:pt x="0" y="0"/>
                </a:moveTo>
                <a:lnTo>
                  <a:pt x="1851905" y="0"/>
                </a:lnTo>
                <a:lnTo>
                  <a:pt x="1851905" y="870481"/>
                </a:lnTo>
                <a:lnTo>
                  <a:pt x="0" y="870481"/>
                </a:lnTo>
                <a:lnTo>
                  <a:pt x="0" y="0"/>
                </a:lnTo>
                <a:close/>
              </a:path>
            </a:pathLst>
          </a:custGeom>
          <a:blipFill>
            <a:blip r:embed="rId2"/>
            <a:stretch>
              <a:fillRect/>
            </a:stretch>
          </a:blipFill>
        </p:spPr>
        <p:txBody>
          <a:bodyPr/>
          <a:lstStyle/>
          <a:p>
            <a:endParaRPr lang="en-US"/>
          </a:p>
        </p:txBody>
      </p:sp>
      <p:sp>
        <p:nvSpPr>
          <p:cNvPr id="32" name="Oval 31">
            <a:extLst>
              <a:ext uri="{FF2B5EF4-FFF2-40B4-BE49-F238E27FC236}">
                <a16:creationId xmlns:a16="http://schemas.microsoft.com/office/drawing/2014/main" id="{6C1D03E9-7B1C-6226-AC75-2ABD9B6EE2B6}"/>
              </a:ext>
            </a:extLst>
          </p:cNvPr>
          <p:cNvSpPr/>
          <p:nvPr/>
        </p:nvSpPr>
        <p:spPr>
          <a:xfrm>
            <a:off x="12599376" y="4717172"/>
            <a:ext cx="435546" cy="405236"/>
          </a:xfrm>
          <a:prstGeom prst="ellipse">
            <a:avLst/>
          </a:prstGeom>
          <a:solidFill>
            <a:srgbClr val="003373"/>
          </a:solidFill>
          <a:ln w="9525">
            <a:solidFill>
              <a:srgbClr val="0033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94AE17FD-D88C-E85A-C17E-6BC492D9EAE6}"/>
              </a:ext>
            </a:extLst>
          </p:cNvPr>
          <p:cNvSpPr txBox="1"/>
          <p:nvPr/>
        </p:nvSpPr>
        <p:spPr>
          <a:xfrm>
            <a:off x="13325394" y="5093434"/>
            <a:ext cx="2159441" cy="369332"/>
          </a:xfrm>
          <a:prstGeom prst="rect">
            <a:avLst/>
          </a:prstGeom>
          <a:noFill/>
        </p:spPr>
        <p:txBody>
          <a:bodyPr wrap="square" lIns="0" tIns="0" rIns="0" bIns="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lang="en-US" altLang="ko-KR" sz="1200" b="1" strike="sngStrike">
              <a:solidFill>
                <a:prstClr val="black"/>
              </a:solidFill>
              <a:latin typeface="Arial"/>
              <a:ea typeface="맑은 고딕"/>
              <a:cs typeface="Arial"/>
            </a:endParaRPr>
          </a:p>
          <a:p>
            <a:pPr marL="0" marR="0" lvl="0" indent="0" algn="ctr" defTabSz="1371600" rtl="0" eaLnBrk="1" fontAlgn="auto" latinLnBrk="0" hangingPunct="1">
              <a:lnSpc>
                <a:spcPct val="100000"/>
              </a:lnSpc>
              <a:spcBef>
                <a:spcPts val="0"/>
              </a:spcBef>
              <a:spcAft>
                <a:spcPts val="0"/>
              </a:spcAft>
              <a:buClrTx/>
              <a:buSzTx/>
              <a:buFontTx/>
              <a:buNone/>
              <a:tabLst/>
              <a:defRPr/>
            </a:pPr>
            <a:r>
              <a:rPr lang="en-US" altLang="ko-KR" sz="1200" b="1">
                <a:solidFill>
                  <a:prstClr val="black"/>
                </a:solidFill>
                <a:latin typeface="Arial"/>
                <a:ea typeface="맑은 고딕"/>
                <a:cs typeface="Arial"/>
              </a:rPr>
              <a:t>April</a:t>
            </a:r>
            <a:endParaRPr kumimoji="0" lang="ko-KR" altLang="en-US" sz="1200" b="1" i="0" u="none" kern="1200" cap="none" spc="0" normalizeH="0" baseline="0" noProof="0">
              <a:ln>
                <a:noFill/>
              </a:ln>
              <a:solidFill>
                <a:prstClr val="black"/>
              </a:solidFill>
              <a:effectLst/>
              <a:uLnTx/>
              <a:uFillTx/>
              <a:latin typeface="Arial"/>
              <a:ea typeface="맑은 고딕"/>
              <a:cs typeface="Arial"/>
            </a:endParaRPr>
          </a:p>
        </p:txBody>
      </p:sp>
    </p:spTree>
    <p:extLst>
      <p:ext uri="{BB962C8B-B14F-4D97-AF65-F5344CB8AC3E}">
        <p14:creationId xmlns:p14="http://schemas.microsoft.com/office/powerpoint/2010/main" val="1650610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C43DE-38B9-1E5E-796A-9EEB4EC488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7284FC-81FA-62CC-F9E6-E65202A6A4CD}"/>
              </a:ext>
            </a:extLst>
          </p:cNvPr>
          <p:cNvSpPr txBox="1">
            <a:spLocks/>
          </p:cNvSpPr>
          <p:nvPr/>
        </p:nvSpPr>
        <p:spPr>
          <a:xfrm>
            <a:off x="832104" y="732351"/>
            <a:ext cx="13441680" cy="623248"/>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ct val="0"/>
              </a:spcBef>
              <a:spcAft>
                <a:spcPts val="0"/>
              </a:spcAft>
              <a:buClrTx/>
              <a:buSzTx/>
              <a:buFontTx/>
              <a:buNone/>
              <a:tabLst/>
              <a:defRPr/>
            </a:pPr>
            <a:r>
              <a:rPr lang="en-US" sz="4050">
                <a:solidFill>
                  <a:srgbClr val="000000"/>
                </a:solidFill>
              </a:rPr>
              <a:t>Compliance – Predator  </a:t>
            </a:r>
            <a:endParaRPr kumimoji="0" lang="en-US" sz="6000" b="1" i="0" u="none" strike="noStrike" kern="1200" cap="none" spc="0" normalizeH="0" baseline="0" noProof="0">
              <a:ln w="6350" cap="flat">
                <a:noFill/>
                <a:miter lim="800000"/>
              </a:ln>
              <a:solidFill>
                <a:srgbClr val="000000"/>
              </a:solidFill>
              <a:effectLst/>
              <a:uLnTx/>
              <a:uFillTx/>
              <a:ea typeface="+mj-ea"/>
              <a:cs typeface="+mj-cs"/>
            </a:endParaRPr>
          </a:p>
        </p:txBody>
      </p:sp>
      <p:sp>
        <p:nvSpPr>
          <p:cNvPr id="3" name="Rectangle 2">
            <a:extLst>
              <a:ext uri="{FF2B5EF4-FFF2-40B4-BE49-F238E27FC236}">
                <a16:creationId xmlns:a16="http://schemas.microsoft.com/office/drawing/2014/main" id="{3BF622F9-FA0D-A268-831E-0AD1770ED2A0}"/>
              </a:ext>
            </a:extLst>
          </p:cNvPr>
          <p:cNvSpPr/>
          <p:nvPr/>
        </p:nvSpPr>
        <p:spPr>
          <a:xfrm>
            <a:off x="831653" y="1660601"/>
            <a:ext cx="16583688" cy="452903"/>
          </a:xfrm>
          <a:prstGeom prst="rect">
            <a:avLst/>
          </a:prstGeom>
          <a:solidFill>
            <a:srgbClr val="00A69C"/>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Key Action Items</a:t>
            </a:r>
          </a:p>
        </p:txBody>
      </p:sp>
      <p:graphicFrame>
        <p:nvGraphicFramePr>
          <p:cNvPr id="15" name="Table 6">
            <a:extLst>
              <a:ext uri="{FF2B5EF4-FFF2-40B4-BE49-F238E27FC236}">
                <a16:creationId xmlns:a16="http://schemas.microsoft.com/office/drawing/2014/main" id="{1EE99849-C546-6507-5104-8F31EEBE41C6}"/>
              </a:ext>
            </a:extLst>
          </p:cNvPr>
          <p:cNvGraphicFramePr>
            <a:graphicFrameLocks noGrp="1"/>
          </p:cNvGraphicFramePr>
          <p:nvPr>
            <p:extLst>
              <p:ext uri="{D42A27DB-BD31-4B8C-83A1-F6EECF244321}">
                <p14:modId xmlns:p14="http://schemas.microsoft.com/office/powerpoint/2010/main" val="857255119"/>
              </p:ext>
            </p:extLst>
          </p:nvPr>
        </p:nvGraphicFramePr>
        <p:xfrm>
          <a:off x="833717" y="2111188"/>
          <a:ext cx="16542615" cy="7989283"/>
        </p:xfrm>
        <a:graphic>
          <a:graphicData uri="http://schemas.openxmlformats.org/drawingml/2006/table">
            <a:tbl>
              <a:tblPr firstRow="1" bandRow="1">
                <a:tableStyleId>{5C22544A-7EE6-4342-B048-85BDC9FD1C3A}</a:tableStyleId>
              </a:tblPr>
              <a:tblGrid>
                <a:gridCol w="2559533">
                  <a:extLst>
                    <a:ext uri="{9D8B030D-6E8A-4147-A177-3AD203B41FA5}">
                      <a16:colId xmlns:a16="http://schemas.microsoft.com/office/drawing/2014/main" val="1940594143"/>
                    </a:ext>
                  </a:extLst>
                </a:gridCol>
                <a:gridCol w="6159884">
                  <a:extLst>
                    <a:ext uri="{9D8B030D-6E8A-4147-A177-3AD203B41FA5}">
                      <a16:colId xmlns:a16="http://schemas.microsoft.com/office/drawing/2014/main" val="273235595"/>
                    </a:ext>
                  </a:extLst>
                </a:gridCol>
                <a:gridCol w="2290195">
                  <a:extLst>
                    <a:ext uri="{9D8B030D-6E8A-4147-A177-3AD203B41FA5}">
                      <a16:colId xmlns:a16="http://schemas.microsoft.com/office/drawing/2014/main" val="1034871609"/>
                    </a:ext>
                  </a:extLst>
                </a:gridCol>
                <a:gridCol w="2225682">
                  <a:extLst>
                    <a:ext uri="{9D8B030D-6E8A-4147-A177-3AD203B41FA5}">
                      <a16:colId xmlns:a16="http://schemas.microsoft.com/office/drawing/2014/main" val="1556653191"/>
                    </a:ext>
                  </a:extLst>
                </a:gridCol>
                <a:gridCol w="3307321">
                  <a:extLst>
                    <a:ext uri="{9D8B030D-6E8A-4147-A177-3AD203B41FA5}">
                      <a16:colId xmlns:a16="http://schemas.microsoft.com/office/drawing/2014/main" val="666502604"/>
                    </a:ext>
                  </a:extLst>
                </a:gridCol>
              </a:tblGrid>
              <a:tr h="313425">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a:rPr>
                        <a:t>Area</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a:rPr>
                        <a:t>Action Item</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a:rPr>
                        <a:t>Status</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a:rPr>
                        <a:t>Due Date</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a:rPr>
                        <a:t>Owner</a:t>
                      </a:r>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9013299"/>
                  </a:ext>
                </a:extLst>
              </a:tr>
              <a:tr h="283094">
                <a:tc rowSpan="12">
                  <a:txBody>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1" i="0" u="none" strike="noStrike" kern="1200" cap="none" spc="0" normalizeH="0" baseline="0" noProof="0">
                        <a:ln w="6350" cap="flat">
                          <a:noFill/>
                          <a:miter lim="800000"/>
                        </a:ln>
                        <a:solidFill>
                          <a:srgbClr val="000000"/>
                        </a:solidFill>
                        <a:effectLst/>
                        <a:uLnTx/>
                        <a:uFillTx/>
                        <a:latin typeface="+mn-lt"/>
                        <a:ea typeface="+mn-ea"/>
                        <a:cs typeface="+mn-cs"/>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74320" lvl="1" indent="0" algn="l" defTabSz="914400" rtl="0" eaLnBrk="1" latinLnBrk="0" hangingPunct="1">
                        <a:buClr>
                          <a:srgbClr val="002060"/>
                        </a:buClr>
                        <a:buSzPct val="150000"/>
                        <a:buFontTx/>
                        <a:buNone/>
                      </a:pPr>
                      <a:endParaRPr lang="en-US" sz="1600" kern="1200">
                        <a:solidFill>
                          <a:schemeClr val="dk1"/>
                        </a:solidFill>
                        <a:latin typeface="+mn-lt"/>
                        <a:ea typeface="+mn-ea"/>
                        <a:cs typeface="+mn-cs"/>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14997810"/>
                  </a:ext>
                </a:extLst>
              </a:tr>
              <a:tr h="283094">
                <a:tc vMerge="1">
                  <a:txBody>
                    <a:bodyPr/>
                    <a:lstStyle/>
                    <a:p>
                      <a:endParaRPr lang="en-US"/>
                    </a:p>
                  </a:txBody>
                  <a:tcPr>
                    <a:lnT w="12700" cap="flat" cmpd="sng" algn="ctr">
                      <a:solidFill>
                        <a:schemeClr val="tx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a:ln>
                            <a:noFill/>
                          </a:ln>
                          <a:solidFill>
                            <a:srgbClr val="000000"/>
                          </a:solidFill>
                          <a:effectLst/>
                          <a:uLnTx/>
                          <a:uFillTx/>
                          <a:latin typeface="+mn-lt"/>
                          <a:ea typeface="+mn-ea"/>
                          <a:cs typeface="+mn-cs"/>
                        </a:rPr>
                        <a:t>Project Planning &amp; Requirements finalizing</a:t>
                      </a: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mn-lt"/>
                          <a:ea typeface="+mn-ea"/>
                          <a:cs typeface="+mn-cs"/>
                        </a:rPr>
                        <a:t>Completed</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r>
                        <a:rPr lang="en-US" sz="1600"/>
                        <a:t>28.March</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t>GBG team</a:t>
                      </a:r>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09769463"/>
                  </a:ext>
                </a:extLst>
              </a:tr>
              <a:tr h="293204">
                <a:tc vMerge="1">
                  <a:txBody>
                    <a:bodyPr/>
                    <a:lstStyle/>
                    <a:p>
                      <a:pPr marL="0" indent="0">
                        <a:buClr>
                          <a:srgbClr val="002060"/>
                        </a:buClr>
                        <a:buSzPct val="150000"/>
                        <a:buFontTx/>
                        <a:buNone/>
                      </a:pPr>
                      <a:endParaRPr kumimoji="0" lang="en-US" sz="1050" b="1" i="0" u="none" strike="noStrike" kern="1200" cap="none" spc="0" normalizeH="0" baseline="0">
                        <a:ln>
                          <a:noFill/>
                        </a:ln>
                        <a:solidFill>
                          <a:srgbClr val="000000"/>
                        </a:solidFill>
                        <a:effectLst/>
                        <a:uLnTx/>
                        <a:uFillTx/>
                        <a:latin typeface="Arial"/>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a:ln>
                            <a:noFill/>
                          </a:ln>
                          <a:solidFill>
                            <a:srgbClr val="000000"/>
                          </a:solidFill>
                          <a:effectLst/>
                          <a:uLnTx/>
                          <a:uFillTx/>
                          <a:latin typeface="+mn-lt"/>
                          <a:ea typeface="+mn-ea"/>
                          <a:cs typeface="+mn-cs"/>
                        </a:rPr>
                        <a:t>Specs Sign-Off</a:t>
                      </a: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mn-lt"/>
                          <a:ea typeface="+mn-ea"/>
                          <a:cs typeface="+mn-cs"/>
                        </a:rPr>
                        <a:t>Completed</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r>
                        <a:rPr lang="en-US" sz="1600"/>
                        <a:t>13</a:t>
                      </a:r>
                      <a:r>
                        <a:rPr lang="en-US" sz="1600" baseline="30000"/>
                        <a:t>th</a:t>
                      </a:r>
                      <a:r>
                        <a:rPr lang="en-US" sz="1600"/>
                        <a:t> April</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t>FIB and GW team</a:t>
                      </a:r>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17332579"/>
                  </a:ext>
                </a:extLst>
              </a:tr>
              <a:tr h="283094">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a:ln>
                            <a:noFill/>
                          </a:ln>
                          <a:solidFill>
                            <a:srgbClr val="000000"/>
                          </a:solidFill>
                          <a:effectLst/>
                          <a:uLnTx/>
                          <a:uFillTx/>
                          <a:latin typeface="+mn-lt"/>
                          <a:ea typeface="+mn-ea"/>
                          <a:cs typeface="+mn-cs"/>
                        </a:rPr>
                        <a:t>Hardware Installation and testing</a:t>
                      </a: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mn-lt"/>
                          <a:ea typeface="+mn-ea"/>
                          <a:cs typeface="+mn-cs"/>
                        </a:rPr>
                        <a:t>Completed</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r>
                        <a:rPr lang="en-US" sz="1600"/>
                        <a:t>6.May</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t>Hazem Khalil</a:t>
                      </a:r>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67274526"/>
                  </a:ext>
                </a:extLst>
              </a:tr>
              <a:tr h="293204">
                <a:tc vMerge="1">
                  <a:txBody>
                    <a:bodyPr/>
                    <a:lstStyle/>
                    <a:p>
                      <a:pPr marL="0" indent="0">
                        <a:buClr>
                          <a:srgbClr val="002060"/>
                        </a:buClr>
                        <a:buSzPct val="150000"/>
                        <a:buFontTx/>
                        <a:buNone/>
                      </a:pPr>
                      <a:endParaRPr kumimoji="0" lang="en-US" sz="1050" b="1" i="0" u="none" strike="noStrike" kern="1200" cap="none" spc="0" normalizeH="0" baseline="0">
                        <a:ln>
                          <a:noFill/>
                        </a:ln>
                        <a:solidFill>
                          <a:srgbClr val="000000"/>
                        </a:solidFill>
                        <a:effectLst/>
                        <a:uLnTx/>
                        <a:uFillTx/>
                        <a:latin typeface="Arial"/>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a:ln>
                            <a:noFill/>
                          </a:ln>
                          <a:solidFill>
                            <a:srgbClr val="000000"/>
                          </a:solidFill>
                          <a:effectLst/>
                          <a:uLnTx/>
                          <a:uFillTx/>
                          <a:latin typeface="+mn-lt"/>
                          <a:ea typeface="+mn-ea"/>
                          <a:cs typeface="+mn-cs"/>
                        </a:rPr>
                        <a:t>Predator &amp; ML Installation</a:t>
                      </a: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Complete</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r>
                        <a:rPr lang="en-US" sz="1600"/>
                        <a:t>28</a:t>
                      </a:r>
                      <a:r>
                        <a:rPr lang="en-US" sz="1600" baseline="30000"/>
                        <a:t>th</a:t>
                      </a:r>
                      <a:r>
                        <a:rPr lang="en-US" sz="1600"/>
                        <a:t>. May</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t>GBG Team - Luke </a:t>
                      </a:r>
                      <a:r>
                        <a:rPr lang="en-US" sz="1600" err="1"/>
                        <a:t>Bargh</a:t>
                      </a:r>
                      <a:endParaRPr lang="en-US" sz="1600"/>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34818391"/>
                  </a:ext>
                </a:extLst>
              </a:tr>
              <a:tr h="485303">
                <a:tc vMerge="1">
                  <a:txBody>
                    <a:bodyPr/>
                    <a:lstStyle/>
                    <a:p>
                      <a:pPr marL="0" indent="0">
                        <a:buClr>
                          <a:srgbClr val="002060"/>
                        </a:buClr>
                        <a:buSzPct val="150000"/>
                        <a:buFontTx/>
                        <a:buNone/>
                      </a:pPr>
                      <a:endParaRPr kumimoji="0" lang="en-US" sz="1050" b="1" i="0" u="none" strike="noStrike" kern="1200" cap="none" spc="0" normalizeH="0" baseline="0">
                        <a:ln>
                          <a:noFill/>
                        </a:ln>
                        <a:solidFill>
                          <a:srgbClr val="000000"/>
                        </a:solidFill>
                        <a:effectLst/>
                        <a:uLnTx/>
                        <a:uFillTx/>
                        <a:latin typeface="Arial"/>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a:ln>
                            <a:noFill/>
                          </a:ln>
                          <a:solidFill>
                            <a:srgbClr val="000000"/>
                          </a:solidFill>
                          <a:effectLst/>
                          <a:uLnTx/>
                          <a:uFillTx/>
                          <a:latin typeface="+mn-lt"/>
                          <a:ea typeface="+mn-ea"/>
                          <a:cs typeface="+mn-cs"/>
                        </a:rPr>
                        <a:t>Planning the training and installation</a:t>
                      </a: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mn-lt"/>
                          <a:ea typeface="+mn-ea"/>
                          <a:cs typeface="+mn-cs"/>
                        </a:rPr>
                        <a:t>Completed</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r>
                        <a:rPr lang="en-US" sz="1600" strike="sngStrike"/>
                        <a:t>13</a:t>
                      </a:r>
                      <a:r>
                        <a:rPr lang="en-US" sz="1600" strike="sngStrike" baseline="30000"/>
                        <a:t>th</a:t>
                      </a:r>
                      <a:r>
                        <a:rPr lang="en-US" sz="1600" strike="sngStrike"/>
                        <a:t> June</a:t>
                      </a:r>
                    </a:p>
                    <a:p>
                      <a:pPr lvl="0" algn="ctr"/>
                      <a:r>
                        <a:rPr lang="en-US" sz="1600" strike="noStrike"/>
                        <a:t>28</a:t>
                      </a:r>
                      <a:r>
                        <a:rPr lang="en-US" sz="1600" strike="noStrike" baseline="30000"/>
                        <a:t>th</a:t>
                      </a:r>
                      <a:r>
                        <a:rPr lang="en-US" sz="1600" strike="noStrike"/>
                        <a:t> July</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t>GBG Team - Mariya</a:t>
                      </a:r>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03154"/>
                  </a:ext>
                </a:extLst>
              </a:tr>
              <a:tr h="657182">
                <a:tc vMerge="1">
                  <a:txBody>
                    <a:bodyPr/>
                    <a:lstStyle/>
                    <a:p>
                      <a:pPr marL="0" indent="0">
                        <a:buClr>
                          <a:srgbClr val="002060"/>
                        </a:buClr>
                        <a:buSzPct val="150000"/>
                        <a:buFontTx/>
                        <a:buNone/>
                      </a:pPr>
                      <a:endParaRPr kumimoji="0" lang="en-US" sz="1050" b="1" i="0" u="none" strike="noStrike" kern="1200" cap="none" spc="0" normalizeH="0" baseline="0">
                        <a:ln>
                          <a:noFill/>
                        </a:ln>
                        <a:solidFill>
                          <a:srgbClr val="000000"/>
                        </a:solidFill>
                        <a:effectLst/>
                        <a:uLnTx/>
                        <a:uFillTx/>
                        <a:latin typeface="Arial"/>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a:ln>
                            <a:noFill/>
                          </a:ln>
                          <a:solidFill>
                            <a:srgbClr val="000000"/>
                          </a:solidFill>
                          <a:effectLst/>
                          <a:uLnTx/>
                          <a:uFillTx/>
                          <a:latin typeface="+mn-lt"/>
                          <a:ea typeface="+mn-ea"/>
                          <a:cs typeface="+mn-cs"/>
                        </a:rPr>
                        <a:t>System training</a:t>
                      </a: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mn-lt"/>
                          <a:ea typeface="+mn-ea"/>
                          <a:cs typeface="+mn-cs"/>
                        </a:rPr>
                        <a:t>Completed</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r>
                        <a:rPr lang="en-US" sz="1600" strike="sngStrike"/>
                        <a:t>1.June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strike="noStrike"/>
                        <a:t>28</a:t>
                      </a:r>
                      <a:r>
                        <a:rPr lang="en-US" sz="1600" strike="noStrike" baseline="30000"/>
                        <a:t>th</a:t>
                      </a:r>
                      <a:r>
                        <a:rPr lang="en-US" sz="1600" strike="noStrike"/>
                        <a:t> July</a:t>
                      </a:r>
                    </a:p>
                    <a:p>
                      <a:pPr lvl="0" algn="ctr"/>
                      <a:endParaRPr lang="en-US" sz="1600"/>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t>GBG Team (Mariya, Vida, Luke)</a:t>
                      </a:r>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41739212"/>
                  </a:ext>
                </a:extLst>
              </a:tr>
              <a:tr h="1385131">
                <a:tc vMerge="1">
                  <a:txBody>
                    <a:bodyPr/>
                    <a:lstStyle/>
                    <a:p>
                      <a:pPr marL="0" indent="0">
                        <a:buClr>
                          <a:srgbClr val="002060"/>
                        </a:buClr>
                        <a:buSzPct val="150000"/>
                        <a:buFontTx/>
                        <a:buNone/>
                      </a:pPr>
                      <a:endParaRPr kumimoji="0" lang="en-US" sz="1050" b="1" i="0" u="none" strike="noStrike" kern="1200" cap="none" spc="0" normalizeH="0" baseline="0">
                        <a:ln>
                          <a:noFill/>
                        </a:ln>
                        <a:solidFill>
                          <a:srgbClr val="000000"/>
                        </a:solidFill>
                        <a:effectLst/>
                        <a:uLnTx/>
                        <a:uFillTx/>
                        <a:latin typeface="Arial"/>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a:ln>
                            <a:noFill/>
                          </a:ln>
                          <a:solidFill>
                            <a:srgbClr val="000000"/>
                          </a:solidFill>
                          <a:effectLst/>
                          <a:uLnTx/>
                          <a:uFillTx/>
                          <a:latin typeface="+mn-lt"/>
                          <a:ea typeface="+mn-ea"/>
                          <a:cs typeface="+mn-cs"/>
                        </a:rPr>
                        <a:t>SIT</a:t>
                      </a: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i="0" u="none" strike="noStrike" kern="1200" cap="none" spc="0" normalizeH="0" baseline="0" noProof="0">
                          <a:ln>
                            <a:noFill/>
                          </a:ln>
                          <a:solidFill>
                            <a:srgbClr val="000000"/>
                          </a:solidFill>
                          <a:effectLst/>
                          <a:uLnTx/>
                          <a:uFillTx/>
                          <a:latin typeface="+mn-lt"/>
                          <a:ea typeface="+mn-ea"/>
                          <a:cs typeface="+mn-cs"/>
                        </a:rPr>
                        <a:t>Completed</a:t>
                      </a:r>
                      <a:endParaRPr kumimoji="0" lang="en-US" sz="1600" b="0" i="0" u="none" strike="noStrike" kern="1200" cap="none" spc="0" normalizeH="0" baseline="0" noProof="0">
                        <a:ln>
                          <a:noFill/>
                        </a:ln>
                        <a:solidFill>
                          <a:srgbClr val="000000"/>
                        </a:solidFill>
                        <a:effectLst/>
                        <a:uLnTx/>
                        <a:uFillTx/>
                        <a:latin typeface="+mn-lt"/>
                        <a:ea typeface="+mn-ea"/>
                        <a:cs typeface="+mn-cs"/>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r>
                        <a:rPr lang="en-US" sz="1600" strike="sngStrike"/>
                        <a:t>1.June</a:t>
                      </a:r>
                    </a:p>
                    <a:p>
                      <a:pPr marL="0" marR="0" lvl="0" indent="0" algn="ctr">
                        <a:lnSpc>
                          <a:spcPct val="100000"/>
                        </a:lnSpc>
                        <a:spcBef>
                          <a:spcPts val="0"/>
                        </a:spcBef>
                        <a:spcAft>
                          <a:spcPts val="0"/>
                        </a:spcAft>
                        <a:buClrTx/>
                        <a:buSzTx/>
                        <a:buFontTx/>
                        <a:buNone/>
                      </a:pPr>
                      <a:r>
                        <a:rPr lang="en-US" sz="1600" strike="noStrike" kern="1200">
                          <a:solidFill>
                            <a:schemeClr val="dk1"/>
                          </a:solidFill>
                          <a:latin typeface="+mn-lt"/>
                          <a:ea typeface="+mn-ea"/>
                          <a:cs typeface="+mn-cs"/>
                        </a:rPr>
                        <a:t>26th Nov</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t>FIB and GW team</a:t>
                      </a:r>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86122579"/>
                  </a:ext>
                </a:extLst>
              </a:tr>
              <a:tr h="1081767">
                <a:tc vMerge="1">
                  <a:txBody>
                    <a:bodyPr/>
                    <a:lstStyle/>
                    <a:p>
                      <a:pPr marL="0" indent="0">
                        <a:buClr>
                          <a:srgbClr val="002060"/>
                        </a:buClr>
                        <a:buSzPct val="150000"/>
                        <a:buFontTx/>
                        <a:buNone/>
                      </a:pPr>
                      <a:endParaRPr kumimoji="0" lang="en-US" sz="1050" b="1" i="0" u="none" strike="noStrike" kern="1200" cap="none" spc="0" normalizeH="0" baseline="0">
                        <a:ln>
                          <a:noFill/>
                        </a:ln>
                        <a:solidFill>
                          <a:srgbClr val="000000"/>
                        </a:solidFill>
                        <a:effectLst/>
                        <a:uLnTx/>
                        <a:uFillTx/>
                        <a:latin typeface="Arial"/>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a:ln>
                            <a:noFill/>
                          </a:ln>
                          <a:solidFill>
                            <a:srgbClr val="000000"/>
                          </a:solidFill>
                          <a:effectLst/>
                          <a:uLnTx/>
                          <a:uFillTx/>
                          <a:latin typeface="+mn-lt"/>
                          <a:ea typeface="+mn-ea"/>
                          <a:cs typeface="+mn-cs"/>
                        </a:rPr>
                        <a:t>UAT</a:t>
                      </a: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mn-lt"/>
                          <a:ea typeface="+mn-ea"/>
                          <a:cs typeface="+mn-cs"/>
                        </a:rPr>
                        <a:t>Delayed</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r>
                        <a:rPr lang="en-US" sz="1600" strike="sngStrike"/>
                        <a:t>27</a:t>
                      </a:r>
                      <a:r>
                        <a:rPr lang="en-US" sz="1600" strike="sngStrike" baseline="30000"/>
                        <a:t>th</a:t>
                      </a:r>
                      <a:r>
                        <a:rPr lang="en-US" sz="1600" strike="sngStrike"/>
                        <a:t>.June</a:t>
                      </a:r>
                    </a:p>
                    <a:p>
                      <a:pPr lvl="0" algn="ctr">
                        <a:lnSpc>
                          <a:spcPct val="100000"/>
                        </a:lnSpc>
                        <a:spcBef>
                          <a:spcPts val="0"/>
                        </a:spcBef>
                        <a:spcAft>
                          <a:spcPts val="0"/>
                        </a:spcAft>
                        <a:buNone/>
                      </a:pPr>
                      <a:r>
                        <a:rPr lang="en-US" sz="1600" strike="sngStrike" kern="1200" noProof="0">
                          <a:solidFill>
                            <a:schemeClr val="dk1"/>
                          </a:solidFill>
                          <a:latin typeface="+mn-lt"/>
                          <a:ea typeface="+mn-ea"/>
                          <a:cs typeface="+mn-cs"/>
                        </a:rPr>
                        <a:t>30th Mar</a:t>
                      </a:r>
                      <a:r>
                        <a:rPr lang="en-US" sz="1200" b="1" i="0" u="none" strike="noStrike" kern="1200" noProof="0">
                          <a:solidFill>
                            <a:srgbClr val="000000"/>
                          </a:solidFill>
                          <a:latin typeface="Arial"/>
                          <a:ea typeface="+mn-ea"/>
                          <a:cs typeface="Arial"/>
                        </a:rPr>
                        <a:t>ch</a:t>
                      </a:r>
                    </a:p>
                    <a:p>
                      <a:pPr lvl="0" algn="ctr">
                        <a:lnSpc>
                          <a:spcPct val="100000"/>
                        </a:lnSpc>
                        <a:spcBef>
                          <a:spcPts val="0"/>
                        </a:spcBef>
                        <a:spcAft>
                          <a:spcPts val="0"/>
                        </a:spcAft>
                        <a:buNone/>
                      </a:pPr>
                      <a:r>
                        <a:rPr lang="en-US" sz="1200" b="1" i="0" u="none" strike="noStrike" kern="1200" noProof="0">
                          <a:solidFill>
                            <a:srgbClr val="000000"/>
                          </a:solidFill>
                          <a:latin typeface="Arial"/>
                          <a:ea typeface="+mn-ea"/>
                          <a:cs typeface="Arial"/>
                        </a:rPr>
                        <a:t>10th June</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t>FIB and GW team</a:t>
                      </a:r>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94132260"/>
                  </a:ext>
                </a:extLst>
              </a:tr>
              <a:tr h="950385">
                <a:tc vMerge="1">
                  <a:txBody>
                    <a:bodyPr/>
                    <a:lstStyle/>
                    <a:p>
                      <a:pPr marL="0" indent="0">
                        <a:buClr>
                          <a:srgbClr val="002060"/>
                        </a:buClr>
                        <a:buSzPct val="150000"/>
                        <a:buFontTx/>
                        <a:buNone/>
                      </a:pPr>
                      <a:endParaRPr kumimoji="0" lang="en-US" sz="1050" b="1" i="0" u="none" strike="noStrike" kern="1200" cap="none" spc="0" normalizeH="0" baseline="0">
                        <a:ln>
                          <a:noFill/>
                        </a:ln>
                        <a:solidFill>
                          <a:srgbClr val="000000"/>
                        </a:solidFill>
                        <a:effectLst/>
                        <a:uLnTx/>
                        <a:uFillTx/>
                        <a:latin typeface="Arial"/>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a:ln>
                            <a:noFill/>
                          </a:ln>
                          <a:solidFill>
                            <a:srgbClr val="000000"/>
                          </a:solidFill>
                          <a:effectLst/>
                          <a:uLnTx/>
                          <a:uFillTx/>
                          <a:latin typeface="+mn-lt"/>
                          <a:ea typeface="+mn-ea"/>
                          <a:cs typeface="+mn-cs"/>
                        </a:rPr>
                        <a:t>Go-Live &amp; Monitoring</a:t>
                      </a: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mn-lt"/>
                          <a:ea typeface="+mn-ea"/>
                          <a:cs typeface="+mn-cs"/>
                        </a:rPr>
                        <a:t>Not started</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r>
                        <a:rPr lang="en-US" sz="1600" strike="sngStrike"/>
                        <a:t>1.July</a:t>
                      </a:r>
                    </a:p>
                    <a:p>
                      <a:pPr lvl="0" algn="ctr">
                        <a:lnSpc>
                          <a:spcPct val="100000"/>
                        </a:lnSpc>
                        <a:spcBef>
                          <a:spcPts val="0"/>
                        </a:spcBef>
                        <a:spcAft>
                          <a:spcPts val="0"/>
                        </a:spcAft>
                        <a:buNone/>
                      </a:pPr>
                      <a:r>
                        <a:rPr lang="en-US" sz="1200" b="1" i="0" u="none" strike="noStrike" kern="1200" noProof="0">
                          <a:solidFill>
                            <a:srgbClr val="000000"/>
                          </a:solidFill>
                          <a:latin typeface="Arial"/>
                          <a:ea typeface="+mn-ea"/>
                          <a:cs typeface="Arial"/>
                        </a:rPr>
                        <a:t>20th June</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t>FIB team</a:t>
                      </a:r>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48704062"/>
                  </a:ext>
                </a:extLst>
              </a:tr>
              <a:tr h="283094">
                <a:tc vMerge="1">
                  <a:txBody>
                    <a:bodyPr/>
                    <a:lstStyle/>
                    <a:p>
                      <a:pPr marL="0" indent="0">
                        <a:buClr>
                          <a:srgbClr val="002060"/>
                        </a:buClr>
                        <a:buSzPct val="150000"/>
                        <a:buFontTx/>
                        <a:buNone/>
                      </a:pPr>
                      <a:endParaRPr kumimoji="0" lang="en-US" sz="1050" b="1" i="0" u="none" strike="noStrike" kern="1200" cap="none" spc="0" normalizeH="0" baseline="0">
                        <a:ln>
                          <a:noFill/>
                        </a:ln>
                        <a:solidFill>
                          <a:srgbClr val="000000"/>
                        </a:solidFill>
                        <a:effectLst/>
                        <a:uLnTx/>
                        <a:uFillTx/>
                        <a:latin typeface="Arial"/>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74320" lvl="1" indent="0" algn="l" defTabSz="914400" rtl="0" eaLnBrk="1" latinLnBrk="0" hangingPunct="1">
                        <a:buClr>
                          <a:srgbClr val="002060"/>
                        </a:buClr>
                        <a:buSzPct val="150000"/>
                        <a:buFontTx/>
                        <a:buNone/>
                      </a:pPr>
                      <a:endParaRPr lang="en-US" sz="1600" kern="1200">
                        <a:solidFill>
                          <a:schemeClr val="dk1"/>
                        </a:solidFill>
                        <a:latin typeface="+mn-lt"/>
                        <a:ea typeface="+mn-ea"/>
                        <a:cs typeface="+mn-cs"/>
                      </a:endParaRP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endParaRPr lang="en-US" sz="1600" strike="noStrike"/>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62903627"/>
                  </a:ext>
                </a:extLst>
              </a:tr>
              <a:tr h="283094">
                <a:tc vMerge="1">
                  <a:txBody>
                    <a:bodyPr/>
                    <a:lstStyle/>
                    <a:p>
                      <a:pPr marL="0" indent="0">
                        <a:buClr>
                          <a:srgbClr val="002060"/>
                        </a:buClr>
                        <a:buSzPct val="150000"/>
                        <a:buFontTx/>
                        <a:buNone/>
                      </a:pPr>
                      <a:endParaRPr kumimoji="0" lang="en-US" sz="1050" b="1" i="0" u="none" strike="noStrike" kern="1200" cap="none" spc="0" normalizeH="0" baseline="0">
                        <a:ln>
                          <a:noFill/>
                        </a:ln>
                        <a:solidFill>
                          <a:srgbClr val="000000"/>
                        </a:solidFill>
                        <a:effectLst/>
                        <a:uLnTx/>
                        <a:uFillTx/>
                        <a:latin typeface="Arial"/>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74320" lvl="1" indent="0" algn="l" defTabSz="914400" rtl="0" eaLnBrk="1" latinLnBrk="0" hangingPunct="1">
                        <a:buClr>
                          <a:srgbClr val="002060"/>
                        </a:buClr>
                        <a:buSzPct val="150000"/>
                        <a:buFontTx/>
                        <a:buNone/>
                      </a:pPr>
                      <a:endParaRPr lang="en-US" sz="1600" kern="1200">
                        <a:solidFill>
                          <a:schemeClr val="dk1"/>
                        </a:solidFill>
                        <a:latin typeface="+mn-lt"/>
                        <a:ea typeface="+mn-ea"/>
                        <a:cs typeface="+mn-cs"/>
                      </a:endParaRP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endParaRPr lang="en-US" sz="1600" strike="noStrike"/>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60330286"/>
                  </a:ext>
                </a:extLst>
              </a:tr>
            </a:tbl>
          </a:graphicData>
        </a:graphic>
      </p:graphicFrame>
      <p:sp>
        <p:nvSpPr>
          <p:cNvPr id="9" name="Freeform 13">
            <a:extLst>
              <a:ext uri="{FF2B5EF4-FFF2-40B4-BE49-F238E27FC236}">
                <a16:creationId xmlns:a16="http://schemas.microsoft.com/office/drawing/2014/main" id="{3AAC2FCB-2293-8426-2920-A17042D29D0C}"/>
              </a:ext>
            </a:extLst>
          </p:cNvPr>
          <p:cNvSpPr/>
          <p:nvPr/>
        </p:nvSpPr>
        <p:spPr>
          <a:xfrm>
            <a:off x="16062518" y="309634"/>
            <a:ext cx="1851905" cy="870481"/>
          </a:xfrm>
          <a:custGeom>
            <a:avLst/>
            <a:gdLst/>
            <a:ahLst/>
            <a:cxnLst/>
            <a:rect l="l" t="t" r="r" b="b"/>
            <a:pathLst>
              <a:path w="1851905" h="870481">
                <a:moveTo>
                  <a:pt x="0" y="0"/>
                </a:moveTo>
                <a:lnTo>
                  <a:pt x="1851905" y="0"/>
                </a:lnTo>
                <a:lnTo>
                  <a:pt x="1851905" y="870481"/>
                </a:lnTo>
                <a:lnTo>
                  <a:pt x="0" y="870481"/>
                </a:lnTo>
                <a:lnTo>
                  <a:pt x="0" y="0"/>
                </a:lnTo>
                <a:close/>
              </a:path>
            </a:pathLst>
          </a:custGeom>
          <a:blipFill>
            <a:blip r:embed="rId2"/>
            <a:stretch>
              <a:fillRect/>
            </a:stretch>
          </a:blipFill>
        </p:spPr>
        <p:txBody>
          <a:bodyPr/>
          <a:lstStyle/>
          <a:p>
            <a:endParaRPr lang="en-US"/>
          </a:p>
        </p:txBody>
      </p:sp>
    </p:spTree>
    <p:extLst>
      <p:ext uri="{BB962C8B-B14F-4D97-AF65-F5344CB8AC3E}">
        <p14:creationId xmlns:p14="http://schemas.microsoft.com/office/powerpoint/2010/main" val="2368190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3ABDB-3035-56F8-45EF-1479D65326F4}"/>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2F52CE72-1CE1-ADD3-3366-A2DB7065CAC4}"/>
              </a:ext>
            </a:extLst>
          </p:cNvPr>
          <p:cNvSpPr txBox="1"/>
          <p:nvPr/>
        </p:nvSpPr>
        <p:spPr>
          <a:xfrm>
            <a:off x="1028700" y="857250"/>
            <a:ext cx="13304262" cy="738664"/>
          </a:xfrm>
          <a:prstGeom prst="rect">
            <a:avLst/>
          </a:prstGeom>
        </p:spPr>
        <p:txBody>
          <a:bodyPr wrap="square" lIns="0" tIns="0" rIns="0" bIns="0" rtlCol="0" anchor="t">
            <a:spAutoFit/>
          </a:bodyPr>
          <a:lstStyle/>
          <a:p>
            <a:r>
              <a:rPr lang="en-US" sz="4800" b="1">
                <a:solidFill>
                  <a:srgbClr val="259B94"/>
                </a:solidFill>
                <a:latin typeface="Inter Bold"/>
                <a:ea typeface="Inter Bold"/>
                <a:cs typeface="Calibri"/>
                <a:sym typeface="Inter Bold"/>
              </a:rPr>
              <a:t>FIB – PCI DSS Project (Al </a:t>
            </a:r>
            <a:r>
              <a:rPr lang="en-US" sz="4800" b="1" err="1">
                <a:solidFill>
                  <a:srgbClr val="259B94"/>
                </a:solidFill>
                <a:latin typeface="Inter Bold"/>
                <a:ea typeface="Inter Bold"/>
                <a:cs typeface="Calibri"/>
                <a:sym typeface="Inter Bold"/>
              </a:rPr>
              <a:t>Ejabi</a:t>
            </a:r>
            <a:r>
              <a:rPr lang="en-US" sz="4800" b="1">
                <a:solidFill>
                  <a:srgbClr val="259B94"/>
                </a:solidFill>
                <a:latin typeface="Inter Bold"/>
                <a:ea typeface="Inter Bold"/>
                <a:cs typeface="Calibri"/>
                <a:sym typeface="Inter Bold"/>
              </a:rPr>
              <a:t>)</a:t>
            </a:r>
            <a:r>
              <a:rPr lang="en-US" sz="4800" b="1">
                <a:solidFill>
                  <a:srgbClr val="259B94"/>
                </a:solidFill>
                <a:latin typeface="Inter Bold"/>
                <a:ea typeface="Inter Bold"/>
                <a:cs typeface="Calibri"/>
              </a:rPr>
              <a:t> </a:t>
            </a:r>
            <a:r>
              <a:rPr lang="en-US" sz="4800" b="1">
                <a:solidFill>
                  <a:srgbClr val="1C1818"/>
                </a:solidFill>
                <a:latin typeface="Inter Bold"/>
                <a:ea typeface="Inter Bold"/>
                <a:cs typeface="Calibri"/>
              </a:rPr>
              <a:t>PROJECT</a:t>
            </a:r>
            <a:endParaRPr lang="en-US" sz="4800">
              <a:ea typeface="Calibri"/>
              <a:cs typeface="Calibri"/>
            </a:endParaRPr>
          </a:p>
        </p:txBody>
      </p:sp>
      <p:sp>
        <p:nvSpPr>
          <p:cNvPr id="3" name="Freeform 3">
            <a:extLst>
              <a:ext uri="{FF2B5EF4-FFF2-40B4-BE49-F238E27FC236}">
                <a16:creationId xmlns:a16="http://schemas.microsoft.com/office/drawing/2014/main" id="{3EB30F9D-E560-8CBD-F5CF-CF7C4489FB6C}"/>
              </a:ext>
            </a:extLst>
          </p:cNvPr>
          <p:cNvSpPr/>
          <p:nvPr/>
        </p:nvSpPr>
        <p:spPr>
          <a:xfrm>
            <a:off x="0" y="0"/>
            <a:ext cx="1028700" cy="1028700"/>
          </a:xfrm>
          <a:custGeom>
            <a:avLst/>
            <a:gdLst/>
            <a:ahLst/>
            <a:cxnLst/>
            <a:rect l="l" t="t" r="r" b="b"/>
            <a:pathLst>
              <a:path w="1028700" h="1028700">
                <a:moveTo>
                  <a:pt x="0" y="0"/>
                </a:moveTo>
                <a:lnTo>
                  <a:pt x="1028700" y="0"/>
                </a:lnTo>
                <a:lnTo>
                  <a:pt x="1028700" y="1028700"/>
                </a:lnTo>
                <a:lnTo>
                  <a:pt x="0" y="10287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10" name="Group 10">
            <a:extLst>
              <a:ext uri="{FF2B5EF4-FFF2-40B4-BE49-F238E27FC236}">
                <a16:creationId xmlns:a16="http://schemas.microsoft.com/office/drawing/2014/main" id="{FB7F28DB-C9FE-CF06-9F3E-7D1089540C1F}"/>
              </a:ext>
            </a:extLst>
          </p:cNvPr>
          <p:cNvGrpSpPr/>
          <p:nvPr/>
        </p:nvGrpSpPr>
        <p:grpSpPr>
          <a:xfrm>
            <a:off x="514350" y="8877758"/>
            <a:ext cx="295243" cy="295243"/>
            <a:chOff x="0" y="0"/>
            <a:chExt cx="812800" cy="812800"/>
          </a:xfrm>
        </p:grpSpPr>
        <p:sp>
          <p:nvSpPr>
            <p:cNvPr id="11" name="Freeform 11">
              <a:extLst>
                <a:ext uri="{FF2B5EF4-FFF2-40B4-BE49-F238E27FC236}">
                  <a16:creationId xmlns:a16="http://schemas.microsoft.com/office/drawing/2014/main" id="{FF3A04D6-A19D-762C-DCC4-CB84F7790E2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A09A"/>
            </a:solidFill>
          </p:spPr>
          <p:txBody>
            <a:bodyPr/>
            <a:lstStyle/>
            <a:p>
              <a:endParaRPr lang="en-US"/>
            </a:p>
          </p:txBody>
        </p:sp>
        <p:sp>
          <p:nvSpPr>
            <p:cNvPr id="12" name="TextBox 12">
              <a:extLst>
                <a:ext uri="{FF2B5EF4-FFF2-40B4-BE49-F238E27FC236}">
                  <a16:creationId xmlns:a16="http://schemas.microsoft.com/office/drawing/2014/main" id="{C7BEB468-9799-968A-2450-3609B1EBC9DC}"/>
                </a:ext>
              </a:extLst>
            </p:cNvPr>
            <p:cNvSpPr txBox="1"/>
            <p:nvPr/>
          </p:nvSpPr>
          <p:spPr>
            <a:xfrm>
              <a:off x="76200" y="-47625"/>
              <a:ext cx="660400" cy="784225"/>
            </a:xfrm>
            <a:prstGeom prst="rect">
              <a:avLst/>
            </a:prstGeom>
          </p:spPr>
          <p:txBody>
            <a:bodyPr lIns="50800" tIns="50800" rIns="50800" bIns="50800" rtlCol="0" anchor="ctr"/>
            <a:lstStyle/>
            <a:p>
              <a:pPr algn="ctr">
                <a:lnSpc>
                  <a:spcPts val="3910"/>
                </a:lnSpc>
              </a:pPr>
              <a:endParaRPr/>
            </a:p>
          </p:txBody>
        </p:sp>
      </p:grpSp>
      <p:grpSp>
        <p:nvGrpSpPr>
          <p:cNvPr id="14" name="Group 14">
            <a:extLst>
              <a:ext uri="{FF2B5EF4-FFF2-40B4-BE49-F238E27FC236}">
                <a16:creationId xmlns:a16="http://schemas.microsoft.com/office/drawing/2014/main" id="{2B9D2FA9-432E-1B1D-55C7-8842E9D2E6FB}"/>
              </a:ext>
            </a:extLst>
          </p:cNvPr>
          <p:cNvGrpSpPr/>
          <p:nvPr/>
        </p:nvGrpSpPr>
        <p:grpSpPr>
          <a:xfrm>
            <a:off x="9864276" y="7543183"/>
            <a:ext cx="7124195" cy="1419873"/>
            <a:chOff x="0" y="0"/>
            <a:chExt cx="9498926" cy="1893165"/>
          </a:xfrm>
        </p:grpSpPr>
        <p:sp>
          <p:nvSpPr>
            <p:cNvPr id="15" name="Freeform 15">
              <a:extLst>
                <a:ext uri="{FF2B5EF4-FFF2-40B4-BE49-F238E27FC236}">
                  <a16:creationId xmlns:a16="http://schemas.microsoft.com/office/drawing/2014/main" id="{CCA30F3E-316D-58DB-71EB-AC90608F0FBA}"/>
                </a:ext>
              </a:extLst>
            </p:cNvPr>
            <p:cNvSpPr/>
            <p:nvPr/>
          </p:nvSpPr>
          <p:spPr>
            <a:xfrm>
              <a:off x="0" y="19403"/>
              <a:ext cx="1738820" cy="1738820"/>
            </a:xfrm>
            <a:custGeom>
              <a:avLst/>
              <a:gdLst/>
              <a:ahLst/>
              <a:cxnLst/>
              <a:rect l="l" t="t" r="r" b="b"/>
              <a:pathLst>
                <a:path w="1738820" h="1738820">
                  <a:moveTo>
                    <a:pt x="0" y="0"/>
                  </a:moveTo>
                  <a:lnTo>
                    <a:pt x="1738820" y="0"/>
                  </a:lnTo>
                  <a:lnTo>
                    <a:pt x="1738820" y="1738821"/>
                  </a:lnTo>
                  <a:lnTo>
                    <a:pt x="0" y="17388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Freeform 16">
              <a:extLst>
                <a:ext uri="{FF2B5EF4-FFF2-40B4-BE49-F238E27FC236}">
                  <a16:creationId xmlns:a16="http://schemas.microsoft.com/office/drawing/2014/main" id="{7D2C1F95-6BCD-D7E4-836B-6397CF86C565}"/>
                </a:ext>
              </a:extLst>
            </p:cNvPr>
            <p:cNvSpPr/>
            <p:nvPr/>
          </p:nvSpPr>
          <p:spPr>
            <a:xfrm>
              <a:off x="2603399" y="0"/>
              <a:ext cx="1713314" cy="1893165"/>
            </a:xfrm>
            <a:custGeom>
              <a:avLst/>
              <a:gdLst/>
              <a:ahLst/>
              <a:cxnLst/>
              <a:rect l="l" t="t" r="r" b="b"/>
              <a:pathLst>
                <a:path w="1713314" h="1893165">
                  <a:moveTo>
                    <a:pt x="0" y="0"/>
                  </a:moveTo>
                  <a:lnTo>
                    <a:pt x="1713314" y="0"/>
                  </a:lnTo>
                  <a:lnTo>
                    <a:pt x="1713314" y="1893165"/>
                  </a:lnTo>
                  <a:lnTo>
                    <a:pt x="0" y="189316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7" name="Freeform 17">
              <a:extLst>
                <a:ext uri="{FF2B5EF4-FFF2-40B4-BE49-F238E27FC236}">
                  <a16:creationId xmlns:a16="http://schemas.microsoft.com/office/drawing/2014/main" id="{57426AB5-0D0C-1D01-4AAA-1605EC4BF367}"/>
                </a:ext>
              </a:extLst>
            </p:cNvPr>
            <p:cNvSpPr/>
            <p:nvPr/>
          </p:nvSpPr>
          <p:spPr>
            <a:xfrm>
              <a:off x="5180313" y="20296"/>
              <a:ext cx="1737928" cy="1737928"/>
            </a:xfrm>
            <a:custGeom>
              <a:avLst/>
              <a:gdLst/>
              <a:ahLst/>
              <a:cxnLst/>
              <a:rect l="l" t="t" r="r" b="b"/>
              <a:pathLst>
                <a:path w="1737928" h="1737928">
                  <a:moveTo>
                    <a:pt x="0" y="0"/>
                  </a:moveTo>
                  <a:lnTo>
                    <a:pt x="1737928" y="0"/>
                  </a:lnTo>
                  <a:lnTo>
                    <a:pt x="1737928" y="1737928"/>
                  </a:lnTo>
                  <a:lnTo>
                    <a:pt x="0" y="173792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8" name="Freeform 18">
              <a:extLst>
                <a:ext uri="{FF2B5EF4-FFF2-40B4-BE49-F238E27FC236}">
                  <a16:creationId xmlns:a16="http://schemas.microsoft.com/office/drawing/2014/main" id="{755D7E84-95F3-A09C-F153-2FD61E243939}"/>
                </a:ext>
              </a:extLst>
            </p:cNvPr>
            <p:cNvSpPr/>
            <p:nvPr/>
          </p:nvSpPr>
          <p:spPr>
            <a:xfrm>
              <a:off x="7781841" y="19403"/>
              <a:ext cx="1717085" cy="1738820"/>
            </a:xfrm>
            <a:custGeom>
              <a:avLst/>
              <a:gdLst/>
              <a:ahLst/>
              <a:cxnLst/>
              <a:rect l="l" t="t" r="r" b="b"/>
              <a:pathLst>
                <a:path w="1717085" h="1738820">
                  <a:moveTo>
                    <a:pt x="0" y="0"/>
                  </a:moveTo>
                  <a:lnTo>
                    <a:pt x="1717085" y="0"/>
                  </a:lnTo>
                  <a:lnTo>
                    <a:pt x="1717085" y="1738821"/>
                  </a:lnTo>
                  <a:lnTo>
                    <a:pt x="0" y="173882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sp>
        <p:nvSpPr>
          <p:cNvPr id="19" name="TextBox 19">
            <a:extLst>
              <a:ext uri="{FF2B5EF4-FFF2-40B4-BE49-F238E27FC236}">
                <a16:creationId xmlns:a16="http://schemas.microsoft.com/office/drawing/2014/main" id="{1071F378-A030-3B0D-B19A-A9D7F01300DC}"/>
              </a:ext>
            </a:extLst>
          </p:cNvPr>
          <p:cNvSpPr txBox="1"/>
          <p:nvPr/>
        </p:nvSpPr>
        <p:spPr>
          <a:xfrm>
            <a:off x="1028700" y="2086281"/>
            <a:ext cx="5364956" cy="339324"/>
          </a:xfrm>
          <a:prstGeom prst="rect">
            <a:avLst/>
          </a:prstGeom>
        </p:spPr>
        <p:txBody>
          <a:bodyPr lIns="0" tIns="0" rIns="0" bIns="0" rtlCol="0" anchor="t">
            <a:spAutoFit/>
          </a:bodyPr>
          <a:lstStyle/>
          <a:p>
            <a:pPr algn="just">
              <a:lnSpc>
                <a:spcPts val="2799"/>
              </a:lnSpc>
              <a:spcBef>
                <a:spcPct val="0"/>
              </a:spcBef>
            </a:pPr>
            <a:r>
              <a:rPr lang="en-US" sz="1950">
                <a:solidFill>
                  <a:srgbClr val="000000"/>
                </a:solidFill>
                <a:latin typeface="Poppins"/>
                <a:ea typeface="Poppins"/>
                <a:cs typeface="Poppins"/>
                <a:sym typeface="Poppins"/>
              </a:rPr>
              <a:t>Project Manager : </a:t>
            </a:r>
            <a:r>
              <a:rPr lang="en-US" sz="1950" err="1">
                <a:solidFill>
                  <a:srgbClr val="000000"/>
                </a:solidFill>
                <a:latin typeface="Poppins"/>
                <a:ea typeface="Poppins"/>
                <a:cs typeface="Poppins"/>
                <a:sym typeface="Poppins"/>
              </a:rPr>
              <a:t>Rudaw</a:t>
            </a:r>
            <a:r>
              <a:rPr lang="en-US" sz="1950">
                <a:solidFill>
                  <a:srgbClr val="000000"/>
                </a:solidFill>
                <a:latin typeface="Poppins"/>
                <a:ea typeface="Poppins"/>
                <a:cs typeface="Poppins"/>
                <a:sym typeface="Poppins"/>
              </a:rPr>
              <a:t> Abdulrahman</a:t>
            </a:r>
            <a:endParaRPr lang="en-US" sz="1950">
              <a:solidFill>
                <a:srgbClr val="000000"/>
              </a:solidFill>
              <a:latin typeface="Poppins"/>
              <a:ea typeface="Poppins"/>
              <a:cs typeface="Poppins"/>
            </a:endParaRPr>
          </a:p>
        </p:txBody>
      </p:sp>
      <p:sp>
        <p:nvSpPr>
          <p:cNvPr id="22" name="Freeform 13">
            <a:extLst>
              <a:ext uri="{FF2B5EF4-FFF2-40B4-BE49-F238E27FC236}">
                <a16:creationId xmlns:a16="http://schemas.microsoft.com/office/drawing/2014/main" id="{5F48075C-EDF2-73D7-7282-BCE80B849F59}"/>
              </a:ext>
            </a:extLst>
          </p:cNvPr>
          <p:cNvSpPr/>
          <p:nvPr/>
        </p:nvSpPr>
        <p:spPr>
          <a:xfrm>
            <a:off x="16062518" y="309634"/>
            <a:ext cx="1851905" cy="870481"/>
          </a:xfrm>
          <a:custGeom>
            <a:avLst/>
            <a:gdLst/>
            <a:ahLst/>
            <a:cxnLst/>
            <a:rect l="l" t="t" r="r" b="b"/>
            <a:pathLst>
              <a:path w="1851905" h="870481">
                <a:moveTo>
                  <a:pt x="0" y="0"/>
                </a:moveTo>
                <a:lnTo>
                  <a:pt x="1851905" y="0"/>
                </a:lnTo>
                <a:lnTo>
                  <a:pt x="1851905" y="870481"/>
                </a:lnTo>
                <a:lnTo>
                  <a:pt x="0" y="870481"/>
                </a:lnTo>
                <a:lnTo>
                  <a:pt x="0" y="0"/>
                </a:lnTo>
                <a:close/>
              </a:path>
            </a:pathLst>
          </a:custGeom>
          <a:blipFill>
            <a:blip r:embed="rId7"/>
            <a:stretch>
              <a:fillRect/>
            </a:stretch>
          </a:blipFill>
        </p:spPr>
        <p:txBody>
          <a:bodyPr/>
          <a:lstStyle/>
          <a:p>
            <a:endParaRPr lang="en-US"/>
          </a:p>
        </p:txBody>
      </p:sp>
    </p:spTree>
    <p:extLst>
      <p:ext uri="{BB962C8B-B14F-4D97-AF65-F5344CB8AC3E}">
        <p14:creationId xmlns:p14="http://schemas.microsoft.com/office/powerpoint/2010/main" val="1363171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0DD3D-0934-E476-AF1D-3DD19402605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137A374-B417-B99D-50DE-AB47EAF2548F}"/>
              </a:ext>
            </a:extLst>
          </p:cNvPr>
          <p:cNvSpPr/>
          <p:nvPr/>
        </p:nvSpPr>
        <p:spPr>
          <a:xfrm>
            <a:off x="821533" y="1462082"/>
            <a:ext cx="16626842" cy="452903"/>
          </a:xfrm>
          <a:prstGeom prst="rect">
            <a:avLst/>
          </a:prstGeom>
          <a:solidFill>
            <a:srgbClr val="00A69C"/>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mj-lt"/>
                <a:ea typeface="+mn-ea"/>
                <a:cs typeface="+mn-cs"/>
              </a:rPr>
              <a:t>Project Highlights </a:t>
            </a:r>
          </a:p>
        </p:txBody>
      </p:sp>
      <p:sp>
        <p:nvSpPr>
          <p:cNvPr id="5" name="Title 1">
            <a:extLst>
              <a:ext uri="{FF2B5EF4-FFF2-40B4-BE49-F238E27FC236}">
                <a16:creationId xmlns:a16="http://schemas.microsoft.com/office/drawing/2014/main" id="{E7254A2D-CAC8-073B-67E9-2F4A420F139D}"/>
              </a:ext>
            </a:extLst>
          </p:cNvPr>
          <p:cNvSpPr txBox="1">
            <a:spLocks/>
          </p:cNvSpPr>
          <p:nvPr/>
        </p:nvSpPr>
        <p:spPr>
          <a:xfrm>
            <a:off x="817635" y="746890"/>
            <a:ext cx="11748883" cy="57708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spcBef>
                <a:spcPct val="0"/>
              </a:spcBef>
              <a:defRPr/>
            </a:pPr>
            <a:r>
              <a:rPr lang="en-US" sz="3750" b="1">
                <a:ln w="6350" cap="flat">
                  <a:noFill/>
                  <a:miter lim="800000"/>
                </a:ln>
                <a:solidFill>
                  <a:srgbClr val="259B94"/>
                </a:solidFill>
                <a:ea typeface="+mn-lt"/>
                <a:cs typeface="+mn-lt"/>
              </a:rPr>
              <a:t>FIB – PCI DSS</a:t>
            </a:r>
            <a:r>
              <a:rPr lang="en-US" sz="3750" b="1">
                <a:ln w="6350" cap="flat">
                  <a:noFill/>
                  <a:miter lim="800000"/>
                </a:ln>
                <a:solidFill>
                  <a:srgbClr val="000000"/>
                </a:solidFill>
                <a:ea typeface="+mn-lt"/>
                <a:cs typeface="+mn-lt"/>
              </a:rPr>
              <a:t> Project </a:t>
            </a:r>
            <a:r>
              <a:rPr lang="en-US" sz="3750" b="1">
                <a:ln w="6350" cap="flat">
                  <a:noFill/>
                  <a:miter lim="800000"/>
                </a:ln>
                <a:solidFill>
                  <a:srgbClr val="C00000"/>
                </a:solidFill>
                <a:ea typeface="+mn-lt"/>
                <a:cs typeface="+mn-lt"/>
              </a:rPr>
              <a:t>(Al </a:t>
            </a:r>
            <a:r>
              <a:rPr lang="en-US" sz="3750" b="1" err="1">
                <a:ln w="6350" cap="flat">
                  <a:noFill/>
                  <a:miter lim="800000"/>
                </a:ln>
                <a:solidFill>
                  <a:srgbClr val="C00000"/>
                </a:solidFill>
                <a:ea typeface="+mn-lt"/>
                <a:cs typeface="+mn-lt"/>
              </a:rPr>
              <a:t>Ejabi</a:t>
            </a:r>
            <a:r>
              <a:rPr lang="en-US" sz="3750" b="1">
                <a:ln w="6350" cap="flat">
                  <a:noFill/>
                  <a:miter lim="800000"/>
                </a:ln>
                <a:solidFill>
                  <a:srgbClr val="C00000"/>
                </a:solidFill>
                <a:ea typeface="+mn-lt"/>
                <a:cs typeface="+mn-lt"/>
              </a:rPr>
              <a:t>)</a:t>
            </a:r>
            <a:endParaRPr lang="en-US">
              <a:solidFill>
                <a:srgbClr val="C00000"/>
              </a:solidFill>
            </a:endParaRPr>
          </a:p>
        </p:txBody>
      </p:sp>
      <p:sp>
        <p:nvSpPr>
          <p:cNvPr id="6" name="Rectangle 5">
            <a:extLst>
              <a:ext uri="{FF2B5EF4-FFF2-40B4-BE49-F238E27FC236}">
                <a16:creationId xmlns:a16="http://schemas.microsoft.com/office/drawing/2014/main" id="{AEC86874-7567-BAD1-167E-24D99F16893E}"/>
              </a:ext>
            </a:extLst>
          </p:cNvPr>
          <p:cNvSpPr/>
          <p:nvPr/>
        </p:nvSpPr>
        <p:spPr bwMode="auto">
          <a:xfrm>
            <a:off x="15836117" y="2117372"/>
            <a:ext cx="1612257" cy="405768"/>
          </a:xfrm>
          <a:prstGeom prst="rect">
            <a:avLst/>
          </a:prstGeom>
          <a:solidFill>
            <a:srgbClr val="00A69C"/>
          </a:solid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anose="020B0604020202020204" pitchFamily="34" charset="0"/>
              </a:rPr>
              <a:t>Current Period</a:t>
            </a:r>
          </a:p>
        </p:txBody>
      </p:sp>
      <p:sp>
        <p:nvSpPr>
          <p:cNvPr id="7" name="Rectangle 6">
            <a:extLst>
              <a:ext uri="{FF2B5EF4-FFF2-40B4-BE49-F238E27FC236}">
                <a16:creationId xmlns:a16="http://schemas.microsoft.com/office/drawing/2014/main" id="{3BCCBF3F-B37B-17E6-AF37-11DD400D7683}"/>
              </a:ext>
            </a:extLst>
          </p:cNvPr>
          <p:cNvSpPr/>
          <p:nvPr/>
        </p:nvSpPr>
        <p:spPr bwMode="auto">
          <a:xfrm>
            <a:off x="14111579" y="2117372"/>
            <a:ext cx="1620000" cy="405768"/>
          </a:xfrm>
          <a:prstGeom prst="rect">
            <a:avLst/>
          </a:prstGeom>
          <a:solidFill>
            <a:srgbClr val="00A69C"/>
          </a:solid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anose="020B0604020202020204" pitchFamily="34" charset="0"/>
              </a:rPr>
              <a:t>Previous Period</a:t>
            </a:r>
          </a:p>
        </p:txBody>
      </p:sp>
      <p:sp>
        <p:nvSpPr>
          <p:cNvPr id="8" name="Rectangle 7">
            <a:extLst>
              <a:ext uri="{FF2B5EF4-FFF2-40B4-BE49-F238E27FC236}">
                <a16:creationId xmlns:a16="http://schemas.microsoft.com/office/drawing/2014/main" id="{DF1A3711-16C3-F515-967E-4BE315C7FD47}"/>
              </a:ext>
            </a:extLst>
          </p:cNvPr>
          <p:cNvSpPr/>
          <p:nvPr/>
        </p:nvSpPr>
        <p:spPr bwMode="auto">
          <a:xfrm>
            <a:off x="14108565" y="2521505"/>
            <a:ext cx="1612257" cy="533898"/>
          </a:xfrm>
          <a:prstGeom prst="rect">
            <a:avLst/>
          </a:prstGeom>
          <a:solidFill>
            <a:srgbClr val="E2F0D9"/>
          </a:solidFill>
          <a:ln w="9525" cap="flat" cmpd="sng" algn="ctr">
            <a:solidFill>
              <a:srgbClr val="BFBFBF"/>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defTabSz="1564584">
              <a:defRPr/>
            </a:pPr>
            <a:r>
              <a:rPr lang="en-US" sz="1500" b="1" kern="0">
                <a:solidFill>
                  <a:prstClr val="black"/>
                </a:solidFill>
                <a:latin typeface="+mj-lt"/>
                <a:cs typeface="Arial" panose="020B0604020202020204" pitchFamily="34" charset="0"/>
              </a:rPr>
              <a:t>On Track</a:t>
            </a:r>
            <a:endParaRPr lang="en-GB" sz="1500" b="1" kern="0">
              <a:solidFill>
                <a:prstClr val="black"/>
              </a:solidFill>
              <a:latin typeface="+mj-lt"/>
              <a:cs typeface="Arial" panose="020B0604020202020204" pitchFamily="34" charset="0"/>
            </a:endParaRPr>
          </a:p>
        </p:txBody>
      </p:sp>
      <p:sp>
        <p:nvSpPr>
          <p:cNvPr id="9" name="Rectangle 8">
            <a:extLst>
              <a:ext uri="{FF2B5EF4-FFF2-40B4-BE49-F238E27FC236}">
                <a16:creationId xmlns:a16="http://schemas.microsoft.com/office/drawing/2014/main" id="{65C3685D-D91F-182F-B718-E6B77724D84F}"/>
              </a:ext>
            </a:extLst>
          </p:cNvPr>
          <p:cNvSpPr/>
          <p:nvPr/>
        </p:nvSpPr>
        <p:spPr bwMode="auto">
          <a:xfrm>
            <a:off x="6127743" y="2124086"/>
            <a:ext cx="7765395" cy="1699828"/>
          </a:xfrm>
          <a:prstGeom prst="rect">
            <a:avLst/>
          </a:prstGeom>
          <a:no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t"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lang="en-US" sz="1350" b="1">
                <a:solidFill>
                  <a:srgbClr val="000000"/>
                </a:solidFill>
                <a:ea typeface="+mn-lt"/>
                <a:cs typeface="+mn-lt"/>
              </a:rPr>
              <a:t>Kick-off Meeting: Completed</a:t>
            </a:r>
            <a:endParaRPr lang="en-US"/>
          </a:p>
          <a:p>
            <a:r>
              <a:rPr lang="en-US" sz="1350" b="1">
                <a:ea typeface="Calibri"/>
                <a:cs typeface="Calibri"/>
              </a:rPr>
              <a:t>Scope Definition: In Progress</a:t>
            </a:r>
            <a:endParaRPr lang="en-US"/>
          </a:p>
          <a:p>
            <a:r>
              <a:rPr lang="en-US" sz="1350" b="1">
                <a:solidFill>
                  <a:srgbClr val="000000"/>
                </a:solidFill>
                <a:ea typeface="+mn-lt"/>
                <a:cs typeface="+mn-lt"/>
              </a:rPr>
              <a:t>Vendor Payment: In Progress</a:t>
            </a:r>
          </a:p>
          <a:p>
            <a:pPr marL="285750" indent="-285750">
              <a:buFont typeface="Arial"/>
              <a:buChar char="•"/>
            </a:pPr>
            <a:r>
              <a:rPr lang="en-US" sz="1350" b="1">
                <a:highlight>
                  <a:srgbClr val="FFFF00"/>
                </a:highlight>
                <a:ea typeface="Calibri"/>
                <a:cs typeface="Calibri"/>
              </a:rPr>
              <a:t>Gap</a:t>
            </a:r>
            <a:r>
              <a:rPr lang="en-US" sz="1350" b="1">
                <a:highlight>
                  <a:srgbClr val="FFFF00"/>
                </a:highlight>
                <a:ea typeface="+mn-lt"/>
                <a:cs typeface="+mn-lt"/>
              </a:rPr>
              <a:t> Assessment started​;</a:t>
            </a:r>
          </a:p>
          <a:p>
            <a:pPr marL="285750" indent="-285750">
              <a:buFont typeface="Arial"/>
              <a:buChar char="•"/>
            </a:pPr>
            <a:r>
              <a:rPr lang="en-US" sz="1350">
                <a:highlight>
                  <a:srgbClr val="FFFF00"/>
                </a:highlight>
                <a:ea typeface="+mn-lt"/>
                <a:cs typeface="+mn-lt"/>
              </a:rPr>
              <a:t>Completed Network Architecture Review.</a:t>
            </a:r>
            <a:endParaRPr lang="en-US"/>
          </a:p>
          <a:p>
            <a:pPr marL="285750" indent="-285750">
              <a:buFont typeface="Arial"/>
              <a:buChar char="•"/>
            </a:pPr>
            <a:r>
              <a:rPr lang="en-US" sz="1350">
                <a:highlight>
                  <a:srgbClr val="FFFF00"/>
                </a:highlight>
                <a:ea typeface="+mn-lt"/>
                <a:cs typeface="+mn-lt"/>
              </a:rPr>
              <a:t>Completed Network Security Controls Review.</a:t>
            </a:r>
          </a:p>
          <a:p>
            <a:pPr marL="285750" indent="-285750">
              <a:buFont typeface="Arial"/>
              <a:buChar char="•"/>
            </a:pPr>
            <a:r>
              <a:rPr lang="en-US" sz="1350" err="1">
                <a:highlight>
                  <a:srgbClr val="FFFF00"/>
                </a:highlight>
                <a:ea typeface="+mn-lt"/>
                <a:cs typeface="+mn-lt"/>
              </a:rPr>
              <a:t>Next:</a:t>
            </a:r>
            <a:r>
              <a:rPr lang="en-US" sz="1000" b="1" err="1">
                <a:highlight>
                  <a:srgbClr val="FFFF00"/>
                </a:highlight>
                <a:latin typeface="Segoe UI"/>
                <a:ea typeface="+mn-lt"/>
                <a:cs typeface="Segoe UI"/>
              </a:rPr>
              <a:t>Review</a:t>
            </a:r>
            <a:r>
              <a:rPr lang="en-US" sz="1000" b="1">
                <a:highlight>
                  <a:srgbClr val="FFFF00"/>
                </a:highlight>
                <a:latin typeface="Segoe UI"/>
                <a:ea typeface="+mn-lt"/>
                <a:cs typeface="Segoe UI"/>
              </a:rPr>
              <a:t> of Application functions</a:t>
            </a:r>
            <a:endParaRPr lang="en-US" sz="1350">
              <a:highlight>
                <a:srgbClr val="FFFF00"/>
              </a:highlight>
              <a:ea typeface="+mn-lt"/>
              <a:cs typeface="+mn-lt"/>
            </a:endParaRPr>
          </a:p>
          <a:p>
            <a:pPr marL="285750" indent="-285750">
              <a:buFont typeface="Arial"/>
              <a:buChar char="•"/>
            </a:pPr>
            <a:endParaRPr lang="en-US" sz="1350">
              <a:highlight>
                <a:srgbClr val="FFFF00"/>
              </a:highlight>
              <a:ea typeface="+mn-lt"/>
              <a:cs typeface="+mn-lt"/>
            </a:endParaRPr>
          </a:p>
          <a:p>
            <a:endParaRPr lang="en-US" sz="1350" b="1">
              <a:highlight>
                <a:srgbClr val="FFFF00"/>
              </a:highlight>
              <a:ea typeface="+mn-lt"/>
              <a:cs typeface="+mn-lt"/>
            </a:endParaRPr>
          </a:p>
        </p:txBody>
      </p:sp>
      <p:sp>
        <p:nvSpPr>
          <p:cNvPr id="10" name="Rectangle 9">
            <a:extLst>
              <a:ext uri="{FF2B5EF4-FFF2-40B4-BE49-F238E27FC236}">
                <a16:creationId xmlns:a16="http://schemas.microsoft.com/office/drawing/2014/main" id="{59D6AB02-7296-4791-B323-DB14274D88C6}"/>
              </a:ext>
            </a:extLst>
          </p:cNvPr>
          <p:cNvSpPr/>
          <p:nvPr/>
        </p:nvSpPr>
        <p:spPr>
          <a:xfrm>
            <a:off x="821533" y="5756321"/>
            <a:ext cx="16626842" cy="452903"/>
          </a:xfrm>
          <a:prstGeom prst="rect">
            <a:avLst/>
          </a:prstGeom>
          <a:solidFill>
            <a:srgbClr val="00A69C"/>
          </a:solidFill>
          <a:ln w="952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mj-lt"/>
                <a:ea typeface="+mn-ea"/>
                <a:cs typeface="+mn-cs"/>
              </a:rPr>
              <a:t>Key Risks, Issues &amp; Decisions</a:t>
            </a:r>
          </a:p>
        </p:txBody>
      </p:sp>
      <p:graphicFrame>
        <p:nvGraphicFramePr>
          <p:cNvPr id="11" name="Table 6">
            <a:extLst>
              <a:ext uri="{FF2B5EF4-FFF2-40B4-BE49-F238E27FC236}">
                <a16:creationId xmlns:a16="http://schemas.microsoft.com/office/drawing/2014/main" id="{5B83CA8E-476D-C380-87F7-8D105E1C715C}"/>
              </a:ext>
            </a:extLst>
          </p:cNvPr>
          <p:cNvGraphicFramePr>
            <a:graphicFrameLocks noGrp="1"/>
          </p:cNvGraphicFramePr>
          <p:nvPr>
            <p:extLst>
              <p:ext uri="{D42A27DB-BD31-4B8C-83A1-F6EECF244321}">
                <p14:modId xmlns:p14="http://schemas.microsoft.com/office/powerpoint/2010/main" val="2590193932"/>
              </p:ext>
            </p:extLst>
          </p:nvPr>
        </p:nvGraphicFramePr>
        <p:xfrm>
          <a:off x="832104" y="6499601"/>
          <a:ext cx="16626847" cy="2164080"/>
        </p:xfrm>
        <a:graphic>
          <a:graphicData uri="http://schemas.openxmlformats.org/drawingml/2006/table">
            <a:tbl>
              <a:tblPr firstRow="1" bandRow="1">
                <a:tableStyleId>{5C22544A-7EE6-4342-B048-85BDC9FD1C3A}</a:tableStyleId>
              </a:tblPr>
              <a:tblGrid>
                <a:gridCol w="1978329">
                  <a:extLst>
                    <a:ext uri="{9D8B030D-6E8A-4147-A177-3AD203B41FA5}">
                      <a16:colId xmlns:a16="http://schemas.microsoft.com/office/drawing/2014/main" val="1940594143"/>
                    </a:ext>
                  </a:extLst>
                </a:gridCol>
                <a:gridCol w="6785486">
                  <a:extLst>
                    <a:ext uri="{9D8B030D-6E8A-4147-A177-3AD203B41FA5}">
                      <a16:colId xmlns:a16="http://schemas.microsoft.com/office/drawing/2014/main" val="273235595"/>
                    </a:ext>
                  </a:extLst>
                </a:gridCol>
                <a:gridCol w="2301858">
                  <a:extLst>
                    <a:ext uri="{9D8B030D-6E8A-4147-A177-3AD203B41FA5}">
                      <a16:colId xmlns:a16="http://schemas.microsoft.com/office/drawing/2014/main" val="1034871609"/>
                    </a:ext>
                  </a:extLst>
                </a:gridCol>
                <a:gridCol w="2237015">
                  <a:extLst>
                    <a:ext uri="{9D8B030D-6E8A-4147-A177-3AD203B41FA5}">
                      <a16:colId xmlns:a16="http://schemas.microsoft.com/office/drawing/2014/main" val="1556653191"/>
                    </a:ext>
                  </a:extLst>
                </a:gridCol>
                <a:gridCol w="3324159">
                  <a:extLst>
                    <a:ext uri="{9D8B030D-6E8A-4147-A177-3AD203B41FA5}">
                      <a16:colId xmlns:a16="http://schemas.microsoft.com/office/drawing/2014/main" val="666502604"/>
                    </a:ext>
                  </a:extLst>
                </a:gridCol>
              </a:tblGrid>
              <a:tr h="411480">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panose="020B0604020202020204" pitchFamily="34" charset="0"/>
                        </a:rPr>
                        <a:t>Area</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panose="020B0604020202020204" pitchFamily="34" charset="0"/>
                        </a:rPr>
                        <a:t>Item</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panose="020B0604020202020204" pitchFamily="34" charset="0"/>
                        </a:rPr>
                        <a:t>Status</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panose="020B0604020202020204" pitchFamily="34" charset="0"/>
                        </a:rPr>
                        <a:t>Due Date</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panose="020B0604020202020204" pitchFamily="34" charset="0"/>
                        </a:rPr>
                        <a:t>Owner</a:t>
                      </a:r>
                    </a:p>
                  </a:txBody>
                  <a:tcPr marL="137160" marR="137160" marT="68580" marB="6858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9013299"/>
                  </a:ext>
                </a:extLst>
              </a:tr>
              <a:tr h="377190">
                <a:tc>
                  <a:txBody>
                    <a:bodyPr/>
                    <a:lstStyle/>
                    <a:p>
                      <a:r>
                        <a:rPr kumimoji="0" lang="en-US" sz="1600" b="1" i="0" u="none" strike="noStrike" kern="1200" cap="none" spc="0" normalizeH="0" baseline="0">
                          <a:ln>
                            <a:noFill/>
                          </a:ln>
                          <a:solidFill>
                            <a:srgbClr val="000000"/>
                          </a:solidFill>
                          <a:effectLst/>
                          <a:uLnTx/>
                          <a:uFillTx/>
                          <a:latin typeface="+mn-lt"/>
                          <a:ea typeface="+mn-ea"/>
                          <a:cs typeface="Arial" panose="020B0604020202020204" pitchFamily="34" charset="0"/>
                        </a:rPr>
                        <a:t>Risks</a:t>
                      </a:r>
                    </a:p>
                  </a:txBody>
                  <a:tcPr marL="137160" marR="137160" marT="68580" marB="6858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17220" lvl="0" indent="-342900" algn="l">
                        <a:buAutoNum type="arabicPeriod"/>
                      </a:pPr>
                      <a:r>
                        <a:rPr lang="en-US" sz="1400" b="0" i="0" u="none" strike="noStrike" kern="1200" noProof="0">
                          <a:solidFill>
                            <a:srgbClr val="000000"/>
                          </a:solidFill>
                        </a:rPr>
                        <a:t>The CBI deadline is at risk because completing all pending network checks within one hour per week is unlikely to be enough, and the limited cadence is outside the PMO's control.</a:t>
                      </a:r>
                      <a:endParaRPr lang="en-US" sz="1400" b="1" i="0" u="none" strike="sngStrike" kern="1200" noProof="0">
                        <a:solidFill>
                          <a:srgbClr val="000000"/>
                        </a:solidFill>
                        <a:latin typeface="Calibri"/>
                        <a:ea typeface="Calibri"/>
                        <a:cs typeface="Calibri"/>
                      </a:endParaRPr>
                    </a:p>
                  </a:txBody>
                  <a:tcPr marL="137160" marR="137160" marT="68580" marB="68580" anchor="ctr">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a:lnSpc>
                          <a:spcPct val="100000"/>
                        </a:lnSpc>
                        <a:spcBef>
                          <a:spcPts val="0"/>
                        </a:spcBef>
                        <a:spcAft>
                          <a:spcPts val="0"/>
                        </a:spcAft>
                        <a:buNone/>
                        <a:tabLst/>
                        <a:defRPr/>
                      </a:pPr>
                      <a:r>
                        <a:rPr lang="en-US" sz="1500" b="0" kern="1200">
                          <a:solidFill>
                            <a:srgbClr val="000000"/>
                          </a:solidFill>
                          <a:latin typeface="Arial"/>
                          <a:ea typeface="+mn-ea"/>
                          <a:cs typeface="Arial"/>
                        </a:rPr>
                        <a:t>Open</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1500" b="0" strike="noStrike" kern="1200">
                          <a:solidFill>
                            <a:srgbClr val="000000"/>
                          </a:solidFill>
                          <a:latin typeface="Arial"/>
                          <a:ea typeface="+mn-ea"/>
                          <a:cs typeface="Arial"/>
                        </a:rPr>
                        <a:t>19th</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500" b="0" kern="1200">
                          <a:solidFill>
                            <a:srgbClr val="000000"/>
                          </a:solidFill>
                          <a:latin typeface="Arial"/>
                          <a:ea typeface="+mn-ea"/>
                          <a:cs typeface="Arial"/>
                        </a:rPr>
                        <a:t>FIB</a:t>
                      </a:r>
                    </a:p>
                  </a:txBody>
                  <a:tcPr marL="137160" marR="137160" marT="68580" marB="6858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7621933"/>
                  </a:ext>
                </a:extLst>
              </a:tr>
              <a:tr h="377190">
                <a:tc>
                  <a:txBody>
                    <a:bodyPr/>
                    <a:lstStyle/>
                    <a:p>
                      <a:r>
                        <a:rPr kumimoji="0" lang="en-US" sz="1600" b="1" i="0" u="none" strike="noStrike" kern="1200" cap="none" spc="0" normalizeH="0" baseline="0">
                          <a:ln>
                            <a:noFill/>
                          </a:ln>
                          <a:solidFill>
                            <a:srgbClr val="000000"/>
                          </a:solidFill>
                          <a:effectLst/>
                          <a:uLnTx/>
                          <a:uFillTx/>
                          <a:latin typeface="+mn-lt"/>
                          <a:ea typeface="+mn-ea"/>
                          <a:cs typeface="Arial" panose="020B0604020202020204" pitchFamily="34" charset="0"/>
                        </a:rPr>
                        <a:t>Issues</a:t>
                      </a:r>
                    </a:p>
                  </a:txBody>
                  <a:tcPr marL="137160" marR="137160" marT="68580" marB="6858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endParaRPr lang="en-US" sz="1500" strike="noStrike"/>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2060"/>
                        </a:buClr>
                        <a:buSzPct val="150000"/>
                        <a:buFontTx/>
                        <a:buNone/>
                        <a:tabLst/>
                        <a:defRPr/>
                      </a:pPr>
                      <a:endParaRPr lang="en-US" sz="1500" b="0" strike="noStrike" kern="1200">
                        <a:solidFill>
                          <a:srgbClr val="000000"/>
                        </a:solidFill>
                        <a:latin typeface="+mn-lt"/>
                        <a:ea typeface="+mn-ea"/>
                        <a:cs typeface="Arial" panose="020B0604020202020204" pitchFamily="34" charset="0"/>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500" b="0" strike="noStrike" kern="1200">
                        <a:solidFill>
                          <a:srgbClr val="000000"/>
                        </a:solidFill>
                        <a:latin typeface="+mn-lt"/>
                        <a:ea typeface="+mn-ea"/>
                        <a:cs typeface="Arial" panose="020B0604020202020204" pitchFamily="34" charset="0"/>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500" b="0" strike="noStrike" kern="1200" dirty="0">
                          <a:solidFill>
                            <a:srgbClr val="000000"/>
                          </a:solidFill>
                          <a:latin typeface="+mn-lt"/>
                          <a:ea typeface="+mn-ea"/>
                          <a:cs typeface="Arial"/>
                        </a:rPr>
                        <a:t> </a:t>
                      </a:r>
                    </a:p>
                  </a:txBody>
                  <a:tcPr marL="137160" marR="137160" marT="68580" marB="6858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74165115"/>
                  </a:ext>
                </a:extLst>
              </a:tr>
              <a:tr h="594360">
                <a:tc>
                  <a:txBody>
                    <a:bodyPr/>
                    <a:lstStyle/>
                    <a:p>
                      <a:pPr marL="0" indent="0">
                        <a:buClr>
                          <a:srgbClr val="002060"/>
                        </a:buClr>
                        <a:buSzPct val="150000"/>
                        <a:buFontTx/>
                        <a:buNone/>
                      </a:pPr>
                      <a:r>
                        <a:rPr kumimoji="0" lang="en-US" sz="1600" b="1" i="0" u="none" strike="noStrike" kern="1200" cap="none" spc="0" normalizeH="0" baseline="0">
                          <a:ln>
                            <a:noFill/>
                          </a:ln>
                          <a:solidFill>
                            <a:srgbClr val="000000"/>
                          </a:solidFill>
                          <a:effectLst/>
                          <a:uLnTx/>
                          <a:uFillTx/>
                          <a:latin typeface="+mn-lt"/>
                          <a:ea typeface="+mn-ea"/>
                          <a:cs typeface="Arial" panose="020B0604020202020204" pitchFamily="34" charset="0"/>
                        </a:rPr>
                        <a:t>Decisions</a:t>
                      </a:r>
                      <a:endParaRPr kumimoji="0" lang="en-US" sz="1600" b="1" i="0" u="none" strike="noStrike" kern="1200" cap="none" spc="0" normalizeH="0" baseline="0">
                        <a:ln>
                          <a:noFill/>
                        </a:ln>
                        <a:solidFill>
                          <a:srgbClr val="000000"/>
                        </a:solidFill>
                        <a:effectLst/>
                        <a:uLnTx/>
                        <a:uFillTx/>
                        <a:latin typeface="Arial"/>
                        <a:ea typeface="+mn-ea"/>
                        <a:cs typeface="Arial" panose="020B0604020202020204" pitchFamily="34" charset="0"/>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74320" marR="0" lvl="0" indent="0" algn="l" defTabSz="914400" rtl="0" eaLnBrk="1" fontAlgn="auto" latinLnBrk="0" hangingPunct="1">
                        <a:lnSpc>
                          <a:spcPct val="100000"/>
                        </a:lnSpc>
                        <a:spcBef>
                          <a:spcPts val="0"/>
                        </a:spcBef>
                        <a:spcAft>
                          <a:spcPts val="0"/>
                        </a:spcAft>
                        <a:buClr>
                          <a:srgbClr val="002060"/>
                        </a:buClr>
                        <a:buSzPct val="150000"/>
                        <a:buFontTx/>
                        <a:buNone/>
                        <a:tabLst/>
                        <a:defRPr/>
                      </a:pPr>
                      <a:endParaRPr lang="en-US" sz="1500" b="0" kern="1200">
                        <a:solidFill>
                          <a:srgbClr val="000000"/>
                        </a:solidFill>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2060"/>
                        </a:buClr>
                        <a:buSzPct val="150000"/>
                        <a:buFontTx/>
                        <a:buNone/>
                        <a:tabLst/>
                        <a:defRPr/>
                      </a:pPr>
                      <a:endParaRPr lang="en-US" sz="1500" b="0" kern="1200">
                        <a:solidFill>
                          <a:srgbClr val="000000"/>
                        </a:solidFill>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500" b="0" kern="1200">
                        <a:solidFill>
                          <a:srgbClr val="000000"/>
                        </a:solidFill>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500" b="0" kern="1200">
                        <a:solidFill>
                          <a:srgbClr val="000000"/>
                        </a:solidFill>
                        <a:latin typeface="+mn-lt"/>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8196877"/>
                  </a:ext>
                </a:extLst>
              </a:tr>
            </a:tbl>
          </a:graphicData>
        </a:graphic>
      </p:graphicFrame>
      <p:grpSp>
        <p:nvGrpSpPr>
          <p:cNvPr id="12" name="Group 11">
            <a:extLst>
              <a:ext uri="{FF2B5EF4-FFF2-40B4-BE49-F238E27FC236}">
                <a16:creationId xmlns:a16="http://schemas.microsoft.com/office/drawing/2014/main" id="{687E6DB7-E0AD-2725-472A-0E3993E6C652}"/>
              </a:ext>
            </a:extLst>
          </p:cNvPr>
          <p:cNvGrpSpPr/>
          <p:nvPr/>
        </p:nvGrpSpPr>
        <p:grpSpPr>
          <a:xfrm>
            <a:off x="860944" y="2053329"/>
            <a:ext cx="5041568" cy="1202997"/>
            <a:chOff x="567987" y="1398301"/>
            <a:chExt cx="3361045" cy="801998"/>
          </a:xfrm>
          <a:solidFill>
            <a:srgbClr val="00A69C"/>
          </a:solidFill>
        </p:grpSpPr>
        <p:sp>
          <p:nvSpPr>
            <p:cNvPr id="13" name="Rectangle 12">
              <a:extLst>
                <a:ext uri="{FF2B5EF4-FFF2-40B4-BE49-F238E27FC236}">
                  <a16:creationId xmlns:a16="http://schemas.microsoft.com/office/drawing/2014/main" id="{53C35FE5-0AD0-21EE-526A-83F3CA8CF79D}"/>
                </a:ext>
              </a:extLst>
            </p:cNvPr>
            <p:cNvSpPr/>
            <p:nvPr/>
          </p:nvSpPr>
          <p:spPr bwMode="auto">
            <a:xfrm>
              <a:off x="567987" y="1398301"/>
              <a:ext cx="1440000" cy="256198"/>
            </a:xfrm>
            <a:prstGeom prst="rect">
              <a:avLst/>
            </a:prstGeom>
            <a:grp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itchFamily="34" charset="0"/>
                </a:rPr>
                <a:t>Reporting Period</a:t>
              </a:r>
            </a:p>
          </p:txBody>
        </p:sp>
        <p:sp>
          <p:nvSpPr>
            <p:cNvPr id="14" name="Rectangle 13">
              <a:extLst>
                <a:ext uri="{FF2B5EF4-FFF2-40B4-BE49-F238E27FC236}">
                  <a16:creationId xmlns:a16="http://schemas.microsoft.com/office/drawing/2014/main" id="{08D343BD-64CF-4B62-933E-00237C05F261}"/>
                </a:ext>
              </a:extLst>
            </p:cNvPr>
            <p:cNvSpPr/>
            <p:nvPr/>
          </p:nvSpPr>
          <p:spPr bwMode="auto">
            <a:xfrm>
              <a:off x="2127836" y="1398301"/>
              <a:ext cx="1800000" cy="256198"/>
            </a:xfrm>
            <a:prstGeom prst="rect">
              <a:avLst/>
            </a:prstGeom>
            <a:grp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GB" sz="1500" kern="0" dirty="0">
                  <a:ea typeface="Calibri"/>
                  <a:cs typeface="Calibri"/>
                </a:rPr>
                <a:t>June 9th 2026</a:t>
              </a:r>
            </a:p>
          </p:txBody>
        </p:sp>
        <p:sp>
          <p:nvSpPr>
            <p:cNvPr id="16" name="Rectangle 15">
              <a:extLst>
                <a:ext uri="{FF2B5EF4-FFF2-40B4-BE49-F238E27FC236}">
                  <a16:creationId xmlns:a16="http://schemas.microsoft.com/office/drawing/2014/main" id="{0E612062-BF6E-A570-9D79-CE61A89DFEA7}"/>
                </a:ext>
              </a:extLst>
            </p:cNvPr>
            <p:cNvSpPr/>
            <p:nvPr/>
          </p:nvSpPr>
          <p:spPr bwMode="auto">
            <a:xfrm>
              <a:off x="570971" y="1682431"/>
              <a:ext cx="1440000" cy="238706"/>
            </a:xfrm>
            <a:prstGeom prst="rect">
              <a:avLst/>
            </a:prstGeom>
            <a:grp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defTabSz="1564584" eaLnBrk="1" fontAlgn="auto" latinLnBrk="0" hangingPunct="1">
                <a:lnSpc>
                  <a:spcPct val="100000"/>
                </a:lnSpc>
                <a:spcBef>
                  <a:spcPts val="0"/>
                </a:spcBef>
                <a:spcAft>
                  <a:spcPts val="0"/>
                </a:spcAft>
                <a:buClrTx/>
                <a:buSzTx/>
                <a:buFontTx/>
                <a:buNone/>
                <a:tabLst/>
                <a:defRPr/>
              </a:pPr>
              <a:r>
                <a:rPr lang="en-GB" sz="1500" b="1" kern="0">
                  <a:solidFill>
                    <a:schemeClr val="bg1"/>
                  </a:solidFill>
                  <a:latin typeface="+mj-lt"/>
                  <a:cs typeface="Arial" pitchFamily="34" charset="0"/>
                </a:rPr>
                <a:t>Business</a:t>
              </a:r>
              <a:r>
                <a:rPr kumimoji="0" lang="en-GB" sz="1500" b="1" i="0" u="none" strike="noStrike" kern="0" cap="none" spc="0" normalizeH="0" baseline="0" noProof="0">
                  <a:ln>
                    <a:noFill/>
                  </a:ln>
                  <a:solidFill>
                    <a:schemeClr val="bg1"/>
                  </a:solidFill>
                  <a:effectLst/>
                  <a:uLnTx/>
                  <a:uFillTx/>
                  <a:latin typeface="+mj-lt"/>
                  <a:cs typeface="Arial" pitchFamily="34" charset="0"/>
                </a:rPr>
                <a:t> Owner</a:t>
              </a:r>
            </a:p>
          </p:txBody>
        </p:sp>
        <p:sp>
          <p:nvSpPr>
            <p:cNvPr id="17" name="Rectangle 16">
              <a:extLst>
                <a:ext uri="{FF2B5EF4-FFF2-40B4-BE49-F238E27FC236}">
                  <a16:creationId xmlns:a16="http://schemas.microsoft.com/office/drawing/2014/main" id="{A2EEE80A-6EBE-0358-CD10-B2AFBDB14EC2}"/>
                </a:ext>
              </a:extLst>
            </p:cNvPr>
            <p:cNvSpPr/>
            <p:nvPr/>
          </p:nvSpPr>
          <p:spPr bwMode="auto">
            <a:xfrm>
              <a:off x="2130820" y="1682431"/>
              <a:ext cx="1798212" cy="214907"/>
            </a:xfrm>
            <a:prstGeom prst="rect">
              <a:avLst/>
            </a:prstGeom>
            <a:grp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US" sz="1500" kern="0">
                  <a:latin typeface="+mj-lt"/>
                  <a:cs typeface="Arial"/>
                </a:rPr>
                <a:t>Mr. </a:t>
              </a:r>
              <a:r>
                <a:rPr lang="en-US" sz="1500" kern="0" err="1">
                  <a:latin typeface="+mj-lt"/>
                  <a:cs typeface="Arial"/>
                </a:rPr>
                <a:t>Ibarihm</a:t>
              </a:r>
              <a:r>
                <a:rPr lang="en-US" sz="1500" kern="0">
                  <a:latin typeface="+mj-lt"/>
                  <a:cs typeface="Arial"/>
                </a:rPr>
                <a:t> </a:t>
              </a:r>
              <a:endParaRPr lang="en-US" sz="1500" kern="0">
                <a:latin typeface="+mj-lt"/>
                <a:ea typeface="Calibri"/>
                <a:cs typeface="Arial"/>
              </a:endParaRPr>
            </a:p>
          </p:txBody>
        </p:sp>
        <p:sp>
          <p:nvSpPr>
            <p:cNvPr id="18" name="Rectangle 17">
              <a:extLst>
                <a:ext uri="{FF2B5EF4-FFF2-40B4-BE49-F238E27FC236}">
                  <a16:creationId xmlns:a16="http://schemas.microsoft.com/office/drawing/2014/main" id="{A8EFA8F4-E4D1-46E0-7B5A-159CE2846661}"/>
                </a:ext>
              </a:extLst>
            </p:cNvPr>
            <p:cNvSpPr/>
            <p:nvPr/>
          </p:nvSpPr>
          <p:spPr bwMode="auto">
            <a:xfrm>
              <a:off x="567987" y="1944101"/>
              <a:ext cx="1440000" cy="256198"/>
            </a:xfrm>
            <a:prstGeom prst="rect">
              <a:avLst/>
            </a:prstGeom>
            <a:grp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itchFamily="34" charset="0"/>
                </a:rPr>
                <a:t>Project Manager</a:t>
              </a:r>
            </a:p>
          </p:txBody>
        </p:sp>
        <p:sp>
          <p:nvSpPr>
            <p:cNvPr id="19" name="Rectangle 18">
              <a:extLst>
                <a:ext uri="{FF2B5EF4-FFF2-40B4-BE49-F238E27FC236}">
                  <a16:creationId xmlns:a16="http://schemas.microsoft.com/office/drawing/2014/main" id="{2B92BF67-EA75-FC45-4F42-2DEDEC3598B6}"/>
                </a:ext>
              </a:extLst>
            </p:cNvPr>
            <p:cNvSpPr/>
            <p:nvPr/>
          </p:nvSpPr>
          <p:spPr bwMode="auto">
            <a:xfrm>
              <a:off x="2127836" y="1944101"/>
              <a:ext cx="1800000" cy="256198"/>
            </a:xfrm>
            <a:prstGeom prst="rect">
              <a:avLst/>
            </a:prstGeom>
            <a:grp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GB" sz="1500" kern="0" err="1">
                  <a:latin typeface="+mj-lt"/>
                  <a:cs typeface="Arial"/>
                </a:rPr>
                <a:t>Rudaw</a:t>
              </a:r>
              <a:r>
                <a:rPr lang="en-GB" sz="1500" kern="0">
                  <a:latin typeface="+mj-lt"/>
                  <a:cs typeface="Arial"/>
                </a:rPr>
                <a:t> Abdulrahman</a:t>
              </a:r>
              <a:endParaRPr lang="en-US"/>
            </a:p>
          </p:txBody>
        </p:sp>
      </p:grpSp>
      <p:grpSp>
        <p:nvGrpSpPr>
          <p:cNvPr id="39" name="Group 38">
            <a:extLst>
              <a:ext uri="{FF2B5EF4-FFF2-40B4-BE49-F238E27FC236}">
                <a16:creationId xmlns:a16="http://schemas.microsoft.com/office/drawing/2014/main" id="{A8748C34-D11C-31F3-9EBB-D7E4ABE67B4B}"/>
              </a:ext>
            </a:extLst>
          </p:cNvPr>
          <p:cNvGrpSpPr/>
          <p:nvPr/>
        </p:nvGrpSpPr>
        <p:grpSpPr>
          <a:xfrm>
            <a:off x="11816864" y="9732373"/>
            <a:ext cx="7770782" cy="578783"/>
            <a:chOff x="7877909" y="6488248"/>
            <a:chExt cx="5180521" cy="385855"/>
          </a:xfrm>
        </p:grpSpPr>
        <p:sp>
          <p:nvSpPr>
            <p:cNvPr id="40" name="Oval 39">
              <a:extLst>
                <a:ext uri="{FF2B5EF4-FFF2-40B4-BE49-F238E27FC236}">
                  <a16:creationId xmlns:a16="http://schemas.microsoft.com/office/drawing/2014/main" id="{839F1AF0-C309-E7EB-39EF-A5053CED1FD3}"/>
                </a:ext>
              </a:extLst>
            </p:cNvPr>
            <p:cNvSpPr/>
            <p:nvPr/>
          </p:nvSpPr>
          <p:spPr>
            <a:xfrm>
              <a:off x="8093322" y="6494495"/>
              <a:ext cx="137031" cy="126401"/>
            </a:xfrm>
            <a:prstGeom prst="ellipse">
              <a:avLst/>
            </a:prstGeom>
            <a:solidFill>
              <a:srgbClr val="E2F0D9"/>
            </a:solidFill>
            <a:ln w="9525">
              <a:solidFill>
                <a:srgbClr val="E2F0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1" name="Oval 40">
              <a:extLst>
                <a:ext uri="{FF2B5EF4-FFF2-40B4-BE49-F238E27FC236}">
                  <a16:creationId xmlns:a16="http://schemas.microsoft.com/office/drawing/2014/main" id="{D4D5FB2B-E753-F4ED-1F64-A3751A3B797D}"/>
                </a:ext>
              </a:extLst>
            </p:cNvPr>
            <p:cNvSpPr/>
            <p:nvPr/>
          </p:nvSpPr>
          <p:spPr>
            <a:xfrm>
              <a:off x="8668587" y="6503611"/>
              <a:ext cx="137031" cy="126401"/>
            </a:xfrm>
            <a:prstGeom prst="ellipse">
              <a:avLst/>
            </a:prstGeom>
            <a:solidFill>
              <a:srgbClr val="FF0000"/>
            </a:solid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2" name="Oval 41">
              <a:extLst>
                <a:ext uri="{FF2B5EF4-FFF2-40B4-BE49-F238E27FC236}">
                  <a16:creationId xmlns:a16="http://schemas.microsoft.com/office/drawing/2014/main" id="{8D8399A7-4041-C1CF-DE04-740D82BB9EB5}"/>
                </a:ext>
              </a:extLst>
            </p:cNvPr>
            <p:cNvSpPr/>
            <p:nvPr/>
          </p:nvSpPr>
          <p:spPr>
            <a:xfrm>
              <a:off x="9167201" y="6505195"/>
              <a:ext cx="137031" cy="126401"/>
            </a:xfrm>
            <a:prstGeom prst="ellipse">
              <a:avLst/>
            </a:prstGeom>
            <a:solidFill>
              <a:srgbClr val="FFC000"/>
            </a:solidFill>
            <a:ln w="95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3" name="TextBox 42">
              <a:extLst>
                <a:ext uri="{FF2B5EF4-FFF2-40B4-BE49-F238E27FC236}">
                  <a16:creationId xmlns:a16="http://schemas.microsoft.com/office/drawing/2014/main" id="{A1F043B2-E76E-D3AF-43F5-13674D17499E}"/>
                </a:ext>
              </a:extLst>
            </p:cNvPr>
            <p:cNvSpPr txBox="1"/>
            <p:nvPr/>
          </p:nvSpPr>
          <p:spPr>
            <a:xfrm>
              <a:off x="7877909" y="6611779"/>
              <a:ext cx="2317013" cy="246221"/>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On track </a:t>
              </a:r>
            </a:p>
          </p:txBody>
        </p:sp>
        <p:sp>
          <p:nvSpPr>
            <p:cNvPr id="44" name="TextBox 43">
              <a:extLst>
                <a:ext uri="{FF2B5EF4-FFF2-40B4-BE49-F238E27FC236}">
                  <a16:creationId xmlns:a16="http://schemas.microsoft.com/office/drawing/2014/main" id="{156802D2-6982-8071-9976-804ED67C38ED}"/>
                </a:ext>
              </a:extLst>
            </p:cNvPr>
            <p:cNvSpPr txBox="1"/>
            <p:nvPr/>
          </p:nvSpPr>
          <p:spPr>
            <a:xfrm>
              <a:off x="8434729" y="6621931"/>
              <a:ext cx="2311615" cy="246221"/>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Delayed</a:t>
              </a:r>
            </a:p>
          </p:txBody>
        </p:sp>
        <p:sp>
          <p:nvSpPr>
            <p:cNvPr id="45" name="TextBox 44">
              <a:extLst>
                <a:ext uri="{FF2B5EF4-FFF2-40B4-BE49-F238E27FC236}">
                  <a16:creationId xmlns:a16="http://schemas.microsoft.com/office/drawing/2014/main" id="{1BCF6778-5461-114A-BB5F-B0A8F1390A91}"/>
                </a:ext>
              </a:extLst>
            </p:cNvPr>
            <p:cNvSpPr txBox="1"/>
            <p:nvPr/>
          </p:nvSpPr>
          <p:spPr>
            <a:xfrm>
              <a:off x="8980262" y="6624764"/>
              <a:ext cx="2311615" cy="246221"/>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At Risk</a:t>
              </a:r>
            </a:p>
          </p:txBody>
        </p:sp>
        <p:sp>
          <p:nvSpPr>
            <p:cNvPr id="46" name="Oval 45">
              <a:extLst>
                <a:ext uri="{FF2B5EF4-FFF2-40B4-BE49-F238E27FC236}">
                  <a16:creationId xmlns:a16="http://schemas.microsoft.com/office/drawing/2014/main" id="{8935678B-89AB-DA63-6B4D-50097C4021A5}"/>
                </a:ext>
              </a:extLst>
            </p:cNvPr>
            <p:cNvSpPr/>
            <p:nvPr/>
          </p:nvSpPr>
          <p:spPr>
            <a:xfrm>
              <a:off x="9781249" y="6512756"/>
              <a:ext cx="137031" cy="126401"/>
            </a:xfrm>
            <a:prstGeom prst="ellipse">
              <a:avLst/>
            </a:prstGeom>
            <a:solidFill>
              <a:srgbClr val="003373"/>
            </a:solidFill>
            <a:ln w="9525">
              <a:solidFill>
                <a:srgbClr val="0033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7" name="TextBox 46">
              <a:extLst>
                <a:ext uri="{FF2B5EF4-FFF2-40B4-BE49-F238E27FC236}">
                  <a16:creationId xmlns:a16="http://schemas.microsoft.com/office/drawing/2014/main" id="{6B5E4DE8-E2DF-5947-2A0C-14673F7D4C78}"/>
                </a:ext>
              </a:extLst>
            </p:cNvPr>
            <p:cNvSpPr txBox="1"/>
            <p:nvPr/>
          </p:nvSpPr>
          <p:spPr>
            <a:xfrm>
              <a:off x="9425689" y="6627882"/>
              <a:ext cx="2311615" cy="246221"/>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Implemented</a:t>
              </a:r>
            </a:p>
          </p:txBody>
        </p:sp>
        <p:sp>
          <p:nvSpPr>
            <p:cNvPr id="48" name="Oval 47">
              <a:extLst>
                <a:ext uri="{FF2B5EF4-FFF2-40B4-BE49-F238E27FC236}">
                  <a16:creationId xmlns:a16="http://schemas.microsoft.com/office/drawing/2014/main" id="{EBBA6D43-020B-F1C4-78AE-730CF70583A2}"/>
                </a:ext>
              </a:extLst>
            </p:cNvPr>
            <p:cNvSpPr/>
            <p:nvPr/>
          </p:nvSpPr>
          <p:spPr>
            <a:xfrm>
              <a:off x="10428038" y="6512756"/>
              <a:ext cx="137031" cy="126401"/>
            </a:xfrm>
            <a:prstGeom prst="ellipse">
              <a:avLst/>
            </a:prstGeom>
            <a:solidFill>
              <a:srgbClr val="00B0F0"/>
            </a:solid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9" name="TextBox 48">
              <a:extLst>
                <a:ext uri="{FF2B5EF4-FFF2-40B4-BE49-F238E27FC236}">
                  <a16:creationId xmlns:a16="http://schemas.microsoft.com/office/drawing/2014/main" id="{76C4550A-EB27-743F-E9C4-78B68C1D9551}"/>
                </a:ext>
              </a:extLst>
            </p:cNvPr>
            <p:cNvSpPr txBox="1"/>
            <p:nvPr/>
          </p:nvSpPr>
          <p:spPr>
            <a:xfrm>
              <a:off x="10194922" y="6621646"/>
              <a:ext cx="2311615" cy="246221"/>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US" sz="1500">
                  <a:latin typeface="Calibri" panose="020F0502020204030204" pitchFamily="34" charset="0"/>
                  <a:cs typeface="Calibri" panose="020F0502020204030204" pitchFamily="34" charset="0"/>
                </a:rPr>
                <a:t>On Hold</a:t>
              </a:r>
              <a:endParaRPr kumimoji="0" lang="en-US" sz="1500" b="0" i="0" u="none" strike="noStrike" kern="1200" cap="none" spc="0" normalizeH="0" baseline="0" noProof="0">
                <a:ln>
                  <a:noFill/>
                </a:ln>
                <a:effectLst/>
                <a:uLnTx/>
                <a:uFillTx/>
                <a:latin typeface="Calibri" panose="020F0502020204030204" pitchFamily="34" charset="0"/>
                <a:ea typeface="+mn-ea"/>
                <a:cs typeface="Calibri" panose="020F0502020204030204" pitchFamily="34" charset="0"/>
              </a:endParaRPr>
            </a:p>
          </p:txBody>
        </p:sp>
        <p:sp>
          <p:nvSpPr>
            <p:cNvPr id="50" name="Oval 49">
              <a:extLst>
                <a:ext uri="{FF2B5EF4-FFF2-40B4-BE49-F238E27FC236}">
                  <a16:creationId xmlns:a16="http://schemas.microsoft.com/office/drawing/2014/main" id="{1A98FD3B-ABAC-A401-C54B-2694BE168F40}"/>
                </a:ext>
              </a:extLst>
            </p:cNvPr>
            <p:cNvSpPr/>
            <p:nvPr/>
          </p:nvSpPr>
          <p:spPr>
            <a:xfrm>
              <a:off x="11073431" y="6488248"/>
              <a:ext cx="137031" cy="126401"/>
            </a:xfrm>
            <a:prstGeom prst="ellipse">
              <a:avLst/>
            </a:prstGeom>
            <a:solidFill>
              <a:srgbClr val="FFFF00"/>
            </a:solidFill>
            <a:ln w="9525">
              <a:solidFill>
                <a:srgbClr val="E2F0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1" name="TextBox 50">
              <a:extLst>
                <a:ext uri="{FF2B5EF4-FFF2-40B4-BE49-F238E27FC236}">
                  <a16:creationId xmlns:a16="http://schemas.microsoft.com/office/drawing/2014/main" id="{506BE90C-7F89-3A79-2D7A-458624011787}"/>
                </a:ext>
              </a:extLst>
            </p:cNvPr>
            <p:cNvSpPr txBox="1"/>
            <p:nvPr/>
          </p:nvSpPr>
          <p:spPr>
            <a:xfrm>
              <a:off x="10746815" y="6611779"/>
              <a:ext cx="2311615" cy="246221"/>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Terminated</a:t>
              </a:r>
            </a:p>
          </p:txBody>
        </p:sp>
      </p:grpSp>
      <p:sp>
        <p:nvSpPr>
          <p:cNvPr id="52" name="Rectangle 51">
            <a:extLst>
              <a:ext uri="{FF2B5EF4-FFF2-40B4-BE49-F238E27FC236}">
                <a16:creationId xmlns:a16="http://schemas.microsoft.com/office/drawing/2014/main" id="{BC5B2AA3-EBCB-B0EE-77B7-7AC58162564D}"/>
              </a:ext>
            </a:extLst>
          </p:cNvPr>
          <p:cNvSpPr/>
          <p:nvPr/>
        </p:nvSpPr>
        <p:spPr bwMode="auto">
          <a:xfrm>
            <a:off x="15836116" y="2512541"/>
            <a:ext cx="1622834" cy="533898"/>
          </a:xfrm>
          <a:prstGeom prst="rect">
            <a:avLst/>
          </a:prstGeom>
          <a:solidFill>
            <a:srgbClr val="E2F0D9"/>
          </a:solidFill>
          <a:ln w="9525" cap="flat" cmpd="sng" algn="ctr">
            <a:solidFill>
              <a:srgbClr val="BFBFBF"/>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defTabSz="1564584">
              <a:defRPr/>
            </a:pPr>
            <a:r>
              <a:rPr lang="en-GB" sz="1500" b="1" kern="0">
                <a:solidFill>
                  <a:prstClr val="black"/>
                </a:solidFill>
                <a:ea typeface="Calibri"/>
                <a:cs typeface="Arial"/>
              </a:rPr>
              <a:t>On Track</a:t>
            </a:r>
          </a:p>
        </p:txBody>
      </p:sp>
      <p:pic>
        <p:nvPicPr>
          <p:cNvPr id="53" name="Picture 52">
            <a:extLst>
              <a:ext uri="{FF2B5EF4-FFF2-40B4-BE49-F238E27FC236}">
                <a16:creationId xmlns:a16="http://schemas.microsoft.com/office/drawing/2014/main" id="{327D5BA4-0CFA-1259-98C5-3E736BE3D3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19415" y="60344"/>
            <a:ext cx="2308638" cy="1251719"/>
          </a:xfrm>
          <a:prstGeom prst="rect">
            <a:avLst/>
          </a:prstGeom>
        </p:spPr>
      </p:pic>
      <p:sp>
        <p:nvSpPr>
          <p:cNvPr id="35" name="TextBox 34">
            <a:extLst>
              <a:ext uri="{FF2B5EF4-FFF2-40B4-BE49-F238E27FC236}">
                <a16:creationId xmlns:a16="http://schemas.microsoft.com/office/drawing/2014/main" id="{B137A274-C572-7393-00D7-FF8E4F72B094}"/>
              </a:ext>
            </a:extLst>
          </p:cNvPr>
          <p:cNvSpPr txBox="1"/>
          <p:nvPr/>
        </p:nvSpPr>
        <p:spPr>
          <a:xfrm>
            <a:off x="13475581" y="41189"/>
            <a:ext cx="2763993" cy="330860"/>
          </a:xfrm>
          <a:prstGeom prst="rect">
            <a:avLst/>
          </a:prstGeom>
          <a:noFill/>
        </p:spPr>
        <p:txBody>
          <a:bodyPr wrap="square" lIns="0" tIns="45720" rIns="0" bIns="4572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defRPr/>
            </a:pPr>
            <a:endParaRPr lang="en-US" altLang="ko-KR" sz="1550" b="1">
              <a:solidFill>
                <a:prstClr val="black"/>
              </a:solidFill>
              <a:latin typeface="Arial"/>
              <a:ea typeface="Calibri"/>
              <a:cs typeface="Arial"/>
            </a:endParaRPr>
          </a:p>
        </p:txBody>
      </p:sp>
      <p:sp>
        <p:nvSpPr>
          <p:cNvPr id="21" name="Rectangle 20">
            <a:extLst>
              <a:ext uri="{FF2B5EF4-FFF2-40B4-BE49-F238E27FC236}">
                <a16:creationId xmlns:a16="http://schemas.microsoft.com/office/drawing/2014/main" id="{10634F9A-6F3C-FE58-4EF5-DE7195121175}"/>
              </a:ext>
            </a:extLst>
          </p:cNvPr>
          <p:cNvSpPr/>
          <p:nvPr/>
        </p:nvSpPr>
        <p:spPr bwMode="auto">
          <a:xfrm>
            <a:off x="841690" y="4789620"/>
            <a:ext cx="16586364" cy="258804"/>
          </a:xfrm>
          <a:prstGeom prst="rect">
            <a:avLst/>
          </a:prstGeom>
          <a:solidFill>
            <a:srgbClr val="002060"/>
          </a:solid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GB" sz="1650" b="1" kern="0">
                <a:solidFill>
                  <a:schemeClr val="bg1"/>
                </a:solidFill>
                <a:latin typeface="+mj-lt"/>
                <a:cs typeface="Arial" panose="020B0604020202020204" pitchFamily="34" charset="0"/>
              </a:rPr>
              <a:t>Key Risks, Issues, &amp; Decisions </a:t>
            </a:r>
          </a:p>
        </p:txBody>
      </p:sp>
      <p:sp>
        <p:nvSpPr>
          <p:cNvPr id="22" name="Rectangle 21">
            <a:extLst>
              <a:ext uri="{FF2B5EF4-FFF2-40B4-BE49-F238E27FC236}">
                <a16:creationId xmlns:a16="http://schemas.microsoft.com/office/drawing/2014/main" id="{C8FA4FED-376E-AC33-0DD8-84F996B95491}"/>
              </a:ext>
            </a:extLst>
          </p:cNvPr>
          <p:cNvSpPr/>
          <p:nvPr/>
        </p:nvSpPr>
        <p:spPr bwMode="gray">
          <a:xfrm>
            <a:off x="827872" y="4165479"/>
            <a:ext cx="16600182" cy="1178501"/>
          </a:xfrm>
          <a:prstGeom prst="rect">
            <a:avLst/>
          </a:prstGeom>
          <a:solidFill>
            <a:schemeClr val="bg1">
              <a:lumMod val="95000"/>
            </a:schemeClr>
          </a:solidFill>
          <a:ln w="19050" algn="ctr">
            <a:no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IN"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3" name="Rectangle 22">
            <a:extLst>
              <a:ext uri="{FF2B5EF4-FFF2-40B4-BE49-F238E27FC236}">
                <a16:creationId xmlns:a16="http://schemas.microsoft.com/office/drawing/2014/main" id="{758A31A9-75D3-FB77-53B1-3F77020A6BD3}"/>
              </a:ext>
            </a:extLst>
          </p:cNvPr>
          <p:cNvSpPr/>
          <p:nvPr/>
        </p:nvSpPr>
        <p:spPr bwMode="gray">
          <a:xfrm>
            <a:off x="827216" y="4167946"/>
            <a:ext cx="4197869" cy="1219436"/>
          </a:xfrm>
          <a:prstGeom prst="rect">
            <a:avLst/>
          </a:prstGeom>
          <a:solidFill>
            <a:srgbClr val="00B0F0">
              <a:alpha val="13000"/>
            </a:srgbClr>
          </a:solidFill>
          <a:ln w="19050" algn="ctr">
            <a:no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9" name="Oval 28">
            <a:extLst>
              <a:ext uri="{FF2B5EF4-FFF2-40B4-BE49-F238E27FC236}">
                <a16:creationId xmlns:a16="http://schemas.microsoft.com/office/drawing/2014/main" id="{3913EA0D-A3F5-A948-035C-FD68B3201AB3}"/>
              </a:ext>
            </a:extLst>
          </p:cNvPr>
          <p:cNvSpPr/>
          <p:nvPr/>
        </p:nvSpPr>
        <p:spPr bwMode="gray">
          <a:xfrm>
            <a:off x="1680255" y="4818605"/>
            <a:ext cx="482288" cy="303900"/>
          </a:xfrm>
          <a:prstGeom prst="ellipse">
            <a:avLst/>
          </a:prstGeom>
          <a:solidFill>
            <a:srgbClr val="002060"/>
          </a:solidFill>
          <a:ln w="19050" algn="ctr">
            <a:solidFill>
              <a:schemeClr val="tx2">
                <a:lumMod val="50000"/>
              </a:schemeClr>
            </a:solid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24" name="Straight Connector 23">
            <a:extLst>
              <a:ext uri="{FF2B5EF4-FFF2-40B4-BE49-F238E27FC236}">
                <a16:creationId xmlns:a16="http://schemas.microsoft.com/office/drawing/2014/main" id="{3CB53FCF-069F-CB51-66A7-20E34B830218}"/>
              </a:ext>
            </a:extLst>
          </p:cNvPr>
          <p:cNvCxnSpPr>
            <a:cxnSpLocks/>
          </p:cNvCxnSpPr>
          <p:nvPr/>
        </p:nvCxnSpPr>
        <p:spPr>
          <a:xfrm>
            <a:off x="1859629" y="4754298"/>
            <a:ext cx="15181158" cy="11949"/>
          </a:xfrm>
          <a:prstGeom prst="line">
            <a:avLst/>
          </a:prstGeom>
          <a:ln w="22225">
            <a:solidFill>
              <a:schemeClr val="tx1">
                <a:lumMod val="75000"/>
                <a:lumOff val="2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C155A7F1-D678-B405-97B8-4653E793107C}"/>
              </a:ext>
            </a:extLst>
          </p:cNvPr>
          <p:cNvSpPr txBox="1"/>
          <p:nvPr/>
        </p:nvSpPr>
        <p:spPr>
          <a:xfrm>
            <a:off x="3151634" y="4217643"/>
            <a:ext cx="3604247" cy="334707"/>
          </a:xfrm>
          <a:prstGeom prst="rect">
            <a:avLst/>
          </a:prstGeom>
          <a:noFill/>
        </p:spPr>
        <p:txBody>
          <a:bodyPr wrap="square" lIns="0" tIns="45720" rIns="0" bIns="4572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defRPr/>
            </a:pPr>
            <a:r>
              <a:rPr lang="en-US" sz="1550" b="1">
                <a:solidFill>
                  <a:prstClr val="black"/>
                </a:solidFill>
                <a:latin typeface="Arial"/>
                <a:ea typeface="+mn-lt"/>
                <a:cs typeface="Arial"/>
              </a:rPr>
              <a:t>Gap Assessment</a:t>
            </a:r>
            <a:endParaRPr lang="en-US"/>
          </a:p>
        </p:txBody>
      </p:sp>
      <p:sp>
        <p:nvSpPr>
          <p:cNvPr id="27" name="TextBox 26">
            <a:extLst>
              <a:ext uri="{FF2B5EF4-FFF2-40B4-BE49-F238E27FC236}">
                <a16:creationId xmlns:a16="http://schemas.microsoft.com/office/drawing/2014/main" id="{D99FE982-5C7D-EEC8-5BC6-CF12194260C6}"/>
              </a:ext>
            </a:extLst>
          </p:cNvPr>
          <p:cNvSpPr txBox="1"/>
          <p:nvPr/>
        </p:nvSpPr>
        <p:spPr>
          <a:xfrm>
            <a:off x="801212" y="4219206"/>
            <a:ext cx="2877513" cy="334707"/>
          </a:xfrm>
          <a:prstGeom prst="rect">
            <a:avLst/>
          </a:prstGeom>
          <a:noFill/>
        </p:spPr>
        <p:txBody>
          <a:bodyPr wrap="square" lIns="0" tIns="45720" rIns="0" bIns="4572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a:lnSpc>
                <a:spcPct val="100000"/>
              </a:lnSpc>
              <a:spcBef>
                <a:spcPts val="0"/>
              </a:spcBef>
              <a:spcAft>
                <a:spcPts val="0"/>
              </a:spcAft>
              <a:buClrTx/>
              <a:buSzTx/>
              <a:buFontTx/>
              <a:buNone/>
              <a:tabLst/>
              <a:defRPr/>
            </a:pPr>
            <a:endParaRPr lang="en-US" altLang="ko-KR" sz="1550" b="1" i="0" u="none" strike="noStrike" kern="1200" cap="none" spc="0" normalizeH="0" baseline="0" noProof="0">
              <a:ln>
                <a:noFill/>
              </a:ln>
              <a:solidFill>
                <a:prstClr val="black"/>
              </a:solidFill>
              <a:effectLst/>
              <a:uLnTx/>
              <a:uFillTx/>
              <a:latin typeface="Arial" panose="020B0604020202020204" pitchFamily="34" charset="0"/>
              <a:ea typeface="맑은 고딕"/>
              <a:cs typeface="Arial" panose="020B0604020202020204" pitchFamily="34" charset="0"/>
            </a:endParaRPr>
          </a:p>
        </p:txBody>
      </p:sp>
      <p:cxnSp>
        <p:nvCxnSpPr>
          <p:cNvPr id="28" name="Straight Connector 27">
            <a:extLst>
              <a:ext uri="{FF2B5EF4-FFF2-40B4-BE49-F238E27FC236}">
                <a16:creationId xmlns:a16="http://schemas.microsoft.com/office/drawing/2014/main" id="{950247A6-7654-F7D0-0E88-E83DE25B20B8}"/>
              </a:ext>
            </a:extLst>
          </p:cNvPr>
          <p:cNvCxnSpPr>
            <a:cxnSpLocks/>
          </p:cNvCxnSpPr>
          <p:nvPr/>
        </p:nvCxnSpPr>
        <p:spPr>
          <a:xfrm>
            <a:off x="1935365" y="4558910"/>
            <a:ext cx="0" cy="191827"/>
          </a:xfrm>
          <a:prstGeom prst="line">
            <a:avLst/>
          </a:prstGeom>
          <a:solidFill>
            <a:srgbClr val="BFBFBF"/>
          </a:solidFill>
          <a:ln w="19050">
            <a:solidFill>
              <a:schemeClr val="tx2">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FD1B11E8-16A3-0C0F-6F96-EA58E0214C14}"/>
              </a:ext>
            </a:extLst>
          </p:cNvPr>
          <p:cNvSpPr/>
          <p:nvPr/>
        </p:nvSpPr>
        <p:spPr bwMode="gray">
          <a:xfrm>
            <a:off x="15440899" y="4797023"/>
            <a:ext cx="482288" cy="297575"/>
          </a:xfrm>
          <a:prstGeom prst="ellipse">
            <a:avLst/>
          </a:prstGeom>
          <a:solidFill>
            <a:srgbClr val="D1D1D1"/>
          </a:solidFill>
          <a:ln w="19050" algn="ctr">
            <a:solidFill>
              <a:srgbClr val="D1D1D1"/>
            </a:solid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36" name="Straight Connector 35">
            <a:extLst>
              <a:ext uri="{FF2B5EF4-FFF2-40B4-BE49-F238E27FC236}">
                <a16:creationId xmlns:a16="http://schemas.microsoft.com/office/drawing/2014/main" id="{0A546BC1-2FAD-1C8C-159D-F8641D9F23B8}"/>
              </a:ext>
            </a:extLst>
          </p:cNvPr>
          <p:cNvCxnSpPr>
            <a:cxnSpLocks/>
          </p:cNvCxnSpPr>
          <p:nvPr/>
        </p:nvCxnSpPr>
        <p:spPr>
          <a:xfrm>
            <a:off x="15682042" y="4527748"/>
            <a:ext cx="0" cy="240912"/>
          </a:xfrm>
          <a:prstGeom prst="line">
            <a:avLst/>
          </a:prstGeom>
          <a:ln w="19050">
            <a:solidFill>
              <a:srgbClr val="D1D1D1"/>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ED9A805A-BFFC-AB49-1B63-9E1AE8F80375}"/>
              </a:ext>
            </a:extLst>
          </p:cNvPr>
          <p:cNvSpPr txBox="1"/>
          <p:nvPr/>
        </p:nvSpPr>
        <p:spPr>
          <a:xfrm>
            <a:off x="14602322" y="5079201"/>
            <a:ext cx="2159441" cy="253916"/>
          </a:xfrm>
          <a:prstGeom prst="rect">
            <a:avLst/>
          </a:prstGeom>
          <a:noFill/>
        </p:spPr>
        <p:txBody>
          <a:bodyPr wrap="square" lIns="0" tIns="0" rIns="0" bIns="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a:lnSpc>
                <a:spcPct val="100000"/>
              </a:lnSpc>
              <a:spcBef>
                <a:spcPts val="0"/>
              </a:spcBef>
              <a:spcAft>
                <a:spcPts val="0"/>
              </a:spcAft>
              <a:buNone/>
              <a:tabLst/>
              <a:defRPr/>
            </a:pPr>
            <a:r>
              <a:rPr lang="en-US" altLang="ko-KR" sz="1650" b="1">
                <a:latin typeface="Arial"/>
                <a:ea typeface="맑은 고딕"/>
                <a:cs typeface="Arial"/>
              </a:rPr>
              <a:t>Aug</a:t>
            </a:r>
            <a:endParaRPr lang="en-US"/>
          </a:p>
        </p:txBody>
      </p:sp>
      <p:sp>
        <p:nvSpPr>
          <p:cNvPr id="72" name="Oval 71">
            <a:extLst>
              <a:ext uri="{FF2B5EF4-FFF2-40B4-BE49-F238E27FC236}">
                <a16:creationId xmlns:a16="http://schemas.microsoft.com/office/drawing/2014/main" id="{801EB6BB-CD1D-8AA9-2D55-BAF0CFEF8839}"/>
              </a:ext>
            </a:extLst>
          </p:cNvPr>
          <p:cNvSpPr/>
          <p:nvPr/>
        </p:nvSpPr>
        <p:spPr bwMode="gray">
          <a:xfrm>
            <a:off x="4718375" y="4810991"/>
            <a:ext cx="482288" cy="287279"/>
          </a:xfrm>
          <a:prstGeom prst="ellipse">
            <a:avLst/>
          </a:prstGeom>
          <a:solidFill>
            <a:srgbClr val="E2F0D9"/>
          </a:solidFill>
          <a:ln w="19050" algn="ctr">
            <a:solidFill>
              <a:srgbClr val="E2F0D9"/>
            </a:solid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3" name="Oval 72">
            <a:extLst>
              <a:ext uri="{FF2B5EF4-FFF2-40B4-BE49-F238E27FC236}">
                <a16:creationId xmlns:a16="http://schemas.microsoft.com/office/drawing/2014/main" id="{C0CA1E08-F5B3-9250-EBE3-37083827EF08}"/>
              </a:ext>
            </a:extLst>
          </p:cNvPr>
          <p:cNvSpPr/>
          <p:nvPr/>
        </p:nvSpPr>
        <p:spPr bwMode="gray">
          <a:xfrm>
            <a:off x="8378117" y="4794017"/>
            <a:ext cx="482288" cy="300579"/>
          </a:xfrm>
          <a:prstGeom prst="ellipse">
            <a:avLst/>
          </a:prstGeom>
          <a:solidFill>
            <a:schemeClr val="bg1">
              <a:lumMod val="75000"/>
            </a:schemeClr>
          </a:solidFill>
          <a:ln w="19050" algn="ctr">
            <a:solidFill>
              <a:schemeClr val="bg1">
                <a:lumMod val="75000"/>
              </a:schemeClr>
            </a:solid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74" name="Straight Connector 73">
            <a:extLst>
              <a:ext uri="{FF2B5EF4-FFF2-40B4-BE49-F238E27FC236}">
                <a16:creationId xmlns:a16="http://schemas.microsoft.com/office/drawing/2014/main" id="{E7E024C3-F857-0974-8801-44CE3D2924D3}"/>
              </a:ext>
            </a:extLst>
          </p:cNvPr>
          <p:cNvCxnSpPr>
            <a:cxnSpLocks/>
          </p:cNvCxnSpPr>
          <p:nvPr/>
        </p:nvCxnSpPr>
        <p:spPr>
          <a:xfrm>
            <a:off x="4959519" y="4526531"/>
            <a:ext cx="0" cy="191826"/>
          </a:xfrm>
          <a:prstGeom prst="line">
            <a:avLst/>
          </a:prstGeom>
          <a:ln w="19050">
            <a:solidFill>
              <a:srgbClr val="E2F0D9"/>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14F29E54-F358-28B1-EC6F-392703E886FF}"/>
              </a:ext>
            </a:extLst>
          </p:cNvPr>
          <p:cNvCxnSpPr>
            <a:cxnSpLocks/>
          </p:cNvCxnSpPr>
          <p:nvPr/>
        </p:nvCxnSpPr>
        <p:spPr>
          <a:xfrm>
            <a:off x="8619270" y="4502981"/>
            <a:ext cx="0" cy="215376"/>
          </a:xfrm>
          <a:prstGeom prst="line">
            <a:avLst/>
          </a:prstGeom>
          <a:ln w="19050">
            <a:solidFill>
              <a:schemeClr val="bg1">
                <a:lumMod val="75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26C315E2-FB55-0C50-2F03-31CDCDB395A1}"/>
              </a:ext>
            </a:extLst>
          </p:cNvPr>
          <p:cNvSpPr txBox="1"/>
          <p:nvPr/>
        </p:nvSpPr>
        <p:spPr>
          <a:xfrm>
            <a:off x="6817136" y="4178040"/>
            <a:ext cx="3604247" cy="330860"/>
          </a:xfrm>
          <a:prstGeom prst="rect">
            <a:avLst/>
          </a:prstGeom>
          <a:noFill/>
        </p:spPr>
        <p:txBody>
          <a:bodyPr wrap="square" lIns="0" tIns="45720" rIns="0" bIns="4572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a:lnSpc>
                <a:spcPct val="100000"/>
              </a:lnSpc>
              <a:spcBef>
                <a:spcPts val="0"/>
              </a:spcBef>
              <a:spcAft>
                <a:spcPts val="0"/>
              </a:spcAft>
              <a:buNone/>
              <a:tabLst/>
              <a:defRPr/>
            </a:pPr>
            <a:r>
              <a:rPr lang="en-US" sz="1550" b="1">
                <a:solidFill>
                  <a:srgbClr val="000000"/>
                </a:solidFill>
                <a:latin typeface="Arial"/>
                <a:ea typeface="+mn-lt"/>
                <a:cs typeface="Arial"/>
              </a:rPr>
              <a:t>Remediation</a:t>
            </a:r>
            <a:endParaRPr lang="en-US"/>
          </a:p>
        </p:txBody>
      </p:sp>
      <p:sp>
        <p:nvSpPr>
          <p:cNvPr id="2" name="TextBox 1">
            <a:extLst>
              <a:ext uri="{FF2B5EF4-FFF2-40B4-BE49-F238E27FC236}">
                <a16:creationId xmlns:a16="http://schemas.microsoft.com/office/drawing/2014/main" id="{F9DFB487-1D03-52A4-2350-D15DD7216062}"/>
              </a:ext>
            </a:extLst>
          </p:cNvPr>
          <p:cNvSpPr txBox="1"/>
          <p:nvPr/>
        </p:nvSpPr>
        <p:spPr>
          <a:xfrm>
            <a:off x="3879797" y="5136472"/>
            <a:ext cx="2159441" cy="507831"/>
          </a:xfrm>
          <a:prstGeom prst="rect">
            <a:avLst/>
          </a:prstGeom>
          <a:noFill/>
        </p:spPr>
        <p:txBody>
          <a:bodyPr wrap="square" lIns="0" tIns="0" rIns="0" bIns="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defRPr/>
            </a:pPr>
            <a:r>
              <a:rPr lang="en-US" altLang="ko-KR" sz="1650" b="1" strike="sngStrike">
                <a:solidFill>
                  <a:prstClr val="black"/>
                </a:solidFill>
                <a:latin typeface="Arial"/>
                <a:ea typeface="맑은 고딕"/>
                <a:cs typeface="Arial"/>
              </a:rPr>
              <a:t>Apr – May</a:t>
            </a:r>
            <a:br>
              <a:rPr lang="en-US" altLang="ko-KR" sz="1650" b="1" strike="sngStrike">
                <a:solidFill>
                  <a:prstClr val="black"/>
                </a:solidFill>
                <a:latin typeface="Arial"/>
                <a:ea typeface="맑은 고딕"/>
                <a:cs typeface="Arial"/>
              </a:rPr>
            </a:br>
            <a:r>
              <a:rPr lang="en-US" altLang="ko-KR" sz="1650" b="1">
                <a:solidFill>
                  <a:prstClr val="black"/>
                </a:solidFill>
                <a:latin typeface="Arial"/>
                <a:ea typeface="맑은 고딕"/>
                <a:cs typeface="Arial"/>
              </a:rPr>
              <a:t>June</a:t>
            </a:r>
            <a:endParaRPr kumimoji="0" lang="ko-KR" altLang="en-US" sz="1650" b="1" i="0" u="none" kern="1200" cap="none" spc="0" normalizeH="0" baseline="0" noProof="0" err="1">
              <a:ln>
                <a:noFill/>
              </a:ln>
              <a:solidFill>
                <a:prstClr val="black"/>
              </a:solidFill>
              <a:effectLst/>
              <a:uLnTx/>
              <a:uFillTx/>
              <a:latin typeface="Arial"/>
              <a:ea typeface="+mn-ea"/>
              <a:cs typeface="Arial"/>
            </a:endParaRPr>
          </a:p>
        </p:txBody>
      </p:sp>
      <p:sp>
        <p:nvSpPr>
          <p:cNvPr id="54" name="Oval 53">
            <a:extLst>
              <a:ext uri="{FF2B5EF4-FFF2-40B4-BE49-F238E27FC236}">
                <a16:creationId xmlns:a16="http://schemas.microsoft.com/office/drawing/2014/main" id="{4981BDEF-FC98-00D6-E108-8570571495B4}"/>
              </a:ext>
            </a:extLst>
          </p:cNvPr>
          <p:cNvSpPr/>
          <p:nvPr/>
        </p:nvSpPr>
        <p:spPr bwMode="gray">
          <a:xfrm>
            <a:off x="10853561" y="4810529"/>
            <a:ext cx="482288" cy="300579"/>
          </a:xfrm>
          <a:prstGeom prst="ellipse">
            <a:avLst/>
          </a:prstGeom>
          <a:solidFill>
            <a:schemeClr val="bg1">
              <a:lumMod val="75000"/>
            </a:schemeClr>
          </a:solidFill>
          <a:ln w="19050" algn="ctr">
            <a:solidFill>
              <a:schemeClr val="bg1">
                <a:lumMod val="75000"/>
              </a:schemeClr>
            </a:solid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55" name="Straight Connector 54">
            <a:extLst>
              <a:ext uri="{FF2B5EF4-FFF2-40B4-BE49-F238E27FC236}">
                <a16:creationId xmlns:a16="http://schemas.microsoft.com/office/drawing/2014/main" id="{FDC702EE-7E98-B8DB-69AB-29782EAABE4B}"/>
              </a:ext>
            </a:extLst>
          </p:cNvPr>
          <p:cNvCxnSpPr>
            <a:cxnSpLocks/>
          </p:cNvCxnSpPr>
          <p:nvPr/>
        </p:nvCxnSpPr>
        <p:spPr>
          <a:xfrm>
            <a:off x="11094705" y="4542423"/>
            <a:ext cx="0" cy="215376"/>
          </a:xfrm>
          <a:prstGeom prst="line">
            <a:avLst/>
          </a:prstGeom>
          <a:ln w="19050">
            <a:solidFill>
              <a:schemeClr val="bg1">
                <a:lumMod val="75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9A9CC726-3A23-0D3D-4FEF-330189204983}"/>
              </a:ext>
            </a:extLst>
          </p:cNvPr>
          <p:cNvSpPr txBox="1"/>
          <p:nvPr/>
        </p:nvSpPr>
        <p:spPr>
          <a:xfrm>
            <a:off x="9398635" y="4216272"/>
            <a:ext cx="3604247" cy="334707"/>
          </a:xfrm>
          <a:prstGeom prst="rect">
            <a:avLst/>
          </a:prstGeom>
          <a:noFill/>
        </p:spPr>
        <p:txBody>
          <a:bodyPr wrap="square" lIns="0" tIns="45720" rIns="0" bIns="4572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defRPr/>
            </a:pPr>
            <a:r>
              <a:rPr lang="en-US" sz="1550" b="1">
                <a:solidFill>
                  <a:prstClr val="black"/>
                </a:solidFill>
                <a:latin typeface="Arial"/>
                <a:ea typeface="+mn-lt"/>
                <a:cs typeface="Arial"/>
              </a:rPr>
              <a:t>Pre-Assessment</a:t>
            </a:r>
            <a:endParaRPr lang="en-US"/>
          </a:p>
        </p:txBody>
      </p:sp>
      <p:sp>
        <p:nvSpPr>
          <p:cNvPr id="59" name="TextBox 58">
            <a:extLst>
              <a:ext uri="{FF2B5EF4-FFF2-40B4-BE49-F238E27FC236}">
                <a16:creationId xmlns:a16="http://schemas.microsoft.com/office/drawing/2014/main" id="{DC20E4CD-F572-C523-0725-63329F3355C3}"/>
              </a:ext>
            </a:extLst>
          </p:cNvPr>
          <p:cNvSpPr txBox="1"/>
          <p:nvPr/>
        </p:nvSpPr>
        <p:spPr>
          <a:xfrm>
            <a:off x="7552945" y="5153782"/>
            <a:ext cx="2159441" cy="253916"/>
          </a:xfrm>
          <a:prstGeom prst="rect">
            <a:avLst/>
          </a:prstGeom>
          <a:noFill/>
        </p:spPr>
        <p:txBody>
          <a:bodyPr wrap="square" lIns="0" tIns="0" rIns="0" bIns="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lang="en-US" altLang="ko-KR" sz="1650" b="1">
                <a:solidFill>
                  <a:prstClr val="black"/>
                </a:solidFill>
                <a:latin typeface="Arial"/>
                <a:ea typeface="맑은 고딕"/>
                <a:cs typeface="Arial"/>
              </a:rPr>
              <a:t>June</a:t>
            </a:r>
            <a:endParaRPr kumimoji="0" lang="ko-KR" altLang="en-US" sz="165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0" name="TextBox 59">
            <a:extLst>
              <a:ext uri="{FF2B5EF4-FFF2-40B4-BE49-F238E27FC236}">
                <a16:creationId xmlns:a16="http://schemas.microsoft.com/office/drawing/2014/main" id="{44338E8B-4A3A-06F1-BA4E-0E65B4F890AF}"/>
              </a:ext>
            </a:extLst>
          </p:cNvPr>
          <p:cNvSpPr txBox="1"/>
          <p:nvPr/>
        </p:nvSpPr>
        <p:spPr>
          <a:xfrm>
            <a:off x="10083316" y="5143132"/>
            <a:ext cx="2159441" cy="253916"/>
          </a:xfrm>
          <a:prstGeom prst="rect">
            <a:avLst/>
          </a:prstGeom>
          <a:noFill/>
        </p:spPr>
        <p:txBody>
          <a:bodyPr wrap="square" lIns="0" tIns="0" rIns="0" bIns="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lang="en-US" altLang="ko-KR" sz="1650" b="1">
                <a:solidFill>
                  <a:prstClr val="black"/>
                </a:solidFill>
                <a:latin typeface="Arial" panose="020B0604020202020204" pitchFamily="34" charset="0"/>
                <a:ea typeface="맑은 고딕"/>
                <a:cs typeface="Arial" panose="020B0604020202020204" pitchFamily="34" charset="0"/>
              </a:rPr>
              <a:t>July</a:t>
            </a:r>
            <a:endParaRPr lang="en-US" altLang="ko-KR" sz="1650" b="1" i="0" u="none" strike="noStrike" kern="1200" cap="none" spc="0" normalizeH="0" baseline="0" noProof="0">
              <a:ln>
                <a:noFill/>
              </a:ln>
              <a:solidFill>
                <a:prstClr val="black"/>
              </a:solidFill>
              <a:effectLst/>
              <a:uLnTx/>
              <a:uFillTx/>
              <a:latin typeface="Arial" panose="020B0604020202020204" pitchFamily="34" charset="0"/>
              <a:ea typeface="맑은 고딕"/>
              <a:cs typeface="Arial" panose="020B0604020202020204" pitchFamily="34" charset="0"/>
            </a:endParaRPr>
          </a:p>
        </p:txBody>
      </p:sp>
      <p:sp>
        <p:nvSpPr>
          <p:cNvPr id="68" name="TextBox 67">
            <a:extLst>
              <a:ext uri="{FF2B5EF4-FFF2-40B4-BE49-F238E27FC236}">
                <a16:creationId xmlns:a16="http://schemas.microsoft.com/office/drawing/2014/main" id="{B5785A53-65A9-5811-A020-6006B388BEB9}"/>
              </a:ext>
            </a:extLst>
          </p:cNvPr>
          <p:cNvSpPr txBox="1"/>
          <p:nvPr/>
        </p:nvSpPr>
        <p:spPr>
          <a:xfrm>
            <a:off x="5250" y="4210890"/>
            <a:ext cx="3604247" cy="334707"/>
          </a:xfrm>
          <a:prstGeom prst="rect">
            <a:avLst/>
          </a:prstGeom>
          <a:noFill/>
        </p:spPr>
        <p:txBody>
          <a:bodyPr wrap="square" lIns="0" tIns="45720" rIns="0" bIns="4572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defRPr/>
            </a:pPr>
            <a:r>
              <a:rPr lang="en-US" sz="1550" b="1">
                <a:solidFill>
                  <a:prstClr val="black"/>
                </a:solidFill>
                <a:latin typeface="Arial"/>
                <a:ea typeface="맑은 고딕"/>
                <a:cs typeface="Arial"/>
              </a:rPr>
              <a:t>Initiation &amp; Scoping </a:t>
            </a:r>
            <a:endParaRPr lang="en-US"/>
          </a:p>
        </p:txBody>
      </p:sp>
      <p:sp>
        <p:nvSpPr>
          <p:cNvPr id="71" name="TextBox 70">
            <a:extLst>
              <a:ext uri="{FF2B5EF4-FFF2-40B4-BE49-F238E27FC236}">
                <a16:creationId xmlns:a16="http://schemas.microsoft.com/office/drawing/2014/main" id="{A187C9C4-CD0C-FD28-F6DE-075F706E3380}"/>
              </a:ext>
            </a:extLst>
          </p:cNvPr>
          <p:cNvSpPr txBox="1"/>
          <p:nvPr/>
        </p:nvSpPr>
        <p:spPr>
          <a:xfrm>
            <a:off x="13623394" y="4274145"/>
            <a:ext cx="3604247" cy="330860"/>
          </a:xfrm>
          <a:prstGeom prst="rect">
            <a:avLst/>
          </a:prstGeom>
          <a:noFill/>
        </p:spPr>
        <p:txBody>
          <a:bodyPr wrap="square" lIns="0" tIns="45720" rIns="0" bIns="4572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defRPr/>
            </a:pPr>
            <a:r>
              <a:rPr lang="en-US" sz="1550" b="1">
                <a:solidFill>
                  <a:srgbClr val="000000"/>
                </a:solidFill>
                <a:latin typeface="Arial"/>
                <a:ea typeface="+mn-lt"/>
                <a:cs typeface="Arial"/>
              </a:rPr>
              <a:t>Formal Assessment</a:t>
            </a:r>
            <a:endParaRPr lang="en-US"/>
          </a:p>
        </p:txBody>
      </p:sp>
      <p:sp>
        <p:nvSpPr>
          <p:cNvPr id="76" name="TextBox 75">
            <a:extLst>
              <a:ext uri="{FF2B5EF4-FFF2-40B4-BE49-F238E27FC236}">
                <a16:creationId xmlns:a16="http://schemas.microsoft.com/office/drawing/2014/main" id="{25C8CA3F-988C-3218-1187-F0688CD87DED}"/>
              </a:ext>
            </a:extLst>
          </p:cNvPr>
          <p:cNvSpPr txBox="1"/>
          <p:nvPr/>
        </p:nvSpPr>
        <p:spPr>
          <a:xfrm>
            <a:off x="855911" y="5107535"/>
            <a:ext cx="2159441" cy="253916"/>
          </a:xfrm>
          <a:prstGeom prst="rect">
            <a:avLst/>
          </a:prstGeom>
          <a:noFill/>
        </p:spPr>
        <p:txBody>
          <a:bodyPr wrap="square" lIns="0" tIns="0" rIns="0" bIns="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a:lnSpc>
                <a:spcPct val="100000"/>
              </a:lnSpc>
              <a:spcBef>
                <a:spcPts val="0"/>
              </a:spcBef>
              <a:spcAft>
                <a:spcPts val="0"/>
              </a:spcAft>
              <a:buNone/>
              <a:tabLst/>
              <a:defRPr/>
            </a:pPr>
            <a:r>
              <a:rPr lang="en-US" altLang="ko-KR" sz="1650" b="1">
                <a:solidFill>
                  <a:prstClr val="black"/>
                </a:solidFill>
                <a:latin typeface="Arial"/>
                <a:ea typeface="맑은 고딕"/>
                <a:cs typeface="Arial"/>
              </a:rPr>
              <a:t>Apr</a:t>
            </a:r>
            <a:endParaRPr lang="en-US" altLang="ko-KR"/>
          </a:p>
        </p:txBody>
      </p:sp>
    </p:spTree>
    <p:extLst>
      <p:ext uri="{BB962C8B-B14F-4D97-AF65-F5344CB8AC3E}">
        <p14:creationId xmlns:p14="http://schemas.microsoft.com/office/powerpoint/2010/main" val="2422290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0A1B3-FB88-E296-8D63-4EF50FCF71DA}"/>
            </a:ext>
          </a:extLst>
        </p:cNvPr>
        <p:cNvGrpSpPr/>
        <p:nvPr/>
      </p:nvGrpSpPr>
      <p:grpSpPr>
        <a:xfrm>
          <a:off x="0" y="0"/>
          <a:ext cx="0" cy="0"/>
          <a:chOff x="0" y="0"/>
          <a:chExt cx="0" cy="0"/>
        </a:xfrm>
      </p:grpSpPr>
      <p:pic>
        <p:nvPicPr>
          <p:cNvPr id="53" name="Picture 52">
            <a:extLst>
              <a:ext uri="{FF2B5EF4-FFF2-40B4-BE49-F238E27FC236}">
                <a16:creationId xmlns:a16="http://schemas.microsoft.com/office/drawing/2014/main" id="{E66BC17F-7AA1-F28A-3BD3-F9AFC855EB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19415" y="60344"/>
            <a:ext cx="2308638" cy="1251719"/>
          </a:xfrm>
          <a:prstGeom prst="rect">
            <a:avLst/>
          </a:prstGeom>
        </p:spPr>
      </p:pic>
      <p:sp>
        <p:nvSpPr>
          <p:cNvPr id="2" name="Title 1">
            <a:extLst>
              <a:ext uri="{FF2B5EF4-FFF2-40B4-BE49-F238E27FC236}">
                <a16:creationId xmlns:a16="http://schemas.microsoft.com/office/drawing/2014/main" id="{B6FE151F-C08E-63B8-46CF-2C18BEDFEAB3}"/>
              </a:ext>
            </a:extLst>
          </p:cNvPr>
          <p:cNvSpPr txBox="1">
            <a:spLocks/>
          </p:cNvSpPr>
          <p:nvPr/>
        </p:nvSpPr>
        <p:spPr>
          <a:xfrm>
            <a:off x="832104" y="770824"/>
            <a:ext cx="13441680" cy="584775"/>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defRPr/>
            </a:pPr>
            <a:r>
              <a:rPr lang="en-US" sz="3800" b="1">
                <a:ln w="6350" cap="flat">
                  <a:noFill/>
                  <a:miter lim="800000"/>
                </a:ln>
                <a:solidFill>
                  <a:srgbClr val="000000"/>
                </a:solidFill>
                <a:ea typeface="+mj-ea"/>
                <a:cs typeface="+mj-cs"/>
              </a:rPr>
              <a:t>FIB – PCI DSS Project (Al </a:t>
            </a:r>
            <a:r>
              <a:rPr lang="en-US" sz="3800" b="1" err="1">
                <a:ln w="6350" cap="flat">
                  <a:noFill/>
                  <a:miter lim="800000"/>
                </a:ln>
                <a:solidFill>
                  <a:srgbClr val="000000"/>
                </a:solidFill>
                <a:ea typeface="+mj-ea"/>
                <a:cs typeface="+mj-cs"/>
              </a:rPr>
              <a:t>Ejabi</a:t>
            </a:r>
            <a:r>
              <a:rPr lang="en-US" sz="3800" b="1">
                <a:ln w="6350" cap="flat">
                  <a:noFill/>
                  <a:miter lim="800000"/>
                </a:ln>
                <a:solidFill>
                  <a:srgbClr val="000000"/>
                </a:solidFill>
                <a:ea typeface="+mj-ea"/>
                <a:cs typeface="+mj-cs"/>
              </a:rPr>
              <a:t>)</a:t>
            </a:r>
            <a:endParaRPr lang="en-US" sz="3800">
              <a:ln w="6350" cap="flat">
                <a:noFill/>
                <a:miter lim="800000"/>
              </a:ln>
              <a:solidFill>
                <a:srgbClr val="000000"/>
              </a:solidFill>
              <a:ea typeface="+mj-ea"/>
              <a:cs typeface="+mj-cs"/>
            </a:endParaRPr>
          </a:p>
        </p:txBody>
      </p:sp>
      <p:sp>
        <p:nvSpPr>
          <p:cNvPr id="3" name="Rectangle 2">
            <a:extLst>
              <a:ext uri="{FF2B5EF4-FFF2-40B4-BE49-F238E27FC236}">
                <a16:creationId xmlns:a16="http://schemas.microsoft.com/office/drawing/2014/main" id="{5D30C524-D1D3-FAC7-D4E0-9F16FDB1632E}"/>
              </a:ext>
            </a:extLst>
          </p:cNvPr>
          <p:cNvSpPr/>
          <p:nvPr/>
        </p:nvSpPr>
        <p:spPr>
          <a:xfrm>
            <a:off x="831653" y="1660601"/>
            <a:ext cx="16583688" cy="452903"/>
          </a:xfrm>
          <a:prstGeom prst="rect">
            <a:avLst/>
          </a:prstGeom>
          <a:solidFill>
            <a:srgbClr val="00A69C"/>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Key Action Items</a:t>
            </a:r>
          </a:p>
        </p:txBody>
      </p:sp>
      <p:graphicFrame>
        <p:nvGraphicFramePr>
          <p:cNvPr id="15" name="Table 6">
            <a:extLst>
              <a:ext uri="{FF2B5EF4-FFF2-40B4-BE49-F238E27FC236}">
                <a16:creationId xmlns:a16="http://schemas.microsoft.com/office/drawing/2014/main" id="{AB560A75-442D-90F4-AE0F-F8CC36432673}"/>
              </a:ext>
            </a:extLst>
          </p:cNvPr>
          <p:cNvGraphicFramePr>
            <a:graphicFrameLocks noGrp="1"/>
          </p:cNvGraphicFramePr>
          <p:nvPr>
            <p:extLst>
              <p:ext uri="{D42A27DB-BD31-4B8C-83A1-F6EECF244321}">
                <p14:modId xmlns:p14="http://schemas.microsoft.com/office/powerpoint/2010/main" val="3428742302"/>
              </p:ext>
            </p:extLst>
          </p:nvPr>
        </p:nvGraphicFramePr>
        <p:xfrm>
          <a:off x="831654" y="2254728"/>
          <a:ext cx="16583684" cy="4570836"/>
        </p:xfrm>
        <a:graphic>
          <a:graphicData uri="http://schemas.openxmlformats.org/drawingml/2006/table">
            <a:tbl>
              <a:tblPr firstRow="1" bandRow="1">
                <a:tableStyleId>{5C22544A-7EE6-4342-B048-85BDC9FD1C3A}</a:tableStyleId>
              </a:tblPr>
              <a:tblGrid>
                <a:gridCol w="3444875">
                  <a:extLst>
                    <a:ext uri="{9D8B030D-6E8A-4147-A177-3AD203B41FA5}">
                      <a16:colId xmlns:a16="http://schemas.microsoft.com/office/drawing/2014/main" val="1940594143"/>
                    </a:ext>
                  </a:extLst>
                </a:gridCol>
                <a:gridCol w="5296191">
                  <a:extLst>
                    <a:ext uri="{9D8B030D-6E8A-4147-A177-3AD203B41FA5}">
                      <a16:colId xmlns:a16="http://schemas.microsoft.com/office/drawing/2014/main" val="273235595"/>
                    </a:ext>
                  </a:extLst>
                </a:gridCol>
                <a:gridCol w="2295881">
                  <a:extLst>
                    <a:ext uri="{9D8B030D-6E8A-4147-A177-3AD203B41FA5}">
                      <a16:colId xmlns:a16="http://schemas.microsoft.com/office/drawing/2014/main" val="1034871609"/>
                    </a:ext>
                  </a:extLst>
                </a:gridCol>
                <a:gridCol w="2231206">
                  <a:extLst>
                    <a:ext uri="{9D8B030D-6E8A-4147-A177-3AD203B41FA5}">
                      <a16:colId xmlns:a16="http://schemas.microsoft.com/office/drawing/2014/main" val="1556653191"/>
                    </a:ext>
                  </a:extLst>
                </a:gridCol>
                <a:gridCol w="3315531">
                  <a:extLst>
                    <a:ext uri="{9D8B030D-6E8A-4147-A177-3AD203B41FA5}">
                      <a16:colId xmlns:a16="http://schemas.microsoft.com/office/drawing/2014/main" val="666502604"/>
                    </a:ext>
                  </a:extLst>
                </a:gridCol>
              </a:tblGrid>
              <a:tr h="411480">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panose="020B0604020202020204" pitchFamily="34" charset="0"/>
                        </a:rPr>
                        <a:t>Area</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panose="020B0604020202020204" pitchFamily="34" charset="0"/>
                        </a:rPr>
                        <a:t>Action Item</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panose="020B0604020202020204" pitchFamily="34" charset="0"/>
                        </a:rPr>
                        <a:t>Status</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panose="020B0604020202020204" pitchFamily="34" charset="0"/>
                        </a:rPr>
                        <a:t>Due Date</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panose="020B0604020202020204" pitchFamily="34" charset="0"/>
                        </a:rPr>
                        <a:t>Owner</a:t>
                      </a:r>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9013299"/>
                  </a:ext>
                </a:extLst>
              </a:tr>
              <a:tr h="377190">
                <a:tc rowSpan="9">
                  <a:txBody>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1" i="0" u="none" strike="noStrike" kern="1200" cap="none" spc="0" normalizeH="0" baseline="0" noProof="0">
                        <a:ln w="6350" cap="flat">
                          <a:noFill/>
                          <a:miter lim="800000"/>
                        </a:ln>
                        <a:solidFill>
                          <a:srgbClr val="000000"/>
                        </a:solidFill>
                        <a:effectLst/>
                        <a:uLnTx/>
                        <a:uFillTx/>
                        <a:latin typeface="+mn-lt"/>
                        <a:ea typeface="+mn-ea"/>
                        <a:cs typeface="+mn-cs"/>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182880" algn="l">
                        <a:buNone/>
                      </a:pPr>
                      <a:r>
                        <a:rPr lang="en-US" sz="1800" b="0" i="0" u="none" strike="noStrike" kern="1200" noProof="0">
                          <a:solidFill>
                            <a:srgbClr val="000000"/>
                          </a:solidFill>
                        </a:rPr>
                        <a:t>Initiation &amp; Scope Definition</a:t>
                      </a:r>
                      <a:endParaRPr lang="en-US"/>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1600" b="0" i="0" u="none" strike="noStrike" noProof="0">
                          <a:solidFill>
                            <a:srgbClr val="000000"/>
                          </a:solidFill>
                          <a:latin typeface="Calibri"/>
                          <a:ea typeface="Calibri"/>
                          <a:cs typeface="Calibri"/>
                        </a:rPr>
                        <a:t>Completed</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a:lnSpc>
                          <a:spcPct val="100000"/>
                        </a:lnSpc>
                        <a:spcBef>
                          <a:spcPts val="0"/>
                        </a:spcBef>
                        <a:spcAft>
                          <a:spcPts val="0"/>
                        </a:spcAft>
                        <a:buNone/>
                        <a:tabLst/>
                        <a:defRPr/>
                      </a:pPr>
                      <a:r>
                        <a:rPr lang="en-US" sz="1600" b="0" i="0" u="none" strike="noStrike" baseline="0" noProof="0">
                          <a:solidFill>
                            <a:srgbClr val="000000"/>
                          </a:solidFill>
                          <a:latin typeface="Calibri"/>
                          <a:ea typeface="Calibri"/>
                          <a:cs typeface="Calibri"/>
                        </a:rPr>
                        <a:t>Apr</a:t>
                      </a:r>
                      <a:endParaRPr lang="en-US"/>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a:lnSpc>
                          <a:spcPct val="100000"/>
                        </a:lnSpc>
                        <a:spcBef>
                          <a:spcPts val="0"/>
                        </a:spcBef>
                        <a:spcAft>
                          <a:spcPts val="0"/>
                        </a:spcAft>
                        <a:buNone/>
                      </a:pPr>
                      <a:r>
                        <a:rPr lang="en-US" sz="1800" b="0" i="0" u="none" strike="noStrike" noProof="0">
                          <a:solidFill>
                            <a:srgbClr val="000000"/>
                          </a:solidFill>
                          <a:latin typeface="Calibri"/>
                          <a:ea typeface="Calibri"/>
                          <a:cs typeface="Calibri"/>
                        </a:rPr>
                        <a:t>PM + IT Lead</a:t>
                      </a:r>
                      <a:endParaRPr lang="en-US"/>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14997810"/>
                  </a:ext>
                </a:extLst>
              </a:tr>
              <a:tr h="377190">
                <a:tc vMerge="1">
                  <a:txBody>
                    <a:bodyPr/>
                    <a:lstStyle/>
                    <a:p>
                      <a:endParaRPr lang="en-US"/>
                    </a:p>
                  </a:txBody>
                  <a:tcPr>
                    <a:lnT w="12700" cap="flat" cmpd="sng" algn="ctr">
                      <a:solidFill>
                        <a:schemeClr val="tx1"/>
                      </a:solidFill>
                      <a:prstDash val="solid"/>
                      <a:round/>
                      <a:headEnd type="none" w="med" len="med"/>
                      <a:tailEnd type="none" w="med" len="med"/>
                    </a:lnT>
                  </a:tcPr>
                </a:tc>
                <a:tc>
                  <a:txBody>
                    <a:bodyPr/>
                    <a:lstStyle/>
                    <a:p>
                      <a:pPr lvl="0" algn="l">
                        <a:lnSpc>
                          <a:spcPct val="100000"/>
                        </a:lnSpc>
                        <a:spcBef>
                          <a:spcPts val="0"/>
                        </a:spcBef>
                        <a:spcAft>
                          <a:spcPts val="0"/>
                        </a:spcAft>
                        <a:buNone/>
                      </a:pPr>
                      <a:r>
                        <a:rPr lang="en-US" sz="1800" b="0" i="0" u="none" strike="noStrike" kern="1200" cap="none" spc="0" normalizeH="0" baseline="0" noProof="0">
                          <a:ln>
                            <a:noFill/>
                          </a:ln>
                          <a:solidFill>
                            <a:srgbClr val="000000"/>
                          </a:solidFill>
                          <a:effectLst/>
                          <a:uLnTx/>
                          <a:uFillTx/>
                        </a:rPr>
                        <a:t>Vendor Engagement &amp; Payment (Al </a:t>
                      </a:r>
                      <a:r>
                        <a:rPr lang="en-US" sz="1800" b="0" i="0" u="none" strike="noStrike" kern="1200" cap="none" spc="0" normalizeH="0" baseline="0" noProof="0" err="1">
                          <a:ln>
                            <a:noFill/>
                          </a:ln>
                          <a:solidFill>
                            <a:srgbClr val="000000"/>
                          </a:solidFill>
                          <a:effectLst/>
                          <a:uLnTx/>
                          <a:uFillTx/>
                        </a:rPr>
                        <a:t>Ejabi</a:t>
                      </a:r>
                      <a:r>
                        <a:rPr lang="en-US" sz="1800" b="0" i="0" u="none" strike="noStrike" kern="1200" cap="none" spc="0" normalizeH="0" baseline="0" noProof="0">
                          <a:ln>
                            <a:noFill/>
                          </a:ln>
                          <a:solidFill>
                            <a:srgbClr val="000000"/>
                          </a:solidFill>
                          <a:effectLst/>
                          <a:uLnTx/>
                          <a:uFillTx/>
                        </a:rPr>
                        <a:t>)</a:t>
                      </a: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1600" b="0" i="0" u="none" strike="noStrike" kern="1200" cap="none" spc="0" normalizeH="0" baseline="0" noProof="0">
                          <a:ln>
                            <a:noFill/>
                          </a:ln>
                          <a:solidFill>
                            <a:srgbClr val="000000"/>
                          </a:solidFill>
                          <a:effectLst/>
                          <a:uLnTx/>
                          <a:uFillTx/>
                          <a:latin typeface="Calibri"/>
                          <a:ea typeface="Calibri"/>
                          <a:cs typeface="Calibri"/>
                        </a:rPr>
                        <a:t>In Progress</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1600"/>
                        <a:t>Apr</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a:lnSpc>
                          <a:spcPct val="100000"/>
                        </a:lnSpc>
                        <a:spcBef>
                          <a:spcPts val="0"/>
                        </a:spcBef>
                        <a:spcAft>
                          <a:spcPts val="0"/>
                        </a:spcAft>
                        <a:buNone/>
                      </a:pPr>
                      <a:r>
                        <a:rPr lang="en-US" sz="1800" b="0" i="0" u="none" strike="noStrike" noProof="0">
                          <a:solidFill>
                            <a:srgbClr val="000000"/>
                          </a:solidFill>
                          <a:latin typeface="Calibri"/>
                          <a:ea typeface="Calibri"/>
                          <a:cs typeface="Calibri"/>
                        </a:rPr>
                        <a:t>PM + Finance FIB</a:t>
                      </a:r>
                      <a:endParaRPr lang="en-US" sz="1600"/>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09769463"/>
                  </a:ext>
                </a:extLst>
              </a:tr>
              <a:tr h="377190">
                <a:tc vMerge="1">
                  <a:txBody>
                    <a:bodyPr/>
                    <a:lstStyle/>
                    <a:p>
                      <a:pPr marL="0" indent="0">
                        <a:buClr>
                          <a:srgbClr val="002060"/>
                        </a:buClr>
                        <a:buSzPct val="150000"/>
                        <a:buFontTx/>
                        <a:buNone/>
                      </a:pPr>
                      <a:endParaRPr kumimoji="0" lang="en-US" sz="1050" b="1" i="0" u="none" strike="noStrike" kern="1200" cap="none" spc="0" normalizeH="0" baseline="0">
                        <a:ln>
                          <a:noFill/>
                        </a:ln>
                        <a:solidFill>
                          <a:srgbClr val="000000"/>
                        </a:solidFill>
                        <a:effectLst/>
                        <a:uLnTx/>
                        <a:uFillTx/>
                        <a:latin typeface="Arial"/>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1800" b="0" i="0" u="none" strike="noStrike" kern="1200" cap="none" spc="0" normalizeH="0" baseline="0" noProof="0">
                          <a:ln>
                            <a:noFill/>
                          </a:ln>
                          <a:solidFill>
                            <a:srgbClr val="000000"/>
                          </a:solidFill>
                          <a:effectLst/>
                          <a:uLnTx/>
                          <a:uFillTx/>
                        </a:rPr>
                        <a:t>Gap Assessment</a:t>
                      </a: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a:lnSpc>
                          <a:spcPct val="100000"/>
                        </a:lnSpc>
                        <a:spcBef>
                          <a:spcPts val="0"/>
                        </a:spcBef>
                        <a:spcAft>
                          <a:spcPts val="0"/>
                        </a:spcAft>
                        <a:buNone/>
                        <a:tabLst/>
                        <a:defRPr/>
                      </a:pPr>
                      <a:r>
                        <a:rPr lang="en-US" sz="1600" b="0" i="0" u="none" strike="noStrike" kern="1200" cap="none" spc="0" normalizeH="0" baseline="0" noProof="0">
                          <a:ln>
                            <a:noFill/>
                          </a:ln>
                          <a:solidFill>
                            <a:srgbClr val="000000"/>
                          </a:solidFill>
                          <a:effectLst/>
                          <a:uLnTx/>
                          <a:uFillTx/>
                          <a:latin typeface="+mn-lt"/>
                          <a:ea typeface="+mn-ea"/>
                          <a:cs typeface="+mn-cs"/>
                        </a:rPr>
                        <a:t>InProgress</a:t>
                      </a:r>
                      <a:endParaRPr kumimoji="0" lang="en-US" sz="1600" b="0" i="0" u="none" strike="noStrike" kern="1200" cap="none" spc="0" normalizeH="0" baseline="0" noProof="0">
                        <a:ln>
                          <a:noFill/>
                        </a:ln>
                        <a:solidFill>
                          <a:srgbClr val="000000"/>
                        </a:solidFill>
                        <a:effectLst/>
                        <a:uLnTx/>
                        <a:uFillTx/>
                        <a:latin typeface="+mn-lt"/>
                        <a:ea typeface="+mn-ea"/>
                        <a:cs typeface="+mn-cs"/>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r>
                        <a:rPr lang="en-US" sz="1600"/>
                        <a:t>June</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a:lnSpc>
                          <a:spcPct val="100000"/>
                        </a:lnSpc>
                        <a:spcBef>
                          <a:spcPts val="0"/>
                        </a:spcBef>
                        <a:spcAft>
                          <a:spcPts val="0"/>
                        </a:spcAft>
                        <a:buNone/>
                      </a:pPr>
                      <a:r>
                        <a:rPr lang="en-US" sz="1800" b="0" i="0" u="none" strike="noStrike" noProof="0">
                          <a:solidFill>
                            <a:srgbClr val="000000"/>
                          </a:solidFill>
                          <a:latin typeface="Calibri"/>
                          <a:ea typeface="Calibri"/>
                          <a:cs typeface="Calibri"/>
                        </a:rPr>
                        <a:t>Al </a:t>
                      </a:r>
                      <a:r>
                        <a:rPr lang="en-US" sz="1800" b="0" i="0" u="none" strike="noStrike" noProof="0" err="1">
                          <a:solidFill>
                            <a:srgbClr val="000000"/>
                          </a:solidFill>
                          <a:latin typeface="Calibri"/>
                          <a:ea typeface="Calibri"/>
                          <a:cs typeface="Calibri"/>
                        </a:rPr>
                        <a:t>Ejabi</a:t>
                      </a:r>
                      <a:r>
                        <a:rPr lang="en-US" sz="1800" b="0" i="0" u="none" strike="noStrike" noProof="0">
                          <a:solidFill>
                            <a:srgbClr val="000000"/>
                          </a:solidFill>
                          <a:latin typeface="Calibri"/>
                          <a:ea typeface="Calibri"/>
                          <a:cs typeface="Calibri"/>
                        </a:rPr>
                        <a:t> + FIB</a:t>
                      </a:r>
                      <a:endParaRPr lang="en-US" sz="1600"/>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17332579"/>
                  </a:ext>
                </a:extLst>
              </a:tr>
              <a:tr h="563492">
                <a:tc vMerge="1">
                  <a:txBody>
                    <a:bodyPr/>
                    <a:lstStyle/>
                    <a:p>
                      <a:endParaRPr lang="en-US"/>
                    </a:p>
                  </a:txBody>
                  <a:tcPr/>
                </a:tc>
                <a:tc>
                  <a:txBody>
                    <a:bodyPr/>
                    <a:lstStyle/>
                    <a:p>
                      <a:pPr lvl="0" algn="l">
                        <a:lnSpc>
                          <a:spcPct val="100000"/>
                        </a:lnSpc>
                        <a:spcBef>
                          <a:spcPts val="0"/>
                        </a:spcBef>
                        <a:spcAft>
                          <a:spcPts val="0"/>
                        </a:spcAft>
                        <a:buNone/>
                      </a:pPr>
                      <a:r>
                        <a:rPr lang="en-US" sz="1800" b="0" i="0" u="none" strike="noStrike" kern="1200" cap="none" spc="0" normalizeH="0" baseline="0" noProof="0">
                          <a:ln>
                            <a:noFill/>
                          </a:ln>
                          <a:solidFill>
                            <a:srgbClr val="000000"/>
                          </a:solidFill>
                          <a:effectLst/>
                          <a:uLnTx/>
                          <a:uFillTx/>
                        </a:rPr>
                        <a:t>Remediation Planning</a:t>
                      </a: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a:lnSpc>
                          <a:spcPct val="100000"/>
                        </a:lnSpc>
                        <a:spcBef>
                          <a:spcPts val="0"/>
                        </a:spcBef>
                        <a:spcAft>
                          <a:spcPts val="0"/>
                        </a:spcAft>
                        <a:buNone/>
                      </a:pPr>
                      <a:r>
                        <a:rPr lang="en-US" sz="1600" b="0" i="0" u="none" strike="noStrike" kern="1200" cap="none" spc="0" normalizeH="0" baseline="0" noProof="0">
                          <a:ln>
                            <a:noFill/>
                          </a:ln>
                          <a:solidFill>
                            <a:srgbClr val="000000"/>
                          </a:solidFill>
                          <a:effectLst/>
                          <a:uLnTx/>
                          <a:uFillTx/>
                          <a:latin typeface="Calibri"/>
                          <a:ea typeface="Calibri"/>
                          <a:cs typeface="Calibri"/>
                        </a:rPr>
                        <a:t>Pending</a:t>
                      </a:r>
                      <a:endParaRPr kumimoji="0" lang="en-US"/>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1600" strike="noStrike" baseline="0"/>
                        <a:t>June</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a:lnSpc>
                          <a:spcPct val="100000"/>
                        </a:lnSpc>
                        <a:spcBef>
                          <a:spcPts val="0"/>
                        </a:spcBef>
                        <a:spcAft>
                          <a:spcPts val="0"/>
                        </a:spcAft>
                        <a:buNone/>
                      </a:pPr>
                      <a:r>
                        <a:rPr lang="en-US" sz="1800" b="0" i="0" u="none" strike="noStrike" noProof="0">
                          <a:solidFill>
                            <a:srgbClr val="000000"/>
                          </a:solidFill>
                          <a:latin typeface="Calibri"/>
                          <a:ea typeface="Calibri"/>
                          <a:cs typeface="Calibri"/>
                        </a:rPr>
                        <a:t>FIB + IT Lead</a:t>
                      </a:r>
                      <a:endParaRPr lang="en-US"/>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67274526"/>
                  </a:ext>
                </a:extLst>
              </a:tr>
              <a:tr h="563492">
                <a:tc vMerge="1">
                  <a:txBody>
                    <a:bodyPr/>
                    <a:lstStyle/>
                    <a:p>
                      <a:pPr marL="0" indent="0">
                        <a:buClr>
                          <a:srgbClr val="002060"/>
                        </a:buClr>
                        <a:buSzPct val="150000"/>
                        <a:buFontTx/>
                        <a:buNone/>
                      </a:pPr>
                      <a:endParaRPr kumimoji="0" lang="en-US" sz="1050" b="1" i="0" u="none" strike="noStrike" kern="1200" cap="none" spc="0" normalizeH="0" baseline="0">
                        <a:ln>
                          <a:noFill/>
                        </a:ln>
                        <a:solidFill>
                          <a:srgbClr val="000000"/>
                        </a:solidFill>
                        <a:effectLst/>
                        <a:uLnTx/>
                        <a:uFillTx/>
                        <a:latin typeface="Arial"/>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1800" b="0" i="0" u="none" strike="noStrike" kern="1200" cap="none" spc="0" normalizeH="0" baseline="0" noProof="0">
                          <a:ln>
                            <a:noFill/>
                          </a:ln>
                          <a:solidFill>
                            <a:srgbClr val="000000"/>
                          </a:solidFill>
                          <a:effectLst/>
                          <a:uLnTx/>
                          <a:uFillTx/>
                        </a:rPr>
                        <a:t>Remediation Execution</a:t>
                      </a: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a:lnSpc>
                          <a:spcPct val="100000"/>
                        </a:lnSpc>
                        <a:spcBef>
                          <a:spcPts val="0"/>
                        </a:spcBef>
                        <a:spcAft>
                          <a:spcPts val="0"/>
                        </a:spcAft>
                        <a:buNone/>
                        <a:tabLst/>
                        <a:defRPr/>
                      </a:pPr>
                      <a:r>
                        <a:rPr lang="en-US" sz="1600" b="0" i="0" u="none" strike="noStrike" kern="1200" cap="none" spc="0" normalizeH="0" baseline="0" noProof="0">
                          <a:ln>
                            <a:noFill/>
                          </a:ln>
                          <a:solidFill>
                            <a:srgbClr val="000000"/>
                          </a:solidFill>
                          <a:effectLst/>
                          <a:uLnTx/>
                          <a:uFillTx/>
                          <a:latin typeface="Calibri"/>
                          <a:ea typeface="Calibri"/>
                          <a:cs typeface="Calibri"/>
                        </a:rPr>
                        <a:t>Pending</a:t>
                      </a:r>
                      <a:endParaRPr kumimoji="0" lang="en-US"/>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r>
                        <a:rPr lang="en-US" sz="1600"/>
                        <a:t>June</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a:lnSpc>
                          <a:spcPct val="100000"/>
                        </a:lnSpc>
                        <a:spcBef>
                          <a:spcPts val="0"/>
                        </a:spcBef>
                        <a:spcAft>
                          <a:spcPts val="0"/>
                        </a:spcAft>
                        <a:buNone/>
                      </a:pPr>
                      <a:r>
                        <a:rPr lang="en-US" sz="1800" b="0" i="0" u="none" strike="noStrike" noProof="0">
                          <a:solidFill>
                            <a:srgbClr val="000000"/>
                          </a:solidFill>
                          <a:latin typeface="Calibri"/>
                          <a:ea typeface="Calibri"/>
                          <a:cs typeface="Calibri"/>
                        </a:rPr>
                        <a:t>IT Lead</a:t>
                      </a:r>
                      <a:endParaRPr lang="en-US"/>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34818391"/>
                  </a:ext>
                </a:extLst>
              </a:tr>
              <a:tr h="563492">
                <a:tc vMerge="1">
                  <a:txBody>
                    <a:bodyPr/>
                    <a:lstStyle/>
                    <a:p>
                      <a:pPr marL="0" indent="0">
                        <a:buClr>
                          <a:srgbClr val="002060"/>
                        </a:buClr>
                        <a:buSzPct val="150000"/>
                        <a:buFontTx/>
                        <a:buNone/>
                      </a:pPr>
                      <a:endParaRPr kumimoji="0" lang="en-US" sz="1050" b="1" i="0" u="none" strike="noStrike" kern="1200" cap="none" spc="0" normalizeH="0" baseline="0">
                        <a:ln>
                          <a:noFill/>
                        </a:ln>
                        <a:solidFill>
                          <a:srgbClr val="000000"/>
                        </a:solidFill>
                        <a:effectLst/>
                        <a:uLnTx/>
                        <a:uFillTx/>
                        <a:latin typeface="Arial"/>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1800" b="0" i="0" u="none" strike="noStrike" kern="1200" cap="none" spc="0" normalizeH="0" baseline="0" noProof="0">
                          <a:ln>
                            <a:noFill/>
                          </a:ln>
                          <a:solidFill>
                            <a:srgbClr val="000000"/>
                          </a:solidFill>
                          <a:effectLst/>
                          <a:uLnTx/>
                          <a:uFillTx/>
                        </a:rPr>
                        <a:t>Control Implementation</a:t>
                      </a: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a:lnSpc>
                          <a:spcPct val="100000"/>
                        </a:lnSpc>
                        <a:spcBef>
                          <a:spcPts val="0"/>
                        </a:spcBef>
                        <a:spcAft>
                          <a:spcPts val="0"/>
                        </a:spcAft>
                        <a:buNone/>
                        <a:tabLst/>
                        <a:defRPr/>
                      </a:pPr>
                      <a:r>
                        <a:rPr lang="en-US" sz="1600" b="0" i="0" u="none" strike="noStrike" kern="1200" cap="none" spc="0" normalizeH="0" baseline="0" noProof="0">
                          <a:ln>
                            <a:noFill/>
                          </a:ln>
                          <a:solidFill>
                            <a:srgbClr val="000000"/>
                          </a:solidFill>
                          <a:effectLst/>
                          <a:uLnTx/>
                          <a:uFillTx/>
                          <a:latin typeface="Calibri"/>
                          <a:ea typeface="Calibri"/>
                          <a:cs typeface="Calibri"/>
                        </a:rPr>
                        <a:t>Pending</a:t>
                      </a:r>
                      <a:endParaRPr kumimoji="0" lang="en-US"/>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r>
                        <a:rPr lang="en-US" sz="1600"/>
                        <a:t>July</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a:lnSpc>
                          <a:spcPct val="100000"/>
                        </a:lnSpc>
                        <a:spcBef>
                          <a:spcPts val="0"/>
                        </a:spcBef>
                        <a:spcAft>
                          <a:spcPts val="0"/>
                        </a:spcAft>
                        <a:buNone/>
                      </a:pPr>
                      <a:r>
                        <a:rPr lang="en-US" sz="1800" b="0" i="0" u="none" strike="noStrike" noProof="0">
                          <a:solidFill>
                            <a:srgbClr val="000000"/>
                          </a:solidFill>
                          <a:latin typeface="Calibri"/>
                          <a:ea typeface="Calibri"/>
                          <a:cs typeface="Calibri"/>
                        </a:rPr>
                        <a:t>IT Lead + FIB</a:t>
                      </a:r>
                      <a:endParaRPr lang="en-US"/>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03154"/>
                  </a:ext>
                </a:extLst>
              </a:tr>
              <a:tr h="377190">
                <a:tc vMerge="1">
                  <a:txBody>
                    <a:bodyPr/>
                    <a:lstStyle/>
                    <a:p>
                      <a:pPr marL="0" indent="0">
                        <a:buClr>
                          <a:srgbClr val="002060"/>
                        </a:buClr>
                        <a:buSzPct val="150000"/>
                        <a:buFontTx/>
                        <a:buNone/>
                      </a:pPr>
                      <a:endParaRPr kumimoji="0" lang="en-US" sz="1050" b="1" i="0" u="none" strike="noStrike" kern="1200" cap="none" spc="0" normalizeH="0" baseline="0">
                        <a:ln>
                          <a:noFill/>
                        </a:ln>
                        <a:solidFill>
                          <a:srgbClr val="000000"/>
                        </a:solidFill>
                        <a:effectLst/>
                        <a:uLnTx/>
                        <a:uFillTx/>
                        <a:latin typeface="Arial"/>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1800" b="0" i="0" u="none" strike="noStrike" kern="1200" cap="none" spc="0" normalizeH="0" baseline="0" noProof="0">
                          <a:ln>
                            <a:noFill/>
                          </a:ln>
                          <a:solidFill>
                            <a:srgbClr val="000000"/>
                          </a:solidFill>
                          <a:effectLst/>
                          <a:uLnTx/>
                          <a:uFillTx/>
                        </a:rPr>
                        <a:t>Pre-Assessment &amp; Mock Audit</a:t>
                      </a: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a:lnSpc>
                          <a:spcPct val="100000"/>
                        </a:lnSpc>
                        <a:spcBef>
                          <a:spcPts val="0"/>
                        </a:spcBef>
                        <a:spcAft>
                          <a:spcPts val="0"/>
                        </a:spcAft>
                        <a:buNone/>
                        <a:tabLst/>
                        <a:defRPr/>
                      </a:pPr>
                      <a:r>
                        <a:rPr lang="en-US" sz="1600" b="0" i="0" u="none" strike="noStrike" kern="1200" cap="none" spc="0" normalizeH="0" baseline="0" noProof="0">
                          <a:ln>
                            <a:noFill/>
                          </a:ln>
                          <a:solidFill>
                            <a:srgbClr val="000000"/>
                          </a:solidFill>
                          <a:effectLst/>
                          <a:uLnTx/>
                          <a:uFillTx/>
                          <a:latin typeface="Calibri"/>
                          <a:ea typeface="Calibri"/>
                          <a:cs typeface="Calibri"/>
                        </a:rPr>
                        <a:t>Pending</a:t>
                      </a:r>
                      <a:endParaRPr kumimoji="0" lang="en-US"/>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r>
                        <a:rPr lang="en-US" sz="1600"/>
                        <a:t>Aug</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a:lnSpc>
                          <a:spcPct val="100000"/>
                        </a:lnSpc>
                        <a:spcBef>
                          <a:spcPts val="0"/>
                        </a:spcBef>
                        <a:spcAft>
                          <a:spcPts val="0"/>
                        </a:spcAft>
                        <a:buNone/>
                      </a:pPr>
                      <a:r>
                        <a:rPr lang="en-US" sz="1800" b="0" i="0" u="none" strike="noStrike" noProof="0">
                          <a:solidFill>
                            <a:srgbClr val="000000"/>
                          </a:solidFill>
                          <a:latin typeface="Calibri"/>
                          <a:ea typeface="Calibri"/>
                          <a:cs typeface="Calibri"/>
                        </a:rPr>
                        <a:t>Al </a:t>
                      </a:r>
                      <a:r>
                        <a:rPr lang="en-US" sz="1800" b="0" i="0" u="none" strike="noStrike" noProof="0" err="1">
                          <a:solidFill>
                            <a:srgbClr val="000000"/>
                          </a:solidFill>
                          <a:latin typeface="Calibri"/>
                          <a:ea typeface="Calibri"/>
                          <a:cs typeface="Calibri"/>
                        </a:rPr>
                        <a:t>Ejabi</a:t>
                      </a:r>
                      <a:r>
                        <a:rPr lang="en-US" sz="1800" b="0" i="0" u="none" strike="noStrike" noProof="0">
                          <a:solidFill>
                            <a:srgbClr val="000000"/>
                          </a:solidFill>
                          <a:latin typeface="Calibri"/>
                          <a:ea typeface="Calibri"/>
                          <a:cs typeface="Calibri"/>
                        </a:rPr>
                        <a:t> + FIB</a:t>
                      </a:r>
                      <a:endParaRPr lang="en-US"/>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41739212"/>
                  </a:ext>
                </a:extLst>
              </a:tr>
              <a:tr h="377190">
                <a:tc vMerge="1">
                  <a:txBody>
                    <a:bodyPr/>
                    <a:lstStyle/>
                    <a:p>
                      <a:pPr marL="0" indent="0">
                        <a:buClr>
                          <a:srgbClr val="002060"/>
                        </a:buClr>
                        <a:buSzPct val="150000"/>
                        <a:buFontTx/>
                        <a:buNone/>
                      </a:pPr>
                      <a:endParaRPr kumimoji="0" lang="en-US" sz="1050" b="1" i="0" u="none" strike="noStrike" kern="1200" cap="none" spc="0" normalizeH="0" baseline="0">
                        <a:ln>
                          <a:noFill/>
                        </a:ln>
                        <a:solidFill>
                          <a:srgbClr val="000000"/>
                        </a:solidFill>
                        <a:effectLst/>
                        <a:uLnTx/>
                        <a:uFillTx/>
                        <a:latin typeface="Arial"/>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1800" b="0" i="0" u="none" strike="noStrike" kern="1200" cap="none" spc="0" normalizeH="0" baseline="0" noProof="0">
                          <a:ln>
                            <a:noFill/>
                          </a:ln>
                          <a:solidFill>
                            <a:srgbClr val="000000"/>
                          </a:solidFill>
                          <a:effectLst/>
                          <a:uLnTx/>
                          <a:uFillTx/>
                        </a:rPr>
                        <a:t>Formal PCI DSS Assessment</a:t>
                      </a: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a:lnSpc>
                          <a:spcPct val="100000"/>
                        </a:lnSpc>
                        <a:spcBef>
                          <a:spcPts val="0"/>
                        </a:spcBef>
                        <a:spcAft>
                          <a:spcPts val="0"/>
                        </a:spcAft>
                        <a:buNone/>
                        <a:tabLst/>
                        <a:defRPr/>
                      </a:pPr>
                      <a:r>
                        <a:rPr lang="en-US" sz="1600" b="0" i="0" u="none" strike="noStrike" kern="1200" cap="none" spc="0" normalizeH="0" baseline="0" noProof="0">
                          <a:ln>
                            <a:noFill/>
                          </a:ln>
                          <a:solidFill>
                            <a:srgbClr val="000000"/>
                          </a:solidFill>
                          <a:effectLst/>
                          <a:uLnTx/>
                          <a:uFillTx/>
                          <a:latin typeface="Calibri"/>
                          <a:ea typeface="Calibri"/>
                          <a:cs typeface="Calibri"/>
                        </a:rPr>
                        <a:t>Pending</a:t>
                      </a:r>
                      <a:endParaRPr kumimoji="0" lang="en-US"/>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r>
                        <a:rPr lang="en-US" sz="1600" strike="noStrike"/>
                        <a:t>Aug</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a:lnSpc>
                          <a:spcPct val="100000"/>
                        </a:lnSpc>
                        <a:spcBef>
                          <a:spcPts val="0"/>
                        </a:spcBef>
                        <a:spcAft>
                          <a:spcPts val="0"/>
                        </a:spcAft>
                        <a:buNone/>
                      </a:pPr>
                      <a:r>
                        <a:rPr lang="en-US" sz="1800" b="0" i="0" u="none" strike="noStrike" noProof="0">
                          <a:solidFill>
                            <a:srgbClr val="000000"/>
                          </a:solidFill>
                          <a:latin typeface="Calibri"/>
                          <a:ea typeface="Calibri"/>
                          <a:cs typeface="Calibri"/>
                        </a:rPr>
                        <a:t>Al </a:t>
                      </a:r>
                      <a:r>
                        <a:rPr lang="en-US" sz="1800" b="0" i="0" u="none" strike="noStrike" noProof="0" err="1">
                          <a:solidFill>
                            <a:srgbClr val="000000"/>
                          </a:solidFill>
                          <a:latin typeface="Calibri"/>
                          <a:ea typeface="Calibri"/>
                          <a:cs typeface="Calibri"/>
                        </a:rPr>
                        <a:t>Ejabi</a:t>
                      </a:r>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86122579"/>
                  </a:ext>
                </a:extLst>
              </a:tr>
              <a:tr h="377190">
                <a:tc vMerge="1">
                  <a:txBody>
                    <a:bodyPr/>
                    <a:lstStyle/>
                    <a:p>
                      <a:pPr marL="0" indent="0">
                        <a:buClr>
                          <a:srgbClr val="002060"/>
                        </a:buClr>
                        <a:buSzPct val="150000"/>
                        <a:buFontTx/>
                        <a:buNone/>
                      </a:pPr>
                      <a:endParaRPr kumimoji="0" lang="en-US" sz="1050" b="1" i="0" u="none" strike="noStrike" kern="1200" cap="none" spc="0" normalizeH="0" baseline="0">
                        <a:ln>
                          <a:noFill/>
                        </a:ln>
                        <a:solidFill>
                          <a:srgbClr val="000000"/>
                        </a:solidFill>
                        <a:effectLst/>
                        <a:uLnTx/>
                        <a:uFillTx/>
                        <a:latin typeface="Arial"/>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1800" b="0" i="0" u="none" strike="noStrike" kern="1200" cap="none" spc="0" normalizeH="0" baseline="0" noProof="0">
                          <a:ln>
                            <a:noFill/>
                          </a:ln>
                          <a:solidFill>
                            <a:srgbClr val="000000"/>
                          </a:solidFill>
                          <a:effectLst/>
                          <a:uLnTx/>
                          <a:uFillTx/>
                        </a:rPr>
                        <a:t>ROC, AOC &amp; Project Closure</a:t>
                      </a: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a:lnSpc>
                          <a:spcPct val="100000"/>
                        </a:lnSpc>
                        <a:spcBef>
                          <a:spcPts val="0"/>
                        </a:spcBef>
                        <a:spcAft>
                          <a:spcPts val="0"/>
                        </a:spcAft>
                        <a:buNone/>
                        <a:tabLst/>
                        <a:defRPr/>
                      </a:pPr>
                      <a:r>
                        <a:rPr lang="en-US" sz="1600" b="0" i="0" u="none" strike="noStrike" kern="1200" cap="none" spc="0" normalizeH="0" baseline="0" noProof="0">
                          <a:ln>
                            <a:noFill/>
                          </a:ln>
                          <a:solidFill>
                            <a:srgbClr val="000000"/>
                          </a:solidFill>
                          <a:effectLst/>
                          <a:uLnTx/>
                          <a:uFillTx/>
                          <a:latin typeface="Calibri"/>
                          <a:ea typeface="Calibri"/>
                          <a:cs typeface="Calibri"/>
                        </a:rPr>
                        <a:t>Pending</a:t>
                      </a:r>
                      <a:endParaRPr kumimoji="0" lang="en-US"/>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r>
                        <a:rPr lang="en-US" sz="1600" strike="noStrike"/>
                        <a:t>Aug</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a:lnSpc>
                          <a:spcPct val="100000"/>
                        </a:lnSpc>
                        <a:spcBef>
                          <a:spcPts val="0"/>
                        </a:spcBef>
                        <a:spcAft>
                          <a:spcPts val="0"/>
                        </a:spcAft>
                        <a:buNone/>
                      </a:pPr>
                      <a:r>
                        <a:rPr lang="en-US" sz="1800" b="0" i="0" u="none" strike="noStrike" noProof="0">
                          <a:solidFill>
                            <a:srgbClr val="000000"/>
                          </a:solidFill>
                          <a:latin typeface="Calibri"/>
                          <a:ea typeface="Calibri"/>
                          <a:cs typeface="Calibri"/>
                        </a:rPr>
                        <a:t>Al </a:t>
                      </a:r>
                      <a:r>
                        <a:rPr lang="en-US" sz="1800" b="0" i="0" u="none" strike="noStrike" noProof="0" err="1">
                          <a:solidFill>
                            <a:srgbClr val="000000"/>
                          </a:solidFill>
                          <a:latin typeface="Calibri"/>
                          <a:ea typeface="Calibri"/>
                          <a:cs typeface="Calibri"/>
                        </a:rPr>
                        <a:t>Ejabi</a:t>
                      </a:r>
                      <a:r>
                        <a:rPr lang="en-US" sz="1800" b="0" i="0" u="none" strike="noStrike" noProof="0">
                          <a:solidFill>
                            <a:srgbClr val="000000"/>
                          </a:solidFill>
                          <a:latin typeface="Calibri"/>
                          <a:ea typeface="Calibri"/>
                          <a:cs typeface="Calibri"/>
                        </a:rPr>
                        <a:t> + FIB</a:t>
                      </a:r>
                      <a:endParaRPr lang="en-US"/>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94132260"/>
                  </a:ext>
                </a:extLst>
              </a:tr>
            </a:tbl>
          </a:graphicData>
        </a:graphic>
      </p:graphicFrame>
    </p:spTree>
    <p:extLst>
      <p:ext uri="{BB962C8B-B14F-4D97-AF65-F5344CB8AC3E}">
        <p14:creationId xmlns:p14="http://schemas.microsoft.com/office/powerpoint/2010/main" val="25842508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97F63-64FA-F9F3-D218-324FF344ACB0}"/>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10CECAF2-EB44-97BE-0C8C-6DB2EB8970B9}"/>
              </a:ext>
            </a:extLst>
          </p:cNvPr>
          <p:cNvSpPr txBox="1"/>
          <p:nvPr/>
        </p:nvSpPr>
        <p:spPr>
          <a:xfrm>
            <a:off x="1028700" y="857250"/>
            <a:ext cx="13304262" cy="1318502"/>
          </a:xfrm>
          <a:prstGeom prst="rect">
            <a:avLst/>
          </a:prstGeom>
        </p:spPr>
        <p:txBody>
          <a:bodyPr wrap="square" lIns="0" tIns="0" rIns="0" bIns="0" rtlCol="0" anchor="t">
            <a:spAutoFit/>
          </a:bodyPr>
          <a:lstStyle/>
          <a:p>
            <a:pPr>
              <a:lnSpc>
                <a:spcPts val="11200"/>
              </a:lnSpc>
              <a:spcBef>
                <a:spcPct val="0"/>
              </a:spcBef>
            </a:pPr>
            <a:r>
              <a:rPr lang="en-US" sz="8000" b="1">
                <a:solidFill>
                  <a:srgbClr val="03A39D"/>
                </a:solidFill>
                <a:latin typeface="Inter Bold"/>
                <a:ea typeface="Inter Bold"/>
                <a:cs typeface="Inter Bold"/>
                <a:sym typeface="Inter Bold"/>
              </a:rPr>
              <a:t>Contact Center</a:t>
            </a:r>
            <a:r>
              <a:rPr lang="en-US" sz="8000" b="1">
                <a:solidFill>
                  <a:srgbClr val="1C1818"/>
                </a:solidFill>
                <a:latin typeface="Inter Bold"/>
                <a:ea typeface="Inter Bold"/>
                <a:cs typeface="Inter Bold"/>
                <a:sym typeface="Inter Bold"/>
              </a:rPr>
              <a:t> PROJECT</a:t>
            </a:r>
          </a:p>
        </p:txBody>
      </p:sp>
      <p:sp>
        <p:nvSpPr>
          <p:cNvPr id="3" name="Freeform 3">
            <a:extLst>
              <a:ext uri="{FF2B5EF4-FFF2-40B4-BE49-F238E27FC236}">
                <a16:creationId xmlns:a16="http://schemas.microsoft.com/office/drawing/2014/main" id="{13643F1B-7090-A90C-A8D4-2724ECCB0AD3}"/>
              </a:ext>
            </a:extLst>
          </p:cNvPr>
          <p:cNvSpPr/>
          <p:nvPr/>
        </p:nvSpPr>
        <p:spPr>
          <a:xfrm>
            <a:off x="0" y="0"/>
            <a:ext cx="1028700" cy="1028700"/>
          </a:xfrm>
          <a:custGeom>
            <a:avLst/>
            <a:gdLst/>
            <a:ahLst/>
            <a:cxnLst/>
            <a:rect l="l" t="t" r="r" b="b"/>
            <a:pathLst>
              <a:path w="1028700" h="1028700">
                <a:moveTo>
                  <a:pt x="0" y="0"/>
                </a:moveTo>
                <a:lnTo>
                  <a:pt x="1028700" y="0"/>
                </a:lnTo>
                <a:lnTo>
                  <a:pt x="1028700" y="1028700"/>
                </a:lnTo>
                <a:lnTo>
                  <a:pt x="0" y="10287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10" name="Group 10">
            <a:extLst>
              <a:ext uri="{FF2B5EF4-FFF2-40B4-BE49-F238E27FC236}">
                <a16:creationId xmlns:a16="http://schemas.microsoft.com/office/drawing/2014/main" id="{58025808-3EB7-2828-E922-B97287AB945C}"/>
              </a:ext>
            </a:extLst>
          </p:cNvPr>
          <p:cNvGrpSpPr/>
          <p:nvPr/>
        </p:nvGrpSpPr>
        <p:grpSpPr>
          <a:xfrm>
            <a:off x="514350" y="8877758"/>
            <a:ext cx="295243" cy="295243"/>
            <a:chOff x="0" y="0"/>
            <a:chExt cx="812800" cy="812800"/>
          </a:xfrm>
        </p:grpSpPr>
        <p:sp>
          <p:nvSpPr>
            <p:cNvPr id="11" name="Freeform 11">
              <a:extLst>
                <a:ext uri="{FF2B5EF4-FFF2-40B4-BE49-F238E27FC236}">
                  <a16:creationId xmlns:a16="http://schemas.microsoft.com/office/drawing/2014/main" id="{4371E020-25AE-36F4-4995-11724018444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A09A"/>
            </a:solidFill>
          </p:spPr>
          <p:txBody>
            <a:bodyPr/>
            <a:lstStyle/>
            <a:p>
              <a:endParaRPr lang="en-US"/>
            </a:p>
          </p:txBody>
        </p:sp>
        <p:sp>
          <p:nvSpPr>
            <p:cNvPr id="12" name="TextBox 12">
              <a:extLst>
                <a:ext uri="{FF2B5EF4-FFF2-40B4-BE49-F238E27FC236}">
                  <a16:creationId xmlns:a16="http://schemas.microsoft.com/office/drawing/2014/main" id="{E6A47C37-85D3-3E79-C5F1-EB09ECB46F7D}"/>
                </a:ext>
              </a:extLst>
            </p:cNvPr>
            <p:cNvSpPr txBox="1"/>
            <p:nvPr/>
          </p:nvSpPr>
          <p:spPr>
            <a:xfrm>
              <a:off x="76200" y="-47625"/>
              <a:ext cx="660400" cy="784225"/>
            </a:xfrm>
            <a:prstGeom prst="rect">
              <a:avLst/>
            </a:prstGeom>
          </p:spPr>
          <p:txBody>
            <a:bodyPr lIns="50800" tIns="50800" rIns="50800" bIns="50800" rtlCol="0" anchor="ctr"/>
            <a:lstStyle/>
            <a:p>
              <a:pPr algn="ctr">
                <a:lnSpc>
                  <a:spcPts val="3910"/>
                </a:lnSpc>
              </a:pPr>
              <a:endParaRPr/>
            </a:p>
          </p:txBody>
        </p:sp>
      </p:grpSp>
      <p:grpSp>
        <p:nvGrpSpPr>
          <p:cNvPr id="14" name="Group 14">
            <a:extLst>
              <a:ext uri="{FF2B5EF4-FFF2-40B4-BE49-F238E27FC236}">
                <a16:creationId xmlns:a16="http://schemas.microsoft.com/office/drawing/2014/main" id="{643F7461-2840-DA47-2F45-380B0C9EC8C8}"/>
              </a:ext>
            </a:extLst>
          </p:cNvPr>
          <p:cNvGrpSpPr/>
          <p:nvPr/>
        </p:nvGrpSpPr>
        <p:grpSpPr>
          <a:xfrm>
            <a:off x="9864276" y="7543183"/>
            <a:ext cx="7124195" cy="1419873"/>
            <a:chOff x="0" y="0"/>
            <a:chExt cx="9498926" cy="1893165"/>
          </a:xfrm>
        </p:grpSpPr>
        <p:sp>
          <p:nvSpPr>
            <p:cNvPr id="15" name="Freeform 15">
              <a:extLst>
                <a:ext uri="{FF2B5EF4-FFF2-40B4-BE49-F238E27FC236}">
                  <a16:creationId xmlns:a16="http://schemas.microsoft.com/office/drawing/2014/main" id="{9A5C76C0-47AA-2B7F-B73D-4BC4ABAE9BA7}"/>
                </a:ext>
              </a:extLst>
            </p:cNvPr>
            <p:cNvSpPr/>
            <p:nvPr/>
          </p:nvSpPr>
          <p:spPr>
            <a:xfrm>
              <a:off x="0" y="19403"/>
              <a:ext cx="1738820" cy="1738820"/>
            </a:xfrm>
            <a:custGeom>
              <a:avLst/>
              <a:gdLst/>
              <a:ahLst/>
              <a:cxnLst/>
              <a:rect l="l" t="t" r="r" b="b"/>
              <a:pathLst>
                <a:path w="1738820" h="1738820">
                  <a:moveTo>
                    <a:pt x="0" y="0"/>
                  </a:moveTo>
                  <a:lnTo>
                    <a:pt x="1738820" y="0"/>
                  </a:lnTo>
                  <a:lnTo>
                    <a:pt x="1738820" y="1738821"/>
                  </a:lnTo>
                  <a:lnTo>
                    <a:pt x="0" y="17388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Freeform 16">
              <a:extLst>
                <a:ext uri="{FF2B5EF4-FFF2-40B4-BE49-F238E27FC236}">
                  <a16:creationId xmlns:a16="http://schemas.microsoft.com/office/drawing/2014/main" id="{4FBC51D8-19DC-CF57-F520-DC53D0923461}"/>
                </a:ext>
              </a:extLst>
            </p:cNvPr>
            <p:cNvSpPr/>
            <p:nvPr/>
          </p:nvSpPr>
          <p:spPr>
            <a:xfrm>
              <a:off x="2603399" y="0"/>
              <a:ext cx="1713314" cy="1893165"/>
            </a:xfrm>
            <a:custGeom>
              <a:avLst/>
              <a:gdLst/>
              <a:ahLst/>
              <a:cxnLst/>
              <a:rect l="l" t="t" r="r" b="b"/>
              <a:pathLst>
                <a:path w="1713314" h="1893165">
                  <a:moveTo>
                    <a:pt x="0" y="0"/>
                  </a:moveTo>
                  <a:lnTo>
                    <a:pt x="1713314" y="0"/>
                  </a:lnTo>
                  <a:lnTo>
                    <a:pt x="1713314" y="1893165"/>
                  </a:lnTo>
                  <a:lnTo>
                    <a:pt x="0" y="189316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7" name="Freeform 17">
              <a:extLst>
                <a:ext uri="{FF2B5EF4-FFF2-40B4-BE49-F238E27FC236}">
                  <a16:creationId xmlns:a16="http://schemas.microsoft.com/office/drawing/2014/main" id="{B2E4D7F3-AEA6-E967-F50E-C8EA94723092}"/>
                </a:ext>
              </a:extLst>
            </p:cNvPr>
            <p:cNvSpPr/>
            <p:nvPr/>
          </p:nvSpPr>
          <p:spPr>
            <a:xfrm>
              <a:off x="5180313" y="20296"/>
              <a:ext cx="1737928" cy="1737928"/>
            </a:xfrm>
            <a:custGeom>
              <a:avLst/>
              <a:gdLst/>
              <a:ahLst/>
              <a:cxnLst/>
              <a:rect l="l" t="t" r="r" b="b"/>
              <a:pathLst>
                <a:path w="1737928" h="1737928">
                  <a:moveTo>
                    <a:pt x="0" y="0"/>
                  </a:moveTo>
                  <a:lnTo>
                    <a:pt x="1737928" y="0"/>
                  </a:lnTo>
                  <a:lnTo>
                    <a:pt x="1737928" y="1737928"/>
                  </a:lnTo>
                  <a:lnTo>
                    <a:pt x="0" y="173792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8" name="Freeform 18">
              <a:extLst>
                <a:ext uri="{FF2B5EF4-FFF2-40B4-BE49-F238E27FC236}">
                  <a16:creationId xmlns:a16="http://schemas.microsoft.com/office/drawing/2014/main" id="{80CFBEBA-C431-F36B-8437-680B74376248}"/>
                </a:ext>
              </a:extLst>
            </p:cNvPr>
            <p:cNvSpPr/>
            <p:nvPr/>
          </p:nvSpPr>
          <p:spPr>
            <a:xfrm>
              <a:off x="7781841" y="19403"/>
              <a:ext cx="1717085" cy="1738820"/>
            </a:xfrm>
            <a:custGeom>
              <a:avLst/>
              <a:gdLst/>
              <a:ahLst/>
              <a:cxnLst/>
              <a:rect l="l" t="t" r="r" b="b"/>
              <a:pathLst>
                <a:path w="1717085" h="1738820">
                  <a:moveTo>
                    <a:pt x="0" y="0"/>
                  </a:moveTo>
                  <a:lnTo>
                    <a:pt x="1717085" y="0"/>
                  </a:lnTo>
                  <a:lnTo>
                    <a:pt x="1717085" y="1738821"/>
                  </a:lnTo>
                  <a:lnTo>
                    <a:pt x="0" y="173882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sp>
        <p:nvSpPr>
          <p:cNvPr id="19" name="TextBox 19">
            <a:extLst>
              <a:ext uri="{FF2B5EF4-FFF2-40B4-BE49-F238E27FC236}">
                <a16:creationId xmlns:a16="http://schemas.microsoft.com/office/drawing/2014/main" id="{3A9286B8-8CC9-B2C0-CB1E-104E4A591BB4}"/>
              </a:ext>
            </a:extLst>
          </p:cNvPr>
          <p:cNvSpPr txBox="1"/>
          <p:nvPr/>
        </p:nvSpPr>
        <p:spPr>
          <a:xfrm>
            <a:off x="1028700" y="2187559"/>
            <a:ext cx="5364956" cy="339324"/>
          </a:xfrm>
          <a:prstGeom prst="rect">
            <a:avLst/>
          </a:prstGeom>
        </p:spPr>
        <p:txBody>
          <a:bodyPr lIns="0" tIns="0" rIns="0" bIns="0" rtlCol="0" anchor="t">
            <a:spAutoFit/>
          </a:bodyPr>
          <a:lstStyle/>
          <a:p>
            <a:pPr algn="just">
              <a:lnSpc>
                <a:spcPts val="2799"/>
              </a:lnSpc>
              <a:spcBef>
                <a:spcPct val="0"/>
              </a:spcBef>
            </a:pPr>
            <a:r>
              <a:rPr lang="en-US" sz="1950">
                <a:solidFill>
                  <a:srgbClr val="000000"/>
                </a:solidFill>
                <a:latin typeface="Poppins"/>
                <a:ea typeface="Poppins"/>
                <a:cs typeface="Poppins"/>
                <a:sym typeface="Poppins"/>
              </a:rPr>
              <a:t>Project Manager : </a:t>
            </a:r>
            <a:r>
              <a:rPr lang="en-US" sz="1950" err="1">
                <a:solidFill>
                  <a:srgbClr val="000000"/>
                </a:solidFill>
                <a:latin typeface="Poppins"/>
                <a:ea typeface="Poppins"/>
                <a:cs typeface="Poppins"/>
                <a:sym typeface="Poppins"/>
              </a:rPr>
              <a:t>Rudaw</a:t>
            </a:r>
            <a:r>
              <a:rPr lang="en-US" sz="1950">
                <a:solidFill>
                  <a:srgbClr val="000000"/>
                </a:solidFill>
                <a:latin typeface="Poppins"/>
                <a:ea typeface="Poppins"/>
                <a:cs typeface="Poppins"/>
                <a:sym typeface="Poppins"/>
              </a:rPr>
              <a:t> Abdulrahman</a:t>
            </a:r>
            <a:endParaRPr lang="en-US" sz="1950">
              <a:solidFill>
                <a:srgbClr val="000000"/>
              </a:solidFill>
              <a:latin typeface="Poppins"/>
              <a:ea typeface="Poppins"/>
              <a:cs typeface="Poppins"/>
            </a:endParaRPr>
          </a:p>
        </p:txBody>
      </p:sp>
      <p:sp>
        <p:nvSpPr>
          <p:cNvPr id="22" name="Freeform 13">
            <a:extLst>
              <a:ext uri="{FF2B5EF4-FFF2-40B4-BE49-F238E27FC236}">
                <a16:creationId xmlns:a16="http://schemas.microsoft.com/office/drawing/2014/main" id="{1F429190-8A7B-5C98-881E-D4CD955055CF}"/>
              </a:ext>
            </a:extLst>
          </p:cNvPr>
          <p:cNvSpPr/>
          <p:nvPr/>
        </p:nvSpPr>
        <p:spPr>
          <a:xfrm>
            <a:off x="16062518" y="309634"/>
            <a:ext cx="1851905" cy="870481"/>
          </a:xfrm>
          <a:custGeom>
            <a:avLst/>
            <a:gdLst/>
            <a:ahLst/>
            <a:cxnLst/>
            <a:rect l="l" t="t" r="r" b="b"/>
            <a:pathLst>
              <a:path w="1851905" h="870481">
                <a:moveTo>
                  <a:pt x="0" y="0"/>
                </a:moveTo>
                <a:lnTo>
                  <a:pt x="1851905" y="0"/>
                </a:lnTo>
                <a:lnTo>
                  <a:pt x="1851905" y="870481"/>
                </a:lnTo>
                <a:lnTo>
                  <a:pt x="0" y="870481"/>
                </a:lnTo>
                <a:lnTo>
                  <a:pt x="0" y="0"/>
                </a:lnTo>
                <a:close/>
              </a:path>
            </a:pathLst>
          </a:custGeom>
          <a:blipFill>
            <a:blip r:embed="rId7"/>
            <a:stretch>
              <a:fillRect/>
            </a:stretch>
          </a:blipFill>
        </p:spPr>
        <p:txBody>
          <a:bodyPr/>
          <a:lstStyle/>
          <a:p>
            <a:endParaRPr lang="en-US"/>
          </a:p>
        </p:txBody>
      </p:sp>
    </p:spTree>
    <p:extLst>
      <p:ext uri="{BB962C8B-B14F-4D97-AF65-F5344CB8AC3E}">
        <p14:creationId xmlns:p14="http://schemas.microsoft.com/office/powerpoint/2010/main" val="3272682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9F27A87-BFF4-6E3A-3131-9C323C6BB3BF}"/>
              </a:ext>
            </a:extLst>
          </p:cNvPr>
          <p:cNvSpPr/>
          <p:nvPr/>
        </p:nvSpPr>
        <p:spPr>
          <a:xfrm>
            <a:off x="821533" y="1462082"/>
            <a:ext cx="16626842" cy="452903"/>
          </a:xfrm>
          <a:prstGeom prst="rect">
            <a:avLst/>
          </a:prstGeom>
          <a:solidFill>
            <a:srgbClr val="00A69C"/>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mj-lt"/>
                <a:ea typeface="+mn-ea"/>
                <a:cs typeface="+mn-cs"/>
              </a:rPr>
              <a:t>Project Highlights </a:t>
            </a:r>
          </a:p>
        </p:txBody>
      </p:sp>
      <p:sp>
        <p:nvSpPr>
          <p:cNvPr id="6" name="Rectangle 5">
            <a:extLst>
              <a:ext uri="{FF2B5EF4-FFF2-40B4-BE49-F238E27FC236}">
                <a16:creationId xmlns:a16="http://schemas.microsoft.com/office/drawing/2014/main" id="{FFF9A015-9667-6107-CF49-4EE23C7A3099}"/>
              </a:ext>
            </a:extLst>
          </p:cNvPr>
          <p:cNvSpPr/>
          <p:nvPr/>
        </p:nvSpPr>
        <p:spPr bwMode="auto">
          <a:xfrm>
            <a:off x="15836117" y="2117372"/>
            <a:ext cx="1612257" cy="405768"/>
          </a:xfrm>
          <a:prstGeom prst="rect">
            <a:avLst/>
          </a:prstGeom>
          <a:solidFill>
            <a:srgbClr val="00A69C"/>
          </a:solid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anose="020B0604020202020204" pitchFamily="34" charset="0"/>
              </a:rPr>
              <a:t>Current Period</a:t>
            </a:r>
          </a:p>
        </p:txBody>
      </p:sp>
      <p:sp>
        <p:nvSpPr>
          <p:cNvPr id="7" name="Rectangle 6">
            <a:extLst>
              <a:ext uri="{FF2B5EF4-FFF2-40B4-BE49-F238E27FC236}">
                <a16:creationId xmlns:a16="http://schemas.microsoft.com/office/drawing/2014/main" id="{25C97EF0-D5AC-468B-C3B0-48F580CFBD72}"/>
              </a:ext>
            </a:extLst>
          </p:cNvPr>
          <p:cNvSpPr/>
          <p:nvPr/>
        </p:nvSpPr>
        <p:spPr bwMode="auto">
          <a:xfrm>
            <a:off x="14111579" y="2117372"/>
            <a:ext cx="1620000" cy="405768"/>
          </a:xfrm>
          <a:prstGeom prst="rect">
            <a:avLst/>
          </a:prstGeom>
          <a:solidFill>
            <a:srgbClr val="00A69C"/>
          </a:solid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anose="020B0604020202020204" pitchFamily="34" charset="0"/>
              </a:rPr>
              <a:t>Previous Period</a:t>
            </a:r>
          </a:p>
        </p:txBody>
      </p:sp>
      <p:sp>
        <p:nvSpPr>
          <p:cNvPr id="8" name="Rectangle 7">
            <a:extLst>
              <a:ext uri="{FF2B5EF4-FFF2-40B4-BE49-F238E27FC236}">
                <a16:creationId xmlns:a16="http://schemas.microsoft.com/office/drawing/2014/main" id="{4B1EF77C-0B95-798A-9ABD-F78AF625059A}"/>
              </a:ext>
            </a:extLst>
          </p:cNvPr>
          <p:cNvSpPr/>
          <p:nvPr/>
        </p:nvSpPr>
        <p:spPr bwMode="auto">
          <a:xfrm>
            <a:off x="14108565" y="2521505"/>
            <a:ext cx="1612257" cy="533898"/>
          </a:xfrm>
          <a:prstGeom prst="rect">
            <a:avLst/>
          </a:prstGeom>
          <a:solidFill>
            <a:schemeClr val="bg1">
              <a:lumMod val="95000"/>
            </a:schemeClr>
          </a:solidFill>
          <a:ln w="9525" cap="flat" cmpd="sng" algn="ctr">
            <a:solidFill>
              <a:srgbClr val="FFCCCC"/>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defTabSz="1564584">
              <a:defRPr/>
            </a:pPr>
            <a:r>
              <a:rPr lang="en-US" sz="1500" b="1" kern="0">
                <a:solidFill>
                  <a:prstClr val="black"/>
                </a:solidFill>
                <a:latin typeface="+mj-lt"/>
                <a:cs typeface="Arial" panose="020B0604020202020204" pitchFamily="34" charset="0"/>
              </a:rPr>
              <a:t>On Track</a:t>
            </a:r>
            <a:endParaRPr lang="en-GB" sz="1500" b="1" kern="0">
              <a:solidFill>
                <a:prstClr val="black"/>
              </a:solidFill>
              <a:latin typeface="+mj-lt"/>
              <a:cs typeface="Arial" panose="020B0604020202020204" pitchFamily="34" charset="0"/>
            </a:endParaRPr>
          </a:p>
        </p:txBody>
      </p:sp>
      <p:sp>
        <p:nvSpPr>
          <p:cNvPr id="9" name="Rectangle 8">
            <a:extLst>
              <a:ext uri="{FF2B5EF4-FFF2-40B4-BE49-F238E27FC236}">
                <a16:creationId xmlns:a16="http://schemas.microsoft.com/office/drawing/2014/main" id="{A9806F55-7630-1F31-20D0-DD270CC3447C}"/>
              </a:ext>
            </a:extLst>
          </p:cNvPr>
          <p:cNvSpPr/>
          <p:nvPr/>
        </p:nvSpPr>
        <p:spPr bwMode="auto">
          <a:xfrm>
            <a:off x="6039238" y="2117372"/>
            <a:ext cx="7831655" cy="1860867"/>
          </a:xfrm>
          <a:prstGeom prst="rect">
            <a:avLst/>
          </a:prstGeom>
          <a:no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t"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lang="en-US" sz="1400" b="1"/>
              <a:t>Project Status Update:</a:t>
            </a:r>
            <a:endParaRPr lang="en-US">
              <a:solidFill>
                <a:srgbClr val="000000"/>
              </a:solidFill>
              <a:ea typeface="+mn-lt"/>
              <a:cs typeface="+mn-lt"/>
            </a:endParaRPr>
          </a:p>
          <a:p>
            <a:pPr marL="285750" indent="-285750">
              <a:buFont typeface="Arial"/>
              <a:buChar char="•"/>
            </a:pPr>
            <a:r>
              <a:rPr lang="en-GB" sz="1400" dirty="0">
                <a:solidFill>
                  <a:srgbClr val="0F1115"/>
                </a:solidFill>
                <a:highlight>
                  <a:srgbClr val="FFFFFF"/>
                </a:highlight>
                <a:ea typeface="+mn-lt"/>
                <a:cs typeface="+mn-lt"/>
              </a:rPr>
              <a:t>The contact </a:t>
            </a:r>
            <a:r>
              <a:rPr lang="en-GB" sz="1400" dirty="0" err="1">
                <a:solidFill>
                  <a:srgbClr val="0F1115"/>
                </a:solidFill>
                <a:highlight>
                  <a:srgbClr val="FFFFFF"/>
                </a:highlight>
                <a:ea typeface="+mn-lt"/>
                <a:cs typeface="+mn-lt"/>
              </a:rPr>
              <a:t>center</a:t>
            </a:r>
            <a:r>
              <a:rPr lang="en-GB" sz="1400" dirty="0">
                <a:solidFill>
                  <a:srgbClr val="0F1115"/>
                </a:solidFill>
                <a:highlight>
                  <a:srgbClr val="FFFFFF"/>
                </a:highlight>
                <a:ea typeface="+mn-lt"/>
                <a:cs typeface="+mn-lt"/>
              </a:rPr>
              <a:t> successfully live.</a:t>
            </a:r>
            <a:endParaRPr lang="en-US" sz="1400" dirty="0">
              <a:solidFill>
                <a:srgbClr val="000000"/>
              </a:solidFill>
              <a:ea typeface="+mn-lt"/>
              <a:cs typeface="+mn-lt"/>
            </a:endParaRPr>
          </a:p>
          <a:p>
            <a:pPr marL="285750" indent="-285750">
              <a:buFont typeface="Arial"/>
              <a:buChar char="•"/>
            </a:pPr>
            <a:r>
              <a:rPr lang="en-GB" sz="1400" dirty="0" err="1">
                <a:solidFill>
                  <a:srgbClr val="0F1115"/>
                </a:solidFill>
                <a:highlight>
                  <a:srgbClr val="FFFFFF"/>
                </a:highlight>
                <a:ea typeface="+mn-lt"/>
                <a:cs typeface="+mn-lt"/>
              </a:rPr>
              <a:t>Eleveo</a:t>
            </a:r>
            <a:r>
              <a:rPr lang="en-GB" sz="1400" dirty="0">
                <a:solidFill>
                  <a:srgbClr val="0F1115"/>
                </a:solidFill>
                <a:highlight>
                  <a:srgbClr val="FFFFFF"/>
                </a:highlight>
                <a:ea typeface="+mn-lt"/>
                <a:cs typeface="+mn-lt"/>
              </a:rPr>
              <a:t> installed — recorded audio is accessible.</a:t>
            </a:r>
            <a:endParaRPr lang="en-GB" sz="1400" dirty="0">
              <a:ea typeface="Calibri"/>
              <a:cs typeface="Calibri"/>
            </a:endParaRPr>
          </a:p>
          <a:p>
            <a:pPr marL="285750" indent="-285750">
              <a:buFont typeface="Arial"/>
              <a:buChar char="•"/>
            </a:pPr>
            <a:r>
              <a:rPr lang="en-GB" sz="1400" b="1" dirty="0">
                <a:solidFill>
                  <a:schemeClr val="bg1"/>
                </a:solidFill>
                <a:highlight>
                  <a:srgbClr val="00A69C"/>
                </a:highlight>
                <a:ea typeface="+mn-lt"/>
                <a:cs typeface="+mn-lt"/>
              </a:rPr>
              <a:t>this week done</a:t>
            </a:r>
            <a:r>
              <a:rPr lang="en-GB" sz="1400" dirty="0">
                <a:solidFill>
                  <a:schemeClr val="bg1"/>
                </a:solidFill>
                <a:highlight>
                  <a:srgbClr val="00A69C"/>
                </a:highlight>
                <a:ea typeface="+mn-lt"/>
                <a:cs typeface="+mn-lt"/>
              </a:rPr>
              <a:t> on tra</a:t>
            </a:r>
            <a:r>
              <a:rPr lang="en-GB" sz="1400">
                <a:solidFill>
                  <a:schemeClr val="bg1"/>
                </a:solidFill>
                <a:highlight>
                  <a:srgbClr val="00A69C"/>
                </a:highlight>
                <a:ea typeface="+mn-lt"/>
                <a:cs typeface="+mn-lt"/>
              </a:rPr>
              <a:t>ck not updates</a:t>
            </a:r>
            <a:endParaRPr lang="en-GB" sz="1400">
              <a:solidFill>
                <a:schemeClr val="bg1"/>
              </a:solidFill>
              <a:highlight>
                <a:srgbClr val="00A69C"/>
              </a:highlight>
              <a:ea typeface="Calibri"/>
              <a:cs typeface="Calibri"/>
            </a:endParaRPr>
          </a:p>
        </p:txBody>
      </p:sp>
      <p:sp>
        <p:nvSpPr>
          <p:cNvPr id="10" name="Rectangle 9">
            <a:extLst>
              <a:ext uri="{FF2B5EF4-FFF2-40B4-BE49-F238E27FC236}">
                <a16:creationId xmlns:a16="http://schemas.microsoft.com/office/drawing/2014/main" id="{174D5B1D-3312-65F5-9FE7-106DB8418CC5}"/>
              </a:ext>
            </a:extLst>
          </p:cNvPr>
          <p:cNvSpPr/>
          <p:nvPr/>
        </p:nvSpPr>
        <p:spPr>
          <a:xfrm>
            <a:off x="821533" y="5756321"/>
            <a:ext cx="16626842" cy="452903"/>
          </a:xfrm>
          <a:prstGeom prst="rect">
            <a:avLst/>
          </a:prstGeom>
          <a:solidFill>
            <a:srgbClr val="00A69C"/>
          </a:solidFill>
          <a:ln w="952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mj-lt"/>
                <a:ea typeface="+mn-ea"/>
                <a:cs typeface="+mn-cs"/>
              </a:rPr>
              <a:t>Key Risks, Issues &amp; Decisions</a:t>
            </a:r>
          </a:p>
        </p:txBody>
      </p:sp>
      <p:graphicFrame>
        <p:nvGraphicFramePr>
          <p:cNvPr id="11" name="Table 6">
            <a:extLst>
              <a:ext uri="{FF2B5EF4-FFF2-40B4-BE49-F238E27FC236}">
                <a16:creationId xmlns:a16="http://schemas.microsoft.com/office/drawing/2014/main" id="{71999678-AD36-FBF4-6B92-07CC486F9E18}"/>
              </a:ext>
            </a:extLst>
          </p:cNvPr>
          <p:cNvGraphicFramePr>
            <a:graphicFrameLocks noGrp="1"/>
          </p:cNvGraphicFramePr>
          <p:nvPr>
            <p:extLst>
              <p:ext uri="{D42A27DB-BD31-4B8C-83A1-F6EECF244321}">
                <p14:modId xmlns:p14="http://schemas.microsoft.com/office/powerpoint/2010/main" val="1795385311"/>
              </p:ext>
            </p:extLst>
          </p:nvPr>
        </p:nvGraphicFramePr>
        <p:xfrm>
          <a:off x="832104" y="6499601"/>
          <a:ext cx="16626847" cy="2255520"/>
        </p:xfrm>
        <a:graphic>
          <a:graphicData uri="http://schemas.openxmlformats.org/drawingml/2006/table">
            <a:tbl>
              <a:tblPr firstRow="1" bandRow="1">
                <a:tableStyleId>{5C22544A-7EE6-4342-B048-85BDC9FD1C3A}</a:tableStyleId>
              </a:tblPr>
              <a:tblGrid>
                <a:gridCol w="1978329">
                  <a:extLst>
                    <a:ext uri="{9D8B030D-6E8A-4147-A177-3AD203B41FA5}">
                      <a16:colId xmlns:a16="http://schemas.microsoft.com/office/drawing/2014/main" val="1940594143"/>
                    </a:ext>
                  </a:extLst>
                </a:gridCol>
                <a:gridCol w="6785486">
                  <a:extLst>
                    <a:ext uri="{9D8B030D-6E8A-4147-A177-3AD203B41FA5}">
                      <a16:colId xmlns:a16="http://schemas.microsoft.com/office/drawing/2014/main" val="273235595"/>
                    </a:ext>
                  </a:extLst>
                </a:gridCol>
                <a:gridCol w="2301858">
                  <a:extLst>
                    <a:ext uri="{9D8B030D-6E8A-4147-A177-3AD203B41FA5}">
                      <a16:colId xmlns:a16="http://schemas.microsoft.com/office/drawing/2014/main" val="1034871609"/>
                    </a:ext>
                  </a:extLst>
                </a:gridCol>
                <a:gridCol w="2237015">
                  <a:extLst>
                    <a:ext uri="{9D8B030D-6E8A-4147-A177-3AD203B41FA5}">
                      <a16:colId xmlns:a16="http://schemas.microsoft.com/office/drawing/2014/main" val="1556653191"/>
                    </a:ext>
                  </a:extLst>
                </a:gridCol>
                <a:gridCol w="3324159">
                  <a:extLst>
                    <a:ext uri="{9D8B030D-6E8A-4147-A177-3AD203B41FA5}">
                      <a16:colId xmlns:a16="http://schemas.microsoft.com/office/drawing/2014/main" val="666502604"/>
                    </a:ext>
                  </a:extLst>
                </a:gridCol>
              </a:tblGrid>
              <a:tr h="411480">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panose="020B0604020202020204" pitchFamily="34" charset="0"/>
                        </a:rPr>
                        <a:t>Area</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panose="020B0604020202020204" pitchFamily="34" charset="0"/>
                        </a:rPr>
                        <a:t>Item</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panose="020B0604020202020204" pitchFamily="34" charset="0"/>
                        </a:rPr>
                        <a:t>Status</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panose="020B0604020202020204" pitchFamily="34" charset="0"/>
                        </a:rPr>
                        <a:t>Due Date</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panose="020B0604020202020204" pitchFamily="34" charset="0"/>
                        </a:rPr>
                        <a:t>Owner</a:t>
                      </a:r>
                    </a:p>
                  </a:txBody>
                  <a:tcPr marL="137160" marR="137160" marT="68580" marB="6858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9013299"/>
                  </a:ext>
                </a:extLst>
              </a:tr>
              <a:tr h="377190">
                <a:tc>
                  <a:txBody>
                    <a:bodyPr/>
                    <a:lstStyle/>
                    <a:p>
                      <a:r>
                        <a:rPr kumimoji="0" lang="en-US" sz="1600" b="1" i="0" u="none" strike="noStrike" kern="1200" cap="none" spc="0" normalizeH="0" baseline="0">
                          <a:ln>
                            <a:noFill/>
                          </a:ln>
                          <a:solidFill>
                            <a:srgbClr val="000000"/>
                          </a:solidFill>
                          <a:effectLst/>
                          <a:uLnTx/>
                          <a:uFillTx/>
                          <a:latin typeface="+mn-lt"/>
                          <a:ea typeface="+mn-ea"/>
                          <a:cs typeface="Arial" panose="020B0604020202020204" pitchFamily="34" charset="0"/>
                        </a:rPr>
                        <a:t>Risks</a:t>
                      </a:r>
                    </a:p>
                  </a:txBody>
                  <a:tcPr marL="137160" marR="137160" marT="68580" marB="6858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74320" indent="0" algn="l" rtl="0" eaLnBrk="1" latinLnBrk="0" hangingPunct="1">
                        <a:buClr>
                          <a:srgbClr val="002060"/>
                        </a:buClr>
                        <a:buSzPct val="150000"/>
                        <a:buFontTx/>
                        <a:buNone/>
                      </a:pPr>
                      <a:endParaRPr lang="en-US" sz="1800" b="0" i="0" kern="1200">
                        <a:solidFill>
                          <a:schemeClr val="dk1"/>
                        </a:solidFill>
                        <a:effectLst/>
                        <a:latin typeface="+mn-lt"/>
                        <a:ea typeface="+mn-ea"/>
                        <a:cs typeface="+mn-cs"/>
                      </a:endParaRPr>
                    </a:p>
                  </a:txBody>
                  <a:tcPr marL="137160" marR="137160" marT="68580" marB="68580" anchor="ctr">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2060"/>
                        </a:buClr>
                        <a:buSzPct val="150000"/>
                        <a:buFontTx/>
                        <a:buNone/>
                        <a:tabLst/>
                        <a:defRPr/>
                      </a:pPr>
                      <a:endParaRPr lang="en-US" sz="1500" b="0" kern="1200">
                        <a:solidFill>
                          <a:srgbClr val="000000"/>
                        </a:solidFill>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500" b="0" kern="1200">
                        <a:solidFill>
                          <a:srgbClr val="000000"/>
                        </a:solidFill>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500" b="0" kern="1200">
                        <a:solidFill>
                          <a:srgbClr val="000000"/>
                        </a:solidFill>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7621933"/>
                  </a:ext>
                </a:extLst>
              </a:tr>
              <a:tr h="377190">
                <a:tc>
                  <a:txBody>
                    <a:bodyPr/>
                    <a:lstStyle/>
                    <a:p>
                      <a:r>
                        <a:rPr kumimoji="0" lang="en-US" sz="1600" b="1" i="0" u="none" strike="noStrike" kern="1200" cap="none" spc="0" normalizeH="0" baseline="0">
                          <a:ln>
                            <a:noFill/>
                          </a:ln>
                          <a:solidFill>
                            <a:srgbClr val="000000"/>
                          </a:solidFill>
                          <a:effectLst/>
                          <a:uLnTx/>
                          <a:uFillTx/>
                          <a:latin typeface="+mn-lt"/>
                          <a:ea typeface="+mn-ea"/>
                          <a:cs typeface="Arial" panose="020B0604020202020204" pitchFamily="34" charset="0"/>
                        </a:rPr>
                        <a:t>Issues</a:t>
                      </a:r>
                    </a:p>
                  </a:txBody>
                  <a:tcPr marL="137160" marR="137160" marT="68580" marB="6858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endParaRPr lang="en-US" sz="1500" strike="noStrike"/>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2060"/>
                        </a:buClr>
                        <a:buSzPct val="150000"/>
                        <a:buFontTx/>
                        <a:buNone/>
                        <a:tabLst/>
                        <a:defRPr/>
                      </a:pPr>
                      <a:endParaRPr lang="en-US" sz="1500" b="0" strike="noStrike" kern="1200">
                        <a:solidFill>
                          <a:srgbClr val="000000"/>
                        </a:solidFill>
                        <a:latin typeface="+mn-lt"/>
                        <a:ea typeface="+mn-ea"/>
                        <a:cs typeface="Arial" panose="020B0604020202020204" pitchFamily="34" charset="0"/>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500" b="0" strike="noStrike" kern="1200">
                        <a:solidFill>
                          <a:srgbClr val="000000"/>
                        </a:solidFill>
                        <a:latin typeface="+mn-lt"/>
                        <a:ea typeface="+mn-ea"/>
                        <a:cs typeface="Arial" panose="020B0604020202020204" pitchFamily="34" charset="0"/>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500" b="0" strike="noStrike" kern="1200">
                          <a:solidFill>
                            <a:srgbClr val="000000"/>
                          </a:solidFill>
                          <a:latin typeface="+mn-lt"/>
                          <a:ea typeface="+mn-ea"/>
                          <a:cs typeface="Arial"/>
                        </a:rPr>
                        <a:t> </a:t>
                      </a:r>
                    </a:p>
                  </a:txBody>
                  <a:tcPr marL="137160" marR="137160" marT="68580" marB="6858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74165115"/>
                  </a:ext>
                </a:extLst>
              </a:tr>
              <a:tr h="1051560">
                <a:tc>
                  <a:txBody>
                    <a:bodyPr/>
                    <a:lstStyle/>
                    <a:p>
                      <a:pPr marL="0" indent="0">
                        <a:buClr>
                          <a:srgbClr val="002060"/>
                        </a:buClr>
                        <a:buSzPct val="150000"/>
                        <a:buFontTx/>
                        <a:buNone/>
                      </a:pPr>
                      <a:r>
                        <a:rPr kumimoji="0" lang="en-US" sz="1600" b="1" i="0" u="none" strike="noStrike" kern="1200" cap="none" spc="0" normalizeH="0" baseline="0">
                          <a:ln>
                            <a:noFill/>
                          </a:ln>
                          <a:solidFill>
                            <a:srgbClr val="000000"/>
                          </a:solidFill>
                          <a:effectLst/>
                          <a:uLnTx/>
                          <a:uFillTx/>
                          <a:latin typeface="+mn-lt"/>
                          <a:ea typeface="+mn-ea"/>
                          <a:cs typeface="Arial" panose="020B0604020202020204" pitchFamily="34" charset="0"/>
                        </a:rPr>
                        <a:t>Decisions</a:t>
                      </a:r>
                      <a:endParaRPr kumimoji="0" lang="en-US" sz="1600" b="1" i="0" u="none" strike="noStrike" kern="1200" cap="none" spc="0" normalizeH="0" baseline="0">
                        <a:ln>
                          <a:noFill/>
                        </a:ln>
                        <a:solidFill>
                          <a:srgbClr val="000000"/>
                        </a:solidFill>
                        <a:effectLst/>
                        <a:uLnTx/>
                        <a:uFillTx/>
                        <a:latin typeface="Arial"/>
                        <a:ea typeface="+mn-ea"/>
                        <a:cs typeface="Arial" panose="020B0604020202020204" pitchFamily="34" charset="0"/>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74320" marR="0" lvl="0" indent="0" algn="l" defTabSz="914400" rtl="0" eaLnBrk="1" fontAlgn="auto" latinLnBrk="0" hangingPunct="1">
                        <a:lnSpc>
                          <a:spcPct val="100000"/>
                        </a:lnSpc>
                        <a:spcBef>
                          <a:spcPts val="0"/>
                        </a:spcBef>
                        <a:spcAft>
                          <a:spcPts val="0"/>
                        </a:spcAft>
                        <a:buClr>
                          <a:srgbClr val="002060"/>
                        </a:buClr>
                        <a:buSzPct val="150000"/>
                        <a:buFontTx/>
                        <a:buNone/>
                        <a:tabLst/>
                        <a:defRPr/>
                      </a:pPr>
                      <a:endParaRPr lang="en-US" sz="1500" b="0" kern="1200">
                        <a:solidFill>
                          <a:srgbClr val="000000"/>
                        </a:solidFill>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2060"/>
                        </a:buClr>
                        <a:buSzPct val="150000"/>
                        <a:buFontTx/>
                        <a:buNone/>
                        <a:tabLst/>
                        <a:defRPr/>
                      </a:pPr>
                      <a:endParaRPr lang="en-US" sz="1500" b="0" kern="1200">
                        <a:solidFill>
                          <a:srgbClr val="000000"/>
                        </a:solidFill>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500" b="0" kern="1200">
                        <a:solidFill>
                          <a:srgbClr val="000000"/>
                        </a:solidFill>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500" b="0" kern="1200">
                        <a:solidFill>
                          <a:srgbClr val="000000"/>
                        </a:solidFill>
                        <a:latin typeface="+mn-lt"/>
                        <a:ea typeface="+mn-ea"/>
                        <a:cs typeface="Arial" panose="020B0604020202020204" pitchFamily="34" charset="0"/>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8196877"/>
                  </a:ext>
                </a:extLst>
              </a:tr>
            </a:tbl>
          </a:graphicData>
        </a:graphic>
      </p:graphicFrame>
      <p:grpSp>
        <p:nvGrpSpPr>
          <p:cNvPr id="12" name="Group 11">
            <a:extLst>
              <a:ext uri="{FF2B5EF4-FFF2-40B4-BE49-F238E27FC236}">
                <a16:creationId xmlns:a16="http://schemas.microsoft.com/office/drawing/2014/main" id="{00EB5301-6318-24C0-AD4E-9DA80DCE224A}"/>
              </a:ext>
            </a:extLst>
          </p:cNvPr>
          <p:cNvGrpSpPr/>
          <p:nvPr/>
        </p:nvGrpSpPr>
        <p:grpSpPr>
          <a:xfrm>
            <a:off x="860944" y="2053329"/>
            <a:ext cx="5041568" cy="1202997"/>
            <a:chOff x="567987" y="1398301"/>
            <a:chExt cx="3361045" cy="801998"/>
          </a:xfrm>
          <a:solidFill>
            <a:srgbClr val="00A69C"/>
          </a:solidFill>
        </p:grpSpPr>
        <p:sp>
          <p:nvSpPr>
            <p:cNvPr id="13" name="Rectangle 12">
              <a:extLst>
                <a:ext uri="{FF2B5EF4-FFF2-40B4-BE49-F238E27FC236}">
                  <a16:creationId xmlns:a16="http://schemas.microsoft.com/office/drawing/2014/main" id="{827A436F-A227-FB1A-A329-19AB532BF04A}"/>
                </a:ext>
              </a:extLst>
            </p:cNvPr>
            <p:cNvSpPr/>
            <p:nvPr/>
          </p:nvSpPr>
          <p:spPr bwMode="auto">
            <a:xfrm>
              <a:off x="567987" y="1398301"/>
              <a:ext cx="1440000" cy="256198"/>
            </a:xfrm>
            <a:prstGeom prst="rect">
              <a:avLst/>
            </a:prstGeom>
            <a:grp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itchFamily="34" charset="0"/>
                </a:rPr>
                <a:t>Reporting Period</a:t>
              </a:r>
            </a:p>
          </p:txBody>
        </p:sp>
        <p:sp>
          <p:nvSpPr>
            <p:cNvPr id="14" name="Rectangle 13">
              <a:extLst>
                <a:ext uri="{FF2B5EF4-FFF2-40B4-BE49-F238E27FC236}">
                  <a16:creationId xmlns:a16="http://schemas.microsoft.com/office/drawing/2014/main" id="{22667EB6-4192-EAF0-C8C2-A7F071648848}"/>
                </a:ext>
              </a:extLst>
            </p:cNvPr>
            <p:cNvSpPr/>
            <p:nvPr/>
          </p:nvSpPr>
          <p:spPr bwMode="auto">
            <a:xfrm>
              <a:off x="2127836" y="1398301"/>
              <a:ext cx="1800000" cy="256198"/>
            </a:xfrm>
            <a:prstGeom prst="rect">
              <a:avLst/>
            </a:prstGeom>
            <a:grp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GB" sz="1500" kern="0">
                  <a:solidFill>
                    <a:srgbClr val="000000"/>
                  </a:solidFill>
                  <a:ea typeface="+mn-lt"/>
                  <a:cs typeface="+mn-lt"/>
                </a:rPr>
                <a:t>June 19th, 2026</a:t>
              </a:r>
              <a:endParaRPr lang="en-US"/>
            </a:p>
          </p:txBody>
        </p:sp>
        <p:sp>
          <p:nvSpPr>
            <p:cNvPr id="16" name="Rectangle 15">
              <a:extLst>
                <a:ext uri="{FF2B5EF4-FFF2-40B4-BE49-F238E27FC236}">
                  <a16:creationId xmlns:a16="http://schemas.microsoft.com/office/drawing/2014/main" id="{C53C94DB-DD70-A78D-013A-AD03CC0386A0}"/>
                </a:ext>
              </a:extLst>
            </p:cNvPr>
            <p:cNvSpPr/>
            <p:nvPr/>
          </p:nvSpPr>
          <p:spPr bwMode="auto">
            <a:xfrm>
              <a:off x="570971" y="1682431"/>
              <a:ext cx="1440000" cy="238706"/>
            </a:xfrm>
            <a:prstGeom prst="rect">
              <a:avLst/>
            </a:prstGeom>
            <a:grp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defTabSz="1564584" eaLnBrk="1" fontAlgn="auto" latinLnBrk="0" hangingPunct="1">
                <a:lnSpc>
                  <a:spcPct val="100000"/>
                </a:lnSpc>
                <a:spcBef>
                  <a:spcPts val="0"/>
                </a:spcBef>
                <a:spcAft>
                  <a:spcPts val="0"/>
                </a:spcAft>
                <a:buClrTx/>
                <a:buSzTx/>
                <a:buFontTx/>
                <a:buNone/>
                <a:tabLst/>
                <a:defRPr/>
              </a:pPr>
              <a:r>
                <a:rPr lang="en-GB" sz="1500" b="1" kern="0">
                  <a:solidFill>
                    <a:schemeClr val="bg1"/>
                  </a:solidFill>
                  <a:latin typeface="+mj-lt"/>
                  <a:cs typeface="Arial" pitchFamily="34" charset="0"/>
                </a:rPr>
                <a:t>Business</a:t>
              </a:r>
              <a:r>
                <a:rPr kumimoji="0" lang="en-GB" sz="1500" b="1" i="0" u="none" strike="noStrike" kern="0" cap="none" spc="0" normalizeH="0" baseline="0" noProof="0">
                  <a:ln>
                    <a:noFill/>
                  </a:ln>
                  <a:solidFill>
                    <a:schemeClr val="bg1"/>
                  </a:solidFill>
                  <a:effectLst/>
                  <a:uLnTx/>
                  <a:uFillTx/>
                  <a:latin typeface="+mj-lt"/>
                  <a:cs typeface="Arial" pitchFamily="34" charset="0"/>
                </a:rPr>
                <a:t> Owner</a:t>
              </a:r>
            </a:p>
          </p:txBody>
        </p:sp>
        <p:sp>
          <p:nvSpPr>
            <p:cNvPr id="17" name="Rectangle 16">
              <a:extLst>
                <a:ext uri="{FF2B5EF4-FFF2-40B4-BE49-F238E27FC236}">
                  <a16:creationId xmlns:a16="http://schemas.microsoft.com/office/drawing/2014/main" id="{557DA873-3C0F-5807-2BA3-9848BD560C0E}"/>
                </a:ext>
              </a:extLst>
            </p:cNvPr>
            <p:cNvSpPr/>
            <p:nvPr/>
          </p:nvSpPr>
          <p:spPr bwMode="auto">
            <a:xfrm>
              <a:off x="2130820" y="1682431"/>
              <a:ext cx="1798212" cy="214907"/>
            </a:xfrm>
            <a:prstGeom prst="rect">
              <a:avLst/>
            </a:prstGeom>
            <a:grp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US" sz="1400" b="1">
                  <a:solidFill>
                    <a:srgbClr val="252424"/>
                  </a:solidFill>
                  <a:latin typeface="Segoe UI"/>
                  <a:ea typeface="Calibri"/>
                  <a:cs typeface="Segoe UI"/>
                </a:rPr>
                <a:t>Jalal </a:t>
              </a:r>
              <a:r>
                <a:rPr lang="en-US" sz="1400" b="1" err="1">
                  <a:solidFill>
                    <a:srgbClr val="252424"/>
                  </a:solidFill>
                  <a:latin typeface="Segoe UI"/>
                  <a:ea typeface="Calibri"/>
                  <a:cs typeface="Segoe UI"/>
                </a:rPr>
                <a:t>Burghol</a:t>
              </a:r>
              <a:endParaRPr lang="en-US" sz="1400" err="1">
                <a:ea typeface="Calibri"/>
                <a:cs typeface="Calibri"/>
              </a:endParaRPr>
            </a:p>
          </p:txBody>
        </p:sp>
        <p:sp>
          <p:nvSpPr>
            <p:cNvPr id="18" name="Rectangle 17">
              <a:extLst>
                <a:ext uri="{FF2B5EF4-FFF2-40B4-BE49-F238E27FC236}">
                  <a16:creationId xmlns:a16="http://schemas.microsoft.com/office/drawing/2014/main" id="{3B51FC78-C3ED-D2F9-CE4D-04468FB86A90}"/>
                </a:ext>
              </a:extLst>
            </p:cNvPr>
            <p:cNvSpPr/>
            <p:nvPr/>
          </p:nvSpPr>
          <p:spPr bwMode="auto">
            <a:xfrm>
              <a:off x="567987" y="1944101"/>
              <a:ext cx="1440000" cy="256198"/>
            </a:xfrm>
            <a:prstGeom prst="rect">
              <a:avLst/>
            </a:prstGeom>
            <a:grp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itchFamily="34" charset="0"/>
                </a:rPr>
                <a:t>Project Manager</a:t>
              </a:r>
            </a:p>
          </p:txBody>
        </p:sp>
        <p:sp>
          <p:nvSpPr>
            <p:cNvPr id="19" name="Rectangle 18">
              <a:extLst>
                <a:ext uri="{FF2B5EF4-FFF2-40B4-BE49-F238E27FC236}">
                  <a16:creationId xmlns:a16="http://schemas.microsoft.com/office/drawing/2014/main" id="{9442381F-D0C0-5A78-786C-D3E61A7B64A8}"/>
                </a:ext>
              </a:extLst>
            </p:cNvPr>
            <p:cNvSpPr/>
            <p:nvPr/>
          </p:nvSpPr>
          <p:spPr bwMode="auto">
            <a:xfrm>
              <a:off x="2127836" y="1944101"/>
              <a:ext cx="1800000" cy="256198"/>
            </a:xfrm>
            <a:prstGeom prst="rect">
              <a:avLst/>
            </a:prstGeom>
            <a:grp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GB" sz="1500" kern="0" err="1">
                  <a:latin typeface="+mj-lt"/>
                  <a:cs typeface="Arial"/>
                </a:rPr>
                <a:t>Rudaw</a:t>
              </a:r>
              <a:r>
                <a:rPr lang="en-GB" sz="1500" kern="0">
                  <a:latin typeface="+mj-lt"/>
                  <a:cs typeface="Arial"/>
                </a:rPr>
                <a:t> </a:t>
              </a:r>
              <a:r>
                <a:rPr lang="en-GB" sz="1500" kern="0" err="1">
                  <a:latin typeface="+mj-lt"/>
                  <a:cs typeface="Arial"/>
                </a:rPr>
                <a:t>Abdulrahman</a:t>
              </a:r>
              <a:endParaRPr lang="en-GB" sz="1500" kern="0">
                <a:latin typeface="+mj-lt"/>
                <a:cs typeface="Arial" pitchFamily="34" charset="0"/>
              </a:endParaRPr>
            </a:p>
          </p:txBody>
        </p:sp>
      </p:grpSp>
      <p:grpSp>
        <p:nvGrpSpPr>
          <p:cNvPr id="20" name="Group 19">
            <a:extLst>
              <a:ext uri="{FF2B5EF4-FFF2-40B4-BE49-F238E27FC236}">
                <a16:creationId xmlns:a16="http://schemas.microsoft.com/office/drawing/2014/main" id="{E3470747-D782-2229-5AC0-9F9AF52524FC}"/>
              </a:ext>
            </a:extLst>
          </p:cNvPr>
          <p:cNvGrpSpPr/>
          <p:nvPr/>
        </p:nvGrpSpPr>
        <p:grpSpPr>
          <a:xfrm>
            <a:off x="801213" y="4165479"/>
            <a:ext cx="16626841" cy="1275036"/>
            <a:chOff x="534142" y="2284797"/>
            <a:chExt cx="8446120" cy="1367263"/>
          </a:xfrm>
        </p:grpSpPr>
        <p:sp>
          <p:nvSpPr>
            <p:cNvPr id="21" name="Rectangle 20">
              <a:extLst>
                <a:ext uri="{FF2B5EF4-FFF2-40B4-BE49-F238E27FC236}">
                  <a16:creationId xmlns:a16="http://schemas.microsoft.com/office/drawing/2014/main" id="{58BB61F0-268A-78AC-7B68-1DD4E50866D1}"/>
                </a:ext>
              </a:extLst>
            </p:cNvPr>
            <p:cNvSpPr/>
            <p:nvPr/>
          </p:nvSpPr>
          <p:spPr bwMode="auto">
            <a:xfrm>
              <a:off x="554704" y="2954084"/>
              <a:ext cx="8425558" cy="277524"/>
            </a:xfrm>
            <a:prstGeom prst="rect">
              <a:avLst/>
            </a:prstGeom>
            <a:solidFill>
              <a:srgbClr val="002060"/>
            </a:solid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GB" sz="2000" b="1" kern="0">
                  <a:solidFill>
                    <a:schemeClr val="bg1"/>
                  </a:solidFill>
                  <a:latin typeface="+mj-lt"/>
                  <a:cs typeface="Arial" panose="020B0604020202020204" pitchFamily="34" charset="0"/>
                </a:rPr>
                <a:t>Key Risks, Issues, &amp; Decisions </a:t>
              </a:r>
            </a:p>
          </p:txBody>
        </p:sp>
        <p:sp>
          <p:nvSpPr>
            <p:cNvPr id="22" name="Rectangle 21">
              <a:extLst>
                <a:ext uri="{FF2B5EF4-FFF2-40B4-BE49-F238E27FC236}">
                  <a16:creationId xmlns:a16="http://schemas.microsoft.com/office/drawing/2014/main" id="{0C523756-FB6D-A864-D89D-61765AFBB861}"/>
                </a:ext>
              </a:extLst>
            </p:cNvPr>
            <p:cNvSpPr/>
            <p:nvPr/>
          </p:nvSpPr>
          <p:spPr bwMode="gray">
            <a:xfrm>
              <a:off x="547685" y="2284797"/>
              <a:ext cx="8432577" cy="1263745"/>
            </a:xfrm>
            <a:prstGeom prst="rect">
              <a:avLst/>
            </a:prstGeom>
            <a:solidFill>
              <a:schemeClr val="bg1">
                <a:lumMod val="95000"/>
              </a:schemeClr>
            </a:solidFill>
            <a:ln w="19050" algn="ctr">
              <a:no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IN" sz="3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3" name="Rectangle 22">
              <a:extLst>
                <a:ext uri="{FF2B5EF4-FFF2-40B4-BE49-F238E27FC236}">
                  <a16:creationId xmlns:a16="http://schemas.microsoft.com/office/drawing/2014/main" id="{79EA9EE8-250B-F812-7AF7-F364E797BB0F}"/>
                </a:ext>
              </a:extLst>
            </p:cNvPr>
            <p:cNvSpPr/>
            <p:nvPr/>
          </p:nvSpPr>
          <p:spPr bwMode="gray">
            <a:xfrm>
              <a:off x="547352" y="2290437"/>
              <a:ext cx="7571124" cy="1173035"/>
            </a:xfrm>
            <a:prstGeom prst="rect">
              <a:avLst/>
            </a:prstGeom>
            <a:solidFill>
              <a:srgbClr val="00B0F0">
                <a:alpha val="13000"/>
              </a:srgbClr>
            </a:solidFill>
            <a:ln w="19050" algn="ctr">
              <a:no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US" sz="3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24" name="Straight Connector 23">
              <a:extLst>
                <a:ext uri="{FF2B5EF4-FFF2-40B4-BE49-F238E27FC236}">
                  <a16:creationId xmlns:a16="http://schemas.microsoft.com/office/drawing/2014/main" id="{E7A5EFCB-087D-30E2-A1B4-6F03212E46C3}"/>
                </a:ext>
              </a:extLst>
            </p:cNvPr>
            <p:cNvCxnSpPr>
              <a:cxnSpLocks/>
            </p:cNvCxnSpPr>
            <p:nvPr/>
          </p:nvCxnSpPr>
          <p:spPr>
            <a:xfrm>
              <a:off x="1071798" y="2916207"/>
              <a:ext cx="7711740" cy="12813"/>
            </a:xfrm>
            <a:prstGeom prst="line">
              <a:avLst/>
            </a:prstGeom>
            <a:ln w="22225">
              <a:solidFill>
                <a:schemeClr val="tx1">
                  <a:lumMod val="75000"/>
                  <a:lumOff val="2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912D3266-0992-0429-2D62-6425DC205E45}"/>
                </a:ext>
              </a:extLst>
            </p:cNvPr>
            <p:cNvSpPr txBox="1"/>
            <p:nvPr/>
          </p:nvSpPr>
          <p:spPr>
            <a:xfrm>
              <a:off x="1794259" y="2356248"/>
              <a:ext cx="1830889" cy="396047"/>
            </a:xfrm>
            <a:prstGeom prst="rect">
              <a:avLst/>
            </a:prstGeom>
            <a:noFill/>
          </p:spPr>
          <p:txBody>
            <a:bodyPr wrap="square" lIns="0" r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altLang="ko-KR" sz="18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Requirements &amp; Planning</a:t>
              </a:r>
            </a:p>
          </p:txBody>
        </p:sp>
        <p:sp>
          <p:nvSpPr>
            <p:cNvPr id="27" name="TextBox 26">
              <a:extLst>
                <a:ext uri="{FF2B5EF4-FFF2-40B4-BE49-F238E27FC236}">
                  <a16:creationId xmlns:a16="http://schemas.microsoft.com/office/drawing/2014/main" id="{B8E56D66-5198-5133-253A-65DC34DA0274}"/>
                </a:ext>
              </a:extLst>
            </p:cNvPr>
            <p:cNvSpPr txBox="1"/>
            <p:nvPr/>
          </p:nvSpPr>
          <p:spPr>
            <a:xfrm>
              <a:off x="534142" y="2342410"/>
              <a:ext cx="1461722" cy="396047"/>
            </a:xfrm>
            <a:prstGeom prst="rect">
              <a:avLst/>
            </a:prstGeom>
            <a:noFill/>
          </p:spPr>
          <p:txBody>
            <a:bodyPr wrap="square" lIns="0" r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altLang="ko-KR" sz="18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Initiation</a:t>
              </a:r>
              <a:endParaRPr kumimoji="0" lang="ko-KR"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cxnSp>
          <p:nvCxnSpPr>
            <p:cNvPr id="28" name="Straight Connector 27">
              <a:extLst>
                <a:ext uri="{FF2B5EF4-FFF2-40B4-BE49-F238E27FC236}">
                  <a16:creationId xmlns:a16="http://schemas.microsoft.com/office/drawing/2014/main" id="{09730C62-994F-1D3F-FB4E-BA1C486F1C05}"/>
                </a:ext>
              </a:extLst>
            </p:cNvPr>
            <p:cNvCxnSpPr>
              <a:cxnSpLocks/>
            </p:cNvCxnSpPr>
            <p:nvPr/>
          </p:nvCxnSpPr>
          <p:spPr>
            <a:xfrm>
              <a:off x="1110270" y="2706686"/>
              <a:ext cx="0" cy="205702"/>
            </a:xfrm>
            <a:prstGeom prst="line">
              <a:avLst/>
            </a:prstGeom>
            <a:solidFill>
              <a:srgbClr val="003373"/>
            </a:solidFill>
            <a:ln w="19050">
              <a:solidFill>
                <a:schemeClr val="accent1"/>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2D3AB0EF-53D4-A3DF-362C-C03D0CD8585F}"/>
                </a:ext>
              </a:extLst>
            </p:cNvPr>
            <p:cNvSpPr/>
            <p:nvPr/>
          </p:nvSpPr>
          <p:spPr bwMode="gray">
            <a:xfrm>
              <a:off x="980679" y="2985165"/>
              <a:ext cx="244993" cy="325882"/>
            </a:xfrm>
            <a:prstGeom prst="ellipse">
              <a:avLst/>
            </a:prstGeom>
            <a:solidFill>
              <a:srgbClr val="003373"/>
            </a:solidFill>
            <a:ln w="19050" algn="ctr">
              <a:solidFill>
                <a:schemeClr val="accent1"/>
              </a:solid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US" sz="3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1" name="TextBox 30">
              <a:extLst>
                <a:ext uri="{FF2B5EF4-FFF2-40B4-BE49-F238E27FC236}">
                  <a16:creationId xmlns:a16="http://schemas.microsoft.com/office/drawing/2014/main" id="{14449E5D-17D2-14E3-8941-7858A7171056}"/>
                </a:ext>
              </a:extLst>
            </p:cNvPr>
            <p:cNvSpPr txBox="1"/>
            <p:nvPr/>
          </p:nvSpPr>
          <p:spPr>
            <a:xfrm>
              <a:off x="554699" y="3322020"/>
              <a:ext cx="1096955" cy="330040"/>
            </a:xfrm>
            <a:prstGeom prst="rect">
              <a:avLst/>
            </a:prstGeom>
            <a:noFill/>
          </p:spPr>
          <p:txBody>
            <a:bodyPr wrap="square" lIns="0" tIns="0" rIns="0" b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lang="en-US" altLang="ko-KR" sz="2000" b="1">
                  <a:solidFill>
                    <a:prstClr val="black"/>
                  </a:solidFill>
                  <a:latin typeface="Arial" panose="020B0604020202020204" pitchFamily="34" charset="0"/>
                  <a:cs typeface="Arial" panose="020B0604020202020204" pitchFamily="34" charset="0"/>
                </a:rPr>
                <a:t>Jan</a:t>
              </a:r>
              <a:endParaRPr kumimoji="0" lang="ko-KR" altLang="en-US" sz="2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4" name="Oval 33">
              <a:extLst>
                <a:ext uri="{FF2B5EF4-FFF2-40B4-BE49-F238E27FC236}">
                  <a16:creationId xmlns:a16="http://schemas.microsoft.com/office/drawing/2014/main" id="{E808894C-2B27-A686-776A-145EF8BD29AD}"/>
                </a:ext>
              </a:extLst>
            </p:cNvPr>
            <p:cNvSpPr/>
            <p:nvPr/>
          </p:nvSpPr>
          <p:spPr bwMode="gray">
            <a:xfrm>
              <a:off x="8000223" y="2970066"/>
              <a:ext cx="200895" cy="303243"/>
            </a:xfrm>
            <a:prstGeom prst="ellipse">
              <a:avLst/>
            </a:prstGeom>
            <a:solidFill>
              <a:srgbClr val="005191"/>
            </a:solidFill>
            <a:ln w="19050" algn="ctr">
              <a:solidFill>
                <a:srgbClr val="005191"/>
              </a:solid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US" sz="3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5" name="TextBox 34">
              <a:extLst>
                <a:ext uri="{FF2B5EF4-FFF2-40B4-BE49-F238E27FC236}">
                  <a16:creationId xmlns:a16="http://schemas.microsoft.com/office/drawing/2014/main" id="{C8E8714D-0D43-F508-4518-2348F2EE1C49}"/>
                </a:ext>
              </a:extLst>
            </p:cNvPr>
            <p:cNvSpPr txBox="1"/>
            <p:nvPr/>
          </p:nvSpPr>
          <p:spPr>
            <a:xfrm>
              <a:off x="7379482" y="2316843"/>
              <a:ext cx="1404056" cy="396047"/>
            </a:xfrm>
            <a:prstGeom prst="rect">
              <a:avLst/>
            </a:prstGeom>
            <a:noFill/>
          </p:spPr>
          <p:txBody>
            <a:bodyPr wrap="square" lIns="0" r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Go-live</a:t>
              </a:r>
              <a:endParaRPr kumimoji="0" lang="ko-KR" altLang="en-US" sz="18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cxnSp>
          <p:nvCxnSpPr>
            <p:cNvPr id="36" name="Straight Connector 35">
              <a:extLst>
                <a:ext uri="{FF2B5EF4-FFF2-40B4-BE49-F238E27FC236}">
                  <a16:creationId xmlns:a16="http://schemas.microsoft.com/office/drawing/2014/main" id="{BA5B0401-E4E5-9ED0-AFF5-0804368FB865}"/>
                </a:ext>
              </a:extLst>
            </p:cNvPr>
            <p:cNvCxnSpPr>
              <a:cxnSpLocks/>
            </p:cNvCxnSpPr>
            <p:nvPr/>
          </p:nvCxnSpPr>
          <p:spPr>
            <a:xfrm>
              <a:off x="8093321" y="2673270"/>
              <a:ext cx="0" cy="258338"/>
            </a:xfrm>
            <a:prstGeom prst="line">
              <a:avLst/>
            </a:prstGeom>
            <a:ln w="19050">
              <a:solidFill>
                <a:srgbClr val="005191"/>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FA9CB2F2-58DE-7464-A41F-D3DD98E94F28}"/>
                </a:ext>
              </a:extLst>
            </p:cNvPr>
            <p:cNvSpPr txBox="1"/>
            <p:nvPr/>
          </p:nvSpPr>
          <p:spPr>
            <a:xfrm>
              <a:off x="7544844" y="3264611"/>
              <a:ext cx="1096955" cy="330039"/>
            </a:xfrm>
            <a:prstGeom prst="rect">
              <a:avLst/>
            </a:prstGeom>
            <a:noFill/>
          </p:spPr>
          <p:txBody>
            <a:bodyPr wrap="square" lIns="0" tIns="0" rIns="0" bIns="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lang="en-US" altLang="ko-KR" sz="2000" b="1">
                  <a:latin typeface="Arial"/>
                  <a:ea typeface="맑은 고딕"/>
                  <a:cs typeface="Arial"/>
                </a:rPr>
                <a:t>April</a:t>
              </a:r>
              <a:endParaRPr kumimoji="0" lang="en-US" altLang="ko-KR" sz="2000" b="1" i="0" u="none" kern="1200" cap="none" spc="0" normalizeH="0" baseline="0" noProof="0">
                <a:ln>
                  <a:noFill/>
                </a:ln>
                <a:effectLst/>
                <a:uLnTx/>
                <a:uFillTx/>
                <a:latin typeface="Arial" panose="020B0604020202020204" pitchFamily="34" charset="0"/>
                <a:ea typeface="+mn-ea"/>
                <a:cs typeface="Arial" panose="020B0604020202020204" pitchFamily="34" charset="0"/>
              </a:endParaRPr>
            </a:p>
          </p:txBody>
        </p:sp>
      </p:grpSp>
      <p:grpSp>
        <p:nvGrpSpPr>
          <p:cNvPr id="39" name="Group 38">
            <a:extLst>
              <a:ext uri="{FF2B5EF4-FFF2-40B4-BE49-F238E27FC236}">
                <a16:creationId xmlns:a16="http://schemas.microsoft.com/office/drawing/2014/main" id="{A2A3A947-C1C6-EF4E-CCA9-3855389C7A04}"/>
              </a:ext>
            </a:extLst>
          </p:cNvPr>
          <p:cNvGrpSpPr/>
          <p:nvPr/>
        </p:nvGrpSpPr>
        <p:grpSpPr>
          <a:xfrm>
            <a:off x="11816864" y="9732373"/>
            <a:ext cx="7770782" cy="578783"/>
            <a:chOff x="7877909" y="6488248"/>
            <a:chExt cx="5180521" cy="385855"/>
          </a:xfrm>
        </p:grpSpPr>
        <p:sp>
          <p:nvSpPr>
            <p:cNvPr id="40" name="Oval 39">
              <a:extLst>
                <a:ext uri="{FF2B5EF4-FFF2-40B4-BE49-F238E27FC236}">
                  <a16:creationId xmlns:a16="http://schemas.microsoft.com/office/drawing/2014/main" id="{07D8446C-0E32-E87E-B76D-496D401B3ACA}"/>
                </a:ext>
              </a:extLst>
            </p:cNvPr>
            <p:cNvSpPr/>
            <p:nvPr/>
          </p:nvSpPr>
          <p:spPr>
            <a:xfrm>
              <a:off x="8093322" y="6494495"/>
              <a:ext cx="137031" cy="126401"/>
            </a:xfrm>
            <a:prstGeom prst="ellipse">
              <a:avLst/>
            </a:prstGeom>
            <a:solidFill>
              <a:srgbClr val="E2F0D9"/>
            </a:solidFill>
            <a:ln w="9525">
              <a:solidFill>
                <a:srgbClr val="E2F0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1" name="Oval 40">
              <a:extLst>
                <a:ext uri="{FF2B5EF4-FFF2-40B4-BE49-F238E27FC236}">
                  <a16:creationId xmlns:a16="http://schemas.microsoft.com/office/drawing/2014/main" id="{11E974AA-BB85-FFBD-8429-A3BA937AD3FF}"/>
                </a:ext>
              </a:extLst>
            </p:cNvPr>
            <p:cNvSpPr/>
            <p:nvPr/>
          </p:nvSpPr>
          <p:spPr>
            <a:xfrm>
              <a:off x="8668587" y="6503611"/>
              <a:ext cx="137031" cy="126401"/>
            </a:xfrm>
            <a:prstGeom prst="ellipse">
              <a:avLst/>
            </a:prstGeom>
            <a:solidFill>
              <a:srgbClr val="FF0000"/>
            </a:solid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2" name="Oval 41">
              <a:extLst>
                <a:ext uri="{FF2B5EF4-FFF2-40B4-BE49-F238E27FC236}">
                  <a16:creationId xmlns:a16="http://schemas.microsoft.com/office/drawing/2014/main" id="{A89B13F7-09EC-8882-7DD1-8394EF34F3C6}"/>
                </a:ext>
              </a:extLst>
            </p:cNvPr>
            <p:cNvSpPr/>
            <p:nvPr/>
          </p:nvSpPr>
          <p:spPr>
            <a:xfrm>
              <a:off x="9167201" y="6505195"/>
              <a:ext cx="137031" cy="126401"/>
            </a:xfrm>
            <a:prstGeom prst="ellipse">
              <a:avLst/>
            </a:prstGeom>
            <a:solidFill>
              <a:srgbClr val="FFC000"/>
            </a:solidFill>
            <a:ln w="95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3" name="TextBox 42">
              <a:extLst>
                <a:ext uri="{FF2B5EF4-FFF2-40B4-BE49-F238E27FC236}">
                  <a16:creationId xmlns:a16="http://schemas.microsoft.com/office/drawing/2014/main" id="{F0C6BF32-D377-95A9-9805-67F60204EA08}"/>
                </a:ext>
              </a:extLst>
            </p:cNvPr>
            <p:cNvSpPr txBox="1"/>
            <p:nvPr/>
          </p:nvSpPr>
          <p:spPr>
            <a:xfrm>
              <a:off x="7877909" y="6611779"/>
              <a:ext cx="2317013" cy="246221"/>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On track </a:t>
              </a:r>
            </a:p>
          </p:txBody>
        </p:sp>
        <p:sp>
          <p:nvSpPr>
            <p:cNvPr id="44" name="TextBox 43">
              <a:extLst>
                <a:ext uri="{FF2B5EF4-FFF2-40B4-BE49-F238E27FC236}">
                  <a16:creationId xmlns:a16="http://schemas.microsoft.com/office/drawing/2014/main" id="{4FD8688C-B251-8380-0ADD-410985ED71B9}"/>
                </a:ext>
              </a:extLst>
            </p:cNvPr>
            <p:cNvSpPr txBox="1"/>
            <p:nvPr/>
          </p:nvSpPr>
          <p:spPr>
            <a:xfrm>
              <a:off x="8434729" y="6621931"/>
              <a:ext cx="2311615" cy="246221"/>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Delayed</a:t>
              </a:r>
            </a:p>
          </p:txBody>
        </p:sp>
        <p:sp>
          <p:nvSpPr>
            <p:cNvPr id="45" name="TextBox 44">
              <a:extLst>
                <a:ext uri="{FF2B5EF4-FFF2-40B4-BE49-F238E27FC236}">
                  <a16:creationId xmlns:a16="http://schemas.microsoft.com/office/drawing/2014/main" id="{24C34FB2-35DD-10E5-5B37-0162E3999D28}"/>
                </a:ext>
              </a:extLst>
            </p:cNvPr>
            <p:cNvSpPr txBox="1"/>
            <p:nvPr/>
          </p:nvSpPr>
          <p:spPr>
            <a:xfrm>
              <a:off x="8980262" y="6624764"/>
              <a:ext cx="2311615" cy="246221"/>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At Risk</a:t>
              </a:r>
            </a:p>
          </p:txBody>
        </p:sp>
        <p:sp>
          <p:nvSpPr>
            <p:cNvPr id="46" name="Oval 45">
              <a:extLst>
                <a:ext uri="{FF2B5EF4-FFF2-40B4-BE49-F238E27FC236}">
                  <a16:creationId xmlns:a16="http://schemas.microsoft.com/office/drawing/2014/main" id="{D371A863-B8D0-ED65-77DA-3486987E0994}"/>
                </a:ext>
              </a:extLst>
            </p:cNvPr>
            <p:cNvSpPr/>
            <p:nvPr/>
          </p:nvSpPr>
          <p:spPr>
            <a:xfrm>
              <a:off x="9781249" y="6512756"/>
              <a:ext cx="137031" cy="126401"/>
            </a:xfrm>
            <a:prstGeom prst="ellipse">
              <a:avLst/>
            </a:prstGeom>
            <a:solidFill>
              <a:srgbClr val="003373"/>
            </a:solidFill>
            <a:ln w="9525">
              <a:solidFill>
                <a:srgbClr val="0033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7" name="TextBox 46">
              <a:extLst>
                <a:ext uri="{FF2B5EF4-FFF2-40B4-BE49-F238E27FC236}">
                  <a16:creationId xmlns:a16="http://schemas.microsoft.com/office/drawing/2014/main" id="{AFB7880F-E134-4159-0CFC-B445BBB349AE}"/>
                </a:ext>
              </a:extLst>
            </p:cNvPr>
            <p:cNvSpPr txBox="1"/>
            <p:nvPr/>
          </p:nvSpPr>
          <p:spPr>
            <a:xfrm>
              <a:off x="9425689" y="6627882"/>
              <a:ext cx="2311615" cy="246221"/>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Implemented</a:t>
              </a:r>
            </a:p>
          </p:txBody>
        </p:sp>
        <p:sp>
          <p:nvSpPr>
            <p:cNvPr id="48" name="Oval 47">
              <a:extLst>
                <a:ext uri="{FF2B5EF4-FFF2-40B4-BE49-F238E27FC236}">
                  <a16:creationId xmlns:a16="http://schemas.microsoft.com/office/drawing/2014/main" id="{48504FB1-AEA6-5259-D0CC-060770806A1B}"/>
                </a:ext>
              </a:extLst>
            </p:cNvPr>
            <p:cNvSpPr/>
            <p:nvPr/>
          </p:nvSpPr>
          <p:spPr>
            <a:xfrm>
              <a:off x="10428038" y="6512756"/>
              <a:ext cx="137031" cy="126401"/>
            </a:xfrm>
            <a:prstGeom prst="ellipse">
              <a:avLst/>
            </a:prstGeom>
            <a:solidFill>
              <a:srgbClr val="00B0F0"/>
            </a:solid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9" name="TextBox 48">
              <a:extLst>
                <a:ext uri="{FF2B5EF4-FFF2-40B4-BE49-F238E27FC236}">
                  <a16:creationId xmlns:a16="http://schemas.microsoft.com/office/drawing/2014/main" id="{B68581A6-C65A-E5E6-AAA7-B5C7B02D4B2A}"/>
                </a:ext>
              </a:extLst>
            </p:cNvPr>
            <p:cNvSpPr txBox="1"/>
            <p:nvPr/>
          </p:nvSpPr>
          <p:spPr>
            <a:xfrm>
              <a:off x="10194922" y="6621646"/>
              <a:ext cx="2311615" cy="246221"/>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US" sz="1500">
                  <a:latin typeface="Calibri" panose="020F0502020204030204" pitchFamily="34" charset="0"/>
                  <a:cs typeface="Calibri" panose="020F0502020204030204" pitchFamily="34" charset="0"/>
                </a:rPr>
                <a:t>On Hold</a:t>
              </a:r>
              <a:endParaRPr kumimoji="0" lang="en-US" sz="1500" b="0" i="0" u="none" strike="noStrike" kern="1200" cap="none" spc="0" normalizeH="0" baseline="0" noProof="0">
                <a:ln>
                  <a:noFill/>
                </a:ln>
                <a:effectLst/>
                <a:uLnTx/>
                <a:uFillTx/>
                <a:latin typeface="Calibri" panose="020F0502020204030204" pitchFamily="34" charset="0"/>
                <a:ea typeface="+mn-ea"/>
                <a:cs typeface="Calibri" panose="020F0502020204030204" pitchFamily="34" charset="0"/>
              </a:endParaRPr>
            </a:p>
          </p:txBody>
        </p:sp>
        <p:sp>
          <p:nvSpPr>
            <p:cNvPr id="50" name="Oval 49">
              <a:extLst>
                <a:ext uri="{FF2B5EF4-FFF2-40B4-BE49-F238E27FC236}">
                  <a16:creationId xmlns:a16="http://schemas.microsoft.com/office/drawing/2014/main" id="{6C7B04D8-9C8F-6DD2-52B7-E646ADD99A16}"/>
                </a:ext>
              </a:extLst>
            </p:cNvPr>
            <p:cNvSpPr/>
            <p:nvPr/>
          </p:nvSpPr>
          <p:spPr>
            <a:xfrm>
              <a:off x="11073431" y="6488248"/>
              <a:ext cx="137031" cy="126401"/>
            </a:xfrm>
            <a:prstGeom prst="ellipse">
              <a:avLst/>
            </a:prstGeom>
            <a:solidFill>
              <a:srgbClr val="FFFF00"/>
            </a:solidFill>
            <a:ln w="9525">
              <a:solidFill>
                <a:srgbClr val="E2F0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1" name="TextBox 50">
              <a:extLst>
                <a:ext uri="{FF2B5EF4-FFF2-40B4-BE49-F238E27FC236}">
                  <a16:creationId xmlns:a16="http://schemas.microsoft.com/office/drawing/2014/main" id="{E2B8DDDB-DAA7-2BF6-27A6-C08D433611D2}"/>
                </a:ext>
              </a:extLst>
            </p:cNvPr>
            <p:cNvSpPr txBox="1"/>
            <p:nvPr/>
          </p:nvSpPr>
          <p:spPr>
            <a:xfrm>
              <a:off x="10746815" y="6611779"/>
              <a:ext cx="2311615" cy="246221"/>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Terminated</a:t>
              </a:r>
            </a:p>
          </p:txBody>
        </p:sp>
      </p:grpSp>
      <p:pic>
        <p:nvPicPr>
          <p:cNvPr id="53" name="Picture 52">
            <a:extLst>
              <a:ext uri="{FF2B5EF4-FFF2-40B4-BE49-F238E27FC236}">
                <a16:creationId xmlns:a16="http://schemas.microsoft.com/office/drawing/2014/main" id="{11295427-3681-2869-5C53-40F272DE21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19415" y="60344"/>
            <a:ext cx="2308638" cy="1251719"/>
          </a:xfrm>
          <a:prstGeom prst="rect">
            <a:avLst/>
          </a:prstGeom>
        </p:spPr>
      </p:pic>
      <p:sp>
        <p:nvSpPr>
          <p:cNvPr id="72" name="Oval 71">
            <a:extLst>
              <a:ext uri="{FF2B5EF4-FFF2-40B4-BE49-F238E27FC236}">
                <a16:creationId xmlns:a16="http://schemas.microsoft.com/office/drawing/2014/main" id="{D9AAFCD8-A575-CCD9-0F80-07B20AFFE0B8}"/>
              </a:ext>
            </a:extLst>
          </p:cNvPr>
          <p:cNvSpPr/>
          <p:nvPr/>
        </p:nvSpPr>
        <p:spPr bwMode="gray">
          <a:xfrm>
            <a:off x="4718375" y="4810991"/>
            <a:ext cx="482288" cy="287279"/>
          </a:xfrm>
          <a:prstGeom prst="ellipse">
            <a:avLst/>
          </a:prstGeom>
          <a:solidFill>
            <a:srgbClr val="005190"/>
          </a:solidFill>
          <a:ln w="19050" algn="ctr">
            <a:solidFill>
              <a:srgbClr val="E2F0D9"/>
            </a:solid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3" name="Oval 72">
            <a:extLst>
              <a:ext uri="{FF2B5EF4-FFF2-40B4-BE49-F238E27FC236}">
                <a16:creationId xmlns:a16="http://schemas.microsoft.com/office/drawing/2014/main" id="{F18AD0A7-0252-792E-7568-6ADB54E3A158}"/>
              </a:ext>
            </a:extLst>
          </p:cNvPr>
          <p:cNvSpPr/>
          <p:nvPr/>
        </p:nvSpPr>
        <p:spPr bwMode="gray">
          <a:xfrm>
            <a:off x="8378117" y="4794017"/>
            <a:ext cx="482288" cy="300579"/>
          </a:xfrm>
          <a:prstGeom prst="ellipse">
            <a:avLst/>
          </a:prstGeom>
          <a:solidFill>
            <a:srgbClr val="005191"/>
          </a:solidFill>
          <a:ln w="19050" algn="ctr">
            <a:solidFill>
              <a:srgbClr val="003373"/>
            </a:solid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74" name="Straight Connector 73">
            <a:extLst>
              <a:ext uri="{FF2B5EF4-FFF2-40B4-BE49-F238E27FC236}">
                <a16:creationId xmlns:a16="http://schemas.microsoft.com/office/drawing/2014/main" id="{7CF9ECE2-F371-9A60-D13B-E115277B0001}"/>
              </a:ext>
            </a:extLst>
          </p:cNvPr>
          <p:cNvCxnSpPr>
            <a:cxnSpLocks/>
          </p:cNvCxnSpPr>
          <p:nvPr/>
        </p:nvCxnSpPr>
        <p:spPr>
          <a:xfrm>
            <a:off x="4959519" y="4526531"/>
            <a:ext cx="0" cy="191826"/>
          </a:xfrm>
          <a:prstGeom prst="line">
            <a:avLst/>
          </a:prstGeom>
          <a:ln w="19050">
            <a:solidFill>
              <a:schemeClr val="accent1"/>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E1DDC0C3-0755-74E4-8719-2A98DD045A79}"/>
              </a:ext>
            </a:extLst>
          </p:cNvPr>
          <p:cNvCxnSpPr>
            <a:cxnSpLocks/>
          </p:cNvCxnSpPr>
          <p:nvPr/>
        </p:nvCxnSpPr>
        <p:spPr>
          <a:xfrm>
            <a:off x="8619270" y="4502981"/>
            <a:ext cx="0" cy="215376"/>
          </a:xfrm>
          <a:prstGeom prst="line">
            <a:avLst/>
          </a:prstGeom>
          <a:ln w="19050">
            <a:solidFill>
              <a:srgbClr val="003373"/>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DD3A2100-AAAD-8488-3291-B0B55AA72181}"/>
              </a:ext>
            </a:extLst>
          </p:cNvPr>
          <p:cNvSpPr txBox="1"/>
          <p:nvPr/>
        </p:nvSpPr>
        <p:spPr>
          <a:xfrm>
            <a:off x="6817136" y="4178040"/>
            <a:ext cx="3604247" cy="334707"/>
          </a:xfrm>
          <a:prstGeom prst="rect">
            <a:avLst/>
          </a:prstGeom>
          <a:noFill/>
        </p:spPr>
        <p:txBody>
          <a:bodyPr wrap="square" lIns="0" r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lang="en-US" altLang="ko-KR" sz="1575" b="1">
                <a:solidFill>
                  <a:prstClr val="black"/>
                </a:solidFill>
                <a:latin typeface="Arial" panose="020B0604020202020204" pitchFamily="34" charset="0"/>
                <a:cs typeface="Arial" panose="020B0604020202020204" pitchFamily="34" charset="0"/>
              </a:rPr>
              <a:t>Design and Build</a:t>
            </a:r>
            <a:endParaRPr kumimoji="0" lang="en-US" altLang="ko-KR" sz="1575"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 name="TextBox 1">
            <a:extLst>
              <a:ext uri="{FF2B5EF4-FFF2-40B4-BE49-F238E27FC236}">
                <a16:creationId xmlns:a16="http://schemas.microsoft.com/office/drawing/2014/main" id="{4166FB33-AFB6-653E-0D7E-A50BA4FDFCEB}"/>
              </a:ext>
            </a:extLst>
          </p:cNvPr>
          <p:cNvSpPr txBox="1"/>
          <p:nvPr/>
        </p:nvSpPr>
        <p:spPr>
          <a:xfrm>
            <a:off x="3879797" y="5136472"/>
            <a:ext cx="2159441" cy="253916"/>
          </a:xfrm>
          <a:prstGeom prst="rect">
            <a:avLst/>
          </a:prstGeom>
          <a:noFill/>
        </p:spPr>
        <p:txBody>
          <a:bodyPr wrap="square" lIns="0" tIns="0" rIns="0" b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altLang="ko-KR" sz="165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Feb</a:t>
            </a:r>
            <a:endParaRPr kumimoji="0" lang="ko-KR" altLang="en-US" sz="165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4" name="Oval 53">
            <a:extLst>
              <a:ext uri="{FF2B5EF4-FFF2-40B4-BE49-F238E27FC236}">
                <a16:creationId xmlns:a16="http://schemas.microsoft.com/office/drawing/2014/main" id="{88C32F4E-31C0-8B07-244A-20899D5867B5}"/>
              </a:ext>
            </a:extLst>
          </p:cNvPr>
          <p:cNvSpPr/>
          <p:nvPr/>
        </p:nvSpPr>
        <p:spPr bwMode="gray">
          <a:xfrm>
            <a:off x="10853561" y="4810529"/>
            <a:ext cx="482288" cy="300579"/>
          </a:xfrm>
          <a:prstGeom prst="ellipse">
            <a:avLst/>
          </a:prstGeom>
          <a:solidFill>
            <a:srgbClr val="005190"/>
          </a:solidFill>
          <a:ln w="19050" algn="ctr">
            <a:solidFill>
              <a:srgbClr val="005190"/>
            </a:solid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55" name="Straight Connector 54">
            <a:extLst>
              <a:ext uri="{FF2B5EF4-FFF2-40B4-BE49-F238E27FC236}">
                <a16:creationId xmlns:a16="http://schemas.microsoft.com/office/drawing/2014/main" id="{E6E114F4-E6B6-ECCA-59DE-BBC3ED060D03}"/>
              </a:ext>
            </a:extLst>
          </p:cNvPr>
          <p:cNvCxnSpPr>
            <a:cxnSpLocks/>
          </p:cNvCxnSpPr>
          <p:nvPr/>
        </p:nvCxnSpPr>
        <p:spPr>
          <a:xfrm>
            <a:off x="11094705" y="4542423"/>
            <a:ext cx="0" cy="215376"/>
          </a:xfrm>
          <a:prstGeom prst="line">
            <a:avLst/>
          </a:prstGeom>
          <a:ln w="19050">
            <a:solidFill>
              <a:srgbClr val="005190"/>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006160CB-7B28-B8B2-5D5E-64853B6437BB}"/>
              </a:ext>
            </a:extLst>
          </p:cNvPr>
          <p:cNvSpPr txBox="1"/>
          <p:nvPr/>
        </p:nvSpPr>
        <p:spPr>
          <a:xfrm>
            <a:off x="9398635" y="4216272"/>
            <a:ext cx="3604247" cy="334707"/>
          </a:xfrm>
          <a:prstGeom prst="rect">
            <a:avLst/>
          </a:prstGeom>
          <a:noFill/>
        </p:spPr>
        <p:txBody>
          <a:bodyPr wrap="square" lIns="0" r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lang="en-US" altLang="ko-KR" sz="1575" b="1">
                <a:solidFill>
                  <a:prstClr val="black"/>
                </a:solidFill>
                <a:latin typeface="Arial" panose="020B0604020202020204" pitchFamily="34" charset="0"/>
                <a:cs typeface="Arial" panose="020B0604020202020204" pitchFamily="34" charset="0"/>
              </a:rPr>
              <a:t>UAT</a:t>
            </a:r>
            <a:endParaRPr kumimoji="0" lang="en-US" altLang="ko-KR" sz="1575"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9" name="TextBox 58">
            <a:extLst>
              <a:ext uri="{FF2B5EF4-FFF2-40B4-BE49-F238E27FC236}">
                <a16:creationId xmlns:a16="http://schemas.microsoft.com/office/drawing/2014/main" id="{D8DEBECA-A5A2-534F-083B-D8193AD4662A}"/>
              </a:ext>
            </a:extLst>
          </p:cNvPr>
          <p:cNvSpPr txBox="1"/>
          <p:nvPr/>
        </p:nvSpPr>
        <p:spPr>
          <a:xfrm>
            <a:off x="7552945" y="5153782"/>
            <a:ext cx="2159441" cy="253916"/>
          </a:xfrm>
          <a:prstGeom prst="rect">
            <a:avLst/>
          </a:prstGeom>
          <a:noFill/>
        </p:spPr>
        <p:txBody>
          <a:bodyPr wrap="square" lIns="0" tIns="0" rIns="0" bIns="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lang="en-US" altLang="ko-KR" sz="1650" b="1">
                <a:solidFill>
                  <a:prstClr val="black"/>
                </a:solidFill>
                <a:latin typeface="Arial"/>
                <a:ea typeface="맑은 고딕"/>
                <a:cs typeface="Arial"/>
              </a:rPr>
              <a:t>Feb</a:t>
            </a:r>
            <a:endParaRPr kumimoji="0" lang="ko-KR" altLang="en-US" sz="165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0" name="TextBox 59">
            <a:extLst>
              <a:ext uri="{FF2B5EF4-FFF2-40B4-BE49-F238E27FC236}">
                <a16:creationId xmlns:a16="http://schemas.microsoft.com/office/drawing/2014/main" id="{6A3D8D7E-64E9-BD6B-5A6E-34CBE078862E}"/>
              </a:ext>
            </a:extLst>
          </p:cNvPr>
          <p:cNvSpPr txBox="1"/>
          <p:nvPr/>
        </p:nvSpPr>
        <p:spPr>
          <a:xfrm>
            <a:off x="10083316" y="5143132"/>
            <a:ext cx="2159441" cy="253916"/>
          </a:xfrm>
          <a:prstGeom prst="rect">
            <a:avLst/>
          </a:prstGeom>
          <a:noFill/>
        </p:spPr>
        <p:txBody>
          <a:bodyPr wrap="square" lIns="0" tIns="0" rIns="0" bIns="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lang="en-US" altLang="ko-KR" sz="1650" b="1">
                <a:solidFill>
                  <a:prstClr val="black"/>
                </a:solidFill>
                <a:latin typeface="Arial"/>
                <a:ea typeface="맑은 고딕"/>
                <a:cs typeface="Arial"/>
              </a:rPr>
              <a:t>Mar</a:t>
            </a:r>
            <a:endParaRPr lang="en-US" altLang="ko-KR" sz="1650" b="1" i="0" u="none" strike="noStrike" kern="1200" cap="none" spc="0" normalizeH="0" baseline="0" noProof="0">
              <a:ln>
                <a:noFill/>
              </a:ln>
              <a:solidFill>
                <a:prstClr val="black"/>
              </a:solidFill>
              <a:effectLst/>
              <a:uLnTx/>
              <a:uFillTx/>
              <a:latin typeface="Arial" panose="020B0604020202020204" pitchFamily="34" charset="0"/>
              <a:ea typeface="맑은 고딕"/>
              <a:cs typeface="Arial" panose="020B0604020202020204" pitchFamily="34" charset="0"/>
            </a:endParaRPr>
          </a:p>
        </p:txBody>
      </p:sp>
      <p:sp>
        <p:nvSpPr>
          <p:cNvPr id="33" name="TextBox 2">
            <a:extLst>
              <a:ext uri="{FF2B5EF4-FFF2-40B4-BE49-F238E27FC236}">
                <a16:creationId xmlns:a16="http://schemas.microsoft.com/office/drawing/2014/main" id="{062D55A8-CA59-AD03-DC1D-DCA7B0AF197D}"/>
              </a:ext>
            </a:extLst>
          </p:cNvPr>
          <p:cNvSpPr txBox="1"/>
          <p:nvPr/>
        </p:nvSpPr>
        <p:spPr>
          <a:xfrm>
            <a:off x="826143" y="61491"/>
            <a:ext cx="13304262" cy="1318502"/>
          </a:xfrm>
          <a:prstGeom prst="rect">
            <a:avLst/>
          </a:prstGeom>
        </p:spPr>
        <p:txBody>
          <a:bodyPr wrap="square" lIns="0" tIns="0" rIns="0" bIns="0" rtlCol="0" anchor="t">
            <a:spAutoFit/>
          </a:bodyPr>
          <a:lstStyle/>
          <a:p>
            <a:pPr>
              <a:lnSpc>
                <a:spcPts val="11200"/>
              </a:lnSpc>
              <a:spcBef>
                <a:spcPct val="0"/>
              </a:spcBef>
            </a:pPr>
            <a:r>
              <a:rPr lang="en-US" sz="8000" b="1">
                <a:solidFill>
                  <a:srgbClr val="03A39D"/>
                </a:solidFill>
                <a:latin typeface="Inter Bold"/>
                <a:ea typeface="Inter Bold"/>
                <a:cs typeface="Inter Bold"/>
                <a:sym typeface="Inter Bold"/>
              </a:rPr>
              <a:t>Contact Center</a:t>
            </a:r>
            <a:r>
              <a:rPr lang="en-US" sz="8000" b="1">
                <a:solidFill>
                  <a:srgbClr val="1C1818"/>
                </a:solidFill>
                <a:latin typeface="Inter Bold"/>
                <a:ea typeface="Inter Bold"/>
                <a:cs typeface="Inter Bold"/>
                <a:sym typeface="Inter Bold"/>
              </a:rPr>
              <a:t> PROJECT</a:t>
            </a:r>
          </a:p>
        </p:txBody>
      </p:sp>
      <p:sp>
        <p:nvSpPr>
          <p:cNvPr id="37" name="Rectangle 36">
            <a:extLst>
              <a:ext uri="{FF2B5EF4-FFF2-40B4-BE49-F238E27FC236}">
                <a16:creationId xmlns:a16="http://schemas.microsoft.com/office/drawing/2014/main" id="{D9320FE5-579E-DF18-700F-726FC14F5088}"/>
              </a:ext>
            </a:extLst>
          </p:cNvPr>
          <p:cNvSpPr/>
          <p:nvPr/>
        </p:nvSpPr>
        <p:spPr bwMode="auto">
          <a:xfrm>
            <a:off x="15830299" y="2521505"/>
            <a:ext cx="1612257" cy="533898"/>
          </a:xfrm>
          <a:prstGeom prst="rect">
            <a:avLst/>
          </a:prstGeom>
          <a:solidFill>
            <a:schemeClr val="bg1">
              <a:lumMod val="95000"/>
            </a:schemeClr>
          </a:solidFill>
          <a:ln w="9525" cap="flat" cmpd="sng" algn="ctr">
            <a:solidFill>
              <a:srgbClr val="FFCCCC"/>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defTabSz="1564584">
              <a:defRPr/>
            </a:pPr>
            <a:r>
              <a:rPr lang="en-US" sz="1500" b="1" kern="0">
                <a:solidFill>
                  <a:prstClr val="black"/>
                </a:solidFill>
                <a:latin typeface="+mj-lt"/>
                <a:cs typeface="Arial" panose="020B0604020202020204" pitchFamily="34" charset="0"/>
              </a:rPr>
              <a:t>On Track</a:t>
            </a:r>
            <a:endParaRPr lang="en-GB" sz="1500" b="1" kern="0">
              <a:solidFill>
                <a:prstClr val="black"/>
              </a:solidFill>
              <a:latin typeface="+mj-lt"/>
              <a:cs typeface="Arial" panose="020B0604020202020204" pitchFamily="34" charset="0"/>
            </a:endParaRPr>
          </a:p>
        </p:txBody>
      </p:sp>
    </p:spTree>
    <p:extLst>
      <p:ext uri="{BB962C8B-B14F-4D97-AF65-F5344CB8AC3E}">
        <p14:creationId xmlns:p14="http://schemas.microsoft.com/office/powerpoint/2010/main" val="21945775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771CC-0CCD-33E0-F996-D41877C9E57A}"/>
            </a:ext>
          </a:extLst>
        </p:cNvPr>
        <p:cNvGrpSpPr/>
        <p:nvPr/>
      </p:nvGrpSpPr>
      <p:grpSpPr>
        <a:xfrm>
          <a:off x="0" y="0"/>
          <a:ext cx="0" cy="0"/>
          <a:chOff x="0" y="0"/>
          <a:chExt cx="0" cy="0"/>
        </a:xfrm>
      </p:grpSpPr>
      <p:pic>
        <p:nvPicPr>
          <p:cNvPr id="53" name="Picture 52">
            <a:extLst>
              <a:ext uri="{FF2B5EF4-FFF2-40B4-BE49-F238E27FC236}">
                <a16:creationId xmlns:a16="http://schemas.microsoft.com/office/drawing/2014/main" id="{371B9B37-0B87-43A6-8299-3DBF962D25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19415" y="60344"/>
            <a:ext cx="2308638" cy="1251719"/>
          </a:xfrm>
          <a:prstGeom prst="rect">
            <a:avLst/>
          </a:prstGeom>
        </p:spPr>
      </p:pic>
      <p:sp>
        <p:nvSpPr>
          <p:cNvPr id="3" name="Rectangle 2">
            <a:extLst>
              <a:ext uri="{FF2B5EF4-FFF2-40B4-BE49-F238E27FC236}">
                <a16:creationId xmlns:a16="http://schemas.microsoft.com/office/drawing/2014/main" id="{7D911FE0-AD17-E3DE-89B3-549F587797C7}"/>
              </a:ext>
            </a:extLst>
          </p:cNvPr>
          <p:cNvSpPr/>
          <p:nvPr/>
        </p:nvSpPr>
        <p:spPr>
          <a:xfrm>
            <a:off x="831653" y="1660601"/>
            <a:ext cx="16583688" cy="452903"/>
          </a:xfrm>
          <a:prstGeom prst="rect">
            <a:avLst/>
          </a:prstGeom>
          <a:solidFill>
            <a:srgbClr val="00A69C"/>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Key Action Items</a:t>
            </a:r>
          </a:p>
        </p:txBody>
      </p:sp>
      <p:graphicFrame>
        <p:nvGraphicFramePr>
          <p:cNvPr id="15" name="Table 6">
            <a:extLst>
              <a:ext uri="{FF2B5EF4-FFF2-40B4-BE49-F238E27FC236}">
                <a16:creationId xmlns:a16="http://schemas.microsoft.com/office/drawing/2014/main" id="{ABA4C004-C4D5-4416-B6B5-B6087FFDE6EE}"/>
              </a:ext>
            </a:extLst>
          </p:cNvPr>
          <p:cNvGraphicFramePr>
            <a:graphicFrameLocks noGrp="1"/>
          </p:cNvGraphicFramePr>
          <p:nvPr>
            <p:extLst>
              <p:ext uri="{D42A27DB-BD31-4B8C-83A1-F6EECF244321}">
                <p14:modId xmlns:p14="http://schemas.microsoft.com/office/powerpoint/2010/main" val="3576463436"/>
              </p:ext>
            </p:extLst>
          </p:nvPr>
        </p:nvGraphicFramePr>
        <p:xfrm>
          <a:off x="831654" y="2254728"/>
          <a:ext cx="16583688" cy="5287504"/>
        </p:xfrm>
        <a:graphic>
          <a:graphicData uri="http://schemas.openxmlformats.org/drawingml/2006/table">
            <a:tbl>
              <a:tblPr firstRow="1" bandRow="1">
                <a:tableStyleId>{5C22544A-7EE6-4342-B048-85BDC9FD1C3A}</a:tableStyleId>
              </a:tblPr>
              <a:tblGrid>
                <a:gridCol w="2565888">
                  <a:extLst>
                    <a:ext uri="{9D8B030D-6E8A-4147-A177-3AD203B41FA5}">
                      <a16:colId xmlns:a16="http://schemas.microsoft.com/office/drawing/2014/main" val="1940594143"/>
                    </a:ext>
                  </a:extLst>
                </a:gridCol>
                <a:gridCol w="6175179">
                  <a:extLst>
                    <a:ext uri="{9D8B030D-6E8A-4147-A177-3AD203B41FA5}">
                      <a16:colId xmlns:a16="http://schemas.microsoft.com/office/drawing/2014/main" val="273235595"/>
                    </a:ext>
                  </a:extLst>
                </a:gridCol>
                <a:gridCol w="2295882">
                  <a:extLst>
                    <a:ext uri="{9D8B030D-6E8A-4147-A177-3AD203B41FA5}">
                      <a16:colId xmlns:a16="http://schemas.microsoft.com/office/drawing/2014/main" val="1034871609"/>
                    </a:ext>
                  </a:extLst>
                </a:gridCol>
                <a:gridCol w="2231208">
                  <a:extLst>
                    <a:ext uri="{9D8B030D-6E8A-4147-A177-3AD203B41FA5}">
                      <a16:colId xmlns:a16="http://schemas.microsoft.com/office/drawing/2014/main" val="1556653191"/>
                    </a:ext>
                  </a:extLst>
                </a:gridCol>
                <a:gridCol w="3315531">
                  <a:extLst>
                    <a:ext uri="{9D8B030D-6E8A-4147-A177-3AD203B41FA5}">
                      <a16:colId xmlns:a16="http://schemas.microsoft.com/office/drawing/2014/main" val="666502604"/>
                    </a:ext>
                  </a:extLst>
                </a:gridCol>
              </a:tblGrid>
              <a:tr h="411480">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panose="020B0604020202020204" pitchFamily="34" charset="0"/>
                        </a:rPr>
                        <a:t>Area</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panose="020B0604020202020204" pitchFamily="34" charset="0"/>
                        </a:rPr>
                        <a:t>Action Item</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panose="020B0604020202020204" pitchFamily="34" charset="0"/>
                        </a:rPr>
                        <a:t>Status</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panose="020B0604020202020204" pitchFamily="34" charset="0"/>
                        </a:rPr>
                        <a:t>Due Date</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panose="020B0604020202020204" pitchFamily="34" charset="0"/>
                        </a:rPr>
                        <a:t>Owner</a:t>
                      </a:r>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9013299"/>
                  </a:ext>
                </a:extLst>
              </a:tr>
              <a:tr h="377190">
                <a:tc rowSpan="8">
                  <a:txBody>
                    <a:bodyPr/>
                    <a:lstStyle/>
                    <a:p>
                      <a:pPr>
                        <a:buNone/>
                      </a:pPr>
                      <a:endParaRPr lang="en-US"/>
                    </a:p>
                  </a:txBody>
                  <a:tcPr marL="0" marR="0" marT="0" marB="0" horzOverflow="overflow">
                    <a:lnT w="12700" cap="flat" cmpd="sng" algn="ctr">
                      <a:solidFill>
                        <a:schemeClr val="tx1"/>
                      </a:solidFill>
                      <a:prstDash val="solid"/>
                      <a:round/>
                      <a:headEnd type="none" w="med" len="med"/>
                      <a:tailEnd type="none" w="med" len="med"/>
                    </a:lnT>
                    <a:noFill/>
                  </a:tcPr>
                </a:tc>
                <a:tc>
                  <a:txBody>
                    <a:bodyPr/>
                    <a:lstStyle/>
                    <a:p>
                      <a:pPr marL="274320" lvl="1" indent="0" algn="l" defTabSz="914400" rtl="0" eaLnBrk="1" latinLnBrk="0" hangingPunct="1">
                        <a:buClr>
                          <a:srgbClr val="002060"/>
                        </a:buClr>
                        <a:buSzPct val="150000"/>
                        <a:buFontTx/>
                        <a:buNone/>
                      </a:pPr>
                      <a:r>
                        <a:rPr lang="en-US" sz="1600" kern="1200">
                          <a:solidFill>
                            <a:schemeClr val="dk1"/>
                          </a:solidFill>
                          <a:latin typeface="+mn-lt"/>
                          <a:ea typeface="+mn-ea"/>
                          <a:cs typeface="+mn-cs"/>
                        </a:rPr>
                        <a:t>Online POC</a:t>
                      </a:r>
                    </a:p>
                  </a:txBody>
                  <a:tcPr marL="137160" marR="137160" marT="68580" marB="68580" anchor="ctr">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a:lnSpc>
                          <a:spcPct val="100000"/>
                        </a:lnSpc>
                        <a:spcBef>
                          <a:spcPts val="0"/>
                        </a:spcBef>
                        <a:spcAft>
                          <a:spcPts val="0"/>
                        </a:spcAft>
                        <a:buNone/>
                      </a:pPr>
                      <a:r>
                        <a:rPr lang="en-US" sz="1600" b="0" i="0" u="none" strike="noStrike" kern="1200" cap="none" spc="0" normalizeH="0" baseline="0" noProof="0">
                          <a:ln>
                            <a:noFill/>
                          </a:ln>
                          <a:solidFill>
                            <a:srgbClr val="000000"/>
                          </a:solidFill>
                          <a:effectLst/>
                          <a:uLnTx/>
                          <a:uFillTx/>
                          <a:latin typeface="Calibri"/>
                        </a:rPr>
                        <a:t>completed</a:t>
                      </a:r>
                      <a:endParaRPr kumimoji="0" lang="en-US" sz="1600" b="0" i="0" u="none" strike="noStrike" kern="1200" cap="none" spc="0" normalizeH="0" baseline="0" noProof="0">
                        <a:ln>
                          <a:noFill/>
                        </a:ln>
                        <a:solidFill>
                          <a:srgbClr val="000000"/>
                        </a:solidFill>
                        <a:effectLst/>
                        <a:uLnTx/>
                        <a:uFillTx/>
                        <a:latin typeface="Calibri"/>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r>
                        <a:rPr lang="en-US" sz="1600"/>
                        <a:t>27th </a:t>
                      </a:r>
                      <a:r>
                        <a:rPr lang="en-US" sz="1600" err="1"/>
                        <a:t>feb</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a:lnSpc>
                          <a:spcPct val="100000"/>
                        </a:lnSpc>
                        <a:spcBef>
                          <a:spcPts val="0"/>
                        </a:spcBef>
                        <a:spcAft>
                          <a:spcPts val="0"/>
                        </a:spcAft>
                        <a:buNone/>
                        <a:tabLst/>
                        <a:defRPr/>
                      </a:pPr>
                      <a:r>
                        <a:rPr lang="en-US" sz="1600" b="0" i="0" u="none" strike="noStrike" noProof="0">
                          <a:solidFill>
                            <a:srgbClr val="000000"/>
                          </a:solidFill>
                          <a:latin typeface="Calibri"/>
                          <a:ea typeface="Calibri"/>
                          <a:cs typeface="Calibri"/>
                        </a:rPr>
                        <a:t>FIB</a:t>
                      </a:r>
                      <a:endParaRPr lang="en-US"/>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7621933"/>
                  </a:ext>
                </a:extLst>
              </a:tr>
              <a:tr h="377190">
                <a:tc vMerge="1">
                  <a:txBody>
                    <a:bodyPr/>
                    <a:lstStyle/>
                    <a:p>
                      <a:endParaRPr lang="en-US"/>
                    </a:p>
                  </a:txBody>
                  <a:tcPr>
                    <a:lnT w="12700" cap="flat" cmpd="sng" algn="ctr">
                      <a:solidFill>
                        <a:schemeClr val="tx1"/>
                      </a:solidFill>
                      <a:prstDash val="solid"/>
                      <a:round/>
                      <a:headEnd type="none" w="med" len="med"/>
                      <a:tailEnd type="none" w="med" len="med"/>
                    </a:lnT>
                  </a:tcPr>
                </a:tc>
                <a:tc>
                  <a:txBody>
                    <a:bodyPr/>
                    <a:lstStyle/>
                    <a:p>
                      <a:pPr marL="274320" lvl="1" indent="0" algn="l" defTabSz="914400" rtl="0" eaLnBrk="1" latinLnBrk="0" hangingPunct="1">
                        <a:buClr>
                          <a:srgbClr val="002060"/>
                        </a:buClr>
                        <a:buSzPct val="150000"/>
                        <a:buFontTx/>
                        <a:buNone/>
                      </a:pPr>
                      <a:r>
                        <a:rPr lang="en-US" sz="1600" kern="1200">
                          <a:solidFill>
                            <a:schemeClr val="dk1"/>
                          </a:solidFill>
                          <a:latin typeface="+mn-lt"/>
                          <a:ea typeface="+mn-ea"/>
                          <a:cs typeface="+mn-cs"/>
                        </a:rPr>
                        <a:t>BRD approval</a:t>
                      </a: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1600" b="0" i="0" u="none" strike="noStrike" kern="1200" cap="none" spc="0" normalizeH="0" baseline="0" noProof="0">
                          <a:ln>
                            <a:noFill/>
                          </a:ln>
                          <a:solidFill>
                            <a:srgbClr val="000000"/>
                          </a:solidFill>
                          <a:effectLst/>
                          <a:uLnTx/>
                          <a:uFillTx/>
                          <a:latin typeface="Calibri"/>
                          <a:ea typeface="Calibri"/>
                          <a:cs typeface="Calibri"/>
                        </a:rPr>
                        <a:t>completed</a:t>
                      </a:r>
                      <a:endParaRPr lang="en-US" sz="1600" b="0" i="0" u="none" strike="noStrike" kern="1200" cap="none" spc="0" normalizeH="0" baseline="0" noProof="0">
                        <a:ln>
                          <a:noFill/>
                        </a:ln>
                        <a:solidFill>
                          <a:srgbClr val="000000"/>
                        </a:solidFill>
                        <a:effectLst/>
                        <a:uLnTx/>
                        <a:uFillTx/>
                        <a:latin typeface="Calibri"/>
                      </a:endParaRPr>
                    </a:p>
                    <a:p>
                      <a:pPr lvl="0" algn="ctr" defTabSz="914400">
                        <a:lnSpc>
                          <a:spcPct val="100000"/>
                        </a:lnSpc>
                        <a:spcBef>
                          <a:spcPts val="0"/>
                        </a:spcBef>
                        <a:spcAft>
                          <a:spcPts val="0"/>
                        </a:spcAft>
                        <a:buNone/>
                        <a:tabLst/>
                        <a:defRPr/>
                      </a:pPr>
                      <a:endParaRPr kumimoji="0" lang="en-US" sz="1600" b="0" i="0" u="none" strike="noStrike" kern="1200" cap="none" spc="0" normalizeH="0" baseline="0" noProof="0">
                        <a:ln>
                          <a:noFill/>
                        </a:ln>
                        <a:solidFill>
                          <a:srgbClr val="000000"/>
                        </a:solidFill>
                        <a:effectLst/>
                        <a:uLnTx/>
                        <a:uFillTx/>
                        <a:latin typeface="Calibri"/>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r>
                        <a:rPr lang="en-US" sz="1600"/>
                        <a:t>30th </a:t>
                      </a:r>
                      <a:r>
                        <a:rPr lang="en-US" sz="1600" err="1"/>
                        <a:t>feb</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a:lnSpc>
                          <a:spcPct val="100000"/>
                        </a:lnSpc>
                        <a:spcBef>
                          <a:spcPts val="0"/>
                        </a:spcBef>
                        <a:spcAft>
                          <a:spcPts val="0"/>
                        </a:spcAft>
                        <a:buNone/>
                        <a:tabLst/>
                        <a:defRPr/>
                      </a:pPr>
                      <a:r>
                        <a:rPr lang="en-US" sz="1600" b="0" i="0" u="none" strike="noStrike" noProof="0">
                          <a:solidFill>
                            <a:srgbClr val="000000"/>
                          </a:solidFill>
                          <a:latin typeface="Calibri"/>
                          <a:ea typeface="Calibri"/>
                          <a:cs typeface="Calibri"/>
                        </a:rPr>
                        <a:t>FIB</a:t>
                      </a:r>
                      <a:endParaRPr lang="en-US"/>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09769463"/>
                  </a:ext>
                </a:extLst>
              </a:tr>
              <a:tr h="377190">
                <a:tc vMerge="1">
                  <a:txBody>
                    <a:bodyPr/>
                    <a:lstStyle/>
                    <a:p>
                      <a:pPr marL="0" indent="0">
                        <a:buClr>
                          <a:srgbClr val="002060"/>
                        </a:buClr>
                        <a:buSzPct val="150000"/>
                        <a:buFontTx/>
                        <a:buNone/>
                      </a:pPr>
                      <a:endParaRPr kumimoji="0" lang="en-US" sz="1050" b="1" i="0" u="none" strike="noStrike" kern="1200" cap="none" spc="0" normalizeH="0" baseline="0">
                        <a:ln>
                          <a:noFill/>
                        </a:ln>
                        <a:solidFill>
                          <a:srgbClr val="000000"/>
                        </a:solidFill>
                        <a:effectLst/>
                        <a:uLnTx/>
                        <a:uFillTx/>
                        <a:latin typeface="Arial"/>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74320" lvl="1" indent="0" algn="l" defTabSz="914400" rtl="0" eaLnBrk="1" latinLnBrk="0" hangingPunct="1">
                        <a:buClr>
                          <a:srgbClr val="002060"/>
                        </a:buClr>
                        <a:buSzPct val="150000"/>
                        <a:buFontTx/>
                        <a:buNone/>
                      </a:pPr>
                      <a:r>
                        <a:rPr lang="en-US" sz="1600" kern="1200">
                          <a:solidFill>
                            <a:schemeClr val="dk1"/>
                          </a:solidFill>
                          <a:latin typeface="+mn-lt"/>
                          <a:ea typeface="+mn-ea"/>
                          <a:cs typeface="+mn-cs"/>
                        </a:rPr>
                        <a:t>Procurement process</a:t>
                      </a: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1600" b="0" i="0" u="none" strike="noStrike" kern="1200" cap="none" spc="0" normalizeH="0" baseline="0" noProof="0">
                          <a:ln>
                            <a:noFill/>
                          </a:ln>
                          <a:solidFill>
                            <a:srgbClr val="000000"/>
                          </a:solidFill>
                          <a:effectLst/>
                          <a:uLnTx/>
                          <a:uFillTx/>
                          <a:latin typeface="Calibri"/>
                          <a:ea typeface="Calibri"/>
                          <a:cs typeface="Calibri"/>
                        </a:rPr>
                        <a:t>completed</a:t>
                      </a:r>
                      <a:endParaRPr lang="en-US" sz="1600" b="0" i="0" u="none" strike="noStrike" kern="1200" cap="none" spc="0" normalizeH="0" baseline="0" noProof="0">
                        <a:ln>
                          <a:noFill/>
                        </a:ln>
                        <a:solidFill>
                          <a:srgbClr val="000000"/>
                        </a:solidFill>
                        <a:effectLst/>
                        <a:uLnTx/>
                        <a:uFillTx/>
                        <a:latin typeface="Calibri"/>
                      </a:endParaRPr>
                    </a:p>
                    <a:p>
                      <a:pPr marL="0" marR="0" lvl="0" indent="0" algn="ctr" defTabSz="914400">
                        <a:lnSpc>
                          <a:spcPct val="100000"/>
                        </a:lnSpc>
                        <a:spcBef>
                          <a:spcPts val="0"/>
                        </a:spcBef>
                        <a:spcAft>
                          <a:spcPts val="0"/>
                        </a:spcAft>
                        <a:buNone/>
                        <a:tabLst/>
                        <a:defRPr/>
                      </a:pPr>
                      <a:endParaRPr kumimoji="0" lang="en-US" sz="1600" b="0" i="0" u="none" strike="noStrike" kern="1200" cap="none" spc="0" normalizeH="0" baseline="0" noProof="0">
                        <a:ln>
                          <a:noFill/>
                        </a:ln>
                        <a:solidFill>
                          <a:srgbClr val="000000"/>
                        </a:solidFill>
                        <a:effectLst/>
                        <a:uLnTx/>
                        <a:uFillTx/>
                        <a:latin typeface="Calibri"/>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r>
                        <a:rPr lang="en-US" sz="1600"/>
                        <a:t>5th March</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a:lnSpc>
                          <a:spcPct val="100000"/>
                        </a:lnSpc>
                        <a:spcBef>
                          <a:spcPts val="0"/>
                        </a:spcBef>
                        <a:spcAft>
                          <a:spcPts val="0"/>
                        </a:spcAft>
                        <a:buNone/>
                        <a:tabLst/>
                        <a:defRPr/>
                      </a:pPr>
                      <a:r>
                        <a:rPr lang="en-US" sz="1600" b="0" i="0" u="none" strike="noStrike" noProof="0">
                          <a:solidFill>
                            <a:srgbClr val="000000"/>
                          </a:solidFill>
                          <a:latin typeface="Calibri"/>
                          <a:ea typeface="Calibri"/>
                          <a:cs typeface="Calibri"/>
                        </a:rPr>
                        <a:t>FIB</a:t>
                      </a:r>
                      <a:endParaRPr lang="en-US"/>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17332579"/>
                  </a:ext>
                </a:extLst>
              </a:tr>
              <a:tr h="563492">
                <a:tc vMerge="1">
                  <a:txBody>
                    <a:bodyPr/>
                    <a:lstStyle/>
                    <a:p>
                      <a:endParaRPr lang="en-US"/>
                    </a:p>
                  </a:txBody>
                  <a:tcPr/>
                </a:tc>
                <a:tc>
                  <a:txBody>
                    <a:bodyPr/>
                    <a:lstStyle/>
                    <a:p>
                      <a:pPr marL="274320" lvl="1" indent="0" algn="l" defTabSz="914400" rtl="0" eaLnBrk="1" latinLnBrk="0" hangingPunct="1">
                        <a:buClr>
                          <a:srgbClr val="002060"/>
                        </a:buClr>
                        <a:buSzPct val="150000"/>
                        <a:buFontTx/>
                        <a:buNone/>
                      </a:pPr>
                      <a:r>
                        <a:rPr lang="en-US" sz="1600" kern="1200">
                          <a:solidFill>
                            <a:schemeClr val="dk1"/>
                          </a:solidFill>
                          <a:latin typeface="+mn-lt"/>
                          <a:ea typeface="+mn-ea"/>
                          <a:cs typeface="+mn-cs"/>
                        </a:rPr>
                        <a:t>Planning</a:t>
                      </a: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1600" b="0" i="0" u="none" strike="noStrike" kern="1200" cap="none" spc="0" normalizeH="0" baseline="0" noProof="0">
                          <a:ln>
                            <a:noFill/>
                          </a:ln>
                          <a:solidFill>
                            <a:srgbClr val="000000"/>
                          </a:solidFill>
                          <a:effectLst/>
                          <a:uLnTx/>
                          <a:uFillTx/>
                          <a:latin typeface="Calibri"/>
                          <a:ea typeface="Calibri"/>
                          <a:cs typeface="Calibri"/>
                        </a:rPr>
                        <a:t>completed</a:t>
                      </a:r>
                      <a:endParaRPr lang="en-US" sz="1600" b="0" i="0" u="none" strike="noStrike" kern="1200" cap="none" spc="0" normalizeH="0" baseline="0" noProof="0">
                        <a:ln>
                          <a:noFill/>
                        </a:ln>
                        <a:solidFill>
                          <a:srgbClr val="000000"/>
                        </a:solidFill>
                        <a:effectLst/>
                        <a:uLnTx/>
                        <a:uFillTx/>
                        <a:latin typeface="Calibri"/>
                      </a:endParaRPr>
                    </a:p>
                    <a:p>
                      <a:pPr marL="0" marR="0" lvl="0" indent="0" algn="ctr" defTabSz="91440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mn-lt"/>
                        <a:ea typeface="+mn-ea"/>
                        <a:cs typeface="+mn-cs"/>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1600" b="0" i="0" u="none" strike="noStrike" baseline="0" noProof="0">
                          <a:solidFill>
                            <a:srgbClr val="000000"/>
                          </a:solidFill>
                          <a:latin typeface="Calibri"/>
                          <a:ea typeface="Calibri"/>
                          <a:cs typeface="Calibri"/>
                        </a:rPr>
                        <a:t>5th March</a:t>
                      </a:r>
                    </a:p>
                    <a:p>
                      <a:pPr lvl="0" algn="ctr">
                        <a:buNone/>
                      </a:pPr>
                      <a:endParaRPr lang="en-US" sz="1600" strike="noStrike" baseline="0"/>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t>PMO</a:t>
                      </a:r>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67274526"/>
                  </a:ext>
                </a:extLst>
              </a:tr>
              <a:tr h="563492">
                <a:tc vMerge="1">
                  <a:txBody>
                    <a:bodyPr/>
                    <a:lstStyle/>
                    <a:p>
                      <a:pPr marL="0" indent="0">
                        <a:buClr>
                          <a:srgbClr val="002060"/>
                        </a:buClr>
                        <a:buSzPct val="150000"/>
                        <a:buFontTx/>
                        <a:buNone/>
                      </a:pPr>
                      <a:endParaRPr kumimoji="0" lang="en-US" sz="1050" b="1" i="0" u="none" strike="noStrike" kern="1200" cap="none" spc="0" normalizeH="0" baseline="0">
                        <a:ln>
                          <a:noFill/>
                        </a:ln>
                        <a:solidFill>
                          <a:srgbClr val="000000"/>
                        </a:solidFill>
                        <a:effectLst/>
                        <a:uLnTx/>
                        <a:uFillTx/>
                        <a:latin typeface="Arial"/>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74320" lvl="1" indent="0" algn="l" defTabSz="914400" rtl="0" eaLnBrk="1" latinLnBrk="0" hangingPunct="1">
                        <a:buClr>
                          <a:srgbClr val="002060"/>
                        </a:buClr>
                        <a:buSzPct val="150000"/>
                        <a:buFontTx/>
                        <a:buNone/>
                      </a:pPr>
                      <a:r>
                        <a:rPr lang="en-US" sz="1600" kern="1200">
                          <a:solidFill>
                            <a:schemeClr val="dk1"/>
                          </a:solidFill>
                          <a:latin typeface="+mn-lt"/>
                          <a:ea typeface="+mn-ea"/>
                          <a:cs typeface="+mn-cs"/>
                        </a:rPr>
                        <a:t> Development</a:t>
                      </a: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1600" b="0" i="0" u="none" strike="noStrike" kern="1200" cap="none" spc="0" normalizeH="0" baseline="0" noProof="0">
                          <a:ln>
                            <a:noFill/>
                          </a:ln>
                          <a:solidFill>
                            <a:srgbClr val="000000"/>
                          </a:solidFill>
                          <a:effectLst/>
                          <a:uLnTx/>
                          <a:uFillTx/>
                          <a:latin typeface="Calibri"/>
                          <a:ea typeface="Calibri"/>
                          <a:cs typeface="Calibri"/>
                        </a:rPr>
                        <a:t>completed</a:t>
                      </a:r>
                      <a:endParaRPr lang="en-US" sz="1600" b="0" i="0" u="none" strike="noStrike" kern="1200" cap="none" spc="0" normalizeH="0" baseline="0" noProof="0">
                        <a:ln>
                          <a:noFill/>
                        </a:ln>
                        <a:solidFill>
                          <a:srgbClr val="000000"/>
                        </a:solidFill>
                        <a:effectLst/>
                        <a:uLnTx/>
                        <a:uFillTx/>
                        <a:latin typeface="Calibri"/>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r>
                        <a:rPr lang="en-US" sz="1600"/>
                        <a:t>20th March</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a:lnSpc>
                          <a:spcPct val="100000"/>
                        </a:lnSpc>
                        <a:spcBef>
                          <a:spcPts val="0"/>
                        </a:spcBef>
                        <a:spcAft>
                          <a:spcPts val="0"/>
                        </a:spcAft>
                        <a:buNone/>
                        <a:tabLst/>
                        <a:defRPr/>
                      </a:pPr>
                      <a:r>
                        <a:rPr lang="en-US" sz="1600" b="0" i="0" u="none" strike="noStrike" noProof="0">
                          <a:solidFill>
                            <a:srgbClr val="000000"/>
                          </a:solidFill>
                          <a:latin typeface="Calibri"/>
                          <a:ea typeface="Calibri"/>
                          <a:cs typeface="Calibri"/>
                        </a:rPr>
                        <a:t>FIB</a:t>
                      </a:r>
                      <a:endParaRPr lang="en-US"/>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34818391"/>
                  </a:ext>
                </a:extLst>
              </a:tr>
              <a:tr h="563492">
                <a:tc vMerge="1">
                  <a:txBody>
                    <a:bodyPr/>
                    <a:lstStyle/>
                    <a:p>
                      <a:pPr marL="0" indent="0">
                        <a:buClr>
                          <a:srgbClr val="002060"/>
                        </a:buClr>
                        <a:buSzPct val="150000"/>
                        <a:buFontTx/>
                        <a:buNone/>
                      </a:pPr>
                      <a:endParaRPr kumimoji="0" lang="en-US" sz="1050" b="1" i="0" u="none" strike="noStrike" kern="1200" cap="none" spc="0" normalizeH="0" baseline="0">
                        <a:ln>
                          <a:noFill/>
                        </a:ln>
                        <a:solidFill>
                          <a:srgbClr val="000000"/>
                        </a:solidFill>
                        <a:effectLst/>
                        <a:uLnTx/>
                        <a:uFillTx/>
                        <a:latin typeface="Arial"/>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74320" lvl="1" indent="0" algn="l" defTabSz="914400" rtl="0" eaLnBrk="1" latinLnBrk="0" hangingPunct="1">
                        <a:buClr>
                          <a:srgbClr val="002060"/>
                        </a:buClr>
                        <a:buSzPct val="150000"/>
                        <a:buFontTx/>
                        <a:buNone/>
                      </a:pPr>
                      <a:r>
                        <a:rPr lang="en-US" sz="1600" kern="1200">
                          <a:solidFill>
                            <a:schemeClr val="dk1"/>
                          </a:solidFill>
                          <a:latin typeface="+mn-lt"/>
                          <a:ea typeface="+mn-ea"/>
                          <a:cs typeface="+mn-cs"/>
                        </a:rPr>
                        <a:t>SIT testing</a:t>
                      </a: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a:lnSpc>
                          <a:spcPct val="100000"/>
                        </a:lnSpc>
                        <a:spcBef>
                          <a:spcPts val="0"/>
                        </a:spcBef>
                        <a:spcAft>
                          <a:spcPts val="0"/>
                        </a:spcAft>
                        <a:buNone/>
                      </a:pPr>
                      <a:r>
                        <a:rPr lang="en-US" sz="1600" b="0" i="0" u="none" strike="noStrike" kern="1200" cap="none" spc="0" normalizeH="0" baseline="0" noProof="0">
                          <a:ln>
                            <a:noFill/>
                          </a:ln>
                          <a:solidFill>
                            <a:srgbClr val="000000"/>
                          </a:solidFill>
                          <a:effectLst/>
                          <a:uLnTx/>
                          <a:uFillTx/>
                          <a:latin typeface="Calibri"/>
                          <a:ea typeface="Calibri"/>
                          <a:cs typeface="Calibri"/>
                        </a:rPr>
                        <a:t>completed</a:t>
                      </a:r>
                      <a:endParaRPr kumimoji="0" lang="en-US"/>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r>
                        <a:rPr lang="en-US" sz="1600"/>
                        <a:t>30th March</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1600" b="0" i="0" u="none" strike="noStrike" noProof="0">
                          <a:solidFill>
                            <a:srgbClr val="000000"/>
                          </a:solidFill>
                          <a:latin typeface="Calibri"/>
                          <a:ea typeface="Calibri"/>
                          <a:cs typeface="Calibri"/>
                        </a:rPr>
                        <a:t>BMB &amp; Newroz &amp; FIB</a:t>
                      </a:r>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03154"/>
                  </a:ext>
                </a:extLst>
              </a:tr>
              <a:tr h="377190">
                <a:tc vMerge="1">
                  <a:txBody>
                    <a:bodyPr/>
                    <a:lstStyle/>
                    <a:p>
                      <a:pPr marL="0" indent="0">
                        <a:buClr>
                          <a:srgbClr val="002060"/>
                        </a:buClr>
                        <a:buSzPct val="150000"/>
                        <a:buFontTx/>
                        <a:buNone/>
                      </a:pPr>
                      <a:endParaRPr kumimoji="0" lang="en-US" sz="1050" b="1" i="0" u="none" strike="noStrike" kern="1200" cap="none" spc="0" normalizeH="0" baseline="0">
                        <a:ln>
                          <a:noFill/>
                        </a:ln>
                        <a:solidFill>
                          <a:srgbClr val="000000"/>
                        </a:solidFill>
                        <a:effectLst/>
                        <a:uLnTx/>
                        <a:uFillTx/>
                        <a:latin typeface="Arial"/>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74320" lvl="1" indent="0" algn="l" defTabSz="914400" rtl="0" eaLnBrk="1" latinLnBrk="0" hangingPunct="1">
                        <a:buClr>
                          <a:srgbClr val="002060"/>
                        </a:buClr>
                        <a:buSzPct val="150000"/>
                        <a:buFontTx/>
                        <a:buNone/>
                      </a:pPr>
                      <a:r>
                        <a:rPr lang="en-US" sz="1600" kern="1200">
                          <a:solidFill>
                            <a:schemeClr val="dk1"/>
                          </a:solidFill>
                          <a:latin typeface="+mn-lt"/>
                          <a:ea typeface="+mn-ea"/>
                          <a:cs typeface="+mn-cs"/>
                        </a:rPr>
                        <a:t>UAT testing</a:t>
                      </a: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1600" b="0" i="0" u="none" strike="noStrike" kern="1200" cap="none" spc="0" normalizeH="0" baseline="0" noProof="0">
                          <a:ln>
                            <a:noFill/>
                          </a:ln>
                          <a:solidFill>
                            <a:srgbClr val="000000"/>
                          </a:solidFill>
                          <a:effectLst/>
                          <a:uLnTx/>
                          <a:uFillTx/>
                          <a:latin typeface="Calibri"/>
                          <a:ea typeface="Calibri"/>
                          <a:cs typeface="Calibri"/>
                        </a:rPr>
                        <a:t>completed</a:t>
                      </a:r>
                    </a:p>
                    <a:p>
                      <a:pPr marL="0" marR="0" lvl="0" indent="0" algn="ctr">
                        <a:lnSpc>
                          <a:spcPct val="100000"/>
                        </a:lnSpc>
                        <a:spcBef>
                          <a:spcPts val="0"/>
                        </a:spcBef>
                        <a:spcAft>
                          <a:spcPts val="0"/>
                        </a:spcAft>
                        <a:buNone/>
                      </a:pPr>
                      <a:endParaRPr kumimoji="0" lang="en-US" sz="1600" b="0" i="0" u="none" strike="noStrike" kern="1200" cap="none" spc="0" normalizeH="0" baseline="0" noProof="0">
                        <a:ln>
                          <a:noFill/>
                        </a:ln>
                        <a:solidFill>
                          <a:srgbClr val="000000"/>
                        </a:solidFill>
                        <a:effectLst/>
                        <a:uLnTx/>
                        <a:uFillTx/>
                        <a:latin typeface="Calibri"/>
                        <a:ea typeface="Calibri"/>
                        <a:cs typeface="Calibri"/>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1600" b="0" i="0" u="none" strike="noStrike" noProof="0">
                          <a:solidFill>
                            <a:schemeClr val="dk1"/>
                          </a:solidFill>
                          <a:latin typeface="Calibri"/>
                          <a:ea typeface="Calibri"/>
                          <a:cs typeface="Calibri"/>
                        </a:rPr>
                        <a:t>14th April</a:t>
                      </a:r>
                      <a:endParaRPr lang="en-US"/>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rtl="0" eaLnBrk="1" fontAlgn="auto" latinLnBrk="0" hangingPunct="1">
                        <a:lnSpc>
                          <a:spcPct val="100000"/>
                        </a:lnSpc>
                        <a:spcBef>
                          <a:spcPts val="0"/>
                        </a:spcBef>
                        <a:spcAft>
                          <a:spcPts val="0"/>
                        </a:spcAft>
                        <a:buClrTx/>
                        <a:buSzTx/>
                        <a:buFontTx/>
                        <a:buNone/>
                      </a:pPr>
                      <a:r>
                        <a:rPr lang="en-US" sz="1600"/>
                        <a:t>BMB &amp; Newroz &amp; FIB</a:t>
                      </a:r>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41739212"/>
                  </a:ext>
                </a:extLst>
              </a:tr>
              <a:tr h="377190">
                <a:tc vMerge="1">
                  <a:txBody>
                    <a:bodyPr/>
                    <a:lstStyle/>
                    <a:p>
                      <a:pPr marL="0" indent="0">
                        <a:buClr>
                          <a:srgbClr val="002060"/>
                        </a:buClr>
                        <a:buSzPct val="150000"/>
                        <a:buFontTx/>
                        <a:buNone/>
                      </a:pPr>
                      <a:endParaRPr kumimoji="0" lang="en-US" sz="1050" b="1" i="0" u="none" strike="noStrike" kern="1200" cap="none" spc="0" normalizeH="0" baseline="0">
                        <a:ln>
                          <a:noFill/>
                        </a:ln>
                        <a:solidFill>
                          <a:srgbClr val="000000"/>
                        </a:solidFill>
                        <a:effectLst/>
                        <a:uLnTx/>
                        <a:uFillTx/>
                        <a:latin typeface="Arial"/>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tc>
                  <a:txBody>
                    <a:bodyPr/>
                    <a:lstStyle/>
                    <a:p>
                      <a:pPr marL="274320" lvl="1" indent="0" algn="l" defTabSz="914400" rtl="0" eaLnBrk="1" latinLnBrk="0" hangingPunct="1">
                        <a:buClr>
                          <a:srgbClr val="002060"/>
                        </a:buClr>
                        <a:buSzPct val="150000"/>
                        <a:buFontTx/>
                        <a:buNone/>
                      </a:pPr>
                      <a:r>
                        <a:rPr lang="en-US" sz="1600" kern="1200">
                          <a:solidFill>
                            <a:schemeClr val="dk1"/>
                          </a:solidFill>
                          <a:latin typeface="+mn-lt"/>
                          <a:ea typeface="+mn-ea"/>
                          <a:cs typeface="+mn-cs"/>
                        </a:rPr>
                        <a:t>Go-live activities</a:t>
                      </a: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1600" b="0" i="0" u="none" strike="noStrike" kern="1200" cap="none" spc="0" normalizeH="0" baseline="0" noProof="0">
                          <a:ln>
                            <a:noFill/>
                          </a:ln>
                          <a:solidFill>
                            <a:srgbClr val="000000"/>
                          </a:solidFill>
                          <a:effectLst/>
                          <a:uLnTx/>
                          <a:uFillTx/>
                          <a:latin typeface="Calibri"/>
                          <a:ea typeface="Calibri"/>
                          <a:cs typeface="Calibri"/>
                        </a:rPr>
                        <a:t>completed</a:t>
                      </a:r>
                    </a:p>
                    <a:p>
                      <a:pPr lvl="0" algn="ctr">
                        <a:lnSpc>
                          <a:spcPct val="100000"/>
                        </a:lnSpc>
                        <a:spcBef>
                          <a:spcPts val="0"/>
                        </a:spcBef>
                        <a:spcAft>
                          <a:spcPts val="0"/>
                        </a:spcAft>
                        <a:buNone/>
                      </a:pPr>
                      <a:endParaRPr lang="en-US" sz="1600" b="0" i="0" u="none" strike="noStrike" kern="1200" cap="none" spc="0" normalizeH="0" baseline="0" noProof="0">
                        <a:ln>
                          <a:noFill/>
                        </a:ln>
                        <a:solidFill>
                          <a:srgbClr val="000000"/>
                        </a:solidFill>
                        <a:effectLst/>
                        <a:uLnTx/>
                        <a:uFillTx/>
                        <a:latin typeface="Calibri"/>
                        <a:ea typeface="Calibri"/>
                        <a:cs typeface="Calibri"/>
                      </a:endParaRPr>
                    </a:p>
                    <a:p>
                      <a:pPr marL="0" marR="0" lvl="0" indent="0" algn="ctr" defTabSz="91440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1600" b="0" i="0" u="none" strike="noStrike" kern="1200" noProof="0">
                          <a:solidFill>
                            <a:schemeClr val="dk1"/>
                          </a:solidFill>
                          <a:latin typeface="Calibri"/>
                          <a:ea typeface="Calibri"/>
                          <a:cs typeface="Calibri"/>
                        </a:rPr>
                        <a:t>14th April</a:t>
                      </a:r>
                      <a:endParaRPr lang="en-US" b="0" i="0" u="none" strike="noStrike" noProof="0">
                        <a:latin typeface="Calibri"/>
                        <a:ea typeface="Calibri"/>
                        <a:cs typeface="Calibri"/>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1600" b="0" i="0" u="none" strike="noStrike" noProof="0">
                          <a:solidFill>
                            <a:srgbClr val="000000"/>
                          </a:solidFill>
                          <a:latin typeface="Calibri"/>
                          <a:ea typeface="Calibri"/>
                          <a:cs typeface="Calibri"/>
                        </a:rPr>
                        <a:t>FIB</a:t>
                      </a:r>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48704062"/>
                  </a:ext>
                </a:extLst>
              </a:tr>
            </a:tbl>
          </a:graphicData>
        </a:graphic>
      </p:graphicFrame>
      <p:sp>
        <p:nvSpPr>
          <p:cNvPr id="7" name="TextBox 2">
            <a:extLst>
              <a:ext uri="{FF2B5EF4-FFF2-40B4-BE49-F238E27FC236}">
                <a16:creationId xmlns:a16="http://schemas.microsoft.com/office/drawing/2014/main" id="{ECF0C58E-F4B7-5ED2-7172-29565615B19D}"/>
              </a:ext>
            </a:extLst>
          </p:cNvPr>
          <p:cNvSpPr txBox="1"/>
          <p:nvPr/>
        </p:nvSpPr>
        <p:spPr>
          <a:xfrm>
            <a:off x="826143" y="220642"/>
            <a:ext cx="13304262" cy="1318502"/>
          </a:xfrm>
          <a:prstGeom prst="rect">
            <a:avLst/>
          </a:prstGeom>
        </p:spPr>
        <p:txBody>
          <a:bodyPr wrap="square" lIns="0" tIns="0" rIns="0" bIns="0" rtlCol="0" anchor="t">
            <a:spAutoFit/>
          </a:bodyPr>
          <a:lstStyle/>
          <a:p>
            <a:pPr>
              <a:lnSpc>
                <a:spcPts val="11200"/>
              </a:lnSpc>
              <a:spcBef>
                <a:spcPct val="0"/>
              </a:spcBef>
            </a:pPr>
            <a:r>
              <a:rPr lang="en-US" sz="8000" b="1">
                <a:solidFill>
                  <a:srgbClr val="03A39D"/>
                </a:solidFill>
                <a:latin typeface="Inter Bold"/>
                <a:ea typeface="Inter Bold"/>
                <a:cs typeface="Inter Bold"/>
                <a:sym typeface="Inter Bold"/>
              </a:rPr>
              <a:t>Contact Center</a:t>
            </a:r>
            <a:r>
              <a:rPr lang="en-US" sz="8000" b="1">
                <a:solidFill>
                  <a:srgbClr val="1C1818"/>
                </a:solidFill>
                <a:latin typeface="Inter Bold"/>
                <a:ea typeface="Inter Bold"/>
                <a:cs typeface="Inter Bold"/>
                <a:sym typeface="Inter Bold"/>
              </a:rPr>
              <a:t> PROJECT</a:t>
            </a:r>
          </a:p>
        </p:txBody>
      </p:sp>
    </p:spTree>
    <p:extLst>
      <p:ext uri="{BB962C8B-B14F-4D97-AF65-F5344CB8AC3E}">
        <p14:creationId xmlns:p14="http://schemas.microsoft.com/office/powerpoint/2010/main" val="26504087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A52BE-A3E1-409D-4FF4-FEB9F8C3D4E1}"/>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285FB45C-032B-9247-16AC-84C32CC7E86E}"/>
              </a:ext>
            </a:extLst>
          </p:cNvPr>
          <p:cNvSpPr txBox="1"/>
          <p:nvPr/>
        </p:nvSpPr>
        <p:spPr>
          <a:xfrm>
            <a:off x="1028700" y="857250"/>
            <a:ext cx="9831857" cy="1387393"/>
          </a:xfrm>
          <a:prstGeom prst="rect">
            <a:avLst/>
          </a:prstGeom>
        </p:spPr>
        <p:txBody>
          <a:bodyPr lIns="0" tIns="0" rIns="0" bIns="0" rtlCol="0" anchor="t">
            <a:spAutoFit/>
          </a:bodyPr>
          <a:lstStyle/>
          <a:p>
            <a:pPr algn="l">
              <a:lnSpc>
                <a:spcPts val="11200"/>
              </a:lnSpc>
              <a:spcBef>
                <a:spcPct val="0"/>
              </a:spcBef>
            </a:pPr>
            <a:r>
              <a:rPr lang="en-US" sz="8000" b="1">
                <a:solidFill>
                  <a:srgbClr val="03A39D"/>
                </a:solidFill>
                <a:latin typeface="Inter Bold"/>
                <a:ea typeface="Inter Bold"/>
                <a:cs typeface="Inter Bold"/>
                <a:sym typeface="Inter Bold"/>
              </a:rPr>
              <a:t>ZENHR</a:t>
            </a:r>
            <a:r>
              <a:rPr lang="en-US" sz="8000" b="1">
                <a:solidFill>
                  <a:srgbClr val="1C1818"/>
                </a:solidFill>
                <a:latin typeface="Inter Bold"/>
                <a:ea typeface="Inter Bold"/>
                <a:cs typeface="Inter Bold"/>
                <a:sym typeface="Inter Bold"/>
              </a:rPr>
              <a:t> PROJECT</a:t>
            </a:r>
          </a:p>
        </p:txBody>
      </p:sp>
      <p:sp>
        <p:nvSpPr>
          <p:cNvPr id="3" name="Freeform 3">
            <a:extLst>
              <a:ext uri="{FF2B5EF4-FFF2-40B4-BE49-F238E27FC236}">
                <a16:creationId xmlns:a16="http://schemas.microsoft.com/office/drawing/2014/main" id="{14FB64BE-6D74-3EA9-84E0-4C979250A1A5}"/>
              </a:ext>
            </a:extLst>
          </p:cNvPr>
          <p:cNvSpPr/>
          <p:nvPr/>
        </p:nvSpPr>
        <p:spPr>
          <a:xfrm>
            <a:off x="0" y="0"/>
            <a:ext cx="1028700" cy="1028700"/>
          </a:xfrm>
          <a:custGeom>
            <a:avLst/>
            <a:gdLst/>
            <a:ahLst/>
            <a:cxnLst/>
            <a:rect l="l" t="t" r="r" b="b"/>
            <a:pathLst>
              <a:path w="1028700" h="1028700">
                <a:moveTo>
                  <a:pt x="0" y="0"/>
                </a:moveTo>
                <a:lnTo>
                  <a:pt x="1028700" y="0"/>
                </a:lnTo>
                <a:lnTo>
                  <a:pt x="1028700" y="1028700"/>
                </a:lnTo>
                <a:lnTo>
                  <a:pt x="0" y="10287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14" name="Group 14">
            <a:extLst>
              <a:ext uri="{FF2B5EF4-FFF2-40B4-BE49-F238E27FC236}">
                <a16:creationId xmlns:a16="http://schemas.microsoft.com/office/drawing/2014/main" id="{EFB7EAB0-C490-1852-7E01-CF8C66DF2AA8}"/>
              </a:ext>
            </a:extLst>
          </p:cNvPr>
          <p:cNvGrpSpPr/>
          <p:nvPr/>
        </p:nvGrpSpPr>
        <p:grpSpPr>
          <a:xfrm>
            <a:off x="9864276" y="7543183"/>
            <a:ext cx="7124195" cy="1419873"/>
            <a:chOff x="0" y="0"/>
            <a:chExt cx="9498926" cy="1893165"/>
          </a:xfrm>
        </p:grpSpPr>
        <p:sp>
          <p:nvSpPr>
            <p:cNvPr id="15" name="Freeform 15">
              <a:extLst>
                <a:ext uri="{FF2B5EF4-FFF2-40B4-BE49-F238E27FC236}">
                  <a16:creationId xmlns:a16="http://schemas.microsoft.com/office/drawing/2014/main" id="{5F45AB52-3F9A-729C-A00A-BF2D62D8C8CB}"/>
                </a:ext>
              </a:extLst>
            </p:cNvPr>
            <p:cNvSpPr/>
            <p:nvPr/>
          </p:nvSpPr>
          <p:spPr>
            <a:xfrm>
              <a:off x="0" y="19403"/>
              <a:ext cx="1738820" cy="1738820"/>
            </a:xfrm>
            <a:custGeom>
              <a:avLst/>
              <a:gdLst/>
              <a:ahLst/>
              <a:cxnLst/>
              <a:rect l="l" t="t" r="r" b="b"/>
              <a:pathLst>
                <a:path w="1738820" h="1738820">
                  <a:moveTo>
                    <a:pt x="0" y="0"/>
                  </a:moveTo>
                  <a:lnTo>
                    <a:pt x="1738820" y="0"/>
                  </a:lnTo>
                  <a:lnTo>
                    <a:pt x="1738820" y="1738821"/>
                  </a:lnTo>
                  <a:lnTo>
                    <a:pt x="0" y="17388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Freeform 16">
              <a:extLst>
                <a:ext uri="{FF2B5EF4-FFF2-40B4-BE49-F238E27FC236}">
                  <a16:creationId xmlns:a16="http://schemas.microsoft.com/office/drawing/2014/main" id="{396A656E-25CA-AE81-CAB0-8D30695A99A7}"/>
                </a:ext>
              </a:extLst>
            </p:cNvPr>
            <p:cNvSpPr/>
            <p:nvPr/>
          </p:nvSpPr>
          <p:spPr>
            <a:xfrm>
              <a:off x="2603399" y="0"/>
              <a:ext cx="1713314" cy="1893165"/>
            </a:xfrm>
            <a:custGeom>
              <a:avLst/>
              <a:gdLst/>
              <a:ahLst/>
              <a:cxnLst/>
              <a:rect l="l" t="t" r="r" b="b"/>
              <a:pathLst>
                <a:path w="1713314" h="1893165">
                  <a:moveTo>
                    <a:pt x="0" y="0"/>
                  </a:moveTo>
                  <a:lnTo>
                    <a:pt x="1713314" y="0"/>
                  </a:lnTo>
                  <a:lnTo>
                    <a:pt x="1713314" y="1893165"/>
                  </a:lnTo>
                  <a:lnTo>
                    <a:pt x="0" y="189316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7" name="Freeform 17">
              <a:extLst>
                <a:ext uri="{FF2B5EF4-FFF2-40B4-BE49-F238E27FC236}">
                  <a16:creationId xmlns:a16="http://schemas.microsoft.com/office/drawing/2014/main" id="{3ACEAE0F-BFFC-CF90-D106-DA57CA217433}"/>
                </a:ext>
              </a:extLst>
            </p:cNvPr>
            <p:cNvSpPr/>
            <p:nvPr/>
          </p:nvSpPr>
          <p:spPr>
            <a:xfrm>
              <a:off x="5180313" y="20296"/>
              <a:ext cx="1737928" cy="1737928"/>
            </a:xfrm>
            <a:custGeom>
              <a:avLst/>
              <a:gdLst/>
              <a:ahLst/>
              <a:cxnLst/>
              <a:rect l="l" t="t" r="r" b="b"/>
              <a:pathLst>
                <a:path w="1737928" h="1737928">
                  <a:moveTo>
                    <a:pt x="0" y="0"/>
                  </a:moveTo>
                  <a:lnTo>
                    <a:pt x="1737928" y="0"/>
                  </a:lnTo>
                  <a:lnTo>
                    <a:pt x="1737928" y="1737928"/>
                  </a:lnTo>
                  <a:lnTo>
                    <a:pt x="0" y="173792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8" name="Freeform 18">
              <a:extLst>
                <a:ext uri="{FF2B5EF4-FFF2-40B4-BE49-F238E27FC236}">
                  <a16:creationId xmlns:a16="http://schemas.microsoft.com/office/drawing/2014/main" id="{2BC5CFDD-F52D-742B-6795-453FF41F2B45}"/>
                </a:ext>
              </a:extLst>
            </p:cNvPr>
            <p:cNvSpPr/>
            <p:nvPr/>
          </p:nvSpPr>
          <p:spPr>
            <a:xfrm>
              <a:off x="7781841" y="19403"/>
              <a:ext cx="1717085" cy="1738820"/>
            </a:xfrm>
            <a:custGeom>
              <a:avLst/>
              <a:gdLst/>
              <a:ahLst/>
              <a:cxnLst/>
              <a:rect l="l" t="t" r="r" b="b"/>
              <a:pathLst>
                <a:path w="1717085" h="1738820">
                  <a:moveTo>
                    <a:pt x="0" y="0"/>
                  </a:moveTo>
                  <a:lnTo>
                    <a:pt x="1717085" y="0"/>
                  </a:lnTo>
                  <a:lnTo>
                    <a:pt x="1717085" y="1738821"/>
                  </a:lnTo>
                  <a:lnTo>
                    <a:pt x="0" y="173882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sp>
        <p:nvSpPr>
          <p:cNvPr id="19" name="TextBox 19">
            <a:extLst>
              <a:ext uri="{FF2B5EF4-FFF2-40B4-BE49-F238E27FC236}">
                <a16:creationId xmlns:a16="http://schemas.microsoft.com/office/drawing/2014/main" id="{354941B7-DB41-D107-7C04-E7A6A968CD35}"/>
              </a:ext>
            </a:extLst>
          </p:cNvPr>
          <p:cNvSpPr txBox="1"/>
          <p:nvPr/>
        </p:nvSpPr>
        <p:spPr>
          <a:xfrm>
            <a:off x="1028700" y="2187559"/>
            <a:ext cx="5364956" cy="339324"/>
          </a:xfrm>
          <a:prstGeom prst="rect">
            <a:avLst/>
          </a:prstGeom>
        </p:spPr>
        <p:txBody>
          <a:bodyPr lIns="0" tIns="0" rIns="0" bIns="0" rtlCol="0" anchor="t">
            <a:spAutoFit/>
          </a:bodyPr>
          <a:lstStyle/>
          <a:p>
            <a:pPr algn="just">
              <a:lnSpc>
                <a:spcPts val="2799"/>
              </a:lnSpc>
              <a:spcBef>
                <a:spcPct val="0"/>
              </a:spcBef>
            </a:pPr>
            <a:r>
              <a:rPr lang="en-US" sz="1950">
                <a:solidFill>
                  <a:srgbClr val="000000"/>
                </a:solidFill>
                <a:latin typeface="Poppins"/>
                <a:ea typeface="Poppins"/>
                <a:cs typeface="Poppins"/>
                <a:sym typeface="Poppins"/>
              </a:rPr>
              <a:t>Project Manager : </a:t>
            </a:r>
            <a:r>
              <a:rPr lang="en-US" sz="1950" err="1">
                <a:solidFill>
                  <a:srgbClr val="000000"/>
                </a:solidFill>
                <a:latin typeface="Poppins"/>
                <a:ea typeface="Poppins"/>
                <a:cs typeface="Poppins"/>
                <a:sym typeface="Poppins"/>
              </a:rPr>
              <a:t>Rudaw</a:t>
            </a:r>
            <a:r>
              <a:rPr lang="en-US" sz="1950">
                <a:solidFill>
                  <a:srgbClr val="000000"/>
                </a:solidFill>
                <a:latin typeface="Poppins"/>
                <a:ea typeface="Poppins"/>
                <a:cs typeface="Poppins"/>
                <a:sym typeface="Poppins"/>
              </a:rPr>
              <a:t> Abdulrahman</a:t>
            </a:r>
            <a:endParaRPr lang="en-US" sz="1950">
              <a:solidFill>
                <a:srgbClr val="000000"/>
              </a:solidFill>
              <a:latin typeface="Poppins"/>
              <a:ea typeface="Poppins"/>
              <a:cs typeface="Poppins"/>
            </a:endParaRPr>
          </a:p>
        </p:txBody>
      </p:sp>
      <p:sp>
        <p:nvSpPr>
          <p:cNvPr id="22" name="Freeform 13">
            <a:extLst>
              <a:ext uri="{FF2B5EF4-FFF2-40B4-BE49-F238E27FC236}">
                <a16:creationId xmlns:a16="http://schemas.microsoft.com/office/drawing/2014/main" id="{F8E6D4ED-A8CB-7726-2DAE-B4B56482C7B7}"/>
              </a:ext>
            </a:extLst>
          </p:cNvPr>
          <p:cNvSpPr/>
          <p:nvPr/>
        </p:nvSpPr>
        <p:spPr>
          <a:xfrm>
            <a:off x="16062518" y="309634"/>
            <a:ext cx="1851905" cy="870481"/>
          </a:xfrm>
          <a:custGeom>
            <a:avLst/>
            <a:gdLst/>
            <a:ahLst/>
            <a:cxnLst/>
            <a:rect l="l" t="t" r="r" b="b"/>
            <a:pathLst>
              <a:path w="1851905" h="870481">
                <a:moveTo>
                  <a:pt x="0" y="0"/>
                </a:moveTo>
                <a:lnTo>
                  <a:pt x="1851905" y="0"/>
                </a:lnTo>
                <a:lnTo>
                  <a:pt x="1851905" y="870481"/>
                </a:lnTo>
                <a:lnTo>
                  <a:pt x="0" y="870481"/>
                </a:lnTo>
                <a:lnTo>
                  <a:pt x="0" y="0"/>
                </a:lnTo>
                <a:close/>
              </a:path>
            </a:pathLst>
          </a:custGeom>
          <a:blipFill>
            <a:blip r:embed="rId7"/>
            <a:stretch>
              <a:fillRect/>
            </a:stretch>
          </a:blipFill>
        </p:spPr>
        <p:txBody>
          <a:bodyPr/>
          <a:lstStyle/>
          <a:p>
            <a:endParaRPr lang="en-US"/>
          </a:p>
        </p:txBody>
      </p:sp>
    </p:spTree>
    <p:extLst>
      <p:ext uri="{BB962C8B-B14F-4D97-AF65-F5344CB8AC3E}">
        <p14:creationId xmlns:p14="http://schemas.microsoft.com/office/powerpoint/2010/main" val="2299154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9F27A87-BFF4-6E3A-3131-9C323C6BB3BF}"/>
              </a:ext>
            </a:extLst>
          </p:cNvPr>
          <p:cNvSpPr/>
          <p:nvPr/>
        </p:nvSpPr>
        <p:spPr>
          <a:xfrm>
            <a:off x="821533" y="1355616"/>
            <a:ext cx="16637417" cy="390072"/>
          </a:xfrm>
          <a:prstGeom prst="rect">
            <a:avLst/>
          </a:prstGeom>
          <a:solidFill>
            <a:srgbClr val="00A69C"/>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r>
              <a:rPr lang="en-US" sz="1800" b="1">
                <a:solidFill>
                  <a:srgbClr val="FFFFFF"/>
                </a:solidFill>
                <a:latin typeface="+mj-lt"/>
              </a:rPr>
              <a:t>Project Highlights </a:t>
            </a:r>
          </a:p>
        </p:txBody>
      </p:sp>
      <p:sp>
        <p:nvSpPr>
          <p:cNvPr id="10" name="Rectangle 9">
            <a:extLst>
              <a:ext uri="{FF2B5EF4-FFF2-40B4-BE49-F238E27FC236}">
                <a16:creationId xmlns:a16="http://schemas.microsoft.com/office/drawing/2014/main" id="{174D5B1D-3312-65F5-9FE7-106DB8418CC5}"/>
              </a:ext>
            </a:extLst>
          </p:cNvPr>
          <p:cNvSpPr/>
          <p:nvPr/>
        </p:nvSpPr>
        <p:spPr>
          <a:xfrm>
            <a:off x="798430" y="6461014"/>
            <a:ext cx="16626842" cy="452903"/>
          </a:xfrm>
          <a:prstGeom prst="rect">
            <a:avLst/>
          </a:prstGeom>
          <a:solidFill>
            <a:srgbClr val="00A69C"/>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Key Risks, Issues &amp; Decisions</a:t>
            </a:r>
          </a:p>
        </p:txBody>
      </p:sp>
      <p:grpSp>
        <p:nvGrpSpPr>
          <p:cNvPr id="37" name="Group 36">
            <a:extLst>
              <a:ext uri="{FF2B5EF4-FFF2-40B4-BE49-F238E27FC236}">
                <a16:creationId xmlns:a16="http://schemas.microsoft.com/office/drawing/2014/main" id="{C9A3F452-7A91-CF20-1BCD-7A13994AC820}"/>
              </a:ext>
            </a:extLst>
          </p:cNvPr>
          <p:cNvGrpSpPr/>
          <p:nvPr/>
        </p:nvGrpSpPr>
        <p:grpSpPr>
          <a:xfrm>
            <a:off x="829477" y="2044687"/>
            <a:ext cx="3908956" cy="476883"/>
            <a:chOff x="547688" y="1363081"/>
            <a:chExt cx="2381956" cy="317922"/>
          </a:xfrm>
        </p:grpSpPr>
        <p:sp>
          <p:nvSpPr>
            <p:cNvPr id="32" name="Rectangle 31">
              <a:extLst>
                <a:ext uri="{FF2B5EF4-FFF2-40B4-BE49-F238E27FC236}">
                  <a16:creationId xmlns:a16="http://schemas.microsoft.com/office/drawing/2014/main" id="{D3E858D7-5AAF-3813-54AB-928A2863262F}"/>
                </a:ext>
              </a:extLst>
            </p:cNvPr>
            <p:cNvSpPr/>
            <p:nvPr/>
          </p:nvSpPr>
          <p:spPr>
            <a:xfrm>
              <a:off x="547688" y="1363081"/>
              <a:ext cx="1160562" cy="317922"/>
            </a:xfrm>
            <a:prstGeom prst="rect">
              <a:avLst/>
            </a:prstGeom>
            <a:solidFill>
              <a:srgbClr val="00A6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defTabSz="1564584" eaLnBrk="1" fontAlgn="auto" latinLnBrk="0" hangingPunct="1">
                <a:lnSpc>
                  <a:spcPct val="100000"/>
                </a:lnSpc>
                <a:spcBef>
                  <a:spcPts val="0"/>
                </a:spcBef>
                <a:spcAft>
                  <a:spcPts val="0"/>
                </a:spcAft>
                <a:buClrTx/>
                <a:buSzTx/>
                <a:buFontTx/>
                <a:buNone/>
                <a:tabLst/>
                <a:defRPr/>
              </a:pPr>
              <a:r>
                <a:rPr kumimoji="0" lang="en-GB" sz="1650" i="0" u="none" strike="noStrike" kern="0" cap="none" spc="0" normalizeH="0" baseline="0" noProof="0">
                  <a:ln>
                    <a:noFill/>
                  </a:ln>
                  <a:solidFill>
                    <a:schemeClr val="bg1"/>
                  </a:solidFill>
                  <a:effectLst/>
                  <a:uLnTx/>
                  <a:uFillTx/>
                  <a:latin typeface="Arial" panose="020B0604020202020204" pitchFamily="34" charset="0"/>
                  <a:cs typeface="Arial" panose="020B0604020202020204" pitchFamily="34" charset="0"/>
                </a:rPr>
                <a:t>Reporting Date</a:t>
              </a:r>
            </a:p>
          </p:txBody>
        </p:sp>
        <p:sp>
          <p:nvSpPr>
            <p:cNvPr id="33" name="Rectangle 32">
              <a:extLst>
                <a:ext uri="{FF2B5EF4-FFF2-40B4-BE49-F238E27FC236}">
                  <a16:creationId xmlns:a16="http://schemas.microsoft.com/office/drawing/2014/main" id="{40943D73-B3FA-B918-E3A8-53F3142926BA}"/>
                </a:ext>
              </a:extLst>
            </p:cNvPr>
            <p:cNvSpPr/>
            <p:nvPr/>
          </p:nvSpPr>
          <p:spPr>
            <a:xfrm>
              <a:off x="1763610" y="1363081"/>
              <a:ext cx="1166034" cy="317922"/>
            </a:xfrm>
            <a:prstGeom prst="rect">
              <a:avLst/>
            </a:prstGeom>
            <a:solidFill>
              <a:srgbClr val="00A69C"/>
            </a:solidFill>
            <a:ln>
              <a:noFill/>
            </a:ln>
          </p:spPr>
          <p:style>
            <a:lnRef idx="2">
              <a:schemeClr val="accent1">
                <a:shade val="15000"/>
              </a:schemeClr>
            </a:lnRef>
            <a:fillRef idx="1">
              <a:schemeClr val="accent1"/>
            </a:fillRef>
            <a:effectRef idx="0">
              <a:schemeClr val="accent1"/>
            </a:effectRef>
            <a:fontRef idx="minor">
              <a:schemeClr val="lt1"/>
            </a:fontRef>
          </p:style>
          <p:txBody>
            <a:bodyPr lIns="137160" tIns="68580" rIns="137160" bIns="6858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r>
                <a:rPr lang="en-GB" sz="1650">
                  <a:solidFill>
                    <a:schemeClr val="bg1"/>
                  </a:solidFill>
                  <a:latin typeface="Arial"/>
                  <a:ea typeface="+mn-lt"/>
                  <a:cs typeface="Arial"/>
                </a:rPr>
                <a:t>March 30</a:t>
              </a:r>
              <a:r>
                <a:rPr lang="en-GB" sz="1650" baseline="30000">
                  <a:solidFill>
                    <a:schemeClr val="bg1"/>
                  </a:solidFill>
                  <a:latin typeface="Arial"/>
                  <a:ea typeface="+mn-lt"/>
                  <a:cs typeface="Arial"/>
                </a:rPr>
                <a:t>rd</a:t>
              </a:r>
              <a:r>
                <a:rPr lang="en-GB" sz="1650">
                  <a:solidFill>
                    <a:schemeClr val="bg1"/>
                  </a:solidFill>
                  <a:latin typeface="Arial"/>
                  <a:ea typeface="+mn-lt"/>
                  <a:cs typeface="Arial"/>
                </a:rPr>
                <a:t>  2026</a:t>
              </a:r>
              <a:endParaRPr lang="en-US">
                <a:solidFill>
                  <a:schemeClr val="bg1"/>
                </a:solidFill>
                <a:latin typeface="Calibri"/>
                <a:ea typeface="Calibri"/>
                <a:cs typeface="Calibri"/>
              </a:endParaRPr>
            </a:p>
          </p:txBody>
        </p:sp>
      </p:grpSp>
      <p:grpSp>
        <p:nvGrpSpPr>
          <p:cNvPr id="57" name="Group 56">
            <a:extLst>
              <a:ext uri="{FF2B5EF4-FFF2-40B4-BE49-F238E27FC236}">
                <a16:creationId xmlns:a16="http://schemas.microsoft.com/office/drawing/2014/main" id="{186E45B7-9B2F-BD18-8B5C-BEA17C48BE6D}"/>
              </a:ext>
            </a:extLst>
          </p:cNvPr>
          <p:cNvGrpSpPr/>
          <p:nvPr/>
        </p:nvGrpSpPr>
        <p:grpSpPr>
          <a:xfrm>
            <a:off x="821532" y="2588136"/>
            <a:ext cx="3908955" cy="476883"/>
            <a:chOff x="547688" y="1363081"/>
            <a:chExt cx="2381956" cy="436222"/>
          </a:xfrm>
        </p:grpSpPr>
        <p:sp>
          <p:nvSpPr>
            <p:cNvPr id="58" name="Rectangle 57">
              <a:extLst>
                <a:ext uri="{FF2B5EF4-FFF2-40B4-BE49-F238E27FC236}">
                  <a16:creationId xmlns:a16="http://schemas.microsoft.com/office/drawing/2014/main" id="{1B4D613D-F2D1-4F8E-C0A9-EA21DF505AC3}"/>
                </a:ext>
              </a:extLst>
            </p:cNvPr>
            <p:cNvSpPr/>
            <p:nvPr/>
          </p:nvSpPr>
          <p:spPr>
            <a:xfrm>
              <a:off x="547688" y="1363081"/>
              <a:ext cx="1166034" cy="436222"/>
            </a:xfrm>
            <a:prstGeom prst="rect">
              <a:avLst/>
            </a:prstGeom>
            <a:solidFill>
              <a:srgbClr val="00A6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r>
                <a:rPr lang="en-US" sz="1650" b="0">
                  <a:solidFill>
                    <a:schemeClr val="bg1"/>
                  </a:solidFill>
                  <a:latin typeface="Arial" panose="020B0604020202020204" pitchFamily="34" charset="0"/>
                  <a:cs typeface="Arial" panose="020B0604020202020204" pitchFamily="34" charset="0"/>
                </a:rPr>
                <a:t>Business Owner </a:t>
              </a:r>
            </a:p>
          </p:txBody>
        </p:sp>
        <p:sp>
          <p:nvSpPr>
            <p:cNvPr id="61" name="Rectangle 60">
              <a:extLst>
                <a:ext uri="{FF2B5EF4-FFF2-40B4-BE49-F238E27FC236}">
                  <a16:creationId xmlns:a16="http://schemas.microsoft.com/office/drawing/2014/main" id="{1273470B-C1F6-CCC6-A3B4-57682305546B}"/>
                </a:ext>
              </a:extLst>
            </p:cNvPr>
            <p:cNvSpPr/>
            <p:nvPr/>
          </p:nvSpPr>
          <p:spPr>
            <a:xfrm>
              <a:off x="1763610" y="1363081"/>
              <a:ext cx="1166034" cy="436222"/>
            </a:xfrm>
            <a:prstGeom prst="rect">
              <a:avLst/>
            </a:prstGeom>
            <a:solidFill>
              <a:srgbClr val="00A69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r>
                <a:rPr lang="en-US" sz="1650">
                  <a:solidFill>
                    <a:schemeClr val="bg1"/>
                  </a:solidFill>
                  <a:latin typeface="Arial"/>
                  <a:cs typeface="Arial"/>
                </a:rPr>
                <a:t>Omar Ayad</a:t>
              </a:r>
              <a:endParaRPr lang="en-US"/>
            </a:p>
          </p:txBody>
        </p:sp>
      </p:grpSp>
      <p:grpSp>
        <p:nvGrpSpPr>
          <p:cNvPr id="62" name="Group 61">
            <a:extLst>
              <a:ext uri="{FF2B5EF4-FFF2-40B4-BE49-F238E27FC236}">
                <a16:creationId xmlns:a16="http://schemas.microsoft.com/office/drawing/2014/main" id="{5DCC80CD-D6C6-08B2-C68F-02F6FC11921E}"/>
              </a:ext>
            </a:extLst>
          </p:cNvPr>
          <p:cNvGrpSpPr/>
          <p:nvPr/>
        </p:nvGrpSpPr>
        <p:grpSpPr>
          <a:xfrm>
            <a:off x="821532" y="3136328"/>
            <a:ext cx="3908955" cy="584300"/>
            <a:chOff x="547688" y="1363081"/>
            <a:chExt cx="2381956" cy="436222"/>
          </a:xfrm>
        </p:grpSpPr>
        <p:sp>
          <p:nvSpPr>
            <p:cNvPr id="63" name="Rectangle 62">
              <a:extLst>
                <a:ext uri="{FF2B5EF4-FFF2-40B4-BE49-F238E27FC236}">
                  <a16:creationId xmlns:a16="http://schemas.microsoft.com/office/drawing/2014/main" id="{FD3C1327-ECC3-EEEA-55C8-A60783C96D39}"/>
                </a:ext>
              </a:extLst>
            </p:cNvPr>
            <p:cNvSpPr/>
            <p:nvPr/>
          </p:nvSpPr>
          <p:spPr>
            <a:xfrm>
              <a:off x="547688" y="1363081"/>
              <a:ext cx="1166034" cy="436222"/>
            </a:xfrm>
            <a:prstGeom prst="rect">
              <a:avLst/>
            </a:prstGeom>
            <a:solidFill>
              <a:srgbClr val="00A6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r>
                <a:rPr lang="en-US" sz="1650" b="0">
                  <a:solidFill>
                    <a:schemeClr val="bg1"/>
                  </a:solidFill>
                  <a:latin typeface="Arial" panose="020B0604020202020204" pitchFamily="34" charset="0"/>
                  <a:cs typeface="Arial" panose="020B0604020202020204" pitchFamily="34" charset="0"/>
                </a:rPr>
                <a:t>Prepared by</a:t>
              </a:r>
            </a:p>
          </p:txBody>
        </p:sp>
        <p:sp>
          <p:nvSpPr>
            <p:cNvPr id="64" name="Rectangle 63">
              <a:extLst>
                <a:ext uri="{FF2B5EF4-FFF2-40B4-BE49-F238E27FC236}">
                  <a16:creationId xmlns:a16="http://schemas.microsoft.com/office/drawing/2014/main" id="{8973CCA8-293B-7C23-B4F9-3DF714B112EE}"/>
                </a:ext>
              </a:extLst>
            </p:cNvPr>
            <p:cNvSpPr/>
            <p:nvPr/>
          </p:nvSpPr>
          <p:spPr>
            <a:xfrm>
              <a:off x="1763610" y="1363081"/>
              <a:ext cx="1166034" cy="436222"/>
            </a:xfrm>
            <a:prstGeom prst="rect">
              <a:avLst/>
            </a:prstGeom>
            <a:solidFill>
              <a:srgbClr val="00A6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r>
                <a:rPr lang="en-US" sz="1650" b="0" err="1">
                  <a:solidFill>
                    <a:schemeClr val="bg1"/>
                  </a:solidFill>
                  <a:latin typeface="Arial" panose="020B0604020202020204" pitchFamily="34" charset="0"/>
                  <a:cs typeface="Arial" panose="020B0604020202020204" pitchFamily="34" charset="0"/>
                </a:rPr>
                <a:t>Rudaw</a:t>
              </a:r>
              <a:r>
                <a:rPr lang="en-US" sz="1650" b="0">
                  <a:solidFill>
                    <a:schemeClr val="bg1"/>
                  </a:solidFill>
                  <a:latin typeface="Arial" panose="020B0604020202020204" pitchFamily="34" charset="0"/>
                  <a:cs typeface="Arial" panose="020B0604020202020204" pitchFamily="34" charset="0"/>
                </a:rPr>
                <a:t> </a:t>
              </a:r>
              <a:r>
                <a:rPr lang="en-US" sz="1650" b="0" err="1">
                  <a:solidFill>
                    <a:schemeClr val="bg1"/>
                  </a:solidFill>
                  <a:latin typeface="Arial" panose="020B0604020202020204" pitchFamily="34" charset="0"/>
                  <a:cs typeface="Arial" panose="020B0604020202020204" pitchFamily="34" charset="0"/>
                </a:rPr>
                <a:t>Abdulrahman</a:t>
              </a:r>
              <a:endParaRPr lang="en-US" sz="1650" b="0">
                <a:solidFill>
                  <a:schemeClr val="bg1"/>
                </a:solidFill>
                <a:latin typeface="Arial" panose="020B0604020202020204" pitchFamily="34" charset="0"/>
                <a:cs typeface="Arial" panose="020B0604020202020204" pitchFamily="34" charset="0"/>
              </a:endParaRPr>
            </a:p>
          </p:txBody>
        </p:sp>
      </p:grpSp>
      <p:graphicFrame>
        <p:nvGraphicFramePr>
          <p:cNvPr id="1052" name="Table 1051">
            <a:extLst>
              <a:ext uri="{FF2B5EF4-FFF2-40B4-BE49-F238E27FC236}">
                <a16:creationId xmlns:a16="http://schemas.microsoft.com/office/drawing/2014/main" id="{671AB51F-5276-9715-9ECF-470ACB0A51F3}"/>
              </a:ext>
            </a:extLst>
          </p:cNvPr>
          <p:cNvGraphicFramePr>
            <a:graphicFrameLocks noGrp="1"/>
          </p:cNvGraphicFramePr>
          <p:nvPr>
            <p:extLst>
              <p:ext uri="{D42A27DB-BD31-4B8C-83A1-F6EECF244321}">
                <p14:modId xmlns:p14="http://schemas.microsoft.com/office/powerpoint/2010/main" val="4210492647"/>
              </p:ext>
            </p:extLst>
          </p:nvPr>
        </p:nvGraphicFramePr>
        <p:xfrm>
          <a:off x="787856" y="6970416"/>
          <a:ext cx="16612636" cy="1704043"/>
        </p:xfrm>
        <a:graphic>
          <a:graphicData uri="http://schemas.openxmlformats.org/drawingml/2006/table">
            <a:tbl>
              <a:tblPr firstRow="1" bandRow="1">
                <a:tableStyleId>{91EBBBCC-DAD2-459C-BE2E-F6DE35CF9A28}</a:tableStyleId>
              </a:tblPr>
              <a:tblGrid>
                <a:gridCol w="1600446">
                  <a:extLst>
                    <a:ext uri="{9D8B030D-6E8A-4147-A177-3AD203B41FA5}">
                      <a16:colId xmlns:a16="http://schemas.microsoft.com/office/drawing/2014/main" val="500621086"/>
                    </a:ext>
                  </a:extLst>
                </a:gridCol>
                <a:gridCol w="7121426">
                  <a:extLst>
                    <a:ext uri="{9D8B030D-6E8A-4147-A177-3AD203B41FA5}">
                      <a16:colId xmlns:a16="http://schemas.microsoft.com/office/drawing/2014/main" val="2523077405"/>
                    </a:ext>
                  </a:extLst>
                </a:gridCol>
                <a:gridCol w="2187773">
                  <a:extLst>
                    <a:ext uri="{9D8B030D-6E8A-4147-A177-3AD203B41FA5}">
                      <a16:colId xmlns:a16="http://schemas.microsoft.com/office/drawing/2014/main" val="93284136"/>
                    </a:ext>
                  </a:extLst>
                </a:gridCol>
                <a:gridCol w="2477988">
                  <a:extLst>
                    <a:ext uri="{9D8B030D-6E8A-4147-A177-3AD203B41FA5}">
                      <a16:colId xmlns:a16="http://schemas.microsoft.com/office/drawing/2014/main" val="885857888"/>
                    </a:ext>
                  </a:extLst>
                </a:gridCol>
                <a:gridCol w="3225003">
                  <a:extLst>
                    <a:ext uri="{9D8B030D-6E8A-4147-A177-3AD203B41FA5}">
                      <a16:colId xmlns:a16="http://schemas.microsoft.com/office/drawing/2014/main" val="3402767439"/>
                    </a:ext>
                  </a:extLst>
                </a:gridCol>
              </a:tblGrid>
              <a:tr h="365948">
                <a:tc>
                  <a:txBody>
                    <a:bodyPr/>
                    <a:lstStyle/>
                    <a:p>
                      <a:pPr algn="ctr" fontAlgn="ctr"/>
                      <a:r>
                        <a:rPr lang="en-US" sz="1500" b="1" u="none" strike="noStrike">
                          <a:solidFill>
                            <a:srgbClr val="000000"/>
                          </a:solidFill>
                          <a:effectLst/>
                          <a:latin typeface="+mj-lt"/>
                          <a:cs typeface="Times New Roman"/>
                        </a:rPr>
                        <a:t>Area</a:t>
                      </a:r>
                      <a:endParaRPr lang="en-US" sz="1500" b="1" i="0" u="none" strike="noStrike">
                        <a:solidFill>
                          <a:srgbClr val="000000"/>
                        </a:solidFill>
                        <a:effectLst/>
                        <a:latin typeface="+mj-lt"/>
                        <a:cs typeface="Times New Roman"/>
                      </a:endParaRP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500" b="1" u="none" strike="noStrike">
                          <a:solidFill>
                            <a:srgbClr val="000000"/>
                          </a:solidFill>
                          <a:effectLst/>
                          <a:latin typeface="+mj-lt"/>
                          <a:cs typeface="Times New Roman"/>
                        </a:rPr>
                        <a:t>Item</a:t>
                      </a:r>
                      <a:endParaRPr lang="en-US" sz="1500" b="1" i="0" u="none" strike="noStrike">
                        <a:solidFill>
                          <a:srgbClr val="000000"/>
                        </a:solidFill>
                        <a:effectLst/>
                        <a:latin typeface="+mj-lt"/>
                        <a:cs typeface="Times New Roman"/>
                      </a:endParaRP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500" b="1" u="none" strike="noStrike">
                          <a:solidFill>
                            <a:srgbClr val="000000"/>
                          </a:solidFill>
                          <a:effectLst/>
                          <a:latin typeface="+mj-lt"/>
                          <a:cs typeface="Times New Roman"/>
                        </a:rPr>
                        <a:t>Status</a:t>
                      </a:r>
                      <a:endParaRPr lang="en-US" sz="1500" b="1" i="0" u="none" strike="noStrike">
                        <a:solidFill>
                          <a:srgbClr val="000000"/>
                        </a:solidFill>
                        <a:effectLst/>
                        <a:latin typeface="+mj-lt"/>
                        <a:cs typeface="Times New Roman"/>
                      </a:endParaRP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500" b="1" u="none" strike="noStrike">
                          <a:solidFill>
                            <a:srgbClr val="000000"/>
                          </a:solidFill>
                          <a:effectLst/>
                          <a:latin typeface="+mj-lt"/>
                          <a:cs typeface="Times New Roman"/>
                        </a:rPr>
                        <a:t>Due Date</a:t>
                      </a:r>
                      <a:endParaRPr lang="en-US" sz="1500" b="1" i="0" u="none" strike="noStrike">
                        <a:solidFill>
                          <a:srgbClr val="000000"/>
                        </a:solidFill>
                        <a:effectLst/>
                        <a:latin typeface="+mj-lt"/>
                        <a:cs typeface="Times New Roman"/>
                      </a:endParaRP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500" b="1" u="none" strike="noStrike">
                          <a:solidFill>
                            <a:srgbClr val="000000"/>
                          </a:solidFill>
                          <a:effectLst/>
                          <a:latin typeface="+mj-lt"/>
                          <a:cs typeface="Times New Roman"/>
                        </a:rPr>
                        <a:t>Owner</a:t>
                      </a:r>
                      <a:endParaRPr lang="en-US" sz="1500" b="1" i="0" u="none" strike="noStrike">
                        <a:solidFill>
                          <a:srgbClr val="000000"/>
                        </a:solidFill>
                        <a:effectLst/>
                        <a:latin typeface="+mj-lt"/>
                        <a:cs typeface="Times New Roman"/>
                      </a:endParaRP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6560476"/>
                  </a:ext>
                </a:extLst>
              </a:tr>
              <a:tr h="394098">
                <a:tc>
                  <a:txBody>
                    <a:bodyPr/>
                    <a:lstStyle/>
                    <a:p>
                      <a:pPr algn="ctr" fontAlgn="ctr"/>
                      <a:r>
                        <a:rPr lang="en-US" sz="1500" b="1" u="none" strike="noStrike">
                          <a:solidFill>
                            <a:srgbClr val="000000"/>
                          </a:solidFill>
                          <a:effectLst/>
                          <a:latin typeface="+mj-lt"/>
                          <a:cs typeface="Times New Roman"/>
                        </a:rPr>
                        <a:t>Risks</a:t>
                      </a:r>
                      <a:endParaRPr lang="en-US" sz="1500" b="1" i="0" u="none" strike="noStrike">
                        <a:solidFill>
                          <a:srgbClr val="000000"/>
                        </a:solidFill>
                        <a:effectLst/>
                        <a:latin typeface="+mj-lt"/>
                        <a:cs typeface="Times New Roman"/>
                      </a:endParaRP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fontAlgn="ctr">
                        <a:buNone/>
                      </a:pPr>
                      <a:endParaRPr lang="en-US" sz="1500" b="0" i="0" u="none" strike="noStrike" baseline="0" noProof="0">
                        <a:solidFill>
                          <a:srgbClr val="000000"/>
                        </a:solidFill>
                        <a:effectLst/>
                      </a:endParaRP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1500" b="0" i="0" u="none" strike="noStrike">
                        <a:solidFill>
                          <a:schemeClr val="tx1"/>
                        </a:solidFill>
                        <a:effectLst/>
                        <a:latin typeface="+mj-lt"/>
                        <a:cs typeface="Times New Roman"/>
                      </a:endParaRP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endParaRPr lang="en-GB" sz="1500" b="0" i="0" u="none" strike="noStrike" baseline="0" noProof="0">
                        <a:solidFill>
                          <a:srgbClr val="000000"/>
                        </a:solidFill>
                        <a:effectLst/>
                        <a:latin typeface="Aptos"/>
                      </a:endParaRP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en-US" sz="1500" b="0" i="0" u="none" strike="noStrike" kern="1200" noProof="0">
                        <a:solidFill>
                          <a:srgbClr val="000000"/>
                        </a:solidFill>
                        <a:effectLst/>
                        <a:latin typeface="Aptos"/>
                      </a:endParaRP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483975"/>
                  </a:ext>
                </a:extLst>
              </a:tr>
              <a:tr h="38100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000000"/>
                          </a:solidFill>
                          <a:effectLst/>
                          <a:uLnTx/>
                          <a:uFillTx/>
                          <a:latin typeface="Aptos Display" panose="02110004020202020204"/>
                          <a:ea typeface="+mn-ea"/>
                          <a:cs typeface="Times New Roman"/>
                        </a:rPr>
                        <a:t>Issues</a:t>
                      </a:r>
                    </a:p>
                  </a:txBody>
                  <a:tcPr marL="137160" marR="137160" marT="68580" marB="68580" anchor="ctr">
                    <a:lnT w="12700" cap="flat" cmpd="sng" algn="ctr">
                      <a:solidFill>
                        <a:schemeClr val="tx1"/>
                      </a:solidFill>
                      <a:prstDash val="solid"/>
                      <a:round/>
                      <a:headEnd type="none" w="med" len="med"/>
                      <a:tailEnd type="none" w="med" len="med"/>
                    </a:lnT>
                    <a:noFill/>
                  </a:tcPr>
                </a:tc>
                <a:tc>
                  <a:txBody>
                    <a:bodyPr/>
                    <a:lstStyle/>
                    <a:p>
                      <a:pPr marL="285750" indent="-285750" algn="l">
                        <a:buClr>
                          <a:srgbClr val="000000"/>
                        </a:buClr>
                        <a:buFont typeface="Calibri"/>
                        <a:buChar char="-"/>
                      </a:pPr>
                      <a:endParaRPr lang="en-US" sz="1500" b="0" i="0" u="none" strike="noStrike" noProof="0">
                        <a:solidFill>
                          <a:srgbClr val="000000"/>
                        </a:solidFill>
                        <a:latin typeface="Aptos"/>
                      </a:endParaRPr>
                    </a:p>
                  </a:txBody>
                  <a:tcPr marL="11430" marR="11430" marT="11430" marB="0">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1500" b="0" i="0" u="none" strike="noStrike" kern="1200">
                        <a:solidFill>
                          <a:srgbClr val="000000"/>
                        </a:solidFill>
                        <a:effectLst/>
                        <a:latin typeface="+mn-lt"/>
                        <a:ea typeface="+mn-ea"/>
                        <a:cs typeface="Times New Roman"/>
                      </a:endParaRPr>
                    </a:p>
                  </a:txBody>
                  <a:tcPr marL="11430" marR="11430" marT="1143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endParaRPr lang="en-GB" sz="1500" b="0" i="0" u="none" strike="noStrike" baseline="0" noProof="0">
                        <a:solidFill>
                          <a:srgbClr val="000000"/>
                        </a:solidFill>
                        <a:effectLst/>
                        <a:latin typeface="Aptos"/>
                      </a:endParaRPr>
                    </a:p>
                  </a:txBody>
                  <a:tcPr marL="11430" marR="11430" marT="1143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endParaRPr lang="en-US"/>
                    </a:p>
                  </a:txBody>
                  <a:tcPr marL="11430" marR="11430" marT="1143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2322571"/>
                  </a:ext>
                </a:extLst>
              </a:tr>
              <a:tr h="562997">
                <a:tc>
                  <a:txBody>
                    <a:bodyPr/>
                    <a:lstStyle/>
                    <a:p>
                      <a:pPr algn="ctr" fontAlgn="ctr"/>
                      <a:r>
                        <a:rPr lang="en-US" sz="1500" b="1" u="none" strike="noStrike">
                          <a:solidFill>
                            <a:srgbClr val="000000"/>
                          </a:solidFill>
                          <a:effectLst/>
                          <a:latin typeface="+mj-lt"/>
                          <a:cs typeface="Times New Roman"/>
                        </a:rPr>
                        <a:t>Decisions</a:t>
                      </a:r>
                      <a:endParaRPr lang="en-US" sz="1500" b="1" i="0" u="none" strike="noStrike">
                        <a:solidFill>
                          <a:srgbClr val="000000"/>
                        </a:solidFill>
                        <a:effectLst/>
                        <a:latin typeface="+mj-lt"/>
                        <a:cs typeface="Times New Roman"/>
                      </a:endParaRP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ClrTx/>
                        <a:buSzTx/>
                        <a:buNone/>
                      </a:pPr>
                      <a:endParaRPr lang="en-GB" sz="1500" b="0" i="0" u="none" strike="sngStrike" baseline="0" noProof="0">
                        <a:solidFill>
                          <a:srgbClr val="000000"/>
                        </a:solidFill>
                        <a:effectLst/>
                        <a:latin typeface="Calibri"/>
                      </a:endParaRP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1500" b="0" i="0" u="none" strike="noStrike">
                        <a:solidFill>
                          <a:srgbClr val="000000"/>
                        </a:solidFill>
                        <a:effectLst/>
                        <a:latin typeface="+mj-lt"/>
                        <a:cs typeface="Times New Roman"/>
                      </a:endParaRP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GB" sz="1500" strike="noStrike">
                        <a:effectLst/>
                        <a:latin typeface="+mj-lt"/>
                        <a:cs typeface="Times New Roman"/>
                      </a:endParaRP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1500" b="0" i="0" u="none" strike="noStrike">
                        <a:solidFill>
                          <a:srgbClr val="000000"/>
                        </a:solidFill>
                        <a:effectLst/>
                        <a:latin typeface="+mj-lt"/>
                        <a:cs typeface="Times New Roman"/>
                      </a:endParaRP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6965557"/>
                  </a:ext>
                </a:extLst>
              </a:tr>
            </a:tbl>
          </a:graphicData>
        </a:graphic>
      </p:graphicFrame>
      <p:sp>
        <p:nvSpPr>
          <p:cNvPr id="1056" name="Title 1">
            <a:extLst>
              <a:ext uri="{FF2B5EF4-FFF2-40B4-BE49-F238E27FC236}">
                <a16:creationId xmlns:a16="http://schemas.microsoft.com/office/drawing/2014/main" id="{8D8BB30A-2BD6-96B6-DFFC-E5B0DD633D19}"/>
              </a:ext>
            </a:extLst>
          </p:cNvPr>
          <p:cNvSpPr txBox="1">
            <a:spLocks/>
          </p:cNvSpPr>
          <p:nvPr/>
        </p:nvSpPr>
        <p:spPr>
          <a:xfrm>
            <a:off x="821810" y="425178"/>
            <a:ext cx="13441680" cy="623248"/>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ct val="0"/>
              </a:spcBef>
              <a:spcAft>
                <a:spcPts val="0"/>
              </a:spcAft>
              <a:buClrTx/>
              <a:buSzTx/>
              <a:buFontTx/>
              <a:buNone/>
              <a:tabLst/>
              <a:defRPr/>
            </a:pPr>
            <a:r>
              <a:rPr lang="en-US" sz="4050" b="1" err="1"/>
              <a:t>Zen</a:t>
            </a:r>
            <a:r>
              <a:rPr lang="en-US" sz="4050" b="1" err="1">
                <a:solidFill>
                  <a:srgbClr val="00A69C"/>
                </a:solidFill>
              </a:rPr>
              <a:t>HR</a:t>
            </a:r>
            <a:r>
              <a:rPr lang="en-US" sz="4050" b="1"/>
              <a:t> Implementation – First Iraq Bank</a:t>
            </a:r>
            <a:endParaRPr kumimoji="0" lang="en-US" sz="3750" b="1" i="0" u="none" strike="noStrike" kern="1200" cap="none" spc="0" normalizeH="0" baseline="0" noProof="0">
              <a:ln w="6350" cap="flat">
                <a:noFill/>
                <a:miter lim="800000"/>
              </a:ln>
              <a:solidFill>
                <a:srgbClr val="000000"/>
              </a:solidFill>
              <a:effectLst/>
              <a:uLnTx/>
              <a:uFillTx/>
              <a:latin typeface="Arial" panose="020B0604020202020204" pitchFamily="34" charset="0"/>
              <a:cs typeface="Arial" panose="020B0604020202020204" pitchFamily="34" charset="0"/>
            </a:endParaRPr>
          </a:p>
        </p:txBody>
      </p:sp>
      <p:grpSp>
        <p:nvGrpSpPr>
          <p:cNvPr id="17" name="Group 16">
            <a:extLst>
              <a:ext uri="{FF2B5EF4-FFF2-40B4-BE49-F238E27FC236}">
                <a16:creationId xmlns:a16="http://schemas.microsoft.com/office/drawing/2014/main" id="{93C6DE62-8118-A535-76A8-7A602F4C9B18}"/>
              </a:ext>
            </a:extLst>
          </p:cNvPr>
          <p:cNvGrpSpPr/>
          <p:nvPr/>
        </p:nvGrpSpPr>
        <p:grpSpPr>
          <a:xfrm>
            <a:off x="9244627" y="9725098"/>
            <a:ext cx="10637918" cy="536870"/>
            <a:chOff x="5956720" y="6443049"/>
            <a:chExt cx="7091945" cy="357913"/>
          </a:xfrm>
        </p:grpSpPr>
        <p:grpSp>
          <p:nvGrpSpPr>
            <p:cNvPr id="18" name="Group 17">
              <a:extLst>
                <a:ext uri="{FF2B5EF4-FFF2-40B4-BE49-F238E27FC236}">
                  <a16:creationId xmlns:a16="http://schemas.microsoft.com/office/drawing/2014/main" id="{DD6EBD41-8BFD-C0C6-9E93-258A92DD2C6A}"/>
                </a:ext>
              </a:extLst>
            </p:cNvPr>
            <p:cNvGrpSpPr/>
            <p:nvPr/>
          </p:nvGrpSpPr>
          <p:grpSpPr>
            <a:xfrm>
              <a:off x="5956720" y="6443049"/>
              <a:ext cx="7091945" cy="357913"/>
              <a:chOff x="5966485" y="6485413"/>
              <a:chExt cx="7091945" cy="357913"/>
            </a:xfrm>
          </p:grpSpPr>
          <p:sp>
            <p:nvSpPr>
              <p:cNvPr id="21" name="Oval 20">
                <a:extLst>
                  <a:ext uri="{FF2B5EF4-FFF2-40B4-BE49-F238E27FC236}">
                    <a16:creationId xmlns:a16="http://schemas.microsoft.com/office/drawing/2014/main" id="{7C75C853-5B7F-4691-148D-169D7470AAEA}"/>
                  </a:ext>
                </a:extLst>
              </p:cNvPr>
              <p:cNvSpPr/>
              <p:nvPr/>
            </p:nvSpPr>
            <p:spPr>
              <a:xfrm>
                <a:off x="6950322" y="6494495"/>
                <a:ext cx="133346" cy="126401"/>
              </a:xfrm>
              <a:prstGeom prst="ellipse">
                <a:avLst/>
              </a:prstGeom>
              <a:solidFill>
                <a:srgbClr val="E2F0D9"/>
              </a:solidFill>
              <a:ln w="9525">
                <a:solidFill>
                  <a:srgbClr val="E2F0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6" name="Oval 25">
                <a:extLst>
                  <a:ext uri="{FF2B5EF4-FFF2-40B4-BE49-F238E27FC236}">
                    <a16:creationId xmlns:a16="http://schemas.microsoft.com/office/drawing/2014/main" id="{D0F7F425-7E80-2ABF-7D83-85744DC51909}"/>
                  </a:ext>
                </a:extLst>
              </p:cNvPr>
              <p:cNvSpPr/>
              <p:nvPr/>
            </p:nvSpPr>
            <p:spPr>
              <a:xfrm>
                <a:off x="7594167" y="6503611"/>
                <a:ext cx="135071" cy="126401"/>
              </a:xfrm>
              <a:prstGeom prst="ellipse">
                <a:avLst/>
              </a:prstGeom>
              <a:solidFill>
                <a:srgbClr val="FF0000"/>
              </a:solid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7" name="Oval 26">
                <a:extLst>
                  <a:ext uri="{FF2B5EF4-FFF2-40B4-BE49-F238E27FC236}">
                    <a16:creationId xmlns:a16="http://schemas.microsoft.com/office/drawing/2014/main" id="{F2DAE088-DB68-1A3C-56AD-12A1F8F0F3A9}"/>
                  </a:ext>
                </a:extLst>
              </p:cNvPr>
              <p:cNvSpPr/>
              <p:nvPr/>
            </p:nvSpPr>
            <p:spPr>
              <a:xfrm>
                <a:off x="8149931" y="6505195"/>
                <a:ext cx="131200" cy="126401"/>
              </a:xfrm>
              <a:prstGeom prst="ellipse">
                <a:avLst/>
              </a:prstGeom>
              <a:solidFill>
                <a:srgbClr val="FFC000"/>
              </a:solidFill>
              <a:ln w="95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5D00F387-66CF-4DC2-69C5-B1E8579DC907}"/>
                  </a:ext>
                </a:extLst>
              </p:cNvPr>
              <p:cNvSpPr txBox="1"/>
              <p:nvPr/>
            </p:nvSpPr>
            <p:spPr>
              <a:xfrm>
                <a:off x="6734909" y="6611779"/>
                <a:ext cx="717687"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On track </a:t>
                </a:r>
              </a:p>
            </p:txBody>
          </p:sp>
          <p:sp>
            <p:nvSpPr>
              <p:cNvPr id="29" name="TextBox 28">
                <a:extLst>
                  <a:ext uri="{FF2B5EF4-FFF2-40B4-BE49-F238E27FC236}">
                    <a16:creationId xmlns:a16="http://schemas.microsoft.com/office/drawing/2014/main" id="{7E2D3177-52F6-6997-DE6D-482E3DCA25B1}"/>
                  </a:ext>
                </a:extLst>
              </p:cNvPr>
              <p:cNvSpPr txBox="1"/>
              <p:nvPr/>
            </p:nvSpPr>
            <p:spPr>
              <a:xfrm>
                <a:off x="7360310" y="6621931"/>
                <a:ext cx="664200"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Delayed</a:t>
                </a:r>
              </a:p>
            </p:txBody>
          </p:sp>
          <p:sp>
            <p:nvSpPr>
              <p:cNvPr id="30" name="TextBox 29">
                <a:extLst>
                  <a:ext uri="{FF2B5EF4-FFF2-40B4-BE49-F238E27FC236}">
                    <a16:creationId xmlns:a16="http://schemas.microsoft.com/office/drawing/2014/main" id="{0F837CEF-75C9-3771-DC0D-C91671C95212}"/>
                  </a:ext>
                </a:extLst>
              </p:cNvPr>
              <p:cNvSpPr txBox="1"/>
              <p:nvPr/>
            </p:nvSpPr>
            <p:spPr>
              <a:xfrm>
                <a:off x="7962993" y="6624764"/>
                <a:ext cx="664200"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At Risk</a:t>
                </a:r>
              </a:p>
            </p:txBody>
          </p:sp>
          <p:sp>
            <p:nvSpPr>
              <p:cNvPr id="31" name="TextBox 30">
                <a:extLst>
                  <a:ext uri="{FF2B5EF4-FFF2-40B4-BE49-F238E27FC236}">
                    <a16:creationId xmlns:a16="http://schemas.microsoft.com/office/drawing/2014/main" id="{D153F579-7D63-AB02-F2C0-DEB559690CBC}"/>
                  </a:ext>
                </a:extLst>
              </p:cNvPr>
              <p:cNvSpPr txBox="1"/>
              <p:nvPr/>
            </p:nvSpPr>
            <p:spPr>
              <a:xfrm>
                <a:off x="9357110" y="6627882"/>
                <a:ext cx="970136"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Implemented</a:t>
                </a:r>
              </a:p>
            </p:txBody>
          </p:sp>
          <p:sp>
            <p:nvSpPr>
              <p:cNvPr id="34" name="Oval 33">
                <a:extLst>
                  <a:ext uri="{FF2B5EF4-FFF2-40B4-BE49-F238E27FC236}">
                    <a16:creationId xmlns:a16="http://schemas.microsoft.com/office/drawing/2014/main" id="{E7A88171-332E-46B2-7056-3422DA371224}"/>
                  </a:ext>
                </a:extLst>
              </p:cNvPr>
              <p:cNvSpPr/>
              <p:nvPr/>
            </p:nvSpPr>
            <p:spPr>
              <a:xfrm>
                <a:off x="10428038" y="6512756"/>
                <a:ext cx="137031" cy="126401"/>
              </a:xfrm>
              <a:prstGeom prst="ellipse">
                <a:avLst/>
              </a:prstGeom>
              <a:solidFill>
                <a:srgbClr val="00B0F0"/>
              </a:solid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4D553DB0-EF55-C6BC-7BD6-B32FB2F761E9}"/>
                  </a:ext>
                </a:extLst>
              </p:cNvPr>
              <p:cNvSpPr txBox="1"/>
              <p:nvPr/>
            </p:nvSpPr>
            <p:spPr>
              <a:xfrm>
                <a:off x="10194922" y="6621646"/>
                <a:ext cx="2311615"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US" sz="1200">
                    <a:latin typeface="Arial" panose="020B0604020202020204" pitchFamily="34" charset="0"/>
                    <a:cs typeface="Arial" panose="020B0604020202020204" pitchFamily="34" charset="0"/>
                  </a:rPr>
                  <a:t>On Hold</a:t>
                </a:r>
                <a:endParaRPr kumimoji="0" lang="en-US" sz="120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36" name="Oval 35">
                <a:extLst>
                  <a:ext uri="{FF2B5EF4-FFF2-40B4-BE49-F238E27FC236}">
                    <a16:creationId xmlns:a16="http://schemas.microsoft.com/office/drawing/2014/main" id="{272F82F1-6628-F7B1-5FD5-212C637FF4DB}"/>
                  </a:ext>
                </a:extLst>
              </p:cNvPr>
              <p:cNvSpPr/>
              <p:nvPr/>
            </p:nvSpPr>
            <p:spPr>
              <a:xfrm>
                <a:off x="11073431" y="6488248"/>
                <a:ext cx="137031" cy="126401"/>
              </a:xfrm>
              <a:prstGeom prst="ellipse">
                <a:avLst/>
              </a:prstGeom>
              <a:solidFill>
                <a:srgbClr val="FFFF00"/>
              </a:solidFill>
              <a:ln w="952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A408E632-1D30-A31D-E589-E7D504BAB456}"/>
                  </a:ext>
                </a:extLst>
              </p:cNvPr>
              <p:cNvSpPr txBox="1"/>
              <p:nvPr/>
            </p:nvSpPr>
            <p:spPr>
              <a:xfrm>
                <a:off x="10746815" y="6611779"/>
                <a:ext cx="2311615"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Terminated</a:t>
                </a:r>
              </a:p>
            </p:txBody>
          </p:sp>
          <p:sp>
            <p:nvSpPr>
              <p:cNvPr id="39" name="Oval 38">
                <a:extLst>
                  <a:ext uri="{FF2B5EF4-FFF2-40B4-BE49-F238E27FC236}">
                    <a16:creationId xmlns:a16="http://schemas.microsoft.com/office/drawing/2014/main" id="{19B87D2F-4726-8B4C-0F21-CBF0CA0ED00A}"/>
                  </a:ext>
                </a:extLst>
              </p:cNvPr>
              <p:cNvSpPr/>
              <p:nvPr/>
            </p:nvSpPr>
            <p:spPr>
              <a:xfrm>
                <a:off x="8836849" y="6505195"/>
                <a:ext cx="131200" cy="126401"/>
              </a:xfrm>
              <a:prstGeom prst="ellipse">
                <a:avLst/>
              </a:prstGeom>
              <a:solidFill>
                <a:srgbClr val="00B050"/>
              </a:solid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40" name="TextBox 39">
                <a:extLst>
                  <a:ext uri="{FF2B5EF4-FFF2-40B4-BE49-F238E27FC236}">
                    <a16:creationId xmlns:a16="http://schemas.microsoft.com/office/drawing/2014/main" id="{AA5F2974-003E-61A7-3E69-4C616F21EE4B}"/>
                  </a:ext>
                </a:extLst>
              </p:cNvPr>
              <p:cNvSpPr txBox="1"/>
              <p:nvPr/>
            </p:nvSpPr>
            <p:spPr>
              <a:xfrm>
                <a:off x="8555682" y="6620896"/>
                <a:ext cx="815094"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InProgress</a:t>
                </a:r>
              </a:p>
            </p:txBody>
          </p:sp>
          <p:sp>
            <p:nvSpPr>
              <p:cNvPr id="41" name="Oval 40">
                <a:extLst>
                  <a:ext uri="{FF2B5EF4-FFF2-40B4-BE49-F238E27FC236}">
                    <a16:creationId xmlns:a16="http://schemas.microsoft.com/office/drawing/2014/main" id="{4514E991-C56F-0528-29B0-79FC79EF187C}"/>
                  </a:ext>
                </a:extLst>
              </p:cNvPr>
              <p:cNvSpPr/>
              <p:nvPr/>
            </p:nvSpPr>
            <p:spPr>
              <a:xfrm>
                <a:off x="6328246" y="6485413"/>
                <a:ext cx="133346" cy="126401"/>
              </a:xfrm>
              <a:prstGeom prst="ellipse">
                <a:avLst/>
              </a:prstGeom>
              <a:solidFill>
                <a:srgbClr val="BFBFBF"/>
              </a:solidFill>
              <a:ln w="9525">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42" name="TextBox 41">
                <a:extLst>
                  <a:ext uri="{FF2B5EF4-FFF2-40B4-BE49-F238E27FC236}">
                    <a16:creationId xmlns:a16="http://schemas.microsoft.com/office/drawing/2014/main" id="{86C95BCA-004B-85E4-DE15-4ACBF0891B19}"/>
                  </a:ext>
                </a:extLst>
              </p:cNvPr>
              <p:cNvSpPr txBox="1"/>
              <p:nvPr/>
            </p:nvSpPr>
            <p:spPr>
              <a:xfrm>
                <a:off x="5966485" y="6601627"/>
                <a:ext cx="858416"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Not Started</a:t>
                </a:r>
              </a:p>
            </p:txBody>
          </p:sp>
        </p:grpSp>
        <p:sp>
          <p:nvSpPr>
            <p:cNvPr id="19" name="Oval 18">
              <a:extLst>
                <a:ext uri="{FF2B5EF4-FFF2-40B4-BE49-F238E27FC236}">
                  <a16:creationId xmlns:a16="http://schemas.microsoft.com/office/drawing/2014/main" id="{C0478EAE-FC3F-9C67-4FCE-11489E259F33}"/>
                </a:ext>
              </a:extLst>
            </p:cNvPr>
            <p:cNvSpPr/>
            <p:nvPr/>
          </p:nvSpPr>
          <p:spPr>
            <a:xfrm>
              <a:off x="9702904" y="6470392"/>
              <a:ext cx="131200" cy="126401"/>
            </a:xfrm>
            <a:prstGeom prst="ellipse">
              <a:avLst/>
            </a:prstGeom>
            <a:solidFill>
              <a:srgbClr val="003373"/>
            </a:solidFill>
            <a:ln w="9525">
              <a:solidFill>
                <a:srgbClr val="0033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grpSp>
      <p:sp>
        <p:nvSpPr>
          <p:cNvPr id="43" name="Rectangle 4">
            <a:extLst>
              <a:ext uri="{FF2B5EF4-FFF2-40B4-BE49-F238E27FC236}">
                <a16:creationId xmlns:a16="http://schemas.microsoft.com/office/drawing/2014/main" id="{F0493931-3280-3A19-63A9-09C1359666F1}"/>
              </a:ext>
            </a:extLst>
          </p:cNvPr>
          <p:cNvSpPr>
            <a:spLocks noChangeArrowheads="1"/>
          </p:cNvSpPr>
          <p:nvPr/>
        </p:nvSpPr>
        <p:spPr bwMode="auto">
          <a:xfrm>
            <a:off x="4744177" y="2045311"/>
            <a:ext cx="9360350" cy="692497"/>
          </a:xfrm>
          <a:prstGeom prst="rect">
            <a:avLst/>
          </a:prstGeom>
          <a:ln>
            <a:solidFill>
              <a:schemeClr val="bg2"/>
            </a:solidFill>
          </a:ln>
        </p:spPr>
        <p:style>
          <a:lnRef idx="2">
            <a:schemeClr val="dk1"/>
          </a:lnRef>
          <a:fillRef idx="1">
            <a:schemeClr val="lt1"/>
          </a:fillRef>
          <a:effectRef idx="0">
            <a:schemeClr val="dk1"/>
          </a:effectRef>
          <a:fontRef idx="minor">
            <a:schemeClr val="dk1"/>
          </a:fontRef>
        </p:style>
        <p:txBody>
          <a:bodyPr vert="horz" wrap="square" lIns="137160" tIns="68580" rIns="137160" bIns="68580" numCol="1" anchor="t" anchorCtr="0" compatLnSpc="1">
            <a:prstTxWarp prst="textNoShape">
              <a:avLst/>
            </a:prstTxWarp>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lang="en-US" sz="1800" b="1">
                <a:ea typeface="+mn-lt"/>
                <a:cs typeface="+mn-lt"/>
              </a:rPr>
              <a:t>Project Status update:</a:t>
            </a:r>
          </a:p>
          <a:p>
            <a:r>
              <a:rPr lang="en-GB" sz="1800" b="1">
                <a:ea typeface="+mn-lt"/>
                <a:cs typeface="+mn-lt"/>
              </a:rPr>
              <a:t>Project completed with condition; Payroll on Hold as per HR director request.</a:t>
            </a:r>
            <a:endParaRPr lang="en-GB" sz="1800" b="1">
              <a:ea typeface="Calibri"/>
              <a:cs typeface="Calibri"/>
            </a:endParaRPr>
          </a:p>
        </p:txBody>
      </p:sp>
      <p:grpSp>
        <p:nvGrpSpPr>
          <p:cNvPr id="44" name="Group 43">
            <a:extLst>
              <a:ext uri="{FF2B5EF4-FFF2-40B4-BE49-F238E27FC236}">
                <a16:creationId xmlns:a16="http://schemas.microsoft.com/office/drawing/2014/main" id="{AF911064-4CC0-5AB8-52E7-66ED977D1DCB}"/>
              </a:ext>
            </a:extLst>
          </p:cNvPr>
          <p:cNvGrpSpPr/>
          <p:nvPr/>
        </p:nvGrpSpPr>
        <p:grpSpPr>
          <a:xfrm>
            <a:off x="819583" y="4302469"/>
            <a:ext cx="16639367" cy="1467558"/>
            <a:chOff x="525791" y="2775683"/>
            <a:chExt cx="11092911" cy="978372"/>
          </a:xfrm>
        </p:grpSpPr>
        <p:grpSp>
          <p:nvGrpSpPr>
            <p:cNvPr id="45" name="Group 44">
              <a:extLst>
                <a:ext uri="{FF2B5EF4-FFF2-40B4-BE49-F238E27FC236}">
                  <a16:creationId xmlns:a16="http://schemas.microsoft.com/office/drawing/2014/main" id="{6CB57027-F64C-2A4B-13FD-A0D5C44CDB09}"/>
                </a:ext>
              </a:extLst>
            </p:cNvPr>
            <p:cNvGrpSpPr/>
            <p:nvPr/>
          </p:nvGrpSpPr>
          <p:grpSpPr>
            <a:xfrm>
              <a:off x="525791" y="2775683"/>
              <a:ext cx="11092911" cy="978372"/>
              <a:chOff x="525791" y="2775683"/>
              <a:chExt cx="11092911" cy="978372"/>
            </a:xfrm>
          </p:grpSpPr>
          <p:grpSp>
            <p:nvGrpSpPr>
              <p:cNvPr id="49" name="Group 48">
                <a:extLst>
                  <a:ext uri="{FF2B5EF4-FFF2-40B4-BE49-F238E27FC236}">
                    <a16:creationId xmlns:a16="http://schemas.microsoft.com/office/drawing/2014/main" id="{1C2889BE-523D-15BD-DAB9-CBBB7417652C}"/>
                  </a:ext>
                </a:extLst>
              </p:cNvPr>
              <p:cNvGrpSpPr/>
              <p:nvPr/>
            </p:nvGrpSpPr>
            <p:grpSpPr>
              <a:xfrm>
                <a:off x="525791" y="2775683"/>
                <a:ext cx="11092911" cy="949004"/>
                <a:chOff x="527780" y="2282703"/>
                <a:chExt cx="8452482" cy="1526472"/>
              </a:xfrm>
            </p:grpSpPr>
            <p:sp>
              <p:nvSpPr>
                <p:cNvPr id="68" name="Rectangle 67">
                  <a:extLst>
                    <a:ext uri="{FF2B5EF4-FFF2-40B4-BE49-F238E27FC236}">
                      <a16:creationId xmlns:a16="http://schemas.microsoft.com/office/drawing/2014/main" id="{A9E0A980-EE20-22FB-2888-E6525B5673A8}"/>
                    </a:ext>
                  </a:extLst>
                </p:cNvPr>
                <p:cNvSpPr/>
                <p:nvPr/>
              </p:nvSpPr>
              <p:spPr bwMode="auto">
                <a:xfrm>
                  <a:off x="554704" y="2954084"/>
                  <a:ext cx="8425558" cy="277524"/>
                </a:xfrm>
                <a:prstGeom prst="rect">
                  <a:avLst/>
                </a:prstGeom>
                <a:solidFill>
                  <a:srgbClr val="002060"/>
                </a:solid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GB" sz="1650" b="1" kern="0">
                      <a:solidFill>
                        <a:schemeClr val="bg1"/>
                      </a:solidFill>
                      <a:latin typeface="+mj-lt"/>
                      <a:cs typeface="Arial" panose="020B0604020202020204" pitchFamily="34" charset="0"/>
                    </a:rPr>
                    <a:t>Key Risks, Issues, &amp; Decisions </a:t>
                  </a:r>
                </a:p>
              </p:txBody>
            </p:sp>
            <p:sp>
              <p:nvSpPr>
                <p:cNvPr id="69" name="Rectangle 68">
                  <a:extLst>
                    <a:ext uri="{FF2B5EF4-FFF2-40B4-BE49-F238E27FC236}">
                      <a16:creationId xmlns:a16="http://schemas.microsoft.com/office/drawing/2014/main" id="{EBFE6CD2-665A-C140-CAEC-AD4B4B88F423}"/>
                    </a:ext>
                  </a:extLst>
                </p:cNvPr>
                <p:cNvSpPr/>
                <p:nvPr/>
              </p:nvSpPr>
              <p:spPr bwMode="gray">
                <a:xfrm>
                  <a:off x="547685" y="2284797"/>
                  <a:ext cx="8432577" cy="1263745"/>
                </a:xfrm>
                <a:prstGeom prst="rect">
                  <a:avLst/>
                </a:prstGeom>
                <a:solidFill>
                  <a:schemeClr val="bg1">
                    <a:lumMod val="95000"/>
                  </a:schemeClr>
                </a:solidFill>
                <a:ln w="19050" algn="ctr">
                  <a:no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IN"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0" name="Rectangle 69">
                  <a:extLst>
                    <a:ext uri="{FF2B5EF4-FFF2-40B4-BE49-F238E27FC236}">
                      <a16:creationId xmlns:a16="http://schemas.microsoft.com/office/drawing/2014/main" id="{3E0C430B-7580-FA04-2F9A-B607493F0EFC}"/>
                    </a:ext>
                  </a:extLst>
                </p:cNvPr>
                <p:cNvSpPr/>
                <p:nvPr/>
              </p:nvSpPr>
              <p:spPr bwMode="gray">
                <a:xfrm>
                  <a:off x="527780" y="2282703"/>
                  <a:ext cx="7673360" cy="1237317"/>
                </a:xfrm>
                <a:prstGeom prst="rect">
                  <a:avLst/>
                </a:prstGeom>
                <a:solidFill>
                  <a:srgbClr val="00B0F0">
                    <a:alpha val="13000"/>
                  </a:srgbClr>
                </a:solidFill>
                <a:ln w="19050" algn="ctr">
                  <a:no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71" name="Straight Connector 70">
                  <a:extLst>
                    <a:ext uri="{FF2B5EF4-FFF2-40B4-BE49-F238E27FC236}">
                      <a16:creationId xmlns:a16="http://schemas.microsoft.com/office/drawing/2014/main" id="{0606D736-1C4D-D900-ACDF-978395F74E5D}"/>
                    </a:ext>
                  </a:extLst>
                </p:cNvPr>
                <p:cNvCxnSpPr>
                  <a:cxnSpLocks/>
                </p:cNvCxnSpPr>
                <p:nvPr/>
              </p:nvCxnSpPr>
              <p:spPr>
                <a:xfrm>
                  <a:off x="1071798" y="2916207"/>
                  <a:ext cx="7711740" cy="12813"/>
                </a:xfrm>
                <a:prstGeom prst="line">
                  <a:avLst/>
                </a:prstGeom>
                <a:ln w="22225">
                  <a:solidFill>
                    <a:schemeClr val="tx1">
                      <a:lumMod val="75000"/>
                      <a:lumOff val="2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B4249816-CC04-ED35-AB89-8AEEB03AC253}"/>
                    </a:ext>
                  </a:extLst>
                </p:cNvPr>
                <p:cNvSpPr txBox="1"/>
                <p:nvPr/>
              </p:nvSpPr>
              <p:spPr>
                <a:xfrm>
                  <a:off x="1794259" y="2356248"/>
                  <a:ext cx="1830889" cy="408424"/>
                </a:xfrm>
                <a:prstGeom prst="rect">
                  <a:avLst/>
                </a:prstGeom>
                <a:noFill/>
              </p:spPr>
              <p:txBody>
                <a:bodyPr wrap="square" lIns="0" r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altLang="ko-KR" sz="1575"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Requirements &amp; Planning</a:t>
                  </a:r>
                </a:p>
              </p:txBody>
            </p:sp>
            <p:sp>
              <p:nvSpPr>
                <p:cNvPr id="73" name="TextBox 72">
                  <a:extLst>
                    <a:ext uri="{FF2B5EF4-FFF2-40B4-BE49-F238E27FC236}">
                      <a16:creationId xmlns:a16="http://schemas.microsoft.com/office/drawing/2014/main" id="{05D58607-D776-5623-413B-5F17CE062DB5}"/>
                    </a:ext>
                  </a:extLst>
                </p:cNvPr>
                <p:cNvSpPr txBox="1"/>
                <p:nvPr/>
              </p:nvSpPr>
              <p:spPr>
                <a:xfrm>
                  <a:off x="534142" y="2342410"/>
                  <a:ext cx="1461722" cy="253916"/>
                </a:xfrm>
                <a:prstGeom prst="rect">
                  <a:avLst/>
                </a:prstGeom>
                <a:noFill/>
              </p:spPr>
              <p:txBody>
                <a:bodyPr wrap="square" lIns="0" r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altLang="ko-KR" sz="1575"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Initiation</a:t>
                  </a:r>
                  <a:endParaRPr kumimoji="0" lang="ko-KR" altLang="en-US" sz="1575"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cxnSp>
              <p:nvCxnSpPr>
                <p:cNvPr id="74" name="Straight Connector 73">
                  <a:extLst>
                    <a:ext uri="{FF2B5EF4-FFF2-40B4-BE49-F238E27FC236}">
                      <a16:creationId xmlns:a16="http://schemas.microsoft.com/office/drawing/2014/main" id="{792810BD-7FEB-868B-C867-46DEC5DF12CE}"/>
                    </a:ext>
                  </a:extLst>
                </p:cNvPr>
                <p:cNvCxnSpPr>
                  <a:cxnSpLocks/>
                </p:cNvCxnSpPr>
                <p:nvPr/>
              </p:nvCxnSpPr>
              <p:spPr>
                <a:xfrm>
                  <a:off x="1110270" y="2706686"/>
                  <a:ext cx="0" cy="205702"/>
                </a:xfrm>
                <a:prstGeom prst="line">
                  <a:avLst/>
                </a:prstGeom>
                <a:solidFill>
                  <a:srgbClr val="002060"/>
                </a:solidFill>
                <a:ln w="19050">
                  <a:solidFill>
                    <a:srgbClr val="002060"/>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75" name="Oval 74">
                  <a:extLst>
                    <a:ext uri="{FF2B5EF4-FFF2-40B4-BE49-F238E27FC236}">
                      <a16:creationId xmlns:a16="http://schemas.microsoft.com/office/drawing/2014/main" id="{B6AB5636-7AF9-2FF7-0771-37627CBE56E1}"/>
                    </a:ext>
                  </a:extLst>
                </p:cNvPr>
                <p:cNvSpPr/>
                <p:nvPr/>
              </p:nvSpPr>
              <p:spPr bwMode="gray">
                <a:xfrm>
                  <a:off x="989388" y="2972908"/>
                  <a:ext cx="244993" cy="325882"/>
                </a:xfrm>
                <a:prstGeom prst="ellipse">
                  <a:avLst/>
                </a:prstGeom>
                <a:solidFill>
                  <a:srgbClr val="002060"/>
                </a:solidFill>
                <a:ln w="19050" algn="ctr">
                  <a:no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6" name="TextBox 75">
                  <a:extLst>
                    <a:ext uri="{FF2B5EF4-FFF2-40B4-BE49-F238E27FC236}">
                      <a16:creationId xmlns:a16="http://schemas.microsoft.com/office/drawing/2014/main" id="{DAE27EA3-90C2-9BA0-A82A-79FE2B5E207A}"/>
                    </a:ext>
                  </a:extLst>
                </p:cNvPr>
                <p:cNvSpPr txBox="1"/>
                <p:nvPr/>
              </p:nvSpPr>
              <p:spPr>
                <a:xfrm>
                  <a:off x="554699" y="3322020"/>
                  <a:ext cx="1096955" cy="272282"/>
                </a:xfrm>
                <a:prstGeom prst="rect">
                  <a:avLst/>
                </a:prstGeom>
                <a:noFill/>
              </p:spPr>
              <p:txBody>
                <a:bodyPr wrap="square" lIns="0" tIns="0" rIns="0" bIns="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lang="en-US" altLang="ko-KR" sz="1650" b="1" strike="sngStrike">
                      <a:solidFill>
                        <a:prstClr val="black"/>
                      </a:solidFill>
                      <a:latin typeface="Arial"/>
                      <a:ea typeface="맑은 고딕"/>
                      <a:cs typeface="Arial"/>
                    </a:rPr>
                    <a:t>Jan-2025</a:t>
                  </a:r>
                  <a:endParaRPr kumimoji="0" lang="ko-KR" altLang="en-US" sz="1650" b="1" i="0" u="none" strike="sngStrike" kern="1200" cap="none" spc="0" normalizeH="0" baseline="0" noProof="0">
                    <a:ln>
                      <a:noFill/>
                    </a:ln>
                    <a:solidFill>
                      <a:prstClr val="black"/>
                    </a:solidFill>
                    <a:effectLst/>
                    <a:uLnTx/>
                    <a:uFillTx/>
                    <a:latin typeface="Arial"/>
                    <a:ea typeface="맑은 고딕"/>
                    <a:cs typeface="Arial"/>
                  </a:endParaRPr>
                </a:p>
              </p:txBody>
            </p:sp>
            <p:sp>
              <p:nvSpPr>
                <p:cNvPr id="77" name="Oval 76">
                  <a:extLst>
                    <a:ext uri="{FF2B5EF4-FFF2-40B4-BE49-F238E27FC236}">
                      <a16:creationId xmlns:a16="http://schemas.microsoft.com/office/drawing/2014/main" id="{4BE9CF17-A483-9719-70F4-AC9B25523EB7}"/>
                    </a:ext>
                  </a:extLst>
                </p:cNvPr>
                <p:cNvSpPr/>
                <p:nvPr/>
              </p:nvSpPr>
              <p:spPr bwMode="gray">
                <a:xfrm>
                  <a:off x="6751518" y="3001096"/>
                  <a:ext cx="244993" cy="225669"/>
                </a:xfrm>
                <a:prstGeom prst="ellipse">
                  <a:avLst/>
                </a:prstGeom>
                <a:solidFill>
                  <a:srgbClr val="002060"/>
                </a:solidFill>
                <a:ln w="19050" algn="ctr">
                  <a:solidFill>
                    <a:srgbClr val="002060"/>
                  </a:solid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8" name="TextBox 77">
                  <a:extLst>
                    <a:ext uri="{FF2B5EF4-FFF2-40B4-BE49-F238E27FC236}">
                      <a16:creationId xmlns:a16="http://schemas.microsoft.com/office/drawing/2014/main" id="{12C8C0D4-C134-7D20-D8FF-A65B1EA6E0C1}"/>
                    </a:ext>
                  </a:extLst>
                </p:cNvPr>
                <p:cNvSpPr txBox="1"/>
                <p:nvPr/>
              </p:nvSpPr>
              <p:spPr>
                <a:xfrm>
                  <a:off x="6160175" y="2316843"/>
                  <a:ext cx="1404056" cy="408424"/>
                </a:xfrm>
                <a:prstGeom prst="rect">
                  <a:avLst/>
                </a:prstGeom>
                <a:noFill/>
              </p:spPr>
              <p:txBody>
                <a:bodyPr wrap="square" lIns="0" r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575"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Go-live</a:t>
                  </a:r>
                  <a:endParaRPr kumimoji="0" lang="ko-KR" altLang="en-US" sz="1575"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cxnSp>
              <p:nvCxnSpPr>
                <p:cNvPr id="79" name="Straight Connector 78">
                  <a:extLst>
                    <a:ext uri="{FF2B5EF4-FFF2-40B4-BE49-F238E27FC236}">
                      <a16:creationId xmlns:a16="http://schemas.microsoft.com/office/drawing/2014/main" id="{14D73A8C-8585-3497-2312-9B798AF10EFC}"/>
                    </a:ext>
                  </a:extLst>
                </p:cNvPr>
                <p:cNvCxnSpPr>
                  <a:cxnSpLocks/>
                </p:cNvCxnSpPr>
                <p:nvPr/>
              </p:nvCxnSpPr>
              <p:spPr>
                <a:xfrm>
                  <a:off x="6874014" y="2673271"/>
                  <a:ext cx="0" cy="258338"/>
                </a:xfrm>
                <a:prstGeom prst="line">
                  <a:avLst/>
                </a:prstGeom>
                <a:solidFill>
                  <a:srgbClr val="00B050"/>
                </a:solidFill>
                <a:ln w="19050">
                  <a:solidFill>
                    <a:srgbClr val="002060"/>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E6BF511A-D8DB-36AD-BCEA-7549BC9C8873}"/>
                    </a:ext>
                  </a:extLst>
                </p:cNvPr>
                <p:cNvSpPr txBox="1"/>
                <p:nvPr/>
              </p:nvSpPr>
              <p:spPr>
                <a:xfrm>
                  <a:off x="6325537" y="3264611"/>
                  <a:ext cx="1096955" cy="544564"/>
                </a:xfrm>
                <a:prstGeom prst="rect">
                  <a:avLst/>
                </a:prstGeom>
                <a:noFill/>
              </p:spPr>
              <p:txBody>
                <a:bodyPr wrap="square" lIns="0" tIns="0" rIns="0" bIns="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defRPr/>
                  </a:pPr>
                  <a:r>
                    <a:rPr lang="en-US" altLang="ko-KR" sz="1650" b="1" strike="sngStrike">
                      <a:latin typeface="Arial"/>
                      <a:ea typeface="맑은 고딕"/>
                      <a:cs typeface="Arial"/>
                    </a:rPr>
                    <a:t>May</a:t>
                  </a:r>
                  <a:br>
                    <a:rPr lang="en-US" altLang="ko-KR" sz="1650" b="1" strike="sngStrike">
                      <a:latin typeface="Arial" panose="020B0604020202020204" pitchFamily="34" charset="0"/>
                      <a:cs typeface="Arial" panose="020B0604020202020204" pitchFamily="34" charset="0"/>
                    </a:rPr>
                  </a:br>
                  <a:r>
                    <a:rPr lang="en-US" sz="1650" b="1" strike="sngStrike">
                      <a:solidFill>
                        <a:prstClr val="black"/>
                      </a:solidFill>
                      <a:latin typeface="Arial"/>
                      <a:cs typeface="Arial"/>
                    </a:rPr>
                    <a:t>July-2025</a:t>
                  </a:r>
                  <a:endParaRPr lang="en-US" sz="1650" strike="sngStrike">
                    <a:solidFill>
                      <a:prstClr val="black"/>
                    </a:solidFill>
                    <a:latin typeface="Arial"/>
                    <a:cs typeface="Arial"/>
                  </a:endParaRPr>
                </a:p>
              </p:txBody>
            </p:sp>
          </p:grpSp>
          <p:sp>
            <p:nvSpPr>
              <p:cNvPr id="50" name="Oval 49">
                <a:extLst>
                  <a:ext uri="{FF2B5EF4-FFF2-40B4-BE49-F238E27FC236}">
                    <a16:creationId xmlns:a16="http://schemas.microsoft.com/office/drawing/2014/main" id="{6FCEB02D-949E-9ECD-57D2-CADD8652CECA}"/>
                  </a:ext>
                </a:extLst>
              </p:cNvPr>
              <p:cNvSpPr/>
              <p:nvPr/>
            </p:nvSpPr>
            <p:spPr bwMode="gray">
              <a:xfrm>
                <a:off x="3145583" y="3187661"/>
                <a:ext cx="321525" cy="207376"/>
              </a:xfrm>
              <a:prstGeom prst="ellipse">
                <a:avLst/>
              </a:prstGeom>
              <a:solidFill>
                <a:srgbClr val="002060"/>
              </a:solidFill>
              <a:ln w="19050" algn="ctr">
                <a:no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51" name="Oval 50">
                <a:extLst>
                  <a:ext uri="{FF2B5EF4-FFF2-40B4-BE49-F238E27FC236}">
                    <a16:creationId xmlns:a16="http://schemas.microsoft.com/office/drawing/2014/main" id="{813097BE-00BE-8CA4-3C51-459E83D53027}"/>
                  </a:ext>
                </a:extLst>
              </p:cNvPr>
              <p:cNvSpPr/>
              <p:nvPr/>
            </p:nvSpPr>
            <p:spPr bwMode="gray">
              <a:xfrm>
                <a:off x="5585411" y="3188391"/>
                <a:ext cx="321525" cy="200386"/>
              </a:xfrm>
              <a:prstGeom prst="ellipse">
                <a:avLst/>
              </a:prstGeom>
              <a:solidFill>
                <a:srgbClr val="003373"/>
              </a:solidFill>
              <a:ln w="19050" algn="ctr">
                <a:solidFill>
                  <a:srgbClr val="003373"/>
                </a:solid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53" name="TextBox 52">
                <a:extLst>
                  <a:ext uri="{FF2B5EF4-FFF2-40B4-BE49-F238E27FC236}">
                    <a16:creationId xmlns:a16="http://schemas.microsoft.com/office/drawing/2014/main" id="{5F95DA23-8195-66B5-7479-317A33E0631D}"/>
                  </a:ext>
                </a:extLst>
              </p:cNvPr>
              <p:cNvSpPr txBox="1"/>
              <p:nvPr/>
            </p:nvSpPr>
            <p:spPr>
              <a:xfrm>
                <a:off x="4544757" y="2785360"/>
                <a:ext cx="2402831" cy="253916"/>
              </a:xfrm>
              <a:prstGeom prst="rect">
                <a:avLst/>
              </a:prstGeom>
              <a:noFill/>
            </p:spPr>
            <p:txBody>
              <a:bodyPr wrap="square" lIns="0" r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lang="en-US" altLang="ko-KR" sz="1575" b="1">
                    <a:solidFill>
                      <a:prstClr val="black"/>
                    </a:solidFill>
                    <a:latin typeface="Arial" panose="020B0604020202020204" pitchFamily="34" charset="0"/>
                    <a:cs typeface="Arial" panose="020B0604020202020204" pitchFamily="34" charset="0"/>
                  </a:rPr>
                  <a:t>Design and Build</a:t>
                </a:r>
                <a:endParaRPr kumimoji="0" lang="en-US" altLang="ko-KR" sz="1575"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4" name="TextBox 53">
                <a:extLst>
                  <a:ext uri="{FF2B5EF4-FFF2-40B4-BE49-F238E27FC236}">
                    <a16:creationId xmlns:a16="http://schemas.microsoft.com/office/drawing/2014/main" id="{1D43B4A8-2F85-432B-96AC-3A8232DCE954}"/>
                  </a:ext>
                </a:extLst>
              </p:cNvPr>
              <p:cNvSpPr txBox="1"/>
              <p:nvPr/>
            </p:nvSpPr>
            <p:spPr>
              <a:xfrm>
                <a:off x="2586531" y="3424314"/>
                <a:ext cx="1439627" cy="169277"/>
              </a:xfrm>
              <a:prstGeom prst="rect">
                <a:avLst/>
              </a:prstGeom>
              <a:noFill/>
            </p:spPr>
            <p:txBody>
              <a:bodyPr wrap="square" lIns="0" tIns="0" rIns="0" bIns="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lang="en-US" altLang="ko-KR" sz="1650" b="1" strike="sngStrike">
                    <a:solidFill>
                      <a:prstClr val="black"/>
                    </a:solidFill>
                    <a:latin typeface="Arial"/>
                    <a:ea typeface="맑은 고딕"/>
                    <a:cs typeface="Arial"/>
                  </a:rPr>
                  <a:t>Feb-2025</a:t>
                </a:r>
                <a:endParaRPr kumimoji="0" lang="ko-KR" altLang="en-US" sz="1650" b="1" i="0" u="none" strike="sngStrike" kern="1200" cap="none" spc="0" normalizeH="0" baseline="0" noProof="0">
                  <a:ln>
                    <a:noFill/>
                  </a:ln>
                  <a:solidFill>
                    <a:prstClr val="black"/>
                  </a:solidFill>
                  <a:effectLst/>
                  <a:uLnTx/>
                  <a:uFillTx/>
                  <a:latin typeface="Arial"/>
                  <a:ea typeface="맑은 고딕"/>
                  <a:cs typeface="Arial"/>
                </a:endParaRPr>
              </a:p>
            </p:txBody>
          </p:sp>
          <p:sp>
            <p:nvSpPr>
              <p:cNvPr id="55" name="Oval 54">
                <a:extLst>
                  <a:ext uri="{FF2B5EF4-FFF2-40B4-BE49-F238E27FC236}">
                    <a16:creationId xmlns:a16="http://schemas.microsoft.com/office/drawing/2014/main" id="{ED3D30EA-08E0-4E43-4CC0-B0955A77924D}"/>
                  </a:ext>
                </a:extLst>
              </p:cNvPr>
              <p:cNvSpPr/>
              <p:nvPr/>
            </p:nvSpPr>
            <p:spPr bwMode="gray">
              <a:xfrm>
                <a:off x="6946381" y="3206996"/>
                <a:ext cx="321525" cy="200386"/>
              </a:xfrm>
              <a:prstGeom prst="ellipse">
                <a:avLst/>
              </a:prstGeom>
              <a:solidFill>
                <a:srgbClr val="002060"/>
              </a:solidFill>
              <a:ln w="19050" algn="ctr">
                <a:solidFill>
                  <a:srgbClr val="002060"/>
                </a:solid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56" name="TextBox 55">
                <a:extLst>
                  <a:ext uri="{FF2B5EF4-FFF2-40B4-BE49-F238E27FC236}">
                    <a16:creationId xmlns:a16="http://schemas.microsoft.com/office/drawing/2014/main" id="{ED7643FD-4F3A-AF28-DCE1-38FC0B41C879}"/>
                  </a:ext>
                </a:extLst>
              </p:cNvPr>
              <p:cNvSpPr txBox="1"/>
              <p:nvPr/>
            </p:nvSpPr>
            <p:spPr>
              <a:xfrm>
                <a:off x="5849290" y="2806187"/>
                <a:ext cx="2402831" cy="253916"/>
              </a:xfrm>
              <a:prstGeom prst="rect">
                <a:avLst/>
              </a:prstGeom>
              <a:noFill/>
            </p:spPr>
            <p:txBody>
              <a:bodyPr wrap="square" lIns="0" r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lang="en-US" altLang="ko-KR" sz="1575" b="1">
                    <a:solidFill>
                      <a:prstClr val="black"/>
                    </a:solidFill>
                    <a:latin typeface="Arial" panose="020B0604020202020204" pitchFamily="34" charset="0"/>
                    <a:cs typeface="Arial" panose="020B0604020202020204" pitchFamily="34" charset="0"/>
                  </a:rPr>
                  <a:t>UAT</a:t>
                </a:r>
                <a:endParaRPr kumimoji="0" lang="en-US" altLang="ko-KR" sz="1575"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9" name="TextBox 58">
                <a:extLst>
                  <a:ext uri="{FF2B5EF4-FFF2-40B4-BE49-F238E27FC236}">
                    <a16:creationId xmlns:a16="http://schemas.microsoft.com/office/drawing/2014/main" id="{B79AF889-C2F6-E0BC-C86C-44ECBBDC5693}"/>
                  </a:ext>
                </a:extLst>
              </p:cNvPr>
              <p:cNvSpPr txBox="1"/>
              <p:nvPr/>
            </p:nvSpPr>
            <p:spPr>
              <a:xfrm>
                <a:off x="5035296" y="3435854"/>
                <a:ext cx="1439627" cy="169277"/>
              </a:xfrm>
              <a:prstGeom prst="rect">
                <a:avLst/>
              </a:prstGeom>
              <a:noFill/>
            </p:spPr>
            <p:txBody>
              <a:bodyPr wrap="square" lIns="0" tIns="0" rIns="0" bIns="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lang="en-US" altLang="ko-KR" sz="1650" b="1" strike="sngStrike">
                    <a:solidFill>
                      <a:prstClr val="black"/>
                    </a:solidFill>
                    <a:latin typeface="Arial"/>
                    <a:ea typeface="맑은 고딕"/>
                    <a:cs typeface="Arial"/>
                  </a:rPr>
                  <a:t>Mar-2025</a:t>
                </a:r>
                <a:endParaRPr kumimoji="0" lang="ko-KR" altLang="en-US" sz="1650" b="1" i="0" u="none" strike="sngStrike" kern="1200" cap="none" spc="0" normalizeH="0" baseline="0" noProof="0">
                  <a:ln>
                    <a:noFill/>
                  </a:ln>
                  <a:solidFill>
                    <a:prstClr val="black"/>
                  </a:solidFill>
                  <a:effectLst/>
                  <a:uLnTx/>
                  <a:uFillTx/>
                  <a:latin typeface="Arial"/>
                  <a:ea typeface="맑은 고딕"/>
                  <a:cs typeface="Arial"/>
                </a:endParaRPr>
              </a:p>
            </p:txBody>
          </p:sp>
          <p:sp>
            <p:nvSpPr>
              <p:cNvPr id="60" name="TextBox 59">
                <a:extLst>
                  <a:ext uri="{FF2B5EF4-FFF2-40B4-BE49-F238E27FC236}">
                    <a16:creationId xmlns:a16="http://schemas.microsoft.com/office/drawing/2014/main" id="{73881733-12F4-83D1-A12E-630251A0A9A7}"/>
                  </a:ext>
                </a:extLst>
              </p:cNvPr>
              <p:cNvSpPr txBox="1"/>
              <p:nvPr/>
            </p:nvSpPr>
            <p:spPr>
              <a:xfrm>
                <a:off x="6416091" y="3415501"/>
                <a:ext cx="1439627" cy="338554"/>
              </a:xfrm>
              <a:prstGeom prst="rect">
                <a:avLst/>
              </a:prstGeom>
              <a:noFill/>
            </p:spPr>
            <p:txBody>
              <a:bodyPr wrap="square" lIns="0" tIns="0" rIns="0" bIns="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altLang="ko-KR" sz="1650" b="1" i="0" u="none" strike="sngStrike" kern="1200" cap="none" spc="0" normalizeH="0" noProof="0">
                    <a:ln>
                      <a:noFill/>
                    </a:ln>
                    <a:solidFill>
                      <a:prstClr val="black"/>
                    </a:solidFill>
                    <a:effectLst/>
                    <a:uLnTx/>
                    <a:uFillTx/>
                    <a:latin typeface="Arial"/>
                    <a:ea typeface="맑은 고딕"/>
                    <a:cs typeface="Arial"/>
                  </a:rPr>
                  <a:t>Apr</a:t>
                </a:r>
              </a:p>
              <a:p>
                <a:pPr algn="ctr">
                  <a:defRPr/>
                </a:pPr>
                <a:r>
                  <a:rPr lang="en-US" sz="1650" b="1" strike="sngStrike">
                    <a:solidFill>
                      <a:prstClr val="black"/>
                    </a:solidFill>
                    <a:latin typeface="Arial"/>
                    <a:ea typeface="맑은 고딕"/>
                    <a:cs typeface="Arial"/>
                  </a:rPr>
                  <a:t>July-2025</a:t>
                </a:r>
                <a:endParaRPr lang="en-US" sz="4050" strike="sngStrike">
                  <a:solidFill>
                    <a:prstClr val="black"/>
                  </a:solidFill>
                </a:endParaRPr>
              </a:p>
            </p:txBody>
          </p:sp>
        </p:grpSp>
        <p:cxnSp>
          <p:nvCxnSpPr>
            <p:cNvPr id="46" name="Straight Connector 45">
              <a:extLst>
                <a:ext uri="{FF2B5EF4-FFF2-40B4-BE49-F238E27FC236}">
                  <a16:creationId xmlns:a16="http://schemas.microsoft.com/office/drawing/2014/main" id="{8FCC9017-4DF3-4010-0185-B2F60EBD8D2B}"/>
                </a:ext>
              </a:extLst>
            </p:cNvPr>
            <p:cNvCxnSpPr>
              <a:cxnSpLocks/>
            </p:cNvCxnSpPr>
            <p:nvPr/>
          </p:nvCxnSpPr>
          <p:spPr>
            <a:xfrm>
              <a:off x="3306346" y="3017687"/>
              <a:ext cx="0" cy="127884"/>
            </a:xfrm>
            <a:prstGeom prst="line">
              <a:avLst/>
            </a:prstGeom>
            <a:solidFill>
              <a:srgbClr val="002060"/>
            </a:solidFill>
            <a:ln w="19050">
              <a:solidFill>
                <a:srgbClr val="002060"/>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EC972C3A-BEBB-D399-7884-A9B1CA62C942}"/>
                </a:ext>
              </a:extLst>
            </p:cNvPr>
            <p:cNvCxnSpPr>
              <a:cxnSpLocks/>
            </p:cNvCxnSpPr>
            <p:nvPr/>
          </p:nvCxnSpPr>
          <p:spPr>
            <a:xfrm>
              <a:off x="5746180" y="3001987"/>
              <a:ext cx="0" cy="143584"/>
            </a:xfrm>
            <a:prstGeom prst="line">
              <a:avLst/>
            </a:prstGeom>
            <a:solidFill>
              <a:srgbClr val="003373"/>
            </a:solidFill>
            <a:ln w="19050">
              <a:solidFill>
                <a:srgbClr val="003373"/>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B7FC9CB4-BBF6-148A-809E-081A0FA2A0E9}"/>
                </a:ext>
              </a:extLst>
            </p:cNvPr>
            <p:cNvCxnSpPr>
              <a:cxnSpLocks/>
            </p:cNvCxnSpPr>
            <p:nvPr/>
          </p:nvCxnSpPr>
          <p:spPr>
            <a:xfrm>
              <a:off x="7107143" y="3039272"/>
              <a:ext cx="0" cy="143584"/>
            </a:xfrm>
            <a:prstGeom prst="line">
              <a:avLst/>
            </a:prstGeom>
            <a:solidFill>
              <a:srgbClr val="00B050"/>
            </a:solidFill>
            <a:ln w="19050">
              <a:solidFill>
                <a:srgbClr val="002060"/>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grpSp>
      <p:sp>
        <p:nvSpPr>
          <p:cNvPr id="11" name="Rectangle 10">
            <a:extLst>
              <a:ext uri="{FF2B5EF4-FFF2-40B4-BE49-F238E27FC236}">
                <a16:creationId xmlns:a16="http://schemas.microsoft.com/office/drawing/2014/main" id="{88EAE909-8E69-B5F4-F014-CB3BF1F47DFC}"/>
              </a:ext>
            </a:extLst>
          </p:cNvPr>
          <p:cNvSpPr/>
          <p:nvPr/>
        </p:nvSpPr>
        <p:spPr bwMode="auto">
          <a:xfrm>
            <a:off x="15836117" y="2117372"/>
            <a:ext cx="1612257" cy="405768"/>
          </a:xfrm>
          <a:prstGeom prst="rect">
            <a:avLst/>
          </a:prstGeom>
          <a:solidFill>
            <a:srgbClr val="00A69C"/>
          </a:solid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anose="020B0604020202020204" pitchFamily="34" charset="0"/>
              </a:rPr>
              <a:t>Current Period</a:t>
            </a:r>
          </a:p>
        </p:txBody>
      </p:sp>
      <p:sp>
        <p:nvSpPr>
          <p:cNvPr id="12" name="Rectangle 11">
            <a:extLst>
              <a:ext uri="{FF2B5EF4-FFF2-40B4-BE49-F238E27FC236}">
                <a16:creationId xmlns:a16="http://schemas.microsoft.com/office/drawing/2014/main" id="{7CB73C7F-21C5-4C62-9C41-F146E60B62A2}"/>
              </a:ext>
            </a:extLst>
          </p:cNvPr>
          <p:cNvSpPr/>
          <p:nvPr/>
        </p:nvSpPr>
        <p:spPr bwMode="auto">
          <a:xfrm>
            <a:off x="14111579" y="2117372"/>
            <a:ext cx="1620000" cy="405768"/>
          </a:xfrm>
          <a:prstGeom prst="rect">
            <a:avLst/>
          </a:prstGeom>
          <a:solidFill>
            <a:srgbClr val="00A69C"/>
          </a:solid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anose="020B0604020202020204" pitchFamily="34" charset="0"/>
              </a:rPr>
              <a:t>Previous Period</a:t>
            </a:r>
          </a:p>
        </p:txBody>
      </p:sp>
      <p:sp>
        <p:nvSpPr>
          <p:cNvPr id="13" name="Rectangle 12">
            <a:extLst>
              <a:ext uri="{FF2B5EF4-FFF2-40B4-BE49-F238E27FC236}">
                <a16:creationId xmlns:a16="http://schemas.microsoft.com/office/drawing/2014/main" id="{E39AFCA0-66CF-DAC3-3413-BD726B5F2D9E}"/>
              </a:ext>
            </a:extLst>
          </p:cNvPr>
          <p:cNvSpPr/>
          <p:nvPr/>
        </p:nvSpPr>
        <p:spPr bwMode="auto">
          <a:xfrm>
            <a:off x="14108566" y="2521505"/>
            <a:ext cx="1612256" cy="533700"/>
          </a:xfrm>
          <a:prstGeom prst="rect">
            <a:avLst/>
          </a:prstGeom>
          <a:solidFill>
            <a:srgbClr val="003373"/>
          </a:solidFill>
          <a:ln w="9525" cap="flat" cmpd="sng" algn="ctr">
            <a:solidFill>
              <a:srgbClr val="005191"/>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defTabSz="1564584">
              <a:defRPr/>
            </a:pPr>
            <a:r>
              <a:rPr lang="en-GB" sz="1500" b="1" kern="0">
                <a:solidFill>
                  <a:srgbClr val="FFFFFF"/>
                </a:solidFill>
                <a:cs typeface="Arial" panose="020B0604020202020204" pitchFamily="34" charset="0"/>
              </a:rPr>
              <a:t>Completed </a:t>
            </a:r>
          </a:p>
        </p:txBody>
      </p:sp>
      <p:sp>
        <p:nvSpPr>
          <p:cNvPr id="14" name="Rectangle 13">
            <a:extLst>
              <a:ext uri="{FF2B5EF4-FFF2-40B4-BE49-F238E27FC236}">
                <a16:creationId xmlns:a16="http://schemas.microsoft.com/office/drawing/2014/main" id="{06531371-85E1-96DF-D2AA-52FB6149DF34}"/>
              </a:ext>
            </a:extLst>
          </p:cNvPr>
          <p:cNvSpPr/>
          <p:nvPr/>
        </p:nvSpPr>
        <p:spPr bwMode="auto">
          <a:xfrm>
            <a:off x="15847604" y="2530028"/>
            <a:ext cx="1574978" cy="533700"/>
          </a:xfrm>
          <a:prstGeom prst="rect">
            <a:avLst/>
          </a:prstGeom>
          <a:solidFill>
            <a:srgbClr val="003373"/>
          </a:solidFill>
          <a:ln w="9525" cap="flat" cmpd="sng" algn="ctr">
            <a:solidFill>
              <a:srgbClr val="005191"/>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defTabSz="1564584">
              <a:defRPr/>
            </a:pPr>
            <a:r>
              <a:rPr lang="en-GB" sz="1500" b="1" kern="0">
                <a:solidFill>
                  <a:srgbClr val="FFFFFF"/>
                </a:solidFill>
                <a:latin typeface="+mj-lt"/>
                <a:cs typeface="Arial" panose="020B0604020202020204" pitchFamily="34" charset="0"/>
              </a:rPr>
              <a:t>Completed </a:t>
            </a:r>
          </a:p>
        </p:txBody>
      </p:sp>
      <p:sp>
        <p:nvSpPr>
          <p:cNvPr id="2" name="Rectangle 1">
            <a:extLst>
              <a:ext uri="{FF2B5EF4-FFF2-40B4-BE49-F238E27FC236}">
                <a16:creationId xmlns:a16="http://schemas.microsoft.com/office/drawing/2014/main" id="{378D6B85-0588-6CD4-146C-52D0E4BDF007}"/>
              </a:ext>
            </a:extLst>
          </p:cNvPr>
          <p:cNvSpPr>
            <a:spLocks noChangeArrowheads="1"/>
          </p:cNvSpPr>
          <p:nvPr/>
        </p:nvSpPr>
        <p:spPr bwMode="auto">
          <a:xfrm>
            <a:off x="0" y="239025"/>
            <a:ext cx="18288000" cy="207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0" fontAlgn="base" latinLnBrk="0" hangingPunct="0">
              <a:lnSpc>
                <a:spcPct val="100000"/>
              </a:lnSpc>
              <a:spcBef>
                <a:spcPct val="0"/>
              </a:spcBef>
              <a:spcAft>
                <a:spcPct val="0"/>
              </a:spcAft>
              <a:buClrTx/>
              <a:buSzTx/>
              <a:buFontTx/>
              <a:buNone/>
              <a:tabLst/>
            </a:pPr>
            <a:r>
              <a:rPr kumimoji="0" lang="en-US" altLang="en-US" sz="1350" b="0" i="0" u="none" strike="noStrike" cap="none" normalizeH="0" baseline="0">
                <a:ln>
                  <a:noFill/>
                </a:ln>
                <a:solidFill>
                  <a:srgbClr val="FFFFFF"/>
                </a:solidFill>
                <a:effectLst/>
                <a:latin typeface="Menlo"/>
              </a:rPr>
              <a:t>Apr-May</a:t>
            </a:r>
            <a:r>
              <a:rPr kumimoji="0" lang="en-US" altLang="en-US" sz="1200" b="0" i="0" u="none" strike="noStrike" cap="none" normalizeH="0" baseline="0">
                <a:ln>
                  <a:noFill/>
                </a:ln>
                <a:solidFill>
                  <a:schemeClr val="tx1"/>
                </a:solidFill>
                <a:effectLst/>
              </a:rPr>
              <a:t> </a:t>
            </a:r>
            <a:endParaRPr kumimoji="0" lang="en-US" altLang="en-US" sz="2700" b="0" i="0" u="none" strike="noStrike" cap="none" normalizeH="0" baseline="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6ABC0581-D2FA-ADF3-C841-7EEBD81CDEA8}"/>
              </a:ext>
            </a:extLst>
          </p:cNvPr>
          <p:cNvSpPr>
            <a:spLocks noChangeArrowheads="1"/>
          </p:cNvSpPr>
          <p:nvPr/>
        </p:nvSpPr>
        <p:spPr bwMode="auto">
          <a:xfrm>
            <a:off x="228600" y="467625"/>
            <a:ext cx="18288000" cy="207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0" fontAlgn="base" latinLnBrk="0" hangingPunct="0">
              <a:lnSpc>
                <a:spcPct val="100000"/>
              </a:lnSpc>
              <a:spcBef>
                <a:spcPct val="0"/>
              </a:spcBef>
              <a:spcAft>
                <a:spcPct val="0"/>
              </a:spcAft>
              <a:buClrTx/>
              <a:buSzTx/>
              <a:buFontTx/>
              <a:buNone/>
              <a:tabLst/>
            </a:pPr>
            <a:r>
              <a:rPr kumimoji="0" lang="en-US" altLang="en-US" sz="1350" b="0" i="0" u="none" strike="noStrike" cap="none" normalizeH="0" baseline="0">
                <a:ln>
                  <a:noFill/>
                </a:ln>
                <a:solidFill>
                  <a:srgbClr val="FFFFFF"/>
                </a:solidFill>
                <a:effectLst/>
                <a:latin typeface="Menlo"/>
              </a:rPr>
              <a:t>Apr-May</a:t>
            </a:r>
            <a:r>
              <a:rPr kumimoji="0" lang="en-US" altLang="en-US" sz="1200" b="0" i="0" u="none" strike="noStrike" cap="none" normalizeH="0" baseline="0">
                <a:ln>
                  <a:noFill/>
                </a:ln>
                <a:solidFill>
                  <a:schemeClr val="tx1"/>
                </a:solidFill>
                <a:effectLst/>
              </a:rPr>
              <a:t> </a:t>
            </a:r>
            <a:endParaRPr kumimoji="0" lang="en-US" altLang="en-US" sz="2700" b="0" i="0" u="none" strike="noStrike" cap="none" normalizeH="0" baseline="0">
              <a:ln>
                <a:noFill/>
              </a:ln>
              <a:solidFill>
                <a:schemeClr val="tx1"/>
              </a:solidFill>
              <a:effectLst/>
              <a:latin typeface="Arial" panose="020B0604020202020204" pitchFamily="34" charset="0"/>
            </a:endParaRPr>
          </a:p>
        </p:txBody>
      </p:sp>
      <p:grpSp>
        <p:nvGrpSpPr>
          <p:cNvPr id="15" name="Group 14">
            <a:extLst>
              <a:ext uri="{FF2B5EF4-FFF2-40B4-BE49-F238E27FC236}">
                <a16:creationId xmlns:a16="http://schemas.microsoft.com/office/drawing/2014/main" id="{02F73570-C10F-CF6A-8349-778AC19286A4}"/>
              </a:ext>
            </a:extLst>
          </p:cNvPr>
          <p:cNvGrpSpPr/>
          <p:nvPr/>
        </p:nvGrpSpPr>
        <p:grpSpPr>
          <a:xfrm>
            <a:off x="14440216" y="4140551"/>
            <a:ext cx="2951681" cy="1311389"/>
            <a:chOff x="6078064" y="2880109"/>
            <a:chExt cx="1967785" cy="874259"/>
          </a:xfrm>
        </p:grpSpPr>
        <p:sp>
          <p:nvSpPr>
            <p:cNvPr id="16" name="Oval 15">
              <a:extLst>
                <a:ext uri="{FF2B5EF4-FFF2-40B4-BE49-F238E27FC236}">
                  <a16:creationId xmlns:a16="http://schemas.microsoft.com/office/drawing/2014/main" id="{48288319-C1A8-0F02-3C52-65123C97E79F}"/>
                </a:ext>
              </a:extLst>
            </p:cNvPr>
            <p:cNvSpPr/>
            <p:nvPr/>
          </p:nvSpPr>
          <p:spPr bwMode="gray">
            <a:xfrm>
              <a:off x="6893684" y="3307148"/>
              <a:ext cx="321525" cy="200386"/>
            </a:xfrm>
            <a:prstGeom prst="ellipse">
              <a:avLst/>
            </a:prstGeom>
            <a:solidFill>
              <a:srgbClr val="00B0F0"/>
            </a:solidFill>
            <a:ln w="19050" algn="ctr">
              <a:solidFill>
                <a:srgbClr val="00B0F0"/>
              </a:solid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20" name="Straight Connector 19">
              <a:extLst>
                <a:ext uri="{FF2B5EF4-FFF2-40B4-BE49-F238E27FC236}">
                  <a16:creationId xmlns:a16="http://schemas.microsoft.com/office/drawing/2014/main" id="{69EB271F-4C5E-606B-CD8C-507FDA6888E4}"/>
                </a:ext>
              </a:extLst>
            </p:cNvPr>
            <p:cNvCxnSpPr>
              <a:cxnSpLocks/>
            </p:cNvCxnSpPr>
            <p:nvPr/>
          </p:nvCxnSpPr>
          <p:spPr>
            <a:xfrm>
              <a:off x="7041302" y="3136707"/>
              <a:ext cx="0" cy="143584"/>
            </a:xfrm>
            <a:prstGeom prst="line">
              <a:avLst/>
            </a:prstGeom>
            <a:solidFill>
              <a:srgbClr val="FF0000"/>
            </a:solidFill>
            <a:ln w="19050">
              <a:solidFill>
                <a:srgbClr val="00B0F0"/>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22" name="TextBox 6">
              <a:extLst>
                <a:ext uri="{FF2B5EF4-FFF2-40B4-BE49-F238E27FC236}">
                  <a16:creationId xmlns:a16="http://schemas.microsoft.com/office/drawing/2014/main" id="{F0DFF026-8EFB-DDD6-161C-FF7EE7A21CB4}"/>
                </a:ext>
              </a:extLst>
            </p:cNvPr>
            <p:cNvSpPr txBox="1"/>
            <p:nvPr/>
          </p:nvSpPr>
          <p:spPr>
            <a:xfrm>
              <a:off x="6078064" y="2880109"/>
              <a:ext cx="1967785" cy="253916"/>
            </a:xfrm>
            <a:prstGeom prst="rect">
              <a:avLst/>
            </a:prstGeom>
            <a:noFill/>
          </p:spPr>
          <p:txBody>
            <a:bodyPr wrap="square" lIns="0" r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altLang="ko-KR" sz="1575"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Payroll Module Test &amp; live</a:t>
              </a:r>
            </a:p>
          </p:txBody>
        </p:sp>
        <p:sp>
          <p:nvSpPr>
            <p:cNvPr id="23" name="TextBox 7">
              <a:extLst>
                <a:ext uri="{FF2B5EF4-FFF2-40B4-BE49-F238E27FC236}">
                  <a16:creationId xmlns:a16="http://schemas.microsoft.com/office/drawing/2014/main" id="{0C97CA03-B3C3-2E6F-D06D-9DFFBFDEFE12}"/>
                </a:ext>
              </a:extLst>
            </p:cNvPr>
            <p:cNvSpPr txBox="1"/>
            <p:nvPr/>
          </p:nvSpPr>
          <p:spPr>
            <a:xfrm>
              <a:off x="6166080" y="3585091"/>
              <a:ext cx="1869972" cy="169277"/>
            </a:xfrm>
            <a:prstGeom prst="rect">
              <a:avLst/>
            </a:prstGeom>
            <a:noFill/>
          </p:spPr>
          <p:txBody>
            <a:bodyPr wrap="square" lIns="0" tIns="0" rIns="0" bIns="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defRPr/>
              </a:pPr>
              <a:r>
                <a:rPr lang="en-US" altLang="ko-KR" sz="1650" b="1" strike="sngStrike">
                  <a:solidFill>
                    <a:prstClr val="black"/>
                  </a:solidFill>
                  <a:latin typeface="Arial"/>
                  <a:ea typeface="맑은 고딕"/>
                  <a:cs typeface="Arial"/>
                </a:rPr>
                <a:t>March 2026</a:t>
              </a:r>
            </a:p>
          </p:txBody>
        </p:sp>
      </p:grpSp>
      <p:sp>
        <p:nvSpPr>
          <p:cNvPr id="6" name="Freeform 13" descr="A blue and black logo&#10;&#10;AI-generated content may be incorrect.">
            <a:extLst>
              <a:ext uri="{FF2B5EF4-FFF2-40B4-BE49-F238E27FC236}">
                <a16:creationId xmlns:a16="http://schemas.microsoft.com/office/drawing/2014/main" id="{90C1F6B4-DA38-A920-07B5-7E1BC34D616A}"/>
              </a:ext>
            </a:extLst>
          </p:cNvPr>
          <p:cNvSpPr/>
          <p:nvPr/>
        </p:nvSpPr>
        <p:spPr>
          <a:xfrm>
            <a:off x="16062518" y="309634"/>
            <a:ext cx="1851905" cy="870481"/>
          </a:xfrm>
          <a:custGeom>
            <a:avLst/>
            <a:gdLst/>
            <a:ahLst/>
            <a:cxnLst/>
            <a:rect l="l" t="t" r="r" b="b"/>
            <a:pathLst>
              <a:path w="1851905" h="870481">
                <a:moveTo>
                  <a:pt x="0" y="0"/>
                </a:moveTo>
                <a:lnTo>
                  <a:pt x="1851905" y="0"/>
                </a:lnTo>
                <a:lnTo>
                  <a:pt x="1851905" y="870481"/>
                </a:lnTo>
                <a:lnTo>
                  <a:pt x="0" y="870481"/>
                </a:lnTo>
                <a:lnTo>
                  <a:pt x="0" y="0"/>
                </a:lnTo>
                <a:close/>
              </a:path>
            </a:pathLst>
          </a:custGeom>
          <a:blipFill>
            <a:blip r:embed="rId2"/>
            <a:stretch>
              <a:fillRect/>
            </a:stretch>
          </a:blipFill>
        </p:spPr>
        <p:txBody>
          <a:bodyPr/>
          <a:lstStyle/>
          <a:p>
            <a:endParaRPr lang="en-US"/>
          </a:p>
        </p:txBody>
      </p:sp>
    </p:spTree>
    <p:extLst>
      <p:ext uri="{BB962C8B-B14F-4D97-AF65-F5344CB8AC3E}">
        <p14:creationId xmlns:p14="http://schemas.microsoft.com/office/powerpoint/2010/main" val="13713940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771CC-0CCD-33E0-F996-D41877C9E57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FC44D89-04A4-6DFC-A860-9B7A6CD36C2A}"/>
              </a:ext>
            </a:extLst>
          </p:cNvPr>
          <p:cNvSpPr txBox="1">
            <a:spLocks/>
          </p:cNvSpPr>
          <p:nvPr/>
        </p:nvSpPr>
        <p:spPr>
          <a:xfrm>
            <a:off x="821810" y="425178"/>
            <a:ext cx="13441680" cy="623248"/>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ct val="0"/>
              </a:spcBef>
              <a:spcAft>
                <a:spcPts val="0"/>
              </a:spcAft>
              <a:buClrTx/>
              <a:buSzTx/>
              <a:buFontTx/>
              <a:buNone/>
              <a:tabLst/>
              <a:defRPr/>
            </a:pPr>
            <a:r>
              <a:rPr lang="en-US" sz="4050" b="1" err="1"/>
              <a:t>Zen</a:t>
            </a:r>
            <a:r>
              <a:rPr lang="en-US" sz="4050" b="1" err="1">
                <a:solidFill>
                  <a:srgbClr val="00A69C"/>
                </a:solidFill>
              </a:rPr>
              <a:t>HR</a:t>
            </a:r>
            <a:r>
              <a:rPr lang="en-US" sz="4050" b="1"/>
              <a:t> Implementation – First Iraq Bank</a:t>
            </a:r>
            <a:endParaRPr lang="en-US" sz="3750" b="1" i="0" u="none" strike="noStrike" kern="1200" cap="none" spc="0" normalizeH="0" baseline="0" noProof="0">
              <a:ln w="6350" cap="flat">
                <a:noFill/>
                <a:miter lim="800000"/>
              </a:ln>
              <a:solidFill>
                <a:srgbClr val="000000"/>
              </a:solidFill>
              <a:effectLst/>
              <a:uLnTx/>
              <a:uFillTx/>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C6047EAC-D6C4-F932-DF54-866009EA5D6E}"/>
              </a:ext>
            </a:extLst>
          </p:cNvPr>
          <p:cNvSpPr/>
          <p:nvPr/>
        </p:nvSpPr>
        <p:spPr>
          <a:xfrm>
            <a:off x="821533" y="1355615"/>
            <a:ext cx="16637417" cy="559370"/>
          </a:xfrm>
          <a:prstGeom prst="rect">
            <a:avLst/>
          </a:prstGeom>
          <a:solidFill>
            <a:srgbClr val="00A69C"/>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KEY ACTION ITEMS &amp; MILESTONES – FIB-</a:t>
            </a:r>
            <a:r>
              <a:rPr kumimoji="0" lang="en-US" sz="1800" b="1" i="0" u="none" strike="noStrike" kern="1200" cap="none" spc="0" normalizeH="0" baseline="0" noProof="0" err="1">
                <a:ln>
                  <a:noFill/>
                </a:ln>
                <a:solidFill>
                  <a:srgbClr val="FFFFFF"/>
                </a:solidFill>
                <a:effectLst/>
                <a:uLnTx/>
                <a:uFillTx/>
                <a:latin typeface="Arial" panose="020B0604020202020204" pitchFamily="34" charset="0"/>
                <a:cs typeface="Arial" panose="020B0604020202020204" pitchFamily="34" charset="0"/>
              </a:rPr>
              <a:t>ZenHR</a:t>
            </a:r>
            <a:r>
              <a:rPr kumimoji="0" lang="en-US" sz="18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 Project</a:t>
            </a:r>
          </a:p>
        </p:txBody>
      </p:sp>
      <p:grpSp>
        <p:nvGrpSpPr>
          <p:cNvPr id="25" name="Group 24">
            <a:extLst>
              <a:ext uri="{FF2B5EF4-FFF2-40B4-BE49-F238E27FC236}">
                <a16:creationId xmlns:a16="http://schemas.microsoft.com/office/drawing/2014/main" id="{8863DB13-A1B1-387F-3D94-FAD385E214E8}"/>
              </a:ext>
            </a:extLst>
          </p:cNvPr>
          <p:cNvGrpSpPr/>
          <p:nvPr/>
        </p:nvGrpSpPr>
        <p:grpSpPr>
          <a:xfrm>
            <a:off x="8944531" y="9750131"/>
            <a:ext cx="10637918" cy="536870"/>
            <a:chOff x="5956720" y="6443049"/>
            <a:chExt cx="7091945" cy="357913"/>
          </a:xfrm>
        </p:grpSpPr>
        <p:grpSp>
          <p:nvGrpSpPr>
            <p:cNvPr id="26" name="Group 25">
              <a:extLst>
                <a:ext uri="{FF2B5EF4-FFF2-40B4-BE49-F238E27FC236}">
                  <a16:creationId xmlns:a16="http://schemas.microsoft.com/office/drawing/2014/main" id="{4C62BDE8-449B-0FDC-4B7E-DD7BD76B3185}"/>
                </a:ext>
              </a:extLst>
            </p:cNvPr>
            <p:cNvGrpSpPr/>
            <p:nvPr/>
          </p:nvGrpSpPr>
          <p:grpSpPr>
            <a:xfrm>
              <a:off x="5956720" y="6443049"/>
              <a:ext cx="7091945" cy="357913"/>
              <a:chOff x="5966485" y="6485413"/>
              <a:chExt cx="7091945" cy="357913"/>
            </a:xfrm>
          </p:grpSpPr>
          <p:sp>
            <p:nvSpPr>
              <p:cNvPr id="28" name="Oval 27">
                <a:extLst>
                  <a:ext uri="{FF2B5EF4-FFF2-40B4-BE49-F238E27FC236}">
                    <a16:creationId xmlns:a16="http://schemas.microsoft.com/office/drawing/2014/main" id="{E572558E-0DF7-98EA-E5C5-E188BCA4F89F}"/>
                  </a:ext>
                </a:extLst>
              </p:cNvPr>
              <p:cNvSpPr/>
              <p:nvPr/>
            </p:nvSpPr>
            <p:spPr>
              <a:xfrm>
                <a:off x="6950322" y="6494495"/>
                <a:ext cx="133346" cy="126401"/>
              </a:xfrm>
              <a:prstGeom prst="ellipse">
                <a:avLst/>
              </a:prstGeom>
              <a:solidFill>
                <a:srgbClr val="E2F0D9"/>
              </a:solidFill>
              <a:ln w="9525">
                <a:solidFill>
                  <a:srgbClr val="E2F0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9" name="Oval 28">
                <a:extLst>
                  <a:ext uri="{FF2B5EF4-FFF2-40B4-BE49-F238E27FC236}">
                    <a16:creationId xmlns:a16="http://schemas.microsoft.com/office/drawing/2014/main" id="{218C3B7B-D7A6-7B4A-6009-85F74C8115A4}"/>
                  </a:ext>
                </a:extLst>
              </p:cNvPr>
              <p:cNvSpPr/>
              <p:nvPr/>
            </p:nvSpPr>
            <p:spPr>
              <a:xfrm>
                <a:off x="7594167" y="6503611"/>
                <a:ext cx="135071" cy="126401"/>
              </a:xfrm>
              <a:prstGeom prst="ellipse">
                <a:avLst/>
              </a:prstGeom>
              <a:solidFill>
                <a:srgbClr val="FF0000"/>
              </a:solid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0" name="Oval 29">
                <a:extLst>
                  <a:ext uri="{FF2B5EF4-FFF2-40B4-BE49-F238E27FC236}">
                    <a16:creationId xmlns:a16="http://schemas.microsoft.com/office/drawing/2014/main" id="{7A964EA0-2120-FF44-B07D-E0A8B76B76B9}"/>
                  </a:ext>
                </a:extLst>
              </p:cNvPr>
              <p:cNvSpPr/>
              <p:nvPr/>
            </p:nvSpPr>
            <p:spPr>
              <a:xfrm>
                <a:off x="8149931" y="6505195"/>
                <a:ext cx="131200" cy="126401"/>
              </a:xfrm>
              <a:prstGeom prst="ellipse">
                <a:avLst/>
              </a:prstGeom>
              <a:solidFill>
                <a:srgbClr val="FFC000"/>
              </a:solidFill>
              <a:ln w="95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B85CA392-B0A7-40D5-85DC-A6B346B85387}"/>
                  </a:ext>
                </a:extLst>
              </p:cNvPr>
              <p:cNvSpPr txBox="1"/>
              <p:nvPr/>
            </p:nvSpPr>
            <p:spPr>
              <a:xfrm>
                <a:off x="6734909" y="6611779"/>
                <a:ext cx="717687"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On track </a:t>
                </a:r>
              </a:p>
            </p:txBody>
          </p:sp>
          <p:sp>
            <p:nvSpPr>
              <p:cNvPr id="42" name="TextBox 41">
                <a:extLst>
                  <a:ext uri="{FF2B5EF4-FFF2-40B4-BE49-F238E27FC236}">
                    <a16:creationId xmlns:a16="http://schemas.microsoft.com/office/drawing/2014/main" id="{05C696E6-2DE2-D546-3C0B-158C418A857A}"/>
                  </a:ext>
                </a:extLst>
              </p:cNvPr>
              <p:cNvSpPr txBox="1"/>
              <p:nvPr/>
            </p:nvSpPr>
            <p:spPr>
              <a:xfrm>
                <a:off x="7360310" y="6621931"/>
                <a:ext cx="664200"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Delayed</a:t>
                </a:r>
              </a:p>
            </p:txBody>
          </p:sp>
          <p:sp>
            <p:nvSpPr>
              <p:cNvPr id="43" name="TextBox 42">
                <a:extLst>
                  <a:ext uri="{FF2B5EF4-FFF2-40B4-BE49-F238E27FC236}">
                    <a16:creationId xmlns:a16="http://schemas.microsoft.com/office/drawing/2014/main" id="{D6C1AB6F-3C06-C36D-6FF1-A55EB9DFBEB5}"/>
                  </a:ext>
                </a:extLst>
              </p:cNvPr>
              <p:cNvSpPr txBox="1"/>
              <p:nvPr/>
            </p:nvSpPr>
            <p:spPr>
              <a:xfrm>
                <a:off x="7962993" y="6624764"/>
                <a:ext cx="664200"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At Risk</a:t>
                </a:r>
              </a:p>
            </p:txBody>
          </p:sp>
          <p:sp>
            <p:nvSpPr>
              <p:cNvPr id="44" name="TextBox 43">
                <a:extLst>
                  <a:ext uri="{FF2B5EF4-FFF2-40B4-BE49-F238E27FC236}">
                    <a16:creationId xmlns:a16="http://schemas.microsoft.com/office/drawing/2014/main" id="{A6C56F08-5C19-F4A6-9153-37B8A0FCA5FE}"/>
                  </a:ext>
                </a:extLst>
              </p:cNvPr>
              <p:cNvSpPr txBox="1"/>
              <p:nvPr/>
            </p:nvSpPr>
            <p:spPr>
              <a:xfrm>
                <a:off x="9357110" y="6627882"/>
                <a:ext cx="970136"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Implemented</a:t>
                </a:r>
              </a:p>
            </p:txBody>
          </p:sp>
          <p:sp>
            <p:nvSpPr>
              <p:cNvPr id="45" name="Oval 44">
                <a:extLst>
                  <a:ext uri="{FF2B5EF4-FFF2-40B4-BE49-F238E27FC236}">
                    <a16:creationId xmlns:a16="http://schemas.microsoft.com/office/drawing/2014/main" id="{31639454-9F19-405D-88F2-FF4782D62C6E}"/>
                  </a:ext>
                </a:extLst>
              </p:cNvPr>
              <p:cNvSpPr/>
              <p:nvPr/>
            </p:nvSpPr>
            <p:spPr>
              <a:xfrm>
                <a:off x="10428038" y="6512756"/>
                <a:ext cx="137031" cy="126401"/>
              </a:xfrm>
              <a:prstGeom prst="ellipse">
                <a:avLst/>
              </a:prstGeom>
              <a:solidFill>
                <a:srgbClr val="00B0F0"/>
              </a:solid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46" name="TextBox 45">
                <a:extLst>
                  <a:ext uri="{FF2B5EF4-FFF2-40B4-BE49-F238E27FC236}">
                    <a16:creationId xmlns:a16="http://schemas.microsoft.com/office/drawing/2014/main" id="{7723BB69-E3E6-30B4-CECD-BC3F0170B68A}"/>
                  </a:ext>
                </a:extLst>
              </p:cNvPr>
              <p:cNvSpPr txBox="1"/>
              <p:nvPr/>
            </p:nvSpPr>
            <p:spPr>
              <a:xfrm>
                <a:off x="10194922" y="6621646"/>
                <a:ext cx="2311615"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US" sz="1200">
                    <a:latin typeface="Arial" panose="020B0604020202020204" pitchFamily="34" charset="0"/>
                    <a:cs typeface="Arial" panose="020B0604020202020204" pitchFamily="34" charset="0"/>
                  </a:rPr>
                  <a:t>On Hold</a:t>
                </a:r>
                <a:endParaRPr kumimoji="0" lang="en-US" sz="120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47" name="Oval 46">
                <a:extLst>
                  <a:ext uri="{FF2B5EF4-FFF2-40B4-BE49-F238E27FC236}">
                    <a16:creationId xmlns:a16="http://schemas.microsoft.com/office/drawing/2014/main" id="{787F43B7-31C1-B3EC-41A8-842FA88A3833}"/>
                  </a:ext>
                </a:extLst>
              </p:cNvPr>
              <p:cNvSpPr/>
              <p:nvPr/>
            </p:nvSpPr>
            <p:spPr>
              <a:xfrm>
                <a:off x="11073431" y="6488248"/>
                <a:ext cx="137031" cy="126401"/>
              </a:xfrm>
              <a:prstGeom prst="ellipse">
                <a:avLst/>
              </a:prstGeom>
              <a:solidFill>
                <a:srgbClr val="FFFF00"/>
              </a:solidFill>
              <a:ln w="952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48" name="TextBox 47">
                <a:extLst>
                  <a:ext uri="{FF2B5EF4-FFF2-40B4-BE49-F238E27FC236}">
                    <a16:creationId xmlns:a16="http://schemas.microsoft.com/office/drawing/2014/main" id="{A818337E-8DD9-3927-DBDD-BA3F408AAD6E}"/>
                  </a:ext>
                </a:extLst>
              </p:cNvPr>
              <p:cNvSpPr txBox="1"/>
              <p:nvPr/>
            </p:nvSpPr>
            <p:spPr>
              <a:xfrm>
                <a:off x="10746815" y="6611779"/>
                <a:ext cx="2311615"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Terminated</a:t>
                </a:r>
              </a:p>
            </p:txBody>
          </p:sp>
          <p:sp>
            <p:nvSpPr>
              <p:cNvPr id="49" name="Oval 48">
                <a:extLst>
                  <a:ext uri="{FF2B5EF4-FFF2-40B4-BE49-F238E27FC236}">
                    <a16:creationId xmlns:a16="http://schemas.microsoft.com/office/drawing/2014/main" id="{8E6D705C-82AF-875A-A77A-72AF0F7DB473}"/>
                  </a:ext>
                </a:extLst>
              </p:cNvPr>
              <p:cNvSpPr/>
              <p:nvPr/>
            </p:nvSpPr>
            <p:spPr>
              <a:xfrm>
                <a:off x="8836849" y="6505195"/>
                <a:ext cx="131200" cy="126401"/>
              </a:xfrm>
              <a:prstGeom prst="ellipse">
                <a:avLst/>
              </a:prstGeom>
              <a:solidFill>
                <a:srgbClr val="00B050"/>
              </a:solid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50" name="TextBox 49">
                <a:extLst>
                  <a:ext uri="{FF2B5EF4-FFF2-40B4-BE49-F238E27FC236}">
                    <a16:creationId xmlns:a16="http://schemas.microsoft.com/office/drawing/2014/main" id="{C1A48466-27CF-2C81-A841-69C9BA1D0560}"/>
                  </a:ext>
                </a:extLst>
              </p:cNvPr>
              <p:cNvSpPr txBox="1"/>
              <p:nvPr/>
            </p:nvSpPr>
            <p:spPr>
              <a:xfrm>
                <a:off x="8555682" y="6620896"/>
                <a:ext cx="815094"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InProgress</a:t>
                </a:r>
              </a:p>
            </p:txBody>
          </p:sp>
          <p:sp>
            <p:nvSpPr>
              <p:cNvPr id="51" name="Oval 50">
                <a:extLst>
                  <a:ext uri="{FF2B5EF4-FFF2-40B4-BE49-F238E27FC236}">
                    <a16:creationId xmlns:a16="http://schemas.microsoft.com/office/drawing/2014/main" id="{BCC6B19B-F05E-8C96-EB2E-DDCB0CF3B83F}"/>
                  </a:ext>
                </a:extLst>
              </p:cNvPr>
              <p:cNvSpPr/>
              <p:nvPr/>
            </p:nvSpPr>
            <p:spPr>
              <a:xfrm>
                <a:off x="6328246" y="6485413"/>
                <a:ext cx="133346" cy="126401"/>
              </a:xfrm>
              <a:prstGeom prst="ellipse">
                <a:avLst/>
              </a:prstGeom>
              <a:solidFill>
                <a:srgbClr val="BFBFBF"/>
              </a:solidFill>
              <a:ln w="9525">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52" name="TextBox 51">
                <a:extLst>
                  <a:ext uri="{FF2B5EF4-FFF2-40B4-BE49-F238E27FC236}">
                    <a16:creationId xmlns:a16="http://schemas.microsoft.com/office/drawing/2014/main" id="{BE909AE0-4994-B45A-A607-5AEB99C6CBA0}"/>
                  </a:ext>
                </a:extLst>
              </p:cNvPr>
              <p:cNvSpPr txBox="1"/>
              <p:nvPr/>
            </p:nvSpPr>
            <p:spPr>
              <a:xfrm>
                <a:off x="5966485" y="6601627"/>
                <a:ext cx="858416"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Not Started</a:t>
                </a:r>
              </a:p>
            </p:txBody>
          </p:sp>
        </p:grpSp>
        <p:sp>
          <p:nvSpPr>
            <p:cNvPr id="27" name="Oval 26">
              <a:extLst>
                <a:ext uri="{FF2B5EF4-FFF2-40B4-BE49-F238E27FC236}">
                  <a16:creationId xmlns:a16="http://schemas.microsoft.com/office/drawing/2014/main" id="{99F04473-77FA-0FBB-F121-24120EB38F58}"/>
                </a:ext>
              </a:extLst>
            </p:cNvPr>
            <p:cNvSpPr/>
            <p:nvPr/>
          </p:nvSpPr>
          <p:spPr>
            <a:xfrm>
              <a:off x="9702904" y="6470392"/>
              <a:ext cx="131200" cy="126401"/>
            </a:xfrm>
            <a:prstGeom prst="ellipse">
              <a:avLst/>
            </a:prstGeom>
            <a:solidFill>
              <a:srgbClr val="003373"/>
            </a:solidFill>
            <a:ln w="9525">
              <a:solidFill>
                <a:srgbClr val="0033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grpSp>
      <p:graphicFrame>
        <p:nvGraphicFramePr>
          <p:cNvPr id="54" name="Table 53">
            <a:extLst>
              <a:ext uri="{FF2B5EF4-FFF2-40B4-BE49-F238E27FC236}">
                <a16:creationId xmlns:a16="http://schemas.microsoft.com/office/drawing/2014/main" id="{98C58960-E189-EE35-287B-281F825E6070}"/>
              </a:ext>
            </a:extLst>
          </p:cNvPr>
          <p:cNvGraphicFramePr>
            <a:graphicFrameLocks noGrp="1"/>
          </p:cNvGraphicFramePr>
          <p:nvPr>
            <p:extLst>
              <p:ext uri="{D42A27DB-BD31-4B8C-83A1-F6EECF244321}">
                <p14:modId xmlns:p14="http://schemas.microsoft.com/office/powerpoint/2010/main" val="1298487888"/>
              </p:ext>
            </p:extLst>
          </p:nvPr>
        </p:nvGraphicFramePr>
        <p:xfrm>
          <a:off x="821533" y="2058041"/>
          <a:ext cx="16637414" cy="6537210"/>
        </p:xfrm>
        <a:graphic>
          <a:graphicData uri="http://schemas.openxmlformats.org/drawingml/2006/table">
            <a:tbl>
              <a:tblPr firstRow="1" bandRow="1">
                <a:tableStyleId>{5C22544A-7EE6-4342-B048-85BDC9FD1C3A}</a:tableStyleId>
              </a:tblPr>
              <a:tblGrid>
                <a:gridCol w="781283">
                  <a:extLst>
                    <a:ext uri="{9D8B030D-6E8A-4147-A177-3AD203B41FA5}">
                      <a16:colId xmlns:a16="http://schemas.microsoft.com/office/drawing/2014/main" val="1957147653"/>
                    </a:ext>
                  </a:extLst>
                </a:gridCol>
                <a:gridCol w="5873682">
                  <a:extLst>
                    <a:ext uri="{9D8B030D-6E8A-4147-A177-3AD203B41FA5}">
                      <a16:colId xmlns:a16="http://schemas.microsoft.com/office/drawing/2014/main" val="2952343754"/>
                    </a:ext>
                  </a:extLst>
                </a:gridCol>
                <a:gridCol w="3327483">
                  <a:extLst>
                    <a:ext uri="{9D8B030D-6E8A-4147-A177-3AD203B41FA5}">
                      <a16:colId xmlns:a16="http://schemas.microsoft.com/office/drawing/2014/main" val="899017330"/>
                    </a:ext>
                  </a:extLst>
                </a:gridCol>
                <a:gridCol w="3327483">
                  <a:extLst>
                    <a:ext uri="{9D8B030D-6E8A-4147-A177-3AD203B41FA5}">
                      <a16:colId xmlns:a16="http://schemas.microsoft.com/office/drawing/2014/main" val="3463251137"/>
                    </a:ext>
                  </a:extLst>
                </a:gridCol>
                <a:gridCol w="3327483">
                  <a:extLst>
                    <a:ext uri="{9D8B030D-6E8A-4147-A177-3AD203B41FA5}">
                      <a16:colId xmlns:a16="http://schemas.microsoft.com/office/drawing/2014/main" val="1499313505"/>
                    </a:ext>
                  </a:extLst>
                </a:gridCol>
              </a:tblGrid>
              <a:tr h="653721">
                <a:tc>
                  <a:txBody>
                    <a:bodyPr/>
                    <a:lstStyle/>
                    <a:p>
                      <a:pPr algn="ctr" fontAlgn="ctr"/>
                      <a:r>
                        <a:rPr lang="en-US" sz="1700" b="1" i="0" u="none" strike="noStrike">
                          <a:solidFill>
                            <a:schemeClr val="bg1"/>
                          </a:solidFill>
                          <a:effectLst/>
                          <a:latin typeface="Aptos Narrow"/>
                        </a:rPr>
                        <a:t>#</a:t>
                      </a:r>
                    </a:p>
                  </a:txBody>
                  <a:tcPr marL="11430" marR="11430" marT="11430" marB="0" anchor="ctr">
                    <a:lnB w="12700" cap="flat" cmpd="sng" algn="ctr">
                      <a:noFill/>
                      <a:prstDash val="solid"/>
                      <a:round/>
                      <a:headEnd type="none" w="med" len="med"/>
                      <a:tailEnd type="none" w="med" len="med"/>
                    </a:lnB>
                    <a:solidFill>
                      <a:srgbClr val="00A69C"/>
                    </a:solidFill>
                  </a:tcPr>
                </a:tc>
                <a:tc>
                  <a:txBody>
                    <a:bodyPr/>
                    <a:lstStyle/>
                    <a:p>
                      <a:pPr algn="ctr" fontAlgn="ctr"/>
                      <a:r>
                        <a:rPr lang="en-US" sz="1700" b="1" i="0" u="none" strike="noStrike">
                          <a:solidFill>
                            <a:schemeClr val="bg1"/>
                          </a:solidFill>
                          <a:effectLst/>
                          <a:latin typeface="Aptos Narrow"/>
                        </a:rPr>
                        <a:t>Action Item</a:t>
                      </a:r>
                    </a:p>
                  </a:txBody>
                  <a:tcPr marL="11430" marR="11430" marT="11430" marB="0" anchor="ctr">
                    <a:lnB w="12700" cap="flat" cmpd="sng" algn="ctr">
                      <a:noFill/>
                      <a:prstDash val="solid"/>
                      <a:round/>
                      <a:headEnd type="none" w="med" len="med"/>
                      <a:tailEnd type="none" w="med" len="med"/>
                    </a:lnB>
                    <a:solidFill>
                      <a:srgbClr val="00A69C"/>
                    </a:solidFill>
                  </a:tcPr>
                </a:tc>
                <a:tc>
                  <a:txBody>
                    <a:bodyPr/>
                    <a:lstStyle/>
                    <a:p>
                      <a:pPr algn="ctr" fontAlgn="ctr"/>
                      <a:r>
                        <a:rPr lang="en-US" sz="1700" b="1" i="0" u="none" strike="noStrike">
                          <a:solidFill>
                            <a:schemeClr val="bg1"/>
                          </a:solidFill>
                          <a:effectLst/>
                          <a:latin typeface="Aptos Narrow"/>
                        </a:rPr>
                        <a:t>Status</a:t>
                      </a:r>
                    </a:p>
                  </a:txBody>
                  <a:tcPr marL="11430" marR="11430" marT="11430" marB="0" anchor="ctr">
                    <a:lnB w="12700" cap="flat" cmpd="sng" algn="ctr">
                      <a:noFill/>
                      <a:prstDash val="solid"/>
                      <a:round/>
                      <a:headEnd type="none" w="med" len="med"/>
                      <a:tailEnd type="none" w="med" len="med"/>
                    </a:lnB>
                    <a:solidFill>
                      <a:srgbClr val="00A69C"/>
                    </a:solidFill>
                  </a:tcPr>
                </a:tc>
                <a:tc>
                  <a:txBody>
                    <a:bodyPr/>
                    <a:lstStyle/>
                    <a:p>
                      <a:pPr algn="ctr" fontAlgn="ctr"/>
                      <a:r>
                        <a:rPr lang="en-US" sz="1700" b="1" i="0" u="none" strike="noStrike">
                          <a:solidFill>
                            <a:schemeClr val="bg1"/>
                          </a:solidFill>
                          <a:effectLst/>
                          <a:latin typeface="Aptos Narrow"/>
                        </a:rPr>
                        <a:t>Due Date</a:t>
                      </a:r>
                    </a:p>
                  </a:txBody>
                  <a:tcPr marL="11430" marR="11430" marT="11430" marB="0" anchor="ctr">
                    <a:lnB w="12700" cap="flat" cmpd="sng" algn="ctr">
                      <a:noFill/>
                      <a:prstDash val="solid"/>
                      <a:round/>
                      <a:headEnd type="none" w="med" len="med"/>
                      <a:tailEnd type="none" w="med" len="med"/>
                    </a:lnB>
                    <a:solidFill>
                      <a:srgbClr val="00A69C"/>
                    </a:solidFill>
                  </a:tcPr>
                </a:tc>
                <a:tc>
                  <a:txBody>
                    <a:bodyPr/>
                    <a:lstStyle/>
                    <a:p>
                      <a:pPr algn="ctr" fontAlgn="ctr"/>
                      <a:r>
                        <a:rPr lang="en-US" sz="1700" b="1" i="0" u="none" strike="noStrike">
                          <a:solidFill>
                            <a:schemeClr val="bg1"/>
                          </a:solidFill>
                          <a:effectLst/>
                          <a:latin typeface="Aptos Narrow"/>
                        </a:rPr>
                        <a:t>Owner</a:t>
                      </a:r>
                    </a:p>
                  </a:txBody>
                  <a:tcPr marL="11430" marR="11430" marT="11430" marB="0" anchor="ctr">
                    <a:lnB w="12700" cap="flat" cmpd="sng" algn="ctr">
                      <a:noFill/>
                      <a:prstDash val="solid"/>
                      <a:round/>
                      <a:headEnd type="none" w="med" len="med"/>
                      <a:tailEnd type="none" w="med" len="med"/>
                    </a:lnB>
                    <a:solidFill>
                      <a:srgbClr val="00A69C"/>
                    </a:solidFill>
                  </a:tcPr>
                </a:tc>
                <a:extLst>
                  <a:ext uri="{0D108BD9-81ED-4DB2-BD59-A6C34878D82A}">
                    <a16:rowId xmlns:a16="http://schemas.microsoft.com/office/drawing/2014/main" val="3393840757"/>
                  </a:ext>
                </a:extLst>
              </a:tr>
              <a:tr h="653721">
                <a:tc>
                  <a:txBody>
                    <a:bodyPr/>
                    <a:lstStyle/>
                    <a:p>
                      <a:pPr algn="ctr" fontAlgn="ctr"/>
                      <a:r>
                        <a:rPr lang="en-US" sz="1700" b="0" i="0" u="none" strike="noStrike">
                          <a:solidFill>
                            <a:srgbClr val="000000"/>
                          </a:solidFill>
                          <a:effectLst/>
                          <a:latin typeface="Aptos Narrow"/>
                        </a:rPr>
                        <a:t>1</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700" b="0" i="0" u="none" strike="sngStrike">
                          <a:solidFill>
                            <a:srgbClr val="000000"/>
                          </a:solidFill>
                          <a:effectLst/>
                          <a:latin typeface="Arial"/>
                          <a:cs typeface="Arial"/>
                        </a:rPr>
                        <a:t>Online PoC</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 Completed</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sngStrike" baseline="0">
                          <a:solidFill>
                            <a:srgbClr val="000000"/>
                          </a:solidFill>
                          <a:effectLst/>
                          <a:latin typeface="Arial"/>
                          <a:cs typeface="Arial"/>
                        </a:rPr>
                        <a:t>25-Jan-2025</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err="1">
                          <a:solidFill>
                            <a:srgbClr val="000000"/>
                          </a:solidFill>
                          <a:effectLst/>
                          <a:latin typeface="Arial"/>
                          <a:cs typeface="Arial"/>
                        </a:rPr>
                        <a:t>ZenHR</a:t>
                      </a:r>
                      <a:r>
                        <a:rPr lang="en-US" sz="1700" b="0" i="0" u="none" strike="noStrike">
                          <a:solidFill>
                            <a:srgbClr val="000000"/>
                          </a:solidFill>
                          <a:effectLst/>
                          <a:latin typeface="Arial"/>
                          <a:cs typeface="Arial"/>
                        </a:rPr>
                        <a:t>, FIB HR</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3816635"/>
                  </a:ext>
                </a:extLst>
              </a:tr>
              <a:tr h="653721">
                <a:tc>
                  <a:txBody>
                    <a:bodyPr/>
                    <a:lstStyle/>
                    <a:p>
                      <a:pPr algn="ctr" fontAlgn="ctr"/>
                      <a:r>
                        <a:rPr lang="en-US" sz="1700" b="0" i="0" u="none" strike="noStrike">
                          <a:solidFill>
                            <a:srgbClr val="000000"/>
                          </a:solidFill>
                          <a:effectLst/>
                          <a:latin typeface="Aptos Narrow"/>
                        </a:rPr>
                        <a:t>2</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700" b="0" i="0" u="none" strike="sngStrike">
                          <a:solidFill>
                            <a:srgbClr val="000000"/>
                          </a:solidFill>
                          <a:effectLst/>
                          <a:latin typeface="Arial"/>
                          <a:cs typeface="Arial"/>
                        </a:rPr>
                        <a:t>BRD Approval</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 Completed</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sngStrike" baseline="0">
                          <a:solidFill>
                            <a:srgbClr val="000000"/>
                          </a:solidFill>
                          <a:effectLst/>
                          <a:latin typeface="Arial"/>
                          <a:cs typeface="Arial"/>
                        </a:rPr>
                        <a:t>25-Jan-2025</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err="1">
                          <a:solidFill>
                            <a:srgbClr val="000000"/>
                          </a:solidFill>
                          <a:effectLst/>
                          <a:latin typeface="Arial"/>
                          <a:cs typeface="Arial"/>
                        </a:rPr>
                        <a:t>ZenHR</a:t>
                      </a:r>
                      <a:r>
                        <a:rPr lang="en-US" sz="1700" b="0" i="0" u="none" strike="noStrike">
                          <a:solidFill>
                            <a:srgbClr val="000000"/>
                          </a:solidFill>
                          <a:effectLst/>
                          <a:latin typeface="Arial"/>
                          <a:cs typeface="Arial"/>
                        </a:rPr>
                        <a:t>, FIB HR</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4845869"/>
                  </a:ext>
                </a:extLst>
              </a:tr>
              <a:tr h="653721">
                <a:tc>
                  <a:txBody>
                    <a:bodyPr/>
                    <a:lstStyle/>
                    <a:p>
                      <a:pPr algn="ctr" fontAlgn="ctr"/>
                      <a:r>
                        <a:rPr lang="en-US" sz="1700" b="0" i="0" u="none" strike="noStrike">
                          <a:solidFill>
                            <a:srgbClr val="000000"/>
                          </a:solidFill>
                          <a:effectLst/>
                          <a:latin typeface="Aptos Narrow"/>
                        </a:rPr>
                        <a:t>3</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700" b="0" i="0" u="none" strike="sngStrike">
                          <a:solidFill>
                            <a:srgbClr val="000000"/>
                          </a:solidFill>
                          <a:effectLst/>
                          <a:latin typeface="Arial"/>
                          <a:cs typeface="Arial"/>
                        </a:rPr>
                        <a:t>Procurement Process</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 Completed</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sngStrike" baseline="0">
                          <a:solidFill>
                            <a:srgbClr val="000000"/>
                          </a:solidFill>
                          <a:effectLst/>
                          <a:latin typeface="Arial"/>
                          <a:cs typeface="Arial"/>
                        </a:rPr>
                        <a:t>9-Feb-2025</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FIB, GW</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2546927"/>
                  </a:ext>
                </a:extLst>
              </a:tr>
              <a:tr h="653721">
                <a:tc>
                  <a:txBody>
                    <a:bodyPr/>
                    <a:lstStyle/>
                    <a:p>
                      <a:pPr algn="ctr" fontAlgn="ctr"/>
                      <a:r>
                        <a:rPr lang="en-US" sz="1700" b="0" i="0" u="none" strike="noStrike">
                          <a:solidFill>
                            <a:srgbClr val="000000"/>
                          </a:solidFill>
                          <a:effectLst/>
                          <a:latin typeface="Aptos Narrow"/>
                        </a:rPr>
                        <a:t>4</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700" b="0" i="0" u="none" strike="sngStrike">
                          <a:solidFill>
                            <a:srgbClr val="000000"/>
                          </a:solidFill>
                          <a:effectLst/>
                          <a:latin typeface="Arial"/>
                          <a:cs typeface="Arial"/>
                        </a:rPr>
                        <a:t>Project Planning Finalization</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 Completed</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sngStrike" baseline="0">
                          <a:solidFill>
                            <a:srgbClr val="000000"/>
                          </a:solidFill>
                          <a:effectLst/>
                          <a:latin typeface="Arial"/>
                          <a:cs typeface="Arial"/>
                        </a:rPr>
                        <a:t>15-Feb-2025</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PMO</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79124527"/>
                  </a:ext>
                </a:extLst>
              </a:tr>
              <a:tr h="653721">
                <a:tc>
                  <a:txBody>
                    <a:bodyPr/>
                    <a:lstStyle/>
                    <a:p>
                      <a:pPr algn="ctr" fontAlgn="ctr"/>
                      <a:r>
                        <a:rPr lang="en-US" sz="1700" b="0" i="0" u="none" strike="noStrike">
                          <a:solidFill>
                            <a:srgbClr val="000000"/>
                          </a:solidFill>
                          <a:effectLst/>
                          <a:latin typeface="Aptos Narrow"/>
                        </a:rPr>
                        <a:t>5</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700" b="0" i="0" u="none" strike="sngStrike">
                          <a:solidFill>
                            <a:srgbClr val="000000"/>
                          </a:solidFill>
                          <a:effectLst/>
                          <a:latin typeface="Arial"/>
                          <a:cs typeface="Arial"/>
                        </a:rPr>
                        <a:t>System Configuration &amp; Development</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Completed</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sngStrike" baseline="0">
                          <a:solidFill>
                            <a:srgbClr val="000000"/>
                          </a:solidFill>
                          <a:effectLst/>
                          <a:latin typeface="Arial"/>
                          <a:cs typeface="Arial"/>
                        </a:rPr>
                        <a:t>23-Mar-2025</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err="1">
                          <a:solidFill>
                            <a:srgbClr val="000000"/>
                          </a:solidFill>
                          <a:effectLst/>
                          <a:latin typeface="Arial"/>
                          <a:cs typeface="Arial"/>
                        </a:rPr>
                        <a:t>ZenHR</a:t>
                      </a:r>
                      <a:r>
                        <a:rPr lang="en-US" sz="1700" b="0" i="0" u="none" strike="noStrike">
                          <a:solidFill>
                            <a:srgbClr val="000000"/>
                          </a:solidFill>
                          <a:effectLst/>
                          <a:latin typeface="Arial"/>
                          <a:cs typeface="Arial"/>
                        </a:rPr>
                        <a:t>, FIB HR</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0568541"/>
                  </a:ext>
                </a:extLst>
              </a:tr>
              <a:tr h="653721">
                <a:tc>
                  <a:txBody>
                    <a:bodyPr/>
                    <a:lstStyle/>
                    <a:p>
                      <a:pPr algn="ctr" fontAlgn="ctr"/>
                      <a:r>
                        <a:rPr lang="en-US" sz="1700" b="0" i="0" u="none" strike="noStrike">
                          <a:solidFill>
                            <a:srgbClr val="000000"/>
                          </a:solidFill>
                          <a:effectLst/>
                          <a:latin typeface="Aptos Narrow"/>
                        </a:rPr>
                        <a:t>6</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700" b="0" i="0" u="none" strike="sngStrike">
                          <a:solidFill>
                            <a:srgbClr val="000000"/>
                          </a:solidFill>
                          <a:effectLst/>
                          <a:latin typeface="Arial"/>
                          <a:cs typeface="Arial"/>
                        </a:rPr>
                        <a:t>SIT Testing (System Integration Testing)</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Completed</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700" b="0" i="0" u="none" strike="sngStrike" baseline="0">
                          <a:solidFill>
                            <a:srgbClr val="000000"/>
                          </a:solidFill>
                          <a:effectLst/>
                          <a:latin typeface="Arial"/>
                          <a:cs typeface="Arial"/>
                        </a:rPr>
                        <a:t>24</a:t>
                      </a:r>
                      <a:r>
                        <a:rPr lang="en-US" sz="1700" b="0" i="0" u="none" strike="sngStrike" baseline="30000">
                          <a:solidFill>
                            <a:srgbClr val="000000"/>
                          </a:solidFill>
                          <a:effectLst/>
                          <a:latin typeface="Arial"/>
                          <a:cs typeface="Arial"/>
                        </a:rPr>
                        <a:t>th</a:t>
                      </a:r>
                      <a:r>
                        <a:rPr lang="en-US" sz="1700" b="0" i="0" u="none" strike="sngStrike" baseline="0">
                          <a:solidFill>
                            <a:srgbClr val="000000"/>
                          </a:solidFill>
                          <a:effectLst/>
                          <a:latin typeface="Arial"/>
                          <a:cs typeface="Arial"/>
                        </a:rPr>
                        <a:t>  July 2025</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sngStrike" err="1">
                          <a:solidFill>
                            <a:srgbClr val="000000"/>
                          </a:solidFill>
                          <a:effectLst/>
                          <a:latin typeface="Arial"/>
                          <a:cs typeface="Arial"/>
                        </a:rPr>
                        <a:t>ZenHR</a:t>
                      </a:r>
                      <a:r>
                        <a:rPr lang="en-US" sz="1700" b="0" i="0" u="none" strike="sngStrike">
                          <a:solidFill>
                            <a:srgbClr val="000000"/>
                          </a:solidFill>
                          <a:effectLst/>
                          <a:latin typeface="Arial"/>
                          <a:cs typeface="Arial"/>
                        </a:rPr>
                        <a:t>, FIB HR</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1928028"/>
                  </a:ext>
                </a:extLst>
              </a:tr>
              <a:tr h="653721">
                <a:tc>
                  <a:txBody>
                    <a:bodyPr/>
                    <a:lstStyle/>
                    <a:p>
                      <a:pPr algn="ctr" fontAlgn="ctr"/>
                      <a:r>
                        <a:rPr lang="en-US" sz="1700" b="0" i="0" u="none" strike="noStrike">
                          <a:solidFill>
                            <a:srgbClr val="000000"/>
                          </a:solidFill>
                          <a:effectLst/>
                          <a:latin typeface="Aptos Narrow"/>
                        </a:rPr>
                        <a:t>7</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700" b="0" i="0" u="none" strike="sngStrike">
                          <a:solidFill>
                            <a:srgbClr val="000000"/>
                          </a:solidFill>
                          <a:effectLst/>
                          <a:latin typeface="Arial"/>
                          <a:cs typeface="Arial"/>
                        </a:rPr>
                        <a:t>UAT Testing (User Acceptance Testing)</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700" b="0" i="0" u="none" strike="noStrike">
                          <a:solidFill>
                            <a:srgbClr val="000000"/>
                          </a:solidFill>
                          <a:effectLst/>
                          <a:latin typeface="Arial"/>
                          <a:cs typeface="Arial"/>
                        </a:rPr>
                        <a:t>Completed</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700" b="0" i="0" u="none" strike="sngStrike" baseline="0">
                          <a:solidFill>
                            <a:srgbClr val="000000"/>
                          </a:solidFill>
                          <a:effectLst/>
                          <a:latin typeface="Arial"/>
                          <a:cs typeface="Arial"/>
                        </a:rPr>
                        <a:t>24</a:t>
                      </a:r>
                      <a:r>
                        <a:rPr lang="en-US" sz="1700" b="0" i="0" u="none" strike="sngStrike" baseline="30000">
                          <a:solidFill>
                            <a:srgbClr val="000000"/>
                          </a:solidFill>
                          <a:effectLst/>
                          <a:latin typeface="Arial"/>
                          <a:cs typeface="Arial"/>
                        </a:rPr>
                        <a:t>th</a:t>
                      </a:r>
                      <a:r>
                        <a:rPr lang="en-US" sz="1700" b="0" i="0" u="none" strike="sngStrike" baseline="0">
                          <a:solidFill>
                            <a:srgbClr val="000000"/>
                          </a:solidFill>
                          <a:effectLst/>
                          <a:latin typeface="Arial"/>
                          <a:cs typeface="Arial"/>
                        </a:rPr>
                        <a:t>  July 2025</a:t>
                      </a:r>
                      <a:br>
                        <a:rPr lang="en-US" sz="1700" b="0" i="0" u="none" strike="sngStrike" baseline="0">
                          <a:solidFill>
                            <a:srgbClr val="000000"/>
                          </a:solidFill>
                          <a:effectLst/>
                          <a:latin typeface="Arial"/>
                          <a:cs typeface="Arial"/>
                        </a:rPr>
                      </a:br>
                      <a:r>
                        <a:rPr lang="en-US" sz="1700" b="0" i="0" u="none" strike="sngStrike" baseline="0">
                          <a:solidFill>
                            <a:srgbClr val="000000"/>
                          </a:solidFill>
                          <a:effectLst/>
                          <a:latin typeface="Arial"/>
                          <a:cs typeface="Arial"/>
                        </a:rPr>
                        <a:t>31</a:t>
                      </a:r>
                      <a:r>
                        <a:rPr lang="en-US" sz="1700" b="0" i="0" u="none" strike="sngStrike" baseline="30000">
                          <a:solidFill>
                            <a:srgbClr val="000000"/>
                          </a:solidFill>
                          <a:effectLst/>
                          <a:latin typeface="Arial"/>
                          <a:cs typeface="Arial"/>
                        </a:rPr>
                        <a:t>st</a:t>
                      </a:r>
                      <a:r>
                        <a:rPr lang="en-US" sz="1700" b="0" i="0" u="none" strike="sngStrike" baseline="0">
                          <a:solidFill>
                            <a:srgbClr val="000000"/>
                          </a:solidFill>
                          <a:effectLst/>
                          <a:latin typeface="Arial"/>
                          <a:cs typeface="Arial"/>
                        </a:rPr>
                        <a:t> July 2025</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sngStrike" err="1">
                          <a:solidFill>
                            <a:srgbClr val="000000"/>
                          </a:solidFill>
                          <a:effectLst/>
                          <a:latin typeface="Arial"/>
                          <a:cs typeface="Arial"/>
                        </a:rPr>
                        <a:t>ZenHR</a:t>
                      </a:r>
                      <a:r>
                        <a:rPr lang="en-US" sz="1700" b="0" i="0" u="none" strike="sngStrike">
                          <a:solidFill>
                            <a:srgbClr val="000000"/>
                          </a:solidFill>
                          <a:effectLst/>
                          <a:latin typeface="Arial"/>
                          <a:cs typeface="Arial"/>
                        </a:rPr>
                        <a:t>, FIB HR</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3891358"/>
                  </a:ext>
                </a:extLst>
              </a:tr>
              <a:tr h="653721">
                <a:tc>
                  <a:txBody>
                    <a:bodyPr/>
                    <a:lstStyle/>
                    <a:p>
                      <a:pPr algn="ctr" fontAlgn="ctr"/>
                      <a:r>
                        <a:rPr lang="en-US" sz="1700" b="0" i="0" u="none" strike="noStrike">
                          <a:solidFill>
                            <a:srgbClr val="000000"/>
                          </a:solidFill>
                          <a:effectLst/>
                          <a:latin typeface="Aptos Narrow"/>
                        </a:rPr>
                        <a:t>8</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700" b="0" i="0" u="none" strike="sngStrike">
                          <a:solidFill>
                            <a:srgbClr val="000000"/>
                          </a:solidFill>
                          <a:effectLst/>
                          <a:latin typeface="Arial"/>
                          <a:cs typeface="Arial"/>
                        </a:rPr>
                        <a:t>Go-Live Activities</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700" b="0" i="0" u="none" strike="noStrike">
                          <a:solidFill>
                            <a:srgbClr val="000000"/>
                          </a:solidFill>
                          <a:effectLst/>
                          <a:latin typeface="Arial"/>
                          <a:cs typeface="Arial"/>
                        </a:rPr>
                        <a:t>Completed</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700" b="0" i="0" u="none" strike="sngStrike" baseline="0">
                          <a:solidFill>
                            <a:srgbClr val="000000"/>
                          </a:solidFill>
                          <a:effectLst/>
                          <a:latin typeface="Arial"/>
                          <a:cs typeface="Arial"/>
                        </a:rPr>
                        <a:t>24</a:t>
                      </a:r>
                      <a:r>
                        <a:rPr lang="en-US" sz="1700" b="0" i="0" u="none" strike="sngStrike" baseline="30000">
                          <a:solidFill>
                            <a:srgbClr val="000000"/>
                          </a:solidFill>
                          <a:effectLst/>
                          <a:latin typeface="Arial"/>
                          <a:cs typeface="Arial"/>
                        </a:rPr>
                        <a:t>th</a:t>
                      </a:r>
                      <a:r>
                        <a:rPr lang="en-US" sz="1700" b="0" i="0" u="none" strike="sngStrike" baseline="0">
                          <a:solidFill>
                            <a:srgbClr val="000000"/>
                          </a:solidFill>
                          <a:effectLst/>
                          <a:latin typeface="Arial"/>
                          <a:cs typeface="Arial"/>
                        </a:rPr>
                        <a:t>  July 2025</a:t>
                      </a:r>
                      <a:br>
                        <a:rPr lang="en-US" sz="1700" b="0" i="0" u="none" strike="sngStrike" baseline="0">
                          <a:solidFill>
                            <a:srgbClr val="000000"/>
                          </a:solidFill>
                          <a:effectLst/>
                          <a:latin typeface="Arial"/>
                          <a:cs typeface="Arial"/>
                        </a:rPr>
                      </a:br>
                      <a:r>
                        <a:rPr lang="en-US" sz="1700" b="0" i="0" u="none" strike="sngStrike" baseline="0">
                          <a:solidFill>
                            <a:srgbClr val="000000"/>
                          </a:solidFill>
                          <a:effectLst/>
                          <a:latin typeface="Arial"/>
                          <a:cs typeface="Arial"/>
                        </a:rPr>
                        <a:t>31</a:t>
                      </a:r>
                      <a:r>
                        <a:rPr lang="en-US" sz="1700" b="0" i="0" u="none" strike="sngStrike" baseline="30000">
                          <a:solidFill>
                            <a:srgbClr val="000000"/>
                          </a:solidFill>
                          <a:effectLst/>
                          <a:latin typeface="Arial"/>
                          <a:cs typeface="Arial"/>
                        </a:rPr>
                        <a:t>st</a:t>
                      </a:r>
                      <a:r>
                        <a:rPr lang="en-US" sz="1700" b="0" i="0" u="none" strike="sngStrike" baseline="0">
                          <a:solidFill>
                            <a:srgbClr val="000000"/>
                          </a:solidFill>
                          <a:effectLst/>
                          <a:latin typeface="Arial"/>
                          <a:cs typeface="Arial"/>
                        </a:rPr>
                        <a:t> July 2025</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err="1">
                          <a:solidFill>
                            <a:srgbClr val="000000"/>
                          </a:solidFill>
                          <a:effectLst/>
                          <a:latin typeface="Arial"/>
                          <a:cs typeface="Arial"/>
                        </a:rPr>
                        <a:t>ZenHR</a:t>
                      </a:r>
                      <a:r>
                        <a:rPr lang="en-US" sz="1700" b="0" i="0" u="none" strike="noStrike">
                          <a:solidFill>
                            <a:srgbClr val="000000"/>
                          </a:solidFill>
                          <a:effectLst/>
                          <a:latin typeface="Arial"/>
                          <a:cs typeface="Arial"/>
                        </a:rPr>
                        <a:t>, FIB HR</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3569363"/>
                  </a:ext>
                </a:extLst>
              </a:tr>
              <a:tr h="653721">
                <a:tc>
                  <a:txBody>
                    <a:bodyPr/>
                    <a:lstStyle/>
                    <a:p>
                      <a:pPr algn="ctr" fontAlgn="ctr"/>
                      <a:r>
                        <a:rPr lang="en-US" sz="1700" b="0" i="0" u="none" strike="noStrike">
                          <a:solidFill>
                            <a:srgbClr val="000000"/>
                          </a:solidFill>
                          <a:effectLst/>
                          <a:latin typeface="Aptos Narrow"/>
                        </a:rPr>
                        <a:t>9</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700" b="0" i="0" u="none" strike="noStrike">
                          <a:solidFill>
                            <a:srgbClr val="000000"/>
                          </a:solidFill>
                          <a:effectLst/>
                          <a:latin typeface="Arial"/>
                          <a:cs typeface="Arial"/>
                        </a:rPr>
                        <a:t>Go-Live Payroll</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a:lnSpc>
                          <a:spcPct val="100000"/>
                        </a:lnSpc>
                        <a:spcBef>
                          <a:spcPts val="0"/>
                        </a:spcBef>
                        <a:spcAft>
                          <a:spcPts val="0"/>
                        </a:spcAft>
                        <a:buNone/>
                        <a:tabLst/>
                        <a:defRPr/>
                      </a:pPr>
                      <a:r>
                        <a:rPr lang="en-GB" sz="1700" b="0" i="0" u="none" strike="noStrike">
                          <a:solidFill>
                            <a:srgbClr val="000000"/>
                          </a:solidFill>
                          <a:effectLst/>
                          <a:latin typeface="Arial"/>
                          <a:cs typeface="Arial"/>
                        </a:rPr>
                        <a:t>Rejected</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100000"/>
                        </a:lnSpc>
                        <a:spcBef>
                          <a:spcPts val="0"/>
                        </a:spcBef>
                        <a:spcAft>
                          <a:spcPts val="0"/>
                        </a:spcAft>
                        <a:buClrTx/>
                        <a:buSzTx/>
                        <a:buFontTx/>
                        <a:buNone/>
                      </a:pPr>
                      <a:r>
                        <a:rPr lang="en-US" sz="1700" b="0" i="0" u="none" strike="sngStrike" baseline="0">
                          <a:solidFill>
                            <a:srgbClr val="000000"/>
                          </a:solidFill>
                          <a:effectLst/>
                          <a:latin typeface="Arial"/>
                          <a:cs typeface="Arial"/>
                        </a:rPr>
                        <a:t>1st March 2026</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700" b="0" i="0" u="none" strike="noStrike" err="1">
                          <a:solidFill>
                            <a:srgbClr val="000000"/>
                          </a:solidFill>
                          <a:effectLst/>
                          <a:latin typeface="Arial"/>
                          <a:cs typeface="Arial"/>
                        </a:rPr>
                        <a:t>ZenHR</a:t>
                      </a:r>
                      <a:r>
                        <a:rPr lang="en-US" sz="1700" b="0" i="0" u="none" strike="noStrike">
                          <a:solidFill>
                            <a:srgbClr val="000000"/>
                          </a:solidFill>
                          <a:effectLst/>
                          <a:latin typeface="Arial"/>
                          <a:cs typeface="Arial"/>
                        </a:rPr>
                        <a:t>, FIB HR</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74617945"/>
                  </a:ext>
                </a:extLst>
              </a:tr>
            </a:tbl>
          </a:graphicData>
        </a:graphic>
      </p:graphicFrame>
      <p:sp>
        <p:nvSpPr>
          <p:cNvPr id="3" name="Freeform 13" descr="A blue and black logo&#10;&#10;AI-generated content may be incorrect.">
            <a:extLst>
              <a:ext uri="{FF2B5EF4-FFF2-40B4-BE49-F238E27FC236}">
                <a16:creationId xmlns:a16="http://schemas.microsoft.com/office/drawing/2014/main" id="{5823A862-2288-34AF-59A2-EAB74F938306}"/>
              </a:ext>
            </a:extLst>
          </p:cNvPr>
          <p:cNvSpPr/>
          <p:nvPr/>
        </p:nvSpPr>
        <p:spPr>
          <a:xfrm>
            <a:off x="16062518" y="309634"/>
            <a:ext cx="1851905" cy="870481"/>
          </a:xfrm>
          <a:custGeom>
            <a:avLst/>
            <a:gdLst/>
            <a:ahLst/>
            <a:cxnLst/>
            <a:rect l="l" t="t" r="r" b="b"/>
            <a:pathLst>
              <a:path w="1851905" h="870481">
                <a:moveTo>
                  <a:pt x="0" y="0"/>
                </a:moveTo>
                <a:lnTo>
                  <a:pt x="1851905" y="0"/>
                </a:lnTo>
                <a:lnTo>
                  <a:pt x="1851905" y="870481"/>
                </a:lnTo>
                <a:lnTo>
                  <a:pt x="0" y="870481"/>
                </a:lnTo>
                <a:lnTo>
                  <a:pt x="0" y="0"/>
                </a:lnTo>
                <a:close/>
              </a:path>
            </a:pathLst>
          </a:custGeom>
          <a:blipFill>
            <a:blip r:embed="rId2"/>
            <a:stretch>
              <a:fillRect/>
            </a:stretch>
          </a:blipFill>
        </p:spPr>
        <p:txBody>
          <a:bodyPr/>
          <a:lstStyle/>
          <a:p>
            <a:endParaRPr lang="en-US"/>
          </a:p>
        </p:txBody>
      </p:sp>
    </p:spTree>
    <p:extLst>
      <p:ext uri="{BB962C8B-B14F-4D97-AF65-F5344CB8AC3E}">
        <p14:creationId xmlns:p14="http://schemas.microsoft.com/office/powerpoint/2010/main" val="3391219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885825"/>
            <a:ext cx="13219087" cy="2483757"/>
          </a:xfrm>
          <a:prstGeom prst="rect">
            <a:avLst/>
          </a:prstGeom>
        </p:spPr>
        <p:txBody>
          <a:bodyPr lIns="0" tIns="0" rIns="0" bIns="0" rtlCol="0" anchor="t">
            <a:spAutoFit/>
          </a:bodyPr>
          <a:lstStyle/>
          <a:p>
            <a:pPr>
              <a:lnSpc>
                <a:spcPts val="10081"/>
              </a:lnSpc>
              <a:spcBef>
                <a:spcPct val="0"/>
              </a:spcBef>
            </a:pPr>
            <a:r>
              <a:rPr lang="en-US" sz="7200" b="1">
                <a:solidFill>
                  <a:srgbClr val="03A39D"/>
                </a:solidFill>
                <a:latin typeface="Inter Bold"/>
                <a:ea typeface="Inter Bold"/>
                <a:cs typeface="Inter Bold"/>
                <a:sym typeface="Inter Bold"/>
              </a:rPr>
              <a:t>PROCESS </a:t>
            </a:r>
            <a:r>
              <a:rPr lang="en-US" sz="7200" b="1">
                <a:solidFill>
                  <a:srgbClr val="000000"/>
                </a:solidFill>
                <a:latin typeface="Inter Bold"/>
                <a:ea typeface="Inter Bold"/>
                <a:cs typeface="Inter Bold"/>
                <a:sym typeface="Inter Bold"/>
              </a:rPr>
              <a:t>ENHANCEMENT and Automation</a:t>
            </a:r>
          </a:p>
        </p:txBody>
      </p:sp>
      <p:sp>
        <p:nvSpPr>
          <p:cNvPr id="3" name="Freeform 3"/>
          <p:cNvSpPr/>
          <p:nvPr/>
        </p:nvSpPr>
        <p:spPr>
          <a:xfrm>
            <a:off x="0" y="0"/>
            <a:ext cx="1028700" cy="1028700"/>
          </a:xfrm>
          <a:custGeom>
            <a:avLst/>
            <a:gdLst/>
            <a:ahLst/>
            <a:cxnLst/>
            <a:rect l="l" t="t" r="r" b="b"/>
            <a:pathLst>
              <a:path w="1028700" h="1028700">
                <a:moveTo>
                  <a:pt x="0" y="0"/>
                </a:moveTo>
                <a:lnTo>
                  <a:pt x="1028700" y="0"/>
                </a:lnTo>
                <a:lnTo>
                  <a:pt x="1028700" y="1028700"/>
                </a:lnTo>
                <a:lnTo>
                  <a:pt x="0" y="10287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10" name="Group 10"/>
          <p:cNvGrpSpPr/>
          <p:nvPr/>
        </p:nvGrpSpPr>
        <p:grpSpPr>
          <a:xfrm>
            <a:off x="514350" y="8877758"/>
            <a:ext cx="295243" cy="295243"/>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A09A"/>
            </a:solidFill>
          </p:spPr>
          <p:txBody>
            <a:bodyPr/>
            <a:lstStyle/>
            <a:p>
              <a:endParaRPr lang="en-US"/>
            </a:p>
          </p:txBody>
        </p:sp>
        <p:sp>
          <p:nvSpPr>
            <p:cNvPr id="12" name="TextBox 12"/>
            <p:cNvSpPr txBox="1"/>
            <p:nvPr/>
          </p:nvSpPr>
          <p:spPr>
            <a:xfrm>
              <a:off x="76200" y="-47625"/>
              <a:ext cx="660400" cy="784225"/>
            </a:xfrm>
            <a:prstGeom prst="rect">
              <a:avLst/>
            </a:prstGeom>
          </p:spPr>
          <p:txBody>
            <a:bodyPr lIns="50800" tIns="50800" rIns="50800" bIns="50800" rtlCol="0" anchor="ctr"/>
            <a:lstStyle/>
            <a:p>
              <a:pPr algn="ctr">
                <a:lnSpc>
                  <a:spcPts val="3910"/>
                </a:lnSpc>
              </a:pPr>
              <a:endParaRPr/>
            </a:p>
          </p:txBody>
        </p:sp>
      </p:grpSp>
      <p:grpSp>
        <p:nvGrpSpPr>
          <p:cNvPr id="14" name="Group 14"/>
          <p:cNvGrpSpPr/>
          <p:nvPr/>
        </p:nvGrpSpPr>
        <p:grpSpPr>
          <a:xfrm>
            <a:off x="9864276" y="7543183"/>
            <a:ext cx="7124195" cy="1419873"/>
            <a:chOff x="0" y="0"/>
            <a:chExt cx="9498926" cy="1893165"/>
          </a:xfrm>
        </p:grpSpPr>
        <p:sp>
          <p:nvSpPr>
            <p:cNvPr id="15" name="Freeform 15"/>
            <p:cNvSpPr/>
            <p:nvPr/>
          </p:nvSpPr>
          <p:spPr>
            <a:xfrm>
              <a:off x="0" y="19403"/>
              <a:ext cx="1738820" cy="1738820"/>
            </a:xfrm>
            <a:custGeom>
              <a:avLst/>
              <a:gdLst/>
              <a:ahLst/>
              <a:cxnLst/>
              <a:rect l="l" t="t" r="r" b="b"/>
              <a:pathLst>
                <a:path w="1738820" h="1738820">
                  <a:moveTo>
                    <a:pt x="0" y="0"/>
                  </a:moveTo>
                  <a:lnTo>
                    <a:pt x="1738820" y="0"/>
                  </a:lnTo>
                  <a:lnTo>
                    <a:pt x="1738820" y="1738821"/>
                  </a:lnTo>
                  <a:lnTo>
                    <a:pt x="0" y="17388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Freeform 16"/>
            <p:cNvSpPr/>
            <p:nvPr/>
          </p:nvSpPr>
          <p:spPr>
            <a:xfrm>
              <a:off x="2603399" y="0"/>
              <a:ext cx="1713314" cy="1893165"/>
            </a:xfrm>
            <a:custGeom>
              <a:avLst/>
              <a:gdLst/>
              <a:ahLst/>
              <a:cxnLst/>
              <a:rect l="l" t="t" r="r" b="b"/>
              <a:pathLst>
                <a:path w="1713314" h="1893165">
                  <a:moveTo>
                    <a:pt x="0" y="0"/>
                  </a:moveTo>
                  <a:lnTo>
                    <a:pt x="1713314" y="0"/>
                  </a:lnTo>
                  <a:lnTo>
                    <a:pt x="1713314" y="1893165"/>
                  </a:lnTo>
                  <a:lnTo>
                    <a:pt x="0" y="189316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7" name="Freeform 17"/>
            <p:cNvSpPr/>
            <p:nvPr/>
          </p:nvSpPr>
          <p:spPr>
            <a:xfrm>
              <a:off x="5180313" y="20296"/>
              <a:ext cx="1737928" cy="1737928"/>
            </a:xfrm>
            <a:custGeom>
              <a:avLst/>
              <a:gdLst/>
              <a:ahLst/>
              <a:cxnLst/>
              <a:rect l="l" t="t" r="r" b="b"/>
              <a:pathLst>
                <a:path w="1737928" h="1737928">
                  <a:moveTo>
                    <a:pt x="0" y="0"/>
                  </a:moveTo>
                  <a:lnTo>
                    <a:pt x="1737928" y="0"/>
                  </a:lnTo>
                  <a:lnTo>
                    <a:pt x="1737928" y="1737928"/>
                  </a:lnTo>
                  <a:lnTo>
                    <a:pt x="0" y="173792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8" name="Freeform 18"/>
            <p:cNvSpPr/>
            <p:nvPr/>
          </p:nvSpPr>
          <p:spPr>
            <a:xfrm>
              <a:off x="7781841" y="19403"/>
              <a:ext cx="1717085" cy="1738820"/>
            </a:xfrm>
            <a:custGeom>
              <a:avLst/>
              <a:gdLst/>
              <a:ahLst/>
              <a:cxnLst/>
              <a:rect l="l" t="t" r="r" b="b"/>
              <a:pathLst>
                <a:path w="1717085" h="1738820">
                  <a:moveTo>
                    <a:pt x="0" y="0"/>
                  </a:moveTo>
                  <a:lnTo>
                    <a:pt x="1717085" y="0"/>
                  </a:lnTo>
                  <a:lnTo>
                    <a:pt x="1717085" y="1738821"/>
                  </a:lnTo>
                  <a:lnTo>
                    <a:pt x="0" y="173882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sp>
        <p:nvSpPr>
          <p:cNvPr id="19" name="TextBox 19"/>
          <p:cNvSpPr txBox="1"/>
          <p:nvPr/>
        </p:nvSpPr>
        <p:spPr>
          <a:xfrm>
            <a:off x="1028700" y="3770174"/>
            <a:ext cx="5364956" cy="339324"/>
          </a:xfrm>
          <a:prstGeom prst="rect">
            <a:avLst/>
          </a:prstGeom>
        </p:spPr>
        <p:txBody>
          <a:bodyPr lIns="0" tIns="0" rIns="0" bIns="0" rtlCol="0" anchor="t">
            <a:spAutoFit/>
          </a:bodyPr>
          <a:lstStyle/>
          <a:p>
            <a:pPr algn="just">
              <a:lnSpc>
                <a:spcPts val="2799"/>
              </a:lnSpc>
              <a:spcBef>
                <a:spcPct val="0"/>
              </a:spcBef>
            </a:pPr>
            <a:r>
              <a:rPr lang="en-US" sz="1950">
                <a:solidFill>
                  <a:srgbClr val="000000"/>
                </a:solidFill>
                <a:latin typeface="Poppins"/>
                <a:ea typeface="Poppins"/>
                <a:cs typeface="Poppins"/>
                <a:sym typeface="Poppins"/>
              </a:rPr>
              <a:t>Project Manager : Ezzat </a:t>
            </a:r>
            <a:r>
              <a:rPr lang="en-US" sz="1950" err="1">
                <a:solidFill>
                  <a:srgbClr val="000000"/>
                </a:solidFill>
                <a:latin typeface="Poppins"/>
                <a:ea typeface="Poppins"/>
                <a:cs typeface="Poppins"/>
                <a:sym typeface="Poppins"/>
              </a:rPr>
              <a:t>Zalzala</a:t>
            </a:r>
            <a:endParaRPr lang="en-US" sz="1999" err="1">
              <a:solidFill>
                <a:srgbClr val="000000"/>
              </a:solidFill>
              <a:latin typeface="Poppins"/>
              <a:ea typeface="Poppins"/>
              <a:cs typeface="Poppins"/>
              <a:sym typeface="Poppins"/>
            </a:endParaRPr>
          </a:p>
        </p:txBody>
      </p:sp>
      <p:sp>
        <p:nvSpPr>
          <p:cNvPr id="20" name="TextBox 20"/>
          <p:cNvSpPr txBox="1"/>
          <p:nvPr/>
        </p:nvSpPr>
        <p:spPr>
          <a:xfrm>
            <a:off x="1028700" y="8836895"/>
            <a:ext cx="3192084" cy="345416"/>
          </a:xfrm>
          <a:prstGeom prst="rect">
            <a:avLst/>
          </a:prstGeom>
        </p:spPr>
        <p:txBody>
          <a:bodyPr wrap="square" lIns="0" tIns="0" rIns="0" bIns="0" rtlCol="0" anchor="t">
            <a:spAutoFit/>
          </a:bodyPr>
          <a:lstStyle/>
          <a:p>
            <a:pPr algn="just">
              <a:lnSpc>
                <a:spcPts val="2799"/>
              </a:lnSpc>
              <a:spcBef>
                <a:spcPct val="0"/>
              </a:spcBef>
            </a:pPr>
            <a:r>
              <a:rPr lang="en-US" sz="2000">
                <a:solidFill>
                  <a:srgbClr val="000000"/>
                </a:solidFill>
                <a:latin typeface="Poppins"/>
                <a:ea typeface="Poppins"/>
                <a:cs typeface="Poppins"/>
                <a:sym typeface="Poppins"/>
              </a:rPr>
              <a:t>9</a:t>
            </a:r>
            <a:r>
              <a:rPr lang="en-US" sz="2000" baseline="30000">
                <a:solidFill>
                  <a:srgbClr val="000000"/>
                </a:solidFill>
                <a:latin typeface="Poppins"/>
                <a:ea typeface="Poppins"/>
                <a:cs typeface="Poppins"/>
                <a:sym typeface="Poppins"/>
              </a:rPr>
              <a:t>th</a:t>
            </a:r>
            <a:r>
              <a:rPr lang="en-US" sz="2000">
                <a:solidFill>
                  <a:srgbClr val="000000"/>
                </a:solidFill>
                <a:latin typeface="Poppins"/>
                <a:ea typeface="Poppins"/>
                <a:cs typeface="Poppins"/>
                <a:sym typeface="Poppins"/>
              </a:rPr>
              <a:t> </a:t>
            </a:r>
            <a:r>
              <a:rPr lang="en-US" sz="1950">
                <a:solidFill>
                  <a:srgbClr val="000000"/>
                </a:solidFill>
                <a:latin typeface="Poppins"/>
                <a:ea typeface="Poppins"/>
                <a:cs typeface="Poppins"/>
                <a:sym typeface="Poppins"/>
              </a:rPr>
              <a:t>June 2026</a:t>
            </a:r>
            <a:endParaRPr lang="en-US"/>
          </a:p>
        </p:txBody>
      </p:sp>
      <p:sp>
        <p:nvSpPr>
          <p:cNvPr id="5" name="Freeform 13" descr="A blue and black logo&#10;&#10;AI-generated content may be incorrect.">
            <a:extLst>
              <a:ext uri="{FF2B5EF4-FFF2-40B4-BE49-F238E27FC236}">
                <a16:creationId xmlns:a16="http://schemas.microsoft.com/office/drawing/2014/main" id="{A1A9E0D5-A7FD-45FC-1AA9-AB8FB370480F}"/>
              </a:ext>
            </a:extLst>
          </p:cNvPr>
          <p:cNvSpPr/>
          <p:nvPr/>
        </p:nvSpPr>
        <p:spPr>
          <a:xfrm>
            <a:off x="16062518" y="309634"/>
            <a:ext cx="1851905" cy="870481"/>
          </a:xfrm>
          <a:custGeom>
            <a:avLst/>
            <a:gdLst/>
            <a:ahLst/>
            <a:cxnLst/>
            <a:rect l="l" t="t" r="r" b="b"/>
            <a:pathLst>
              <a:path w="1851905" h="870481">
                <a:moveTo>
                  <a:pt x="0" y="0"/>
                </a:moveTo>
                <a:lnTo>
                  <a:pt x="1851905" y="0"/>
                </a:lnTo>
                <a:lnTo>
                  <a:pt x="1851905" y="870481"/>
                </a:lnTo>
                <a:lnTo>
                  <a:pt x="0" y="870481"/>
                </a:lnTo>
                <a:lnTo>
                  <a:pt x="0" y="0"/>
                </a:lnTo>
                <a:close/>
              </a:path>
            </a:pathLst>
          </a:custGeom>
          <a:blipFill>
            <a:blip r:embed="rId7"/>
            <a:stretch>
              <a:fillRect/>
            </a:stretch>
          </a:blipFill>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BB08D-0205-D16C-BF06-5ECD0294B209}"/>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B5517FBE-709C-43B5-8498-777064F5A3EF}"/>
              </a:ext>
            </a:extLst>
          </p:cNvPr>
          <p:cNvSpPr/>
          <p:nvPr/>
        </p:nvSpPr>
        <p:spPr>
          <a:xfrm>
            <a:off x="6043057" y="2057869"/>
            <a:ext cx="7965871" cy="1609911"/>
          </a:xfrm>
          <a:prstGeom prst="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lang="en-US" sz="1600" b="1" i="0" u="none" strike="noStrike" baseline="0">
                <a:solidFill>
                  <a:srgbClr val="000000"/>
                </a:solidFill>
                <a:latin typeface="Calibri"/>
                <a:ea typeface="Segoe UI"/>
                <a:cs typeface="Segoe UI"/>
              </a:rPr>
              <a:t>Project Status Update:</a:t>
            </a:r>
            <a:r>
              <a:rPr lang="en-US" sz="1600">
                <a:solidFill>
                  <a:srgbClr val="000000"/>
                </a:solidFill>
                <a:latin typeface="Calibri"/>
                <a:ea typeface="Segoe UI"/>
                <a:cs typeface="Segoe UI"/>
              </a:rPr>
              <a:t> Progressing still on the development phase for most of the departments. We already had meetings for Treasury, Branches, Credits, Risks, Cards, HR and for Operations. Tickets are opened on Jira and are being updated daily. Already started for CBI reports to be automated with Credits, Risks and Finance and we are starting to validate those reports to start the implementation through Jira with Ms. Sara and Mr. Mohammed. Audits, compliance and ICD are already added into the project for automation. </a:t>
            </a:r>
            <a:endParaRPr lang="en-US" sz="1600">
              <a:latin typeface="Segoe UI"/>
              <a:ea typeface="Calibri"/>
              <a:cs typeface="Segoe UI"/>
            </a:endParaRPr>
          </a:p>
        </p:txBody>
      </p:sp>
      <p:sp>
        <p:nvSpPr>
          <p:cNvPr id="84" name="Rectangle 83">
            <a:extLst>
              <a:ext uri="{FF2B5EF4-FFF2-40B4-BE49-F238E27FC236}">
                <a16:creationId xmlns:a16="http://schemas.microsoft.com/office/drawing/2014/main" id="{C27F5E42-0238-4991-8B1C-51893D164D92}"/>
              </a:ext>
            </a:extLst>
          </p:cNvPr>
          <p:cNvSpPr/>
          <p:nvPr/>
        </p:nvSpPr>
        <p:spPr bwMode="gray">
          <a:xfrm>
            <a:off x="1135789" y="4408952"/>
            <a:ext cx="16643170" cy="2003913"/>
          </a:xfrm>
          <a:prstGeom prst="rect">
            <a:avLst/>
          </a:prstGeom>
          <a:solidFill>
            <a:schemeClr val="bg1">
              <a:lumMod val="95000"/>
            </a:schemeClr>
          </a:solidFill>
          <a:ln w="19050" algn="ctr">
            <a:no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IN"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 name="Rectangle 3">
            <a:extLst>
              <a:ext uri="{FF2B5EF4-FFF2-40B4-BE49-F238E27FC236}">
                <a16:creationId xmlns:a16="http://schemas.microsoft.com/office/drawing/2014/main" id="{88448A28-FA74-31F4-E668-758DEEA35095}"/>
              </a:ext>
            </a:extLst>
          </p:cNvPr>
          <p:cNvSpPr/>
          <p:nvPr/>
        </p:nvSpPr>
        <p:spPr>
          <a:xfrm>
            <a:off x="821533" y="1462082"/>
            <a:ext cx="16626842" cy="452903"/>
          </a:xfrm>
          <a:prstGeom prst="rect">
            <a:avLst/>
          </a:prstGeom>
          <a:solidFill>
            <a:srgbClr val="00A69C"/>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mj-lt"/>
                <a:ea typeface="+mn-ea"/>
                <a:cs typeface="+mn-cs"/>
              </a:rPr>
              <a:t>Project Highlights </a:t>
            </a:r>
          </a:p>
        </p:txBody>
      </p:sp>
      <p:sp>
        <p:nvSpPr>
          <p:cNvPr id="5" name="Title 1">
            <a:extLst>
              <a:ext uri="{FF2B5EF4-FFF2-40B4-BE49-F238E27FC236}">
                <a16:creationId xmlns:a16="http://schemas.microsoft.com/office/drawing/2014/main" id="{44DE7BA4-D51C-2609-6836-61F8AECB9755}"/>
              </a:ext>
            </a:extLst>
          </p:cNvPr>
          <p:cNvSpPr txBox="1">
            <a:spLocks/>
          </p:cNvSpPr>
          <p:nvPr/>
        </p:nvSpPr>
        <p:spPr>
          <a:xfrm>
            <a:off x="832104" y="940100"/>
            <a:ext cx="13441680" cy="415499"/>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ct val="0"/>
              </a:spcBef>
              <a:spcAft>
                <a:spcPts val="0"/>
              </a:spcAft>
              <a:buClrTx/>
              <a:buSzTx/>
              <a:buFontTx/>
              <a:buNone/>
              <a:tabLst/>
              <a:defRPr/>
            </a:pPr>
            <a:r>
              <a:rPr lang="en-US" sz="2700">
                <a:solidFill>
                  <a:srgbClr val="000000"/>
                </a:solidFill>
              </a:rPr>
              <a:t>Process Enhancement and Automation</a:t>
            </a:r>
            <a:endParaRPr kumimoji="0" lang="en-US" sz="2700" b="1" i="0" u="none" strike="noStrike" kern="1200" cap="none" spc="0" normalizeH="0" baseline="0" noProof="0">
              <a:ln w="6350" cap="flat">
                <a:noFill/>
                <a:miter lim="800000"/>
              </a:ln>
              <a:solidFill>
                <a:srgbClr val="000000"/>
              </a:solidFill>
              <a:effectLst/>
              <a:uLnTx/>
              <a:uFillTx/>
            </a:endParaRPr>
          </a:p>
        </p:txBody>
      </p:sp>
      <p:sp>
        <p:nvSpPr>
          <p:cNvPr id="6" name="Rectangle 5">
            <a:extLst>
              <a:ext uri="{FF2B5EF4-FFF2-40B4-BE49-F238E27FC236}">
                <a16:creationId xmlns:a16="http://schemas.microsoft.com/office/drawing/2014/main" id="{EEDB32A8-D9AC-62B8-2BDB-4287C033200E}"/>
              </a:ext>
            </a:extLst>
          </p:cNvPr>
          <p:cNvSpPr/>
          <p:nvPr/>
        </p:nvSpPr>
        <p:spPr bwMode="auto">
          <a:xfrm>
            <a:off x="15836117" y="2117372"/>
            <a:ext cx="1612257" cy="405768"/>
          </a:xfrm>
          <a:prstGeom prst="rect">
            <a:avLst/>
          </a:prstGeom>
          <a:solidFill>
            <a:srgbClr val="00A69C"/>
          </a:solid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anose="020B0604020202020204" pitchFamily="34" charset="0"/>
              </a:rPr>
              <a:t>Current Period</a:t>
            </a:r>
          </a:p>
        </p:txBody>
      </p:sp>
      <p:sp>
        <p:nvSpPr>
          <p:cNvPr id="7" name="Rectangle 6">
            <a:extLst>
              <a:ext uri="{FF2B5EF4-FFF2-40B4-BE49-F238E27FC236}">
                <a16:creationId xmlns:a16="http://schemas.microsoft.com/office/drawing/2014/main" id="{CB2E4CD9-E508-AEFE-ED77-1BC3353FE038}"/>
              </a:ext>
            </a:extLst>
          </p:cNvPr>
          <p:cNvSpPr/>
          <p:nvPr/>
        </p:nvSpPr>
        <p:spPr bwMode="auto">
          <a:xfrm>
            <a:off x="14111579" y="2117372"/>
            <a:ext cx="1620000" cy="405768"/>
          </a:xfrm>
          <a:prstGeom prst="rect">
            <a:avLst/>
          </a:prstGeom>
          <a:solidFill>
            <a:srgbClr val="00A69C"/>
          </a:solid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anose="020B0604020202020204" pitchFamily="34" charset="0"/>
              </a:rPr>
              <a:t>Previous Period</a:t>
            </a:r>
          </a:p>
        </p:txBody>
      </p:sp>
      <p:sp>
        <p:nvSpPr>
          <p:cNvPr id="8" name="Rectangle 7">
            <a:extLst>
              <a:ext uri="{FF2B5EF4-FFF2-40B4-BE49-F238E27FC236}">
                <a16:creationId xmlns:a16="http://schemas.microsoft.com/office/drawing/2014/main" id="{42DF8C42-1411-6E57-B27F-DE6DBAF776DB}"/>
              </a:ext>
            </a:extLst>
          </p:cNvPr>
          <p:cNvSpPr/>
          <p:nvPr/>
        </p:nvSpPr>
        <p:spPr bwMode="auto">
          <a:xfrm>
            <a:off x="14108566" y="2521505"/>
            <a:ext cx="1612256" cy="533700"/>
          </a:xfrm>
          <a:prstGeom prst="rect">
            <a:avLst/>
          </a:prstGeom>
          <a:solidFill>
            <a:srgbClr val="E2F0D9"/>
          </a:solidFill>
          <a:ln w="9525" cap="flat" cmpd="sng" algn="ctr">
            <a:solidFill>
              <a:srgbClr val="FFCCCC"/>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defTabSz="1564584">
              <a:defRPr/>
            </a:pPr>
            <a:r>
              <a:rPr lang="en-US" sz="1500" b="1" kern="0">
                <a:solidFill>
                  <a:prstClr val="black"/>
                </a:solidFill>
                <a:latin typeface="+mj-lt"/>
                <a:cs typeface="Arial" panose="020B0604020202020204" pitchFamily="34" charset="0"/>
              </a:rPr>
              <a:t>On Track</a:t>
            </a:r>
            <a:endParaRPr lang="en-GB" sz="1500" b="1" kern="0">
              <a:solidFill>
                <a:prstClr val="black"/>
              </a:solidFill>
              <a:latin typeface="+mj-lt"/>
              <a:cs typeface="Arial" panose="020B0604020202020204" pitchFamily="34" charset="0"/>
            </a:endParaRPr>
          </a:p>
        </p:txBody>
      </p:sp>
      <p:sp>
        <p:nvSpPr>
          <p:cNvPr id="10" name="Rectangle 9">
            <a:extLst>
              <a:ext uri="{FF2B5EF4-FFF2-40B4-BE49-F238E27FC236}">
                <a16:creationId xmlns:a16="http://schemas.microsoft.com/office/drawing/2014/main" id="{2D097F0E-EBB8-A8D0-0340-B427FF4CECE5}"/>
              </a:ext>
            </a:extLst>
          </p:cNvPr>
          <p:cNvSpPr/>
          <p:nvPr/>
        </p:nvSpPr>
        <p:spPr>
          <a:xfrm>
            <a:off x="794309" y="6930248"/>
            <a:ext cx="16626842" cy="452903"/>
          </a:xfrm>
          <a:prstGeom prst="rect">
            <a:avLst/>
          </a:prstGeom>
          <a:solidFill>
            <a:srgbClr val="00A69C"/>
          </a:solidFill>
          <a:ln w="952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mj-lt"/>
                <a:ea typeface="+mn-ea"/>
                <a:cs typeface="+mn-cs"/>
              </a:rPr>
              <a:t>Key Risks, Issues &amp; Decisions</a:t>
            </a:r>
          </a:p>
        </p:txBody>
      </p:sp>
      <p:grpSp>
        <p:nvGrpSpPr>
          <p:cNvPr id="12" name="Group 11">
            <a:extLst>
              <a:ext uri="{FF2B5EF4-FFF2-40B4-BE49-F238E27FC236}">
                <a16:creationId xmlns:a16="http://schemas.microsoft.com/office/drawing/2014/main" id="{02E7B5F1-DC21-5115-FD39-5A3342BFB35C}"/>
              </a:ext>
            </a:extLst>
          </p:cNvPr>
          <p:cNvGrpSpPr/>
          <p:nvPr/>
        </p:nvGrpSpPr>
        <p:grpSpPr>
          <a:xfrm>
            <a:off x="860944" y="2053338"/>
            <a:ext cx="5041568" cy="1203003"/>
            <a:chOff x="567987" y="1398301"/>
            <a:chExt cx="3361045" cy="801998"/>
          </a:xfrm>
          <a:solidFill>
            <a:srgbClr val="00A69C"/>
          </a:solidFill>
        </p:grpSpPr>
        <p:sp>
          <p:nvSpPr>
            <p:cNvPr id="13" name="Rectangle 12">
              <a:extLst>
                <a:ext uri="{FF2B5EF4-FFF2-40B4-BE49-F238E27FC236}">
                  <a16:creationId xmlns:a16="http://schemas.microsoft.com/office/drawing/2014/main" id="{3726B678-83EC-82BD-DEDC-D050F4DBB97F}"/>
                </a:ext>
              </a:extLst>
            </p:cNvPr>
            <p:cNvSpPr/>
            <p:nvPr/>
          </p:nvSpPr>
          <p:spPr bwMode="auto">
            <a:xfrm>
              <a:off x="567987" y="1398301"/>
              <a:ext cx="1440000" cy="256198"/>
            </a:xfrm>
            <a:prstGeom prst="rect">
              <a:avLst/>
            </a:prstGeom>
            <a:grp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a:rPr>
                <a:t>Reporting Period</a:t>
              </a:r>
              <a:endParaRPr lang="en-GB" sz="1500" b="1" i="0" u="none" strike="noStrike" kern="0" cap="none" spc="0" normalizeH="0" baseline="0" noProof="0">
                <a:ln>
                  <a:noFill/>
                </a:ln>
                <a:solidFill>
                  <a:schemeClr val="bg1"/>
                </a:solidFill>
                <a:effectLst/>
                <a:uLnTx/>
                <a:uFillTx/>
                <a:latin typeface="+mj-lt"/>
                <a:ea typeface="Calibri"/>
                <a:cs typeface="Arial"/>
              </a:endParaRPr>
            </a:p>
          </p:txBody>
        </p:sp>
        <p:sp>
          <p:nvSpPr>
            <p:cNvPr id="14" name="Rectangle 13">
              <a:extLst>
                <a:ext uri="{FF2B5EF4-FFF2-40B4-BE49-F238E27FC236}">
                  <a16:creationId xmlns:a16="http://schemas.microsoft.com/office/drawing/2014/main" id="{218B412E-F80E-75AD-D205-D6D8DEDB0F10}"/>
                </a:ext>
              </a:extLst>
            </p:cNvPr>
            <p:cNvSpPr/>
            <p:nvPr/>
          </p:nvSpPr>
          <p:spPr bwMode="auto">
            <a:xfrm>
              <a:off x="2138275" y="1440054"/>
              <a:ext cx="1789561" cy="266636"/>
            </a:xfrm>
            <a:prstGeom prst="rect">
              <a:avLst/>
            </a:prstGeom>
            <a:grp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GB" sz="1600" b="1" kern="0">
                  <a:solidFill>
                    <a:schemeClr val="bg1"/>
                  </a:solidFill>
                  <a:latin typeface="+mj-lt"/>
                  <a:cs typeface="Arial"/>
                </a:rPr>
                <a:t>2</a:t>
              </a:r>
              <a:r>
                <a:rPr lang="en-GB" sz="1600" b="1" kern="0" baseline="30000">
                  <a:solidFill>
                    <a:schemeClr val="bg1"/>
                  </a:solidFill>
                  <a:latin typeface="+mj-lt"/>
                  <a:cs typeface="Arial"/>
                </a:rPr>
                <a:t>nd</a:t>
              </a:r>
              <a:r>
                <a:rPr lang="en-GB" sz="1600" b="1" kern="0">
                  <a:solidFill>
                    <a:schemeClr val="bg1"/>
                  </a:solidFill>
                  <a:latin typeface="+mj-lt"/>
                  <a:cs typeface="Arial"/>
                </a:rPr>
                <a:t>  June 2026–9</a:t>
              </a:r>
              <a:r>
                <a:rPr lang="en-GB" sz="1600" b="1" kern="0" baseline="30000">
                  <a:solidFill>
                    <a:schemeClr val="bg1"/>
                  </a:solidFill>
                  <a:latin typeface="+mj-lt"/>
                  <a:cs typeface="Arial"/>
                </a:rPr>
                <a:t>th</a:t>
              </a:r>
              <a:r>
                <a:rPr lang="en-GB" sz="1600" b="1" kern="0">
                  <a:solidFill>
                    <a:schemeClr val="bg1"/>
                  </a:solidFill>
                  <a:latin typeface="+mj-lt"/>
                  <a:cs typeface="Arial"/>
                </a:rPr>
                <a:t> June 2026</a:t>
              </a:r>
              <a:endParaRPr lang="en-GB" sz="1600" b="1" kern="0" baseline="30000">
                <a:solidFill>
                  <a:schemeClr val="bg1"/>
                </a:solidFill>
                <a:latin typeface="+mj-lt"/>
                <a:ea typeface="Calibri"/>
                <a:cs typeface="Arial"/>
              </a:endParaRPr>
            </a:p>
          </p:txBody>
        </p:sp>
        <p:sp>
          <p:nvSpPr>
            <p:cNvPr id="16" name="Rectangle 15">
              <a:extLst>
                <a:ext uri="{FF2B5EF4-FFF2-40B4-BE49-F238E27FC236}">
                  <a16:creationId xmlns:a16="http://schemas.microsoft.com/office/drawing/2014/main" id="{C332AE40-34C7-AD96-0A43-C429CD7E27B7}"/>
                </a:ext>
              </a:extLst>
            </p:cNvPr>
            <p:cNvSpPr/>
            <p:nvPr/>
          </p:nvSpPr>
          <p:spPr bwMode="auto">
            <a:xfrm>
              <a:off x="570971" y="1682431"/>
              <a:ext cx="1440000" cy="238706"/>
            </a:xfrm>
            <a:prstGeom prst="rect">
              <a:avLst/>
            </a:prstGeom>
            <a:grp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defTabSz="1564584" eaLnBrk="1" fontAlgn="auto" latinLnBrk="0" hangingPunct="1">
                <a:lnSpc>
                  <a:spcPct val="100000"/>
                </a:lnSpc>
                <a:spcBef>
                  <a:spcPts val="0"/>
                </a:spcBef>
                <a:spcAft>
                  <a:spcPts val="0"/>
                </a:spcAft>
                <a:buClrTx/>
                <a:buSzTx/>
                <a:buFontTx/>
                <a:buNone/>
                <a:tabLst/>
                <a:defRPr/>
              </a:pPr>
              <a:r>
                <a:rPr lang="en-GB" sz="1500" b="1" kern="0">
                  <a:solidFill>
                    <a:schemeClr val="bg1"/>
                  </a:solidFill>
                  <a:latin typeface="+mj-lt"/>
                  <a:cs typeface="Arial"/>
                </a:rPr>
                <a:t>Business</a:t>
              </a:r>
              <a:r>
                <a:rPr kumimoji="0" lang="en-GB" sz="1500" b="1" i="0" u="none" strike="noStrike" kern="0" cap="none" spc="0" normalizeH="0" baseline="0" noProof="0">
                  <a:ln>
                    <a:noFill/>
                  </a:ln>
                  <a:solidFill>
                    <a:schemeClr val="bg1"/>
                  </a:solidFill>
                  <a:effectLst/>
                  <a:uLnTx/>
                  <a:uFillTx/>
                  <a:latin typeface="+mj-lt"/>
                  <a:cs typeface="Arial"/>
                </a:rPr>
                <a:t> Owner</a:t>
              </a:r>
              <a:endParaRPr lang="en-GB" sz="1500" b="1" i="0" u="none" strike="noStrike" kern="0" cap="none" spc="0" normalizeH="0" baseline="0" noProof="0">
                <a:ln>
                  <a:noFill/>
                </a:ln>
                <a:solidFill>
                  <a:schemeClr val="bg1"/>
                </a:solidFill>
                <a:effectLst/>
                <a:uLnTx/>
                <a:uFillTx/>
                <a:latin typeface="+mj-lt"/>
                <a:ea typeface="Calibri"/>
                <a:cs typeface="Arial"/>
              </a:endParaRPr>
            </a:p>
          </p:txBody>
        </p:sp>
        <p:sp>
          <p:nvSpPr>
            <p:cNvPr id="17" name="Rectangle 16">
              <a:extLst>
                <a:ext uri="{FF2B5EF4-FFF2-40B4-BE49-F238E27FC236}">
                  <a16:creationId xmlns:a16="http://schemas.microsoft.com/office/drawing/2014/main" id="{828D7B40-E87D-231A-024A-8A59F00874EB}"/>
                </a:ext>
              </a:extLst>
            </p:cNvPr>
            <p:cNvSpPr/>
            <p:nvPr/>
          </p:nvSpPr>
          <p:spPr bwMode="auto">
            <a:xfrm>
              <a:off x="2130820" y="1682431"/>
              <a:ext cx="1798212" cy="214907"/>
            </a:xfrm>
            <a:prstGeom prst="rect">
              <a:avLst/>
            </a:prstGeom>
            <a:grp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US" sz="1500" b="1" kern="0">
                  <a:solidFill>
                    <a:schemeClr val="bg1"/>
                  </a:solidFill>
                  <a:latin typeface="+mj-lt"/>
                  <a:cs typeface="Arial"/>
                </a:rPr>
                <a:t>Hazem Al-Tamimi</a:t>
              </a:r>
              <a:endParaRPr lang="en-GB" sz="1500" b="1" kern="0">
                <a:solidFill>
                  <a:schemeClr val="bg1"/>
                </a:solidFill>
                <a:latin typeface="+mj-lt"/>
                <a:cs typeface="Arial"/>
              </a:endParaRPr>
            </a:p>
          </p:txBody>
        </p:sp>
        <p:sp>
          <p:nvSpPr>
            <p:cNvPr id="18" name="Rectangle 17">
              <a:extLst>
                <a:ext uri="{FF2B5EF4-FFF2-40B4-BE49-F238E27FC236}">
                  <a16:creationId xmlns:a16="http://schemas.microsoft.com/office/drawing/2014/main" id="{62828A1A-4AAD-7043-F75A-A61CC86C8CEF}"/>
                </a:ext>
              </a:extLst>
            </p:cNvPr>
            <p:cNvSpPr/>
            <p:nvPr/>
          </p:nvSpPr>
          <p:spPr bwMode="auto">
            <a:xfrm>
              <a:off x="567987" y="1944101"/>
              <a:ext cx="1440000" cy="256198"/>
            </a:xfrm>
            <a:prstGeom prst="rect">
              <a:avLst/>
            </a:prstGeom>
            <a:grp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a:rPr>
                <a:t>Project Manager</a:t>
              </a:r>
              <a:endParaRPr lang="en-GB" sz="1500" b="1" i="0" u="none" strike="noStrike" kern="0" cap="none" spc="0" normalizeH="0" baseline="0" noProof="0">
                <a:ln>
                  <a:noFill/>
                </a:ln>
                <a:solidFill>
                  <a:schemeClr val="bg1"/>
                </a:solidFill>
                <a:effectLst/>
                <a:uLnTx/>
                <a:uFillTx/>
                <a:latin typeface="+mj-lt"/>
                <a:ea typeface="Calibri"/>
                <a:cs typeface="Arial"/>
              </a:endParaRPr>
            </a:p>
          </p:txBody>
        </p:sp>
        <p:sp>
          <p:nvSpPr>
            <p:cNvPr id="19" name="Rectangle 18">
              <a:extLst>
                <a:ext uri="{FF2B5EF4-FFF2-40B4-BE49-F238E27FC236}">
                  <a16:creationId xmlns:a16="http://schemas.microsoft.com/office/drawing/2014/main" id="{F2094858-EAF1-B6E3-017E-59E2E1DBCBD8}"/>
                </a:ext>
              </a:extLst>
            </p:cNvPr>
            <p:cNvSpPr/>
            <p:nvPr/>
          </p:nvSpPr>
          <p:spPr bwMode="auto">
            <a:xfrm>
              <a:off x="2127836" y="1944101"/>
              <a:ext cx="1800000" cy="256198"/>
            </a:xfrm>
            <a:prstGeom prst="rect">
              <a:avLst/>
            </a:prstGeom>
            <a:grp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GB" sz="1500" b="1" kern="0">
                  <a:solidFill>
                    <a:schemeClr val="bg1"/>
                  </a:solidFill>
                  <a:latin typeface="+mj-lt"/>
                  <a:cs typeface="Arial"/>
                </a:rPr>
                <a:t>Ezzat </a:t>
              </a:r>
              <a:r>
                <a:rPr lang="en-GB" sz="1500" b="1" kern="0" err="1">
                  <a:solidFill>
                    <a:schemeClr val="bg1"/>
                  </a:solidFill>
                  <a:latin typeface="+mj-lt"/>
                  <a:cs typeface="Arial"/>
                </a:rPr>
                <a:t>Zalzala</a:t>
              </a:r>
              <a:endParaRPr lang="en-GB" sz="1500" b="1" kern="0" err="1">
                <a:solidFill>
                  <a:schemeClr val="bg1"/>
                </a:solidFill>
                <a:latin typeface="+mj-lt"/>
                <a:ea typeface="Calibri"/>
                <a:cs typeface="Arial"/>
              </a:endParaRPr>
            </a:p>
          </p:txBody>
        </p:sp>
      </p:grpSp>
      <p:grpSp>
        <p:nvGrpSpPr>
          <p:cNvPr id="20" name="Group 19">
            <a:extLst>
              <a:ext uri="{FF2B5EF4-FFF2-40B4-BE49-F238E27FC236}">
                <a16:creationId xmlns:a16="http://schemas.microsoft.com/office/drawing/2014/main" id="{3FEE7706-69BF-AEB9-C297-EC052D408635}"/>
              </a:ext>
            </a:extLst>
          </p:cNvPr>
          <p:cNvGrpSpPr/>
          <p:nvPr/>
        </p:nvGrpSpPr>
        <p:grpSpPr>
          <a:xfrm>
            <a:off x="776756" y="4404329"/>
            <a:ext cx="16608382" cy="2069896"/>
            <a:chOff x="548720" y="2210543"/>
            <a:chExt cx="8454325" cy="1404568"/>
          </a:xfrm>
        </p:grpSpPr>
        <p:sp>
          <p:nvSpPr>
            <p:cNvPr id="21" name="Rectangle 20">
              <a:extLst>
                <a:ext uri="{FF2B5EF4-FFF2-40B4-BE49-F238E27FC236}">
                  <a16:creationId xmlns:a16="http://schemas.microsoft.com/office/drawing/2014/main" id="{40BEDDC8-21E0-611B-B1E3-09C4DDE66CDC}"/>
                </a:ext>
              </a:extLst>
            </p:cNvPr>
            <p:cNvSpPr/>
            <p:nvPr/>
          </p:nvSpPr>
          <p:spPr bwMode="auto">
            <a:xfrm>
              <a:off x="554704" y="2954084"/>
              <a:ext cx="8425558" cy="277524"/>
            </a:xfrm>
            <a:prstGeom prst="rect">
              <a:avLst/>
            </a:prstGeom>
            <a:solidFill>
              <a:srgbClr val="002060"/>
            </a:solid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GB" sz="1650" b="1" kern="0">
                  <a:solidFill>
                    <a:schemeClr val="bg1"/>
                  </a:solidFill>
                  <a:latin typeface="+mj-lt"/>
                  <a:cs typeface="Arial" panose="020B0604020202020204" pitchFamily="34" charset="0"/>
                </a:rPr>
                <a:t>Key Risks, Issues, &amp; Decisions </a:t>
              </a:r>
            </a:p>
          </p:txBody>
        </p:sp>
        <p:sp>
          <p:nvSpPr>
            <p:cNvPr id="22" name="Rectangle 21">
              <a:extLst>
                <a:ext uri="{FF2B5EF4-FFF2-40B4-BE49-F238E27FC236}">
                  <a16:creationId xmlns:a16="http://schemas.microsoft.com/office/drawing/2014/main" id="{F48759DA-7C06-6A6F-0DB1-09D3024D3B8D}"/>
                </a:ext>
              </a:extLst>
            </p:cNvPr>
            <p:cNvSpPr/>
            <p:nvPr/>
          </p:nvSpPr>
          <p:spPr bwMode="gray">
            <a:xfrm>
              <a:off x="554704" y="2249977"/>
              <a:ext cx="8448341" cy="1263745"/>
            </a:xfrm>
            <a:prstGeom prst="rect">
              <a:avLst/>
            </a:prstGeom>
            <a:solidFill>
              <a:schemeClr val="bg1">
                <a:lumMod val="95000"/>
              </a:schemeClr>
            </a:solidFill>
            <a:ln w="19050" algn="ctr">
              <a:no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IN"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3" name="Rectangle 22">
              <a:extLst>
                <a:ext uri="{FF2B5EF4-FFF2-40B4-BE49-F238E27FC236}">
                  <a16:creationId xmlns:a16="http://schemas.microsoft.com/office/drawing/2014/main" id="{1215F906-3DCC-8F89-E714-DEA02CF77022}"/>
                </a:ext>
              </a:extLst>
            </p:cNvPr>
            <p:cNvSpPr/>
            <p:nvPr/>
          </p:nvSpPr>
          <p:spPr bwMode="gray">
            <a:xfrm>
              <a:off x="548720" y="2210543"/>
              <a:ext cx="4973060" cy="1360201"/>
            </a:xfrm>
            <a:prstGeom prst="rect">
              <a:avLst/>
            </a:prstGeom>
            <a:solidFill>
              <a:srgbClr val="00B0F0">
                <a:alpha val="13000"/>
              </a:srgbClr>
            </a:solidFill>
            <a:ln w="19050" algn="ctr">
              <a:no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24" name="Straight Connector 23">
              <a:extLst>
                <a:ext uri="{FF2B5EF4-FFF2-40B4-BE49-F238E27FC236}">
                  <a16:creationId xmlns:a16="http://schemas.microsoft.com/office/drawing/2014/main" id="{5AF701FD-DBB5-8A26-61E8-FC312899674F}"/>
                </a:ext>
              </a:extLst>
            </p:cNvPr>
            <p:cNvCxnSpPr>
              <a:cxnSpLocks/>
            </p:cNvCxnSpPr>
            <p:nvPr/>
          </p:nvCxnSpPr>
          <p:spPr>
            <a:xfrm>
              <a:off x="1435071" y="2975869"/>
              <a:ext cx="7541790" cy="10557"/>
            </a:xfrm>
            <a:prstGeom prst="line">
              <a:avLst/>
            </a:prstGeom>
            <a:ln w="22225">
              <a:solidFill>
                <a:schemeClr val="tx1">
                  <a:lumMod val="75000"/>
                  <a:lumOff val="2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035D7E8B-25D0-26E7-FF46-4CE738391C32}"/>
                </a:ext>
              </a:extLst>
            </p:cNvPr>
            <p:cNvSpPr txBox="1"/>
            <p:nvPr/>
          </p:nvSpPr>
          <p:spPr>
            <a:xfrm>
              <a:off x="2115076" y="2375388"/>
              <a:ext cx="1880565" cy="676623"/>
            </a:xfrm>
            <a:prstGeom prst="rect">
              <a:avLst/>
            </a:prstGeom>
            <a:noFill/>
          </p:spPr>
          <p:txBody>
            <a:bodyPr wrap="square" lIns="0" tIns="45720" rIns="0" bIns="4572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defRPr/>
              </a:pPr>
              <a:r>
                <a:rPr kumimoji="0" lang="en-GB" altLang="ko-KR" sz="1550" b="1" i="0" u="none" strike="noStrike" kern="1200" cap="none" spc="0" normalizeH="0" baseline="0" noProof="0">
                  <a:ln>
                    <a:noFill/>
                  </a:ln>
                  <a:solidFill>
                    <a:prstClr val="black"/>
                  </a:solidFill>
                  <a:effectLst/>
                  <a:uLnTx/>
                  <a:uFillTx/>
                  <a:latin typeface="Arial"/>
                  <a:ea typeface="맑은 고딕"/>
                  <a:cs typeface="Arial"/>
                </a:rPr>
                <a:t>Business Requirements</a:t>
              </a:r>
              <a:endParaRPr lang="ko-KR" altLang="en-US" sz="1550">
                <a:solidFill>
                  <a:prstClr val="black"/>
                </a:solidFill>
                <a:latin typeface="Arial"/>
                <a:ea typeface="맑은 고딕"/>
                <a:cs typeface="Arial"/>
              </a:endParaRPr>
            </a:p>
            <a:p>
              <a:pPr algn="ctr">
                <a:defRPr/>
              </a:pPr>
              <a:r>
                <a:rPr lang="en-GB" altLang="ko-KR" sz="1550" b="1">
                  <a:solidFill>
                    <a:prstClr val="black"/>
                  </a:solidFill>
                  <a:latin typeface="Arial"/>
                  <a:ea typeface="맑은 고딕"/>
                  <a:cs typeface="Arial"/>
                </a:rPr>
                <a:t> </a:t>
              </a:r>
              <a:r>
                <a:rPr kumimoji="0" lang="en-GB" altLang="ko-KR" sz="1550" b="1" i="0" u="none" strike="noStrike" kern="1200" cap="none" spc="0" normalizeH="0" baseline="0" noProof="0">
                  <a:ln>
                    <a:noFill/>
                  </a:ln>
                  <a:solidFill>
                    <a:prstClr val="black"/>
                  </a:solidFill>
                  <a:effectLst/>
                  <a:uLnTx/>
                  <a:uFillTx/>
                  <a:latin typeface="Arial"/>
                  <a:ea typeface="맑은 고딕"/>
                  <a:cs typeface="Arial"/>
                </a:rPr>
                <a:t>Collection</a:t>
              </a:r>
              <a:endParaRPr lang="ko-KR" altLang="en-US" sz="1550" b="0" i="0" u="none" strike="noStrike" kern="1200" cap="none" spc="0" normalizeH="0" baseline="0" noProof="0">
                <a:ln>
                  <a:noFill/>
                </a:ln>
                <a:solidFill>
                  <a:prstClr val="black"/>
                </a:solidFill>
                <a:effectLst/>
                <a:uLnTx/>
                <a:uFillTx/>
                <a:latin typeface="Arial"/>
                <a:ea typeface="맑은 고딕"/>
                <a:cs typeface="Arial"/>
              </a:endParaRPr>
            </a:p>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altLang="ko-KR" sz="1575"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7" name="TextBox 26">
              <a:extLst>
                <a:ext uri="{FF2B5EF4-FFF2-40B4-BE49-F238E27FC236}">
                  <a16:creationId xmlns:a16="http://schemas.microsoft.com/office/drawing/2014/main" id="{293CCC86-9D0A-C508-7DA7-CF1BE5F64CF1}"/>
                </a:ext>
              </a:extLst>
            </p:cNvPr>
            <p:cNvSpPr txBox="1"/>
            <p:nvPr/>
          </p:nvSpPr>
          <p:spPr>
            <a:xfrm>
              <a:off x="888637" y="2379772"/>
              <a:ext cx="1461722" cy="474598"/>
            </a:xfrm>
            <a:prstGeom prst="rect">
              <a:avLst/>
            </a:prstGeom>
            <a:noFill/>
          </p:spPr>
          <p:txBody>
            <a:bodyPr wrap="square" lIns="0" tIns="45720" rIns="0" bIns="4572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defRPr/>
              </a:pPr>
              <a:r>
                <a:rPr lang="en-US" altLang="ko-KR" sz="1550" b="1">
                  <a:solidFill>
                    <a:prstClr val="black"/>
                  </a:solidFill>
                  <a:latin typeface="Arial"/>
                  <a:ea typeface="맑은 고딕"/>
                  <a:cs typeface="Arial"/>
                </a:rPr>
                <a:t>Collect &amp; Review current </a:t>
              </a:r>
              <a:endParaRPr lang="ko-KR" altLang="en-US" sz="1550">
                <a:solidFill>
                  <a:prstClr val="black"/>
                </a:solidFill>
                <a:latin typeface="Arial"/>
                <a:ea typeface="맑은 고딕"/>
                <a:cs typeface="Arial"/>
              </a:endParaRPr>
            </a:p>
            <a:p>
              <a:pPr marL="0" marR="0" lvl="0" indent="0" algn="ctr" defTabSz="1371600">
                <a:lnSpc>
                  <a:spcPct val="100000"/>
                </a:lnSpc>
                <a:spcBef>
                  <a:spcPts val="0"/>
                </a:spcBef>
                <a:spcAft>
                  <a:spcPts val="0"/>
                </a:spcAft>
                <a:buClrTx/>
                <a:buSzTx/>
                <a:buFontTx/>
                <a:buNone/>
                <a:tabLst/>
                <a:defRPr/>
              </a:pPr>
              <a:r>
                <a:rPr lang="en-US" altLang="ko-KR" sz="1550" b="1">
                  <a:solidFill>
                    <a:prstClr val="black"/>
                  </a:solidFill>
                  <a:latin typeface="Arial"/>
                  <a:ea typeface="맑은 고딕"/>
                  <a:cs typeface="Arial"/>
                </a:rPr>
                <a:t>processes</a:t>
              </a:r>
              <a:endParaRPr lang="ko-KR" altLang="en-US" sz="1550" b="0" i="0" u="none" strike="noStrike" kern="1200" cap="none" spc="0" normalizeH="0" baseline="0" noProof="0">
                <a:ln>
                  <a:noFill/>
                </a:ln>
                <a:solidFill>
                  <a:prstClr val="black"/>
                </a:solidFill>
                <a:effectLst/>
                <a:uLnTx/>
                <a:uFillTx/>
                <a:latin typeface="Arial"/>
                <a:ea typeface="맑은 고딕"/>
                <a:cs typeface="Arial"/>
              </a:endParaRPr>
            </a:p>
          </p:txBody>
        </p:sp>
        <p:sp>
          <p:nvSpPr>
            <p:cNvPr id="31" name="TextBox 30">
              <a:extLst>
                <a:ext uri="{FF2B5EF4-FFF2-40B4-BE49-F238E27FC236}">
                  <a16:creationId xmlns:a16="http://schemas.microsoft.com/office/drawing/2014/main" id="{46597570-400A-B169-AC27-F8018D860F28}"/>
                </a:ext>
              </a:extLst>
            </p:cNvPr>
            <p:cNvSpPr txBox="1"/>
            <p:nvPr/>
          </p:nvSpPr>
          <p:spPr>
            <a:xfrm>
              <a:off x="1057493" y="3301839"/>
              <a:ext cx="1096955" cy="313272"/>
            </a:xfrm>
            <a:prstGeom prst="rect">
              <a:avLst/>
            </a:prstGeom>
            <a:noFill/>
          </p:spPr>
          <p:txBody>
            <a:bodyPr wrap="square" lIns="0" tIns="0" rIns="0" bIns="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defRPr/>
              </a:pPr>
              <a:r>
                <a:rPr kumimoji="0" lang="en-US" altLang="ko-KR" sz="1500" b="1" i="0" u="none" strike="sngStrike" kern="1200" cap="none" spc="0" normalizeH="0" baseline="0" noProof="0">
                  <a:ln>
                    <a:noFill/>
                  </a:ln>
                  <a:solidFill>
                    <a:prstClr val="black"/>
                  </a:solidFill>
                  <a:effectLst/>
                  <a:uLnTx/>
                  <a:uFillTx/>
                  <a:latin typeface="Arial"/>
                  <a:ea typeface="맑은 고딕"/>
                  <a:cs typeface="Arial"/>
                </a:rPr>
                <a:t>September</a:t>
              </a:r>
              <a:r>
                <a:rPr lang="en-US" altLang="ko-KR" sz="1500" b="1">
                  <a:solidFill>
                    <a:prstClr val="black"/>
                  </a:solidFill>
                  <a:latin typeface="Arial"/>
                  <a:ea typeface="맑은 고딕"/>
                  <a:cs typeface="Arial"/>
                </a:rPr>
                <a:t>, October (2025)</a:t>
              </a:r>
              <a:endParaRPr kumimoji="0" lang="ko-KR" altLang="en-US" sz="15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pic>
        <p:nvPicPr>
          <p:cNvPr id="53" name="Picture 52">
            <a:extLst>
              <a:ext uri="{FF2B5EF4-FFF2-40B4-BE49-F238E27FC236}">
                <a16:creationId xmlns:a16="http://schemas.microsoft.com/office/drawing/2014/main" id="{ED6CC41A-47E6-5C4D-7A32-3E54BE11AD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19415" y="60344"/>
            <a:ext cx="2308638" cy="1251719"/>
          </a:xfrm>
          <a:prstGeom prst="rect">
            <a:avLst/>
          </a:prstGeom>
        </p:spPr>
      </p:pic>
      <p:sp>
        <p:nvSpPr>
          <p:cNvPr id="77" name="TextBox 76">
            <a:extLst>
              <a:ext uri="{FF2B5EF4-FFF2-40B4-BE49-F238E27FC236}">
                <a16:creationId xmlns:a16="http://schemas.microsoft.com/office/drawing/2014/main" id="{4318D197-5967-977E-40D9-93732156D740}"/>
              </a:ext>
            </a:extLst>
          </p:cNvPr>
          <p:cNvSpPr txBox="1"/>
          <p:nvPr/>
        </p:nvSpPr>
        <p:spPr>
          <a:xfrm>
            <a:off x="6931564" y="4618400"/>
            <a:ext cx="3604247" cy="334707"/>
          </a:xfrm>
          <a:prstGeom prst="rect">
            <a:avLst/>
          </a:prstGeom>
          <a:noFill/>
        </p:spPr>
        <p:txBody>
          <a:bodyPr wrap="square" lIns="0" r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lang="en-US" altLang="ko-KR" sz="1575" b="1">
                <a:solidFill>
                  <a:prstClr val="black"/>
                </a:solidFill>
                <a:latin typeface="Arial" panose="020B0604020202020204" pitchFamily="34" charset="0"/>
                <a:cs typeface="Arial" panose="020B0604020202020204" pitchFamily="34" charset="0"/>
              </a:rPr>
              <a:t>Development</a:t>
            </a:r>
            <a:endParaRPr kumimoji="0" lang="en-US" altLang="ko-KR" sz="1575"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 name="TextBox 1">
            <a:extLst>
              <a:ext uri="{FF2B5EF4-FFF2-40B4-BE49-F238E27FC236}">
                <a16:creationId xmlns:a16="http://schemas.microsoft.com/office/drawing/2014/main" id="{2399786E-DC95-3567-DFF3-FF657B4B8C13}"/>
              </a:ext>
            </a:extLst>
          </p:cNvPr>
          <p:cNvSpPr txBox="1"/>
          <p:nvPr/>
        </p:nvSpPr>
        <p:spPr>
          <a:xfrm>
            <a:off x="4328485" y="5956588"/>
            <a:ext cx="2848372" cy="923330"/>
          </a:xfrm>
          <a:prstGeom prst="rect">
            <a:avLst/>
          </a:prstGeom>
          <a:noFill/>
        </p:spPr>
        <p:txBody>
          <a:bodyPr wrap="square" lIns="0" tIns="0" rIns="0" bIns="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defRPr/>
            </a:pPr>
            <a:r>
              <a:rPr lang="en-GB" sz="1400" b="1" strike="sngStrike">
                <a:solidFill>
                  <a:prstClr val="black"/>
                </a:solidFill>
                <a:latin typeface="Arial"/>
                <a:ea typeface="맑은 고딕"/>
                <a:cs typeface="Arial"/>
              </a:rPr>
              <a:t>November, December (2025),</a:t>
            </a:r>
            <a:endParaRPr lang="en-US" b="1">
              <a:solidFill>
                <a:prstClr val="black"/>
              </a:solidFill>
              <a:ea typeface="Calibri"/>
              <a:cs typeface="Calibri"/>
            </a:endParaRPr>
          </a:p>
          <a:p>
            <a:pPr algn="ctr">
              <a:defRPr/>
            </a:pPr>
            <a:r>
              <a:rPr lang="en-GB" sz="1400" b="1" strike="sngStrike">
                <a:solidFill>
                  <a:prstClr val="black"/>
                </a:solidFill>
                <a:latin typeface="Arial"/>
                <a:ea typeface="맑은 고딕"/>
                <a:cs typeface="Arial"/>
              </a:rPr>
              <a:t>January, </a:t>
            </a:r>
            <a:r>
              <a:rPr lang="en-GB" sz="1500" b="1" strike="sngStrike">
                <a:solidFill>
                  <a:prstClr val="black"/>
                </a:solidFill>
                <a:latin typeface="Arial"/>
                <a:ea typeface="맑은 고딕"/>
                <a:cs typeface="Arial"/>
              </a:rPr>
              <a:t>March</a:t>
            </a:r>
            <a:r>
              <a:rPr lang="en-GB" sz="1500" b="1">
                <a:solidFill>
                  <a:prstClr val="black"/>
                </a:solidFill>
                <a:latin typeface="Arial"/>
                <a:ea typeface="맑은 고딕"/>
                <a:cs typeface="Arial"/>
              </a:rPr>
              <a:t>, April (2026)</a:t>
            </a:r>
            <a:endParaRPr lang="en-GB" sz="1500">
              <a:solidFill>
                <a:prstClr val="black"/>
              </a:solidFill>
              <a:latin typeface="Arial"/>
              <a:ea typeface="맑은 고딕"/>
              <a:cs typeface="Arial"/>
            </a:endParaRPr>
          </a:p>
          <a:p>
            <a:pPr algn="ctr">
              <a:defRPr/>
            </a:pPr>
            <a:endParaRPr lang="en-GB" sz="1400" b="1" strike="sngStrike">
              <a:solidFill>
                <a:prstClr val="black"/>
              </a:solidFill>
              <a:latin typeface="Arial"/>
              <a:ea typeface="맑은 고딕"/>
              <a:cs typeface="Arial"/>
            </a:endParaRPr>
          </a:p>
          <a:p>
            <a:pPr algn="ctr">
              <a:defRPr/>
            </a:pPr>
            <a:endParaRPr lang="en-GB" sz="1700" b="1" strike="sngStrike">
              <a:solidFill>
                <a:prstClr val="black"/>
              </a:solidFill>
              <a:latin typeface="Arial"/>
              <a:ea typeface="맑은 고딕"/>
              <a:cs typeface="Arial"/>
            </a:endParaRPr>
          </a:p>
        </p:txBody>
      </p:sp>
      <p:sp>
        <p:nvSpPr>
          <p:cNvPr id="56" name="TextBox 55">
            <a:extLst>
              <a:ext uri="{FF2B5EF4-FFF2-40B4-BE49-F238E27FC236}">
                <a16:creationId xmlns:a16="http://schemas.microsoft.com/office/drawing/2014/main" id="{D5E75186-277F-1D68-6A98-CEB4DBFE2195}"/>
              </a:ext>
            </a:extLst>
          </p:cNvPr>
          <p:cNvSpPr txBox="1"/>
          <p:nvPr/>
        </p:nvSpPr>
        <p:spPr>
          <a:xfrm>
            <a:off x="11625326" y="4569828"/>
            <a:ext cx="4746297" cy="334707"/>
          </a:xfrm>
          <a:prstGeom prst="rect">
            <a:avLst/>
          </a:prstGeom>
          <a:noFill/>
        </p:spPr>
        <p:txBody>
          <a:bodyPr wrap="square" lIns="0" r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lang="en-US" altLang="ko-KR" sz="1575" b="1">
                <a:solidFill>
                  <a:prstClr val="black"/>
                </a:solidFill>
                <a:latin typeface="Arial" panose="020B0604020202020204" pitchFamily="34" charset="0"/>
                <a:cs typeface="Arial" panose="020B0604020202020204" pitchFamily="34" charset="0"/>
              </a:rPr>
              <a:t>Go- Live</a:t>
            </a:r>
            <a:endParaRPr kumimoji="0" lang="en-US" altLang="ko-KR" sz="1575"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0" name="Rectangle 29">
            <a:extLst>
              <a:ext uri="{FF2B5EF4-FFF2-40B4-BE49-F238E27FC236}">
                <a16:creationId xmlns:a16="http://schemas.microsoft.com/office/drawing/2014/main" id="{B0C91C1F-DD81-9340-1A91-938BAC697108}"/>
              </a:ext>
            </a:extLst>
          </p:cNvPr>
          <p:cNvSpPr/>
          <p:nvPr/>
        </p:nvSpPr>
        <p:spPr bwMode="auto">
          <a:xfrm>
            <a:off x="15847604" y="2530028"/>
            <a:ext cx="1574978" cy="533700"/>
          </a:xfrm>
          <a:prstGeom prst="rect">
            <a:avLst/>
          </a:prstGeom>
          <a:solidFill>
            <a:srgbClr val="E2F0D9"/>
          </a:solidFill>
          <a:ln w="9525" cap="flat" cmpd="sng" algn="ctr">
            <a:solidFill>
              <a:srgbClr val="FFCCCC"/>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defTabSz="1564584">
              <a:defRPr/>
            </a:pPr>
            <a:r>
              <a:rPr lang="en-US" sz="1500" b="1" kern="0">
                <a:solidFill>
                  <a:prstClr val="black"/>
                </a:solidFill>
                <a:latin typeface="+mj-lt"/>
                <a:cs typeface="Arial" panose="020B0604020202020204" pitchFamily="34" charset="0"/>
              </a:rPr>
              <a:t>On Track</a:t>
            </a:r>
            <a:endParaRPr lang="en-GB" sz="1500" b="1" kern="0">
              <a:solidFill>
                <a:prstClr val="black"/>
              </a:solidFill>
              <a:latin typeface="+mj-lt"/>
              <a:cs typeface="Arial" panose="020B0604020202020204" pitchFamily="34" charset="0"/>
            </a:endParaRPr>
          </a:p>
        </p:txBody>
      </p:sp>
      <p:grpSp>
        <p:nvGrpSpPr>
          <p:cNvPr id="29" name="Group 28">
            <a:extLst>
              <a:ext uri="{FF2B5EF4-FFF2-40B4-BE49-F238E27FC236}">
                <a16:creationId xmlns:a16="http://schemas.microsoft.com/office/drawing/2014/main" id="{1A5A077E-42AB-DE4F-E3D6-843DD0635F88}"/>
              </a:ext>
            </a:extLst>
          </p:cNvPr>
          <p:cNvGrpSpPr/>
          <p:nvPr/>
        </p:nvGrpSpPr>
        <p:grpSpPr>
          <a:xfrm>
            <a:off x="10084712" y="9781211"/>
            <a:ext cx="10480263" cy="505790"/>
            <a:chOff x="6061823" y="6443049"/>
            <a:chExt cx="6986842" cy="357913"/>
          </a:xfrm>
        </p:grpSpPr>
        <p:grpSp>
          <p:nvGrpSpPr>
            <p:cNvPr id="52" name="Group 51">
              <a:extLst>
                <a:ext uri="{FF2B5EF4-FFF2-40B4-BE49-F238E27FC236}">
                  <a16:creationId xmlns:a16="http://schemas.microsoft.com/office/drawing/2014/main" id="{1D8502C5-3E78-F588-1BCA-4D23A981F6F3}"/>
                </a:ext>
              </a:extLst>
            </p:cNvPr>
            <p:cNvGrpSpPr/>
            <p:nvPr/>
          </p:nvGrpSpPr>
          <p:grpSpPr>
            <a:xfrm>
              <a:off x="6061823" y="6443049"/>
              <a:ext cx="6986842" cy="357913"/>
              <a:chOff x="6071588" y="6485413"/>
              <a:chExt cx="6986842" cy="357913"/>
            </a:xfrm>
          </p:grpSpPr>
          <p:sp>
            <p:nvSpPr>
              <p:cNvPr id="62" name="Oval 61">
                <a:extLst>
                  <a:ext uri="{FF2B5EF4-FFF2-40B4-BE49-F238E27FC236}">
                    <a16:creationId xmlns:a16="http://schemas.microsoft.com/office/drawing/2014/main" id="{5440E574-D101-B186-1BCA-74D3D4F664F6}"/>
                  </a:ext>
                </a:extLst>
              </p:cNvPr>
              <p:cNvSpPr/>
              <p:nvPr/>
            </p:nvSpPr>
            <p:spPr>
              <a:xfrm>
                <a:off x="6950322" y="6494495"/>
                <a:ext cx="133346" cy="126401"/>
              </a:xfrm>
              <a:prstGeom prst="ellipse">
                <a:avLst/>
              </a:prstGeom>
              <a:solidFill>
                <a:srgbClr val="E2F0D9"/>
              </a:solidFill>
              <a:ln w="9525">
                <a:solidFill>
                  <a:srgbClr val="E2F0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63" name="Oval 62">
                <a:extLst>
                  <a:ext uri="{FF2B5EF4-FFF2-40B4-BE49-F238E27FC236}">
                    <a16:creationId xmlns:a16="http://schemas.microsoft.com/office/drawing/2014/main" id="{8F737FA3-D3AD-1A50-AEC3-37A7AD67F89B}"/>
                  </a:ext>
                </a:extLst>
              </p:cNvPr>
              <p:cNvSpPr/>
              <p:nvPr/>
            </p:nvSpPr>
            <p:spPr>
              <a:xfrm>
                <a:off x="7594167" y="6503611"/>
                <a:ext cx="135071" cy="126401"/>
              </a:xfrm>
              <a:prstGeom prst="ellipse">
                <a:avLst/>
              </a:prstGeom>
              <a:solidFill>
                <a:srgbClr val="FF0000"/>
              </a:solid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64" name="Oval 63">
                <a:extLst>
                  <a:ext uri="{FF2B5EF4-FFF2-40B4-BE49-F238E27FC236}">
                    <a16:creationId xmlns:a16="http://schemas.microsoft.com/office/drawing/2014/main" id="{4D24BBF3-B692-624C-756A-16073677B548}"/>
                  </a:ext>
                </a:extLst>
              </p:cNvPr>
              <p:cNvSpPr/>
              <p:nvPr/>
            </p:nvSpPr>
            <p:spPr>
              <a:xfrm>
                <a:off x="8149931" y="6505195"/>
                <a:ext cx="131200" cy="126401"/>
              </a:xfrm>
              <a:prstGeom prst="ellipse">
                <a:avLst/>
              </a:prstGeom>
              <a:solidFill>
                <a:srgbClr val="FFC000"/>
              </a:solidFill>
              <a:ln w="95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65" name="TextBox 64">
                <a:extLst>
                  <a:ext uri="{FF2B5EF4-FFF2-40B4-BE49-F238E27FC236}">
                    <a16:creationId xmlns:a16="http://schemas.microsoft.com/office/drawing/2014/main" id="{2DD86ED6-0633-76FB-298C-9D849DB1AA21}"/>
                  </a:ext>
                </a:extLst>
              </p:cNvPr>
              <p:cNvSpPr txBox="1"/>
              <p:nvPr/>
            </p:nvSpPr>
            <p:spPr>
              <a:xfrm>
                <a:off x="6734909" y="6611779"/>
                <a:ext cx="717687"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On track </a:t>
                </a:r>
              </a:p>
            </p:txBody>
          </p:sp>
          <p:sp>
            <p:nvSpPr>
              <p:cNvPr id="66" name="TextBox 65">
                <a:extLst>
                  <a:ext uri="{FF2B5EF4-FFF2-40B4-BE49-F238E27FC236}">
                    <a16:creationId xmlns:a16="http://schemas.microsoft.com/office/drawing/2014/main" id="{3889C028-D5F1-391A-23AE-03D4C5691B3C}"/>
                  </a:ext>
                </a:extLst>
              </p:cNvPr>
              <p:cNvSpPr txBox="1"/>
              <p:nvPr/>
            </p:nvSpPr>
            <p:spPr>
              <a:xfrm>
                <a:off x="7360310" y="6621931"/>
                <a:ext cx="664200"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Delayed</a:t>
                </a:r>
              </a:p>
            </p:txBody>
          </p:sp>
          <p:sp>
            <p:nvSpPr>
              <p:cNvPr id="67" name="TextBox 66">
                <a:extLst>
                  <a:ext uri="{FF2B5EF4-FFF2-40B4-BE49-F238E27FC236}">
                    <a16:creationId xmlns:a16="http://schemas.microsoft.com/office/drawing/2014/main" id="{C6F6E996-220D-FFFE-C98A-6909FA6348A7}"/>
                  </a:ext>
                </a:extLst>
              </p:cNvPr>
              <p:cNvSpPr txBox="1"/>
              <p:nvPr/>
            </p:nvSpPr>
            <p:spPr>
              <a:xfrm>
                <a:off x="7962993" y="6624764"/>
                <a:ext cx="664200"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At Risk</a:t>
                </a:r>
              </a:p>
            </p:txBody>
          </p:sp>
          <p:sp>
            <p:nvSpPr>
              <p:cNvPr id="68" name="TextBox 67">
                <a:extLst>
                  <a:ext uri="{FF2B5EF4-FFF2-40B4-BE49-F238E27FC236}">
                    <a16:creationId xmlns:a16="http://schemas.microsoft.com/office/drawing/2014/main" id="{C4F47EAE-63FF-2167-D2D0-85733E946FCE}"/>
                  </a:ext>
                </a:extLst>
              </p:cNvPr>
              <p:cNvSpPr txBox="1"/>
              <p:nvPr/>
            </p:nvSpPr>
            <p:spPr>
              <a:xfrm>
                <a:off x="9357110" y="6627882"/>
                <a:ext cx="970136"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Implemented</a:t>
                </a:r>
              </a:p>
            </p:txBody>
          </p:sp>
          <p:sp>
            <p:nvSpPr>
              <p:cNvPr id="69" name="Oval 68">
                <a:extLst>
                  <a:ext uri="{FF2B5EF4-FFF2-40B4-BE49-F238E27FC236}">
                    <a16:creationId xmlns:a16="http://schemas.microsoft.com/office/drawing/2014/main" id="{3C3CD4D9-71EC-3AD0-F87F-4B994267690C}"/>
                  </a:ext>
                </a:extLst>
              </p:cNvPr>
              <p:cNvSpPr/>
              <p:nvPr/>
            </p:nvSpPr>
            <p:spPr>
              <a:xfrm>
                <a:off x="10428038" y="6512756"/>
                <a:ext cx="137031" cy="126401"/>
              </a:xfrm>
              <a:prstGeom prst="ellipse">
                <a:avLst/>
              </a:prstGeom>
              <a:solidFill>
                <a:srgbClr val="00B0F0"/>
              </a:solid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43BC1426-43B0-02A8-A6A2-AB43A8F9400F}"/>
                  </a:ext>
                </a:extLst>
              </p:cNvPr>
              <p:cNvSpPr txBox="1"/>
              <p:nvPr/>
            </p:nvSpPr>
            <p:spPr>
              <a:xfrm>
                <a:off x="10194922" y="6621646"/>
                <a:ext cx="2311615"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US" sz="1200">
                    <a:latin typeface="Arial" panose="020B0604020202020204" pitchFamily="34" charset="0"/>
                    <a:cs typeface="Arial" panose="020B0604020202020204" pitchFamily="34" charset="0"/>
                  </a:rPr>
                  <a:t>On Hold</a:t>
                </a:r>
                <a:endParaRPr kumimoji="0" lang="en-US" sz="120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71" name="Oval 70">
                <a:extLst>
                  <a:ext uri="{FF2B5EF4-FFF2-40B4-BE49-F238E27FC236}">
                    <a16:creationId xmlns:a16="http://schemas.microsoft.com/office/drawing/2014/main" id="{214E2DFF-FF02-872A-CFB0-2F3DA789A7E4}"/>
                  </a:ext>
                </a:extLst>
              </p:cNvPr>
              <p:cNvSpPr/>
              <p:nvPr/>
            </p:nvSpPr>
            <p:spPr>
              <a:xfrm>
                <a:off x="11073431" y="6488248"/>
                <a:ext cx="137031" cy="126401"/>
              </a:xfrm>
              <a:prstGeom prst="ellipse">
                <a:avLst/>
              </a:prstGeom>
              <a:solidFill>
                <a:srgbClr val="FFFF00"/>
              </a:solidFill>
              <a:ln w="952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72" name="TextBox 71">
                <a:extLst>
                  <a:ext uri="{FF2B5EF4-FFF2-40B4-BE49-F238E27FC236}">
                    <a16:creationId xmlns:a16="http://schemas.microsoft.com/office/drawing/2014/main" id="{4525D051-1840-301B-8AD2-875C96FB8B4D}"/>
                  </a:ext>
                </a:extLst>
              </p:cNvPr>
              <p:cNvSpPr txBox="1"/>
              <p:nvPr/>
            </p:nvSpPr>
            <p:spPr>
              <a:xfrm>
                <a:off x="10746815" y="6611779"/>
                <a:ext cx="2311615"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Terminated</a:t>
                </a:r>
              </a:p>
            </p:txBody>
          </p:sp>
          <p:sp>
            <p:nvSpPr>
              <p:cNvPr id="76" name="Oval 75">
                <a:extLst>
                  <a:ext uri="{FF2B5EF4-FFF2-40B4-BE49-F238E27FC236}">
                    <a16:creationId xmlns:a16="http://schemas.microsoft.com/office/drawing/2014/main" id="{D15EB947-6347-B79B-3D1A-54254085C6F0}"/>
                  </a:ext>
                </a:extLst>
              </p:cNvPr>
              <p:cNvSpPr/>
              <p:nvPr/>
            </p:nvSpPr>
            <p:spPr>
              <a:xfrm>
                <a:off x="8836849" y="6505195"/>
                <a:ext cx="131200" cy="126401"/>
              </a:xfrm>
              <a:prstGeom prst="ellipse">
                <a:avLst/>
              </a:prstGeom>
              <a:solidFill>
                <a:srgbClr val="00B050"/>
              </a:solid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78" name="TextBox 77">
                <a:extLst>
                  <a:ext uri="{FF2B5EF4-FFF2-40B4-BE49-F238E27FC236}">
                    <a16:creationId xmlns:a16="http://schemas.microsoft.com/office/drawing/2014/main" id="{827F25FB-2EBE-5885-D8E5-15E21B5F5406}"/>
                  </a:ext>
                </a:extLst>
              </p:cNvPr>
              <p:cNvSpPr txBox="1"/>
              <p:nvPr/>
            </p:nvSpPr>
            <p:spPr>
              <a:xfrm>
                <a:off x="8555682" y="6620896"/>
                <a:ext cx="815094"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InProgress</a:t>
                </a:r>
              </a:p>
            </p:txBody>
          </p:sp>
          <p:sp>
            <p:nvSpPr>
              <p:cNvPr id="79" name="Oval 78">
                <a:extLst>
                  <a:ext uri="{FF2B5EF4-FFF2-40B4-BE49-F238E27FC236}">
                    <a16:creationId xmlns:a16="http://schemas.microsoft.com/office/drawing/2014/main" id="{21116351-9F7E-4551-81D6-B60B0D5930EC}"/>
                  </a:ext>
                </a:extLst>
              </p:cNvPr>
              <p:cNvSpPr/>
              <p:nvPr/>
            </p:nvSpPr>
            <p:spPr>
              <a:xfrm>
                <a:off x="6328246" y="6485413"/>
                <a:ext cx="133346" cy="126401"/>
              </a:xfrm>
              <a:prstGeom prst="ellipse">
                <a:avLst/>
              </a:prstGeom>
              <a:solidFill>
                <a:srgbClr val="BFBFBF"/>
              </a:solidFill>
              <a:ln w="9525">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80" name="TextBox 79">
                <a:extLst>
                  <a:ext uri="{FF2B5EF4-FFF2-40B4-BE49-F238E27FC236}">
                    <a16:creationId xmlns:a16="http://schemas.microsoft.com/office/drawing/2014/main" id="{DC911A4D-24D6-E474-4C9A-F42D425CA0B5}"/>
                  </a:ext>
                </a:extLst>
              </p:cNvPr>
              <p:cNvSpPr txBox="1"/>
              <p:nvPr/>
            </p:nvSpPr>
            <p:spPr>
              <a:xfrm>
                <a:off x="6071588" y="6601627"/>
                <a:ext cx="858416"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Not Started</a:t>
                </a:r>
              </a:p>
            </p:txBody>
          </p:sp>
        </p:grpSp>
        <p:sp>
          <p:nvSpPr>
            <p:cNvPr id="61" name="Oval 60">
              <a:extLst>
                <a:ext uri="{FF2B5EF4-FFF2-40B4-BE49-F238E27FC236}">
                  <a16:creationId xmlns:a16="http://schemas.microsoft.com/office/drawing/2014/main" id="{65EE7E67-318B-BFDE-FC7C-534F755E8B43}"/>
                </a:ext>
              </a:extLst>
            </p:cNvPr>
            <p:cNvSpPr/>
            <p:nvPr/>
          </p:nvSpPr>
          <p:spPr>
            <a:xfrm>
              <a:off x="9702904" y="6470392"/>
              <a:ext cx="131200" cy="126401"/>
            </a:xfrm>
            <a:prstGeom prst="ellipse">
              <a:avLst/>
            </a:prstGeom>
            <a:solidFill>
              <a:srgbClr val="003373"/>
            </a:solidFill>
            <a:ln w="9525">
              <a:solidFill>
                <a:srgbClr val="0033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grpSp>
      <p:sp>
        <p:nvSpPr>
          <p:cNvPr id="42" name="TextBox 41">
            <a:extLst>
              <a:ext uri="{FF2B5EF4-FFF2-40B4-BE49-F238E27FC236}">
                <a16:creationId xmlns:a16="http://schemas.microsoft.com/office/drawing/2014/main" id="{36339E06-71E7-3037-491B-9A4D0777FE61}"/>
              </a:ext>
            </a:extLst>
          </p:cNvPr>
          <p:cNvSpPr txBox="1"/>
          <p:nvPr/>
        </p:nvSpPr>
        <p:spPr>
          <a:xfrm>
            <a:off x="9330309" y="4561779"/>
            <a:ext cx="4127854" cy="811761"/>
          </a:xfrm>
          <a:prstGeom prst="rect">
            <a:avLst/>
          </a:prstGeom>
          <a:noFill/>
        </p:spPr>
        <p:txBody>
          <a:bodyPr wrap="square" lIns="0" tIns="45720" rIns="0" bIns="4572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defRPr/>
            </a:pPr>
            <a:r>
              <a:rPr lang="en-US" altLang="ko-KR" sz="1550" b="1">
                <a:solidFill>
                  <a:prstClr val="black"/>
                </a:solidFill>
                <a:latin typeface="Arial"/>
                <a:ea typeface="맑은 고딕"/>
                <a:cs typeface="Arial"/>
              </a:rPr>
              <a:t>User Acceptance </a:t>
            </a:r>
            <a:endParaRPr lang="en-US" sz="1550">
              <a:solidFill>
                <a:prstClr val="black"/>
              </a:solidFill>
              <a:latin typeface="Arial"/>
              <a:ea typeface="맑은 고딕"/>
              <a:cs typeface="Arial"/>
            </a:endParaRPr>
          </a:p>
          <a:p>
            <a:pPr marL="0" marR="0" lvl="0" indent="0" algn="ctr" defTabSz="1371600">
              <a:lnSpc>
                <a:spcPct val="100000"/>
              </a:lnSpc>
              <a:spcBef>
                <a:spcPts val="0"/>
              </a:spcBef>
              <a:spcAft>
                <a:spcPts val="0"/>
              </a:spcAft>
              <a:buClrTx/>
              <a:buSzTx/>
              <a:buFontTx/>
              <a:buNone/>
              <a:tabLst/>
              <a:defRPr/>
            </a:pPr>
            <a:r>
              <a:rPr lang="en-US" altLang="ko-KR" sz="1550" b="1">
                <a:solidFill>
                  <a:prstClr val="black"/>
                </a:solidFill>
                <a:latin typeface="Arial"/>
                <a:ea typeface="맑은 고딕"/>
                <a:cs typeface="Arial"/>
              </a:rPr>
              <a:t>Testing</a:t>
            </a:r>
            <a:endParaRPr lang="en-US" sz="1550">
              <a:solidFill>
                <a:prstClr val="black"/>
              </a:solidFill>
              <a:latin typeface="Arial"/>
              <a:ea typeface="맑은 고딕"/>
              <a:cs typeface="Arial"/>
            </a:endParaRPr>
          </a:p>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altLang="ko-KR" sz="1575"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aphicFrame>
        <p:nvGraphicFramePr>
          <p:cNvPr id="83" name="Table 82">
            <a:extLst>
              <a:ext uri="{FF2B5EF4-FFF2-40B4-BE49-F238E27FC236}">
                <a16:creationId xmlns:a16="http://schemas.microsoft.com/office/drawing/2014/main" id="{44F7EA54-1456-4A9B-AC83-47D7623B15CB}"/>
              </a:ext>
            </a:extLst>
          </p:cNvPr>
          <p:cNvGraphicFramePr>
            <a:graphicFrameLocks noGrp="1"/>
          </p:cNvGraphicFramePr>
          <p:nvPr>
            <p:extLst>
              <p:ext uri="{D42A27DB-BD31-4B8C-83A1-F6EECF244321}">
                <p14:modId xmlns:p14="http://schemas.microsoft.com/office/powerpoint/2010/main" val="3178850792"/>
              </p:ext>
            </p:extLst>
          </p:nvPr>
        </p:nvGraphicFramePr>
        <p:xfrm>
          <a:off x="774428" y="7385940"/>
          <a:ext cx="16612647" cy="2134977"/>
        </p:xfrm>
        <a:graphic>
          <a:graphicData uri="http://schemas.openxmlformats.org/drawingml/2006/table">
            <a:tbl>
              <a:tblPr firstRow="1" bandRow="1">
                <a:tableStyleId>{3B4B98B0-60AC-42C2-AFA5-B58CD77FA1E5}</a:tableStyleId>
              </a:tblPr>
              <a:tblGrid>
                <a:gridCol w="1600449">
                  <a:extLst>
                    <a:ext uri="{9D8B030D-6E8A-4147-A177-3AD203B41FA5}">
                      <a16:colId xmlns:a16="http://schemas.microsoft.com/office/drawing/2014/main" val="500621086"/>
                    </a:ext>
                  </a:extLst>
                </a:gridCol>
                <a:gridCol w="8394104">
                  <a:extLst>
                    <a:ext uri="{9D8B030D-6E8A-4147-A177-3AD203B41FA5}">
                      <a16:colId xmlns:a16="http://schemas.microsoft.com/office/drawing/2014/main" val="2523077405"/>
                    </a:ext>
                  </a:extLst>
                </a:gridCol>
                <a:gridCol w="1921184">
                  <a:extLst>
                    <a:ext uri="{9D8B030D-6E8A-4147-A177-3AD203B41FA5}">
                      <a16:colId xmlns:a16="http://schemas.microsoft.com/office/drawing/2014/main" val="93284136"/>
                    </a:ext>
                  </a:extLst>
                </a:gridCol>
                <a:gridCol w="2098526">
                  <a:extLst>
                    <a:ext uri="{9D8B030D-6E8A-4147-A177-3AD203B41FA5}">
                      <a16:colId xmlns:a16="http://schemas.microsoft.com/office/drawing/2014/main" val="885857888"/>
                    </a:ext>
                  </a:extLst>
                </a:gridCol>
                <a:gridCol w="2598384">
                  <a:extLst>
                    <a:ext uri="{9D8B030D-6E8A-4147-A177-3AD203B41FA5}">
                      <a16:colId xmlns:a16="http://schemas.microsoft.com/office/drawing/2014/main" val="3402767439"/>
                    </a:ext>
                  </a:extLst>
                </a:gridCol>
              </a:tblGrid>
              <a:tr h="285348">
                <a:tc>
                  <a:txBody>
                    <a:bodyPr/>
                    <a:lstStyle/>
                    <a:p>
                      <a:pPr algn="ctr" fontAlgn="ctr"/>
                      <a:r>
                        <a:rPr lang="en-US" sz="1500" b="1" u="none" strike="noStrike">
                          <a:solidFill>
                            <a:srgbClr val="000000"/>
                          </a:solidFill>
                          <a:effectLst/>
                        </a:rPr>
                        <a:t>Area</a:t>
                      </a:r>
                      <a:endParaRPr lang="en-US" sz="1500" b="1" i="0" u="none" strike="noStrike">
                        <a:solidFill>
                          <a:srgbClr val="000000"/>
                        </a:solidFill>
                        <a:effectLst/>
                        <a:latin typeface="+mj-lt"/>
                        <a:cs typeface="Times New Roman" panose="02020603050405020304" pitchFamily="18" charset="0"/>
                      </a:endParaRPr>
                    </a:p>
                  </a:txBody>
                  <a:tcPr marL="11430" marR="11430" marT="11430" marB="0" anchor="ctr"/>
                </a:tc>
                <a:tc>
                  <a:txBody>
                    <a:bodyPr/>
                    <a:lstStyle/>
                    <a:p>
                      <a:pPr algn="ctr" fontAlgn="ctr"/>
                      <a:r>
                        <a:rPr lang="en-US" sz="1500" b="1" u="none" strike="noStrike">
                          <a:solidFill>
                            <a:srgbClr val="000000"/>
                          </a:solidFill>
                          <a:effectLst/>
                        </a:rPr>
                        <a:t>Item</a:t>
                      </a:r>
                      <a:endParaRPr lang="en-US" sz="1500" b="1" i="0" u="none" strike="noStrike">
                        <a:solidFill>
                          <a:srgbClr val="000000"/>
                        </a:solidFill>
                        <a:effectLst/>
                        <a:latin typeface="+mj-lt"/>
                        <a:cs typeface="Times New Roman" panose="02020603050405020304" pitchFamily="18" charset="0"/>
                      </a:endParaRPr>
                    </a:p>
                  </a:txBody>
                  <a:tcPr marL="11430" marR="11430" marT="11430" marB="0" anchor="ctr"/>
                </a:tc>
                <a:tc>
                  <a:txBody>
                    <a:bodyPr/>
                    <a:lstStyle/>
                    <a:p>
                      <a:pPr algn="ctr" fontAlgn="ctr"/>
                      <a:r>
                        <a:rPr lang="en-US" sz="1500" b="1" u="none" strike="noStrike">
                          <a:solidFill>
                            <a:srgbClr val="000000"/>
                          </a:solidFill>
                          <a:effectLst/>
                        </a:rPr>
                        <a:t>Status</a:t>
                      </a:r>
                      <a:endParaRPr lang="en-US" sz="1500" b="1" i="0" u="none" strike="noStrike">
                        <a:solidFill>
                          <a:srgbClr val="000000"/>
                        </a:solidFill>
                        <a:effectLst/>
                        <a:latin typeface="+mj-lt"/>
                        <a:cs typeface="Times New Roman"/>
                      </a:endParaRPr>
                    </a:p>
                  </a:txBody>
                  <a:tcPr marL="11430" marR="11430" marT="11430" marB="0" anchor="ctr"/>
                </a:tc>
                <a:tc>
                  <a:txBody>
                    <a:bodyPr/>
                    <a:lstStyle/>
                    <a:p>
                      <a:pPr algn="ctr" fontAlgn="ctr"/>
                      <a:r>
                        <a:rPr lang="en-US" sz="1500" b="1" u="none" strike="noStrike">
                          <a:solidFill>
                            <a:srgbClr val="000000"/>
                          </a:solidFill>
                          <a:effectLst/>
                        </a:rPr>
                        <a:t>Due Date</a:t>
                      </a:r>
                      <a:endParaRPr lang="en-US" sz="1500" b="1" i="0" u="none" strike="noStrike">
                        <a:solidFill>
                          <a:srgbClr val="000000"/>
                        </a:solidFill>
                        <a:effectLst/>
                        <a:latin typeface="+mj-lt"/>
                        <a:cs typeface="Times New Roman"/>
                      </a:endParaRPr>
                    </a:p>
                  </a:txBody>
                  <a:tcPr marL="11430" marR="11430" marT="11430" marB="0" anchor="ctr"/>
                </a:tc>
                <a:tc>
                  <a:txBody>
                    <a:bodyPr/>
                    <a:lstStyle/>
                    <a:p>
                      <a:pPr algn="ctr" fontAlgn="ctr"/>
                      <a:r>
                        <a:rPr lang="en-US" sz="1500" b="1" u="none" strike="noStrike">
                          <a:solidFill>
                            <a:srgbClr val="000000"/>
                          </a:solidFill>
                          <a:effectLst/>
                        </a:rPr>
                        <a:t>Owner</a:t>
                      </a:r>
                      <a:endParaRPr lang="en-US" sz="1500" b="1" i="0" u="none" strike="noStrike">
                        <a:solidFill>
                          <a:srgbClr val="000000"/>
                        </a:solidFill>
                        <a:effectLst/>
                        <a:latin typeface="+mj-lt"/>
                        <a:cs typeface="Times New Roman"/>
                      </a:endParaRPr>
                    </a:p>
                  </a:txBody>
                  <a:tcPr marL="11430" marR="11430" marT="11430" marB="0" anchor="ctr"/>
                </a:tc>
                <a:extLst>
                  <a:ext uri="{0D108BD9-81ED-4DB2-BD59-A6C34878D82A}">
                    <a16:rowId xmlns:a16="http://schemas.microsoft.com/office/drawing/2014/main" val="3746560476"/>
                  </a:ext>
                </a:extLst>
              </a:tr>
              <a:tr h="697230">
                <a:tc>
                  <a:txBody>
                    <a:bodyPr/>
                    <a:lstStyle/>
                    <a:p>
                      <a:pPr algn="ctr" fontAlgn="ctr"/>
                      <a:r>
                        <a:rPr lang="en-US" sz="1500" b="1" u="none" strike="noStrike">
                          <a:solidFill>
                            <a:srgbClr val="000000"/>
                          </a:solidFill>
                          <a:effectLst/>
                        </a:rPr>
                        <a:t>Risks</a:t>
                      </a:r>
                      <a:endParaRPr lang="en-US" sz="1500" b="1" i="0" u="none" strike="noStrike">
                        <a:solidFill>
                          <a:srgbClr val="000000"/>
                        </a:solidFill>
                        <a:effectLst/>
                        <a:latin typeface="+mj-lt"/>
                        <a:cs typeface="Times New Roman"/>
                      </a:endParaRPr>
                    </a:p>
                  </a:txBody>
                  <a:tcPr marL="11430" marR="11430" marT="11430" marB="0" anchor="ctr"/>
                </a:tc>
                <a:tc>
                  <a:txBody>
                    <a:bodyPr/>
                    <a:lstStyle/>
                    <a:p>
                      <a:pPr marL="0" indent="0" algn="ctr" fontAlgn="ctr">
                        <a:buNone/>
                      </a:pPr>
                      <a:endParaRPr lang="en-US" sz="1500" b="0" u="none" strike="noStrike" baseline="0">
                        <a:solidFill>
                          <a:srgbClr val="000000"/>
                        </a:solidFill>
                        <a:effectLst/>
                      </a:endParaRPr>
                    </a:p>
                    <a:p>
                      <a:pPr marL="0" indent="0" algn="ctr" fontAlgn="ctr">
                        <a:buNone/>
                      </a:pPr>
                      <a:r>
                        <a:rPr lang="en-US" sz="1500" b="0" u="none" strike="noStrike" baseline="0">
                          <a:solidFill>
                            <a:srgbClr val="000000"/>
                          </a:solidFill>
                          <a:effectLst/>
                        </a:rPr>
                        <a:t>No risks identified- currently</a:t>
                      </a:r>
                    </a:p>
                    <a:p>
                      <a:pPr marL="228600" indent="-228600" algn="ctr" fontAlgn="ctr">
                        <a:buAutoNum type="arabicPeriod"/>
                      </a:pPr>
                      <a:endParaRPr lang="en-US" sz="1500" b="0" i="0" u="none" strike="noStrike" baseline="0">
                        <a:solidFill>
                          <a:srgbClr val="000000"/>
                        </a:solidFill>
                        <a:effectLst/>
                        <a:latin typeface="+mj-lt"/>
                        <a:cs typeface="Times New Roman"/>
                      </a:endParaRPr>
                    </a:p>
                  </a:txBody>
                  <a:tcPr marL="11430" marR="11430" marT="11430" marB="0" anchor="ctr"/>
                </a:tc>
                <a:tc>
                  <a:txBody>
                    <a:bodyPr/>
                    <a:lstStyle/>
                    <a:p>
                      <a:pPr algn="ctr" fontAlgn="ctr"/>
                      <a:endParaRPr lang="en-US" sz="1500" b="0" i="0" u="none" strike="noStrike">
                        <a:solidFill>
                          <a:schemeClr val="tx1"/>
                        </a:solidFill>
                        <a:effectLst/>
                        <a:latin typeface="+mj-lt"/>
                        <a:cs typeface="Times New Roman"/>
                      </a:endParaRPr>
                    </a:p>
                  </a:txBody>
                  <a:tcPr marL="11430" marR="11430" marT="11430" marB="0" anchor="ctr"/>
                </a:tc>
                <a:tc>
                  <a:txBody>
                    <a:bodyPr/>
                    <a:lstStyle/>
                    <a:p>
                      <a:pPr algn="ctr" fontAlgn="ctr"/>
                      <a:endParaRPr lang="en-US" sz="1500" b="0" i="0" u="none" strike="noStrike" baseline="0">
                        <a:solidFill>
                          <a:srgbClr val="000000"/>
                        </a:solidFill>
                        <a:effectLst/>
                        <a:latin typeface="+mj-lt"/>
                        <a:cs typeface="Times New Roman"/>
                      </a:endParaRPr>
                    </a:p>
                  </a:txBody>
                  <a:tcPr marL="11430" marR="11430" marT="11430" marB="0" anchor="ctr"/>
                </a:tc>
                <a:tc>
                  <a:txBody>
                    <a:bodyPr/>
                    <a:lstStyle/>
                    <a:p>
                      <a:pPr algn="ctr" fontAlgn="ctr"/>
                      <a:endParaRPr lang="en-US" sz="1500" b="0" i="0" u="none" strike="noStrike" kern="1200">
                        <a:solidFill>
                          <a:srgbClr val="000000"/>
                        </a:solidFill>
                        <a:effectLst/>
                        <a:latin typeface="+mn-lt"/>
                        <a:ea typeface="+mn-ea"/>
                        <a:cs typeface="Times New Roman"/>
                      </a:endParaRPr>
                    </a:p>
                  </a:txBody>
                  <a:tcPr marL="11430" marR="11430" marT="11430" marB="0" anchor="ctr"/>
                </a:tc>
                <a:extLst>
                  <a:ext uri="{0D108BD9-81ED-4DB2-BD59-A6C34878D82A}">
                    <a16:rowId xmlns:a16="http://schemas.microsoft.com/office/drawing/2014/main" val="161483975"/>
                  </a:ext>
                </a:extLst>
              </a:tr>
              <a:tr h="69723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1" u="none" strike="noStrike" kern="1200" cap="none" spc="0" normalizeH="0" baseline="0" noProof="0">
                          <a:ln>
                            <a:noFill/>
                          </a:ln>
                          <a:solidFill>
                            <a:srgbClr val="000000"/>
                          </a:solidFill>
                          <a:effectLst/>
                          <a:uLnTx/>
                          <a:uFillTx/>
                        </a:rPr>
                        <a:t>Issues</a:t>
                      </a:r>
                      <a:endParaRPr kumimoji="0" lang="en-US" sz="1500" b="1" i="0" u="none" strike="noStrike" kern="1200" cap="none" spc="0" normalizeH="0" baseline="0" noProof="0">
                        <a:ln>
                          <a:noFill/>
                        </a:ln>
                        <a:solidFill>
                          <a:srgbClr val="000000"/>
                        </a:solidFill>
                        <a:effectLst/>
                        <a:uLnTx/>
                        <a:uFillTx/>
                        <a:latin typeface="Aptos Display" panose="02110004020202020204"/>
                        <a:ea typeface="+mn-ea"/>
                        <a:cs typeface="Times New Roman" panose="02020603050405020304" pitchFamily="18" charset="0"/>
                      </a:endParaRPr>
                    </a:p>
                  </a:txBody>
                  <a:tcPr marL="137160" marR="137160" marT="68580" marB="68580" anchor="ctr"/>
                </a:tc>
                <a:tc>
                  <a:txBody>
                    <a:bodyPr/>
                    <a:lstStyle/>
                    <a:p>
                      <a:pPr marL="457200" marR="0" lvl="1" indent="0" algn="ctr" defTabSz="914400" rtl="0" eaLnBrk="1" fontAlgn="auto" latinLnBrk="0" hangingPunct="1">
                        <a:lnSpc>
                          <a:spcPct val="100000"/>
                        </a:lnSpc>
                        <a:spcBef>
                          <a:spcPts val="0"/>
                        </a:spcBef>
                        <a:spcAft>
                          <a:spcPts val="0"/>
                        </a:spcAft>
                        <a:buClrTx/>
                        <a:buSzTx/>
                        <a:buFont typeface="+mj-lt"/>
                        <a:buNone/>
                        <a:tabLst/>
                        <a:defRPr/>
                      </a:pPr>
                      <a:endParaRPr lang="en-US" sz="1500" strike="noStrike"/>
                    </a:p>
                    <a:p>
                      <a:pPr marL="0" marR="0" lvl="0" indent="0" algn="ctr" defTabSz="914400" rtl="0" eaLnBrk="1" fontAlgn="auto" latinLnBrk="0" hangingPunct="1">
                        <a:lnSpc>
                          <a:spcPct val="100000"/>
                        </a:lnSpc>
                        <a:spcBef>
                          <a:spcPts val="0"/>
                        </a:spcBef>
                        <a:spcAft>
                          <a:spcPts val="0"/>
                        </a:spcAft>
                        <a:buClrTx/>
                        <a:buSzTx/>
                        <a:buFont typeface="+mj-lt"/>
                        <a:buNone/>
                        <a:tabLst/>
                        <a:defRPr/>
                      </a:pPr>
                      <a:r>
                        <a:rPr lang="en-US" sz="1500" strike="noStrike"/>
                        <a:t>  No issues identified- currently</a:t>
                      </a:r>
                      <a:endParaRPr lang="en-US" sz="1500"/>
                    </a:p>
                  </a:txBody>
                  <a:tcPr marL="11430" marR="11430" marT="11430" marB="0"/>
                </a:tc>
                <a:tc>
                  <a:txBody>
                    <a:bodyPr/>
                    <a:lstStyle/>
                    <a:p>
                      <a:pPr algn="ctr" fontAlgn="ctr"/>
                      <a:endParaRPr lang="en-US" sz="1500" b="0" u="none" strike="noStrike" kern="1200">
                        <a:solidFill>
                          <a:srgbClr val="000000"/>
                        </a:solidFill>
                        <a:effectLst/>
                      </a:endParaRPr>
                    </a:p>
                    <a:p>
                      <a:pPr algn="ctr" fontAlgn="ctr"/>
                      <a:br>
                        <a:rPr lang="en-US" sz="1500" b="0" u="none" strike="noStrike" kern="1200">
                          <a:solidFill>
                            <a:srgbClr val="000000"/>
                          </a:solidFill>
                          <a:effectLst/>
                        </a:rPr>
                      </a:br>
                      <a:endParaRPr lang="en-US" sz="1500" b="0" i="0" u="none" strike="noStrike" kern="1200">
                        <a:solidFill>
                          <a:srgbClr val="000000"/>
                        </a:solidFill>
                        <a:effectLst/>
                        <a:latin typeface="+mn-lt"/>
                        <a:ea typeface="+mn-ea"/>
                        <a:cs typeface="Times New Roman"/>
                      </a:endParaRPr>
                    </a:p>
                  </a:txBody>
                  <a:tcPr marL="11430" marR="11430" marT="11430" marB="0"/>
                </a:tc>
                <a:tc>
                  <a:txBody>
                    <a:bodyPr/>
                    <a:lstStyle/>
                    <a:p>
                      <a:pPr marL="0" marR="0" lvl="0" indent="0" algn="ctr">
                        <a:lnSpc>
                          <a:spcPct val="100000"/>
                        </a:lnSpc>
                        <a:spcBef>
                          <a:spcPts val="0"/>
                        </a:spcBef>
                        <a:spcAft>
                          <a:spcPts val="0"/>
                        </a:spcAft>
                        <a:buNone/>
                      </a:pPr>
                      <a:endParaRPr lang="en-US" sz="1500" b="0" u="none" strike="noStrike" baseline="0" noProof="0">
                        <a:solidFill>
                          <a:srgbClr val="000000"/>
                        </a:solidFill>
                        <a:effectLst/>
                      </a:endParaRPr>
                    </a:p>
                  </a:txBody>
                  <a:tcPr marL="11430" marR="11430" marT="11430" marB="0"/>
                </a:tc>
                <a:tc>
                  <a:txBody>
                    <a:bodyPr/>
                    <a:lstStyle/>
                    <a:p>
                      <a:pPr lvl="0" algn="ctr">
                        <a:lnSpc>
                          <a:spcPct val="100000"/>
                        </a:lnSpc>
                        <a:spcBef>
                          <a:spcPts val="0"/>
                        </a:spcBef>
                        <a:spcAft>
                          <a:spcPts val="0"/>
                        </a:spcAft>
                        <a:buNone/>
                      </a:pPr>
                      <a:endParaRPr lang="en-US" sz="1500" b="0" u="none" strike="noStrike" noProof="0">
                        <a:solidFill>
                          <a:srgbClr val="000000"/>
                        </a:solidFill>
                        <a:effectLst/>
                      </a:endParaRPr>
                    </a:p>
                  </a:txBody>
                  <a:tcPr marL="11430" marR="11430" marT="11430" marB="0"/>
                </a:tc>
                <a:extLst>
                  <a:ext uri="{0D108BD9-81ED-4DB2-BD59-A6C34878D82A}">
                    <a16:rowId xmlns:a16="http://schemas.microsoft.com/office/drawing/2014/main" val="2752322571"/>
                  </a:ext>
                </a:extLst>
              </a:tr>
              <a:tr h="455169">
                <a:tc>
                  <a:txBody>
                    <a:bodyPr/>
                    <a:lstStyle/>
                    <a:p>
                      <a:pPr algn="ctr" fontAlgn="ctr"/>
                      <a:r>
                        <a:rPr lang="en-US" sz="1500" b="1" u="none" strike="noStrike">
                          <a:solidFill>
                            <a:srgbClr val="000000"/>
                          </a:solidFill>
                          <a:effectLst/>
                        </a:rPr>
                        <a:t>Decisions</a:t>
                      </a:r>
                    </a:p>
                  </a:txBody>
                  <a:tcPr marL="11430" marR="11430" marT="11430" marB="0" anchor="ctr"/>
                </a:tc>
                <a:tc>
                  <a:txBody>
                    <a:bodyPr/>
                    <a:lstStyle/>
                    <a:p>
                      <a:pPr marL="457200" marR="0" lvl="1" indent="0" algn="ctr" defTabSz="914400" rtl="0" eaLnBrk="1" fontAlgn="auto" latinLnBrk="0" hangingPunct="1">
                        <a:lnSpc>
                          <a:spcPct val="100000"/>
                        </a:lnSpc>
                        <a:spcBef>
                          <a:spcPts val="0"/>
                        </a:spcBef>
                        <a:spcAft>
                          <a:spcPts val="0"/>
                        </a:spcAft>
                        <a:buClrTx/>
                        <a:buSzTx/>
                        <a:buFontTx/>
                        <a:buNone/>
                        <a:tabLst/>
                        <a:defRPr/>
                      </a:pPr>
                      <a:endParaRPr kumimoji="0" lang="en-US" sz="1500" b="0" u="none" strike="noStrike" kern="1200" cap="none" spc="0" normalizeH="0" baseline="0" noProof="0">
                        <a:ln>
                          <a:noFill/>
                        </a:ln>
                        <a:solidFill>
                          <a:srgbClr val="000000"/>
                        </a:solidFill>
                        <a:effectLst/>
                        <a:uLnTx/>
                        <a:uFillTx/>
                      </a:endParaRPr>
                    </a:p>
                  </a:txBody>
                  <a:tcPr marL="11430" marR="11430" marT="11430" marB="0" anchor="ctr"/>
                </a:tc>
                <a:tc>
                  <a:txBody>
                    <a:bodyPr/>
                    <a:lstStyle/>
                    <a:p>
                      <a:pPr algn="ctr" fontAlgn="ctr"/>
                      <a:endParaRPr lang="en-US" sz="1500" b="0" u="none" strike="noStrike">
                        <a:solidFill>
                          <a:srgbClr val="000000"/>
                        </a:solidFill>
                        <a:effectLst/>
                      </a:endParaRPr>
                    </a:p>
                  </a:txBody>
                  <a:tcPr marL="11430" marR="11430" marT="1143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500" strike="noStrike">
                        <a:effectLst/>
                        <a:latin typeface="+mj-lt"/>
                        <a:cs typeface="Times New Roman" panose="02020603050405020304" pitchFamily="18" charset="0"/>
                      </a:endParaRPr>
                    </a:p>
                  </a:txBody>
                  <a:tcPr marL="11430" marR="11430" marT="11430" marB="0" anchor="ctr"/>
                </a:tc>
                <a:tc>
                  <a:txBody>
                    <a:bodyPr/>
                    <a:lstStyle/>
                    <a:p>
                      <a:pPr algn="ctr" fontAlgn="ctr"/>
                      <a:endParaRPr lang="en-US" sz="1500" b="0" u="none" strike="noStrike">
                        <a:solidFill>
                          <a:srgbClr val="000000"/>
                        </a:solidFill>
                        <a:effectLst/>
                      </a:endParaRPr>
                    </a:p>
                  </a:txBody>
                  <a:tcPr marL="11430" marR="11430" marT="11430" marB="0" anchor="ctr"/>
                </a:tc>
                <a:extLst>
                  <a:ext uri="{0D108BD9-81ED-4DB2-BD59-A6C34878D82A}">
                    <a16:rowId xmlns:a16="http://schemas.microsoft.com/office/drawing/2014/main" val="2986965557"/>
                  </a:ext>
                </a:extLst>
              </a:tr>
            </a:tbl>
          </a:graphicData>
        </a:graphic>
      </p:graphicFrame>
      <p:sp>
        <p:nvSpPr>
          <p:cNvPr id="74" name="TextBox 73">
            <a:extLst>
              <a:ext uri="{FF2B5EF4-FFF2-40B4-BE49-F238E27FC236}">
                <a16:creationId xmlns:a16="http://schemas.microsoft.com/office/drawing/2014/main" id="{31BEF3FB-A0AB-4D52-BAA1-30C9CDD2CB55}"/>
              </a:ext>
            </a:extLst>
          </p:cNvPr>
          <p:cNvSpPr txBox="1"/>
          <p:nvPr/>
        </p:nvSpPr>
        <p:spPr>
          <a:xfrm>
            <a:off x="7650037" y="5998904"/>
            <a:ext cx="2159441" cy="692497"/>
          </a:xfrm>
          <a:prstGeom prst="rect">
            <a:avLst/>
          </a:prstGeom>
          <a:noFill/>
        </p:spPr>
        <p:txBody>
          <a:bodyPr wrap="square" lIns="0" tIns="0" rIns="0" bIns="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defRPr/>
            </a:pPr>
            <a:r>
              <a:rPr lang="en-GB" altLang="ko-KR" sz="1500" b="1" strike="sngStrike">
                <a:solidFill>
                  <a:prstClr val="black"/>
                </a:solidFill>
                <a:latin typeface="Arial"/>
                <a:ea typeface="맑은 고딕"/>
                <a:cs typeface="Arial"/>
              </a:rPr>
              <a:t>March</a:t>
            </a:r>
            <a:r>
              <a:rPr lang="en-GB" altLang="ko-KR" sz="1500" b="1">
                <a:solidFill>
                  <a:prstClr val="black"/>
                </a:solidFill>
                <a:latin typeface="Arial"/>
                <a:ea typeface="맑은 고딕"/>
                <a:cs typeface="Arial"/>
              </a:rPr>
              <a:t>, </a:t>
            </a:r>
            <a:r>
              <a:rPr lang="en-GB" altLang="ko-KR" sz="1500" b="1" strike="sngStrike">
                <a:solidFill>
                  <a:prstClr val="black"/>
                </a:solidFill>
                <a:latin typeface="Arial"/>
                <a:ea typeface="맑은 고딕"/>
                <a:cs typeface="Arial"/>
              </a:rPr>
              <a:t>April</a:t>
            </a:r>
            <a:r>
              <a:rPr lang="en-GB" altLang="ko-KR" sz="1500" b="1">
                <a:solidFill>
                  <a:prstClr val="black"/>
                </a:solidFill>
                <a:latin typeface="Arial"/>
                <a:ea typeface="맑은 고딕"/>
                <a:cs typeface="Arial"/>
              </a:rPr>
              <a:t>, </a:t>
            </a:r>
            <a:r>
              <a:rPr lang="en-GB" altLang="ko-KR" sz="1500" b="1" strike="sngStrike">
                <a:solidFill>
                  <a:prstClr val="black"/>
                </a:solidFill>
                <a:latin typeface="Arial"/>
                <a:ea typeface="맑은 고딕"/>
                <a:cs typeface="Arial"/>
              </a:rPr>
              <a:t>May, </a:t>
            </a:r>
            <a:r>
              <a:rPr lang="en-GB" altLang="ko-KR" sz="1500" b="1">
                <a:solidFill>
                  <a:prstClr val="black"/>
                </a:solidFill>
                <a:latin typeface="Arial"/>
                <a:ea typeface="맑은 고딕"/>
                <a:cs typeface="Arial"/>
              </a:rPr>
              <a:t>June </a:t>
            </a:r>
            <a:r>
              <a:rPr lang="en-GB" altLang="ko-KR" sz="1500" b="1" strike="sngStrike">
                <a:solidFill>
                  <a:prstClr val="black"/>
                </a:solidFill>
                <a:latin typeface="Arial"/>
                <a:ea typeface="맑은 고딕"/>
                <a:cs typeface="Arial"/>
              </a:rPr>
              <a:t>(2026), </a:t>
            </a:r>
            <a:endParaRPr lang="en-US" strike="sngStrike">
              <a:solidFill>
                <a:prstClr val="black"/>
              </a:solidFill>
              <a:ea typeface="Calibri"/>
              <a:cs typeface="Calibri"/>
            </a:endParaRPr>
          </a:p>
          <a:p>
            <a:pPr marL="0" marR="0" lvl="0" indent="0" algn="ctr" defTabSz="1371600" rtl="0" eaLnBrk="1" fontAlgn="auto" latinLnBrk="0" hangingPunct="1">
              <a:lnSpc>
                <a:spcPct val="100000"/>
              </a:lnSpc>
              <a:spcBef>
                <a:spcPts val="0"/>
              </a:spcBef>
              <a:spcAft>
                <a:spcPts val="0"/>
              </a:spcAft>
              <a:buClrTx/>
              <a:buSzTx/>
              <a:buFontTx/>
              <a:buNone/>
              <a:tabLst/>
              <a:defRPr/>
            </a:pPr>
            <a:endParaRPr lang="en-GB" altLang="ko-KR" sz="1500" b="1">
              <a:solidFill>
                <a:prstClr val="black"/>
              </a:solidFill>
              <a:latin typeface="Arial" panose="020B0604020202020204" pitchFamily="34" charset="0"/>
              <a:cs typeface="Arial" panose="020B0604020202020204" pitchFamily="34" charset="0"/>
            </a:endParaRPr>
          </a:p>
        </p:txBody>
      </p:sp>
      <p:sp>
        <p:nvSpPr>
          <p:cNvPr id="75" name="TextBox 74">
            <a:extLst>
              <a:ext uri="{FF2B5EF4-FFF2-40B4-BE49-F238E27FC236}">
                <a16:creationId xmlns:a16="http://schemas.microsoft.com/office/drawing/2014/main" id="{FBE1645F-9C05-4468-ADFE-2442A195381B}"/>
              </a:ext>
            </a:extLst>
          </p:cNvPr>
          <p:cNvSpPr txBox="1"/>
          <p:nvPr/>
        </p:nvSpPr>
        <p:spPr>
          <a:xfrm>
            <a:off x="10307603" y="6022136"/>
            <a:ext cx="2159441" cy="461666"/>
          </a:xfrm>
          <a:prstGeom prst="rect">
            <a:avLst/>
          </a:prstGeom>
          <a:noFill/>
        </p:spPr>
        <p:txBody>
          <a:bodyPr wrap="square" lIns="0" tIns="0" rIns="0" bIns="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lang="en-GB" altLang="ko-KR" sz="1500" b="1">
                <a:solidFill>
                  <a:prstClr val="black"/>
                </a:solidFill>
                <a:latin typeface="Arial"/>
                <a:ea typeface="맑은 고딕"/>
                <a:cs typeface="Arial"/>
              </a:rPr>
              <a:t>August 2026</a:t>
            </a:r>
          </a:p>
          <a:p>
            <a:pPr marL="0" marR="0" lvl="0" indent="0" algn="ctr" defTabSz="1371600" rtl="0" eaLnBrk="1" fontAlgn="auto" latinLnBrk="0" hangingPunct="1">
              <a:lnSpc>
                <a:spcPct val="100000"/>
              </a:lnSpc>
              <a:spcBef>
                <a:spcPts val="0"/>
              </a:spcBef>
              <a:spcAft>
                <a:spcPts val="0"/>
              </a:spcAft>
              <a:buClrTx/>
              <a:buSzTx/>
              <a:buFontTx/>
              <a:buNone/>
              <a:tabLst/>
              <a:defRPr/>
            </a:pPr>
            <a:endParaRPr lang="en-GB" altLang="ko-KR" sz="1500" b="1">
              <a:solidFill>
                <a:prstClr val="black"/>
              </a:solidFill>
              <a:latin typeface="Arial" panose="020B0604020202020204" pitchFamily="34" charset="0"/>
              <a:cs typeface="Arial" panose="020B0604020202020204" pitchFamily="34" charset="0"/>
            </a:endParaRPr>
          </a:p>
        </p:txBody>
      </p:sp>
      <p:sp>
        <p:nvSpPr>
          <p:cNvPr id="82" name="TextBox 81">
            <a:extLst>
              <a:ext uri="{FF2B5EF4-FFF2-40B4-BE49-F238E27FC236}">
                <a16:creationId xmlns:a16="http://schemas.microsoft.com/office/drawing/2014/main" id="{982D2043-677C-4BCE-AA1E-A23CF5C329F1}"/>
              </a:ext>
            </a:extLst>
          </p:cNvPr>
          <p:cNvSpPr txBox="1"/>
          <p:nvPr/>
        </p:nvSpPr>
        <p:spPr>
          <a:xfrm>
            <a:off x="12956940" y="6005808"/>
            <a:ext cx="2159441" cy="461666"/>
          </a:xfrm>
          <a:prstGeom prst="rect">
            <a:avLst/>
          </a:prstGeom>
          <a:noFill/>
        </p:spPr>
        <p:txBody>
          <a:bodyPr wrap="square" lIns="0" tIns="0" rIns="0" bIns="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defRPr/>
            </a:pPr>
            <a:r>
              <a:rPr lang="en-GB" altLang="ko-KR" sz="1500" b="1">
                <a:solidFill>
                  <a:prstClr val="black"/>
                </a:solidFill>
                <a:latin typeface="Arial"/>
                <a:ea typeface="맑은 고딕"/>
                <a:cs typeface="Arial"/>
              </a:rPr>
              <a:t>September 2026</a:t>
            </a:r>
            <a:endParaRPr lang="en-GB" altLang="ko-KR" sz="1500" b="1">
              <a:solidFill>
                <a:prstClr val="black"/>
              </a:solidFill>
              <a:latin typeface="Arial" panose="020B0604020202020204" pitchFamily="34" charset="0"/>
              <a:cs typeface="Arial" panose="020B0604020202020204" pitchFamily="34" charset="0"/>
            </a:endParaRPr>
          </a:p>
          <a:p>
            <a:pPr marL="0" marR="0" lvl="0" indent="0" algn="ctr" defTabSz="1371600" rtl="0" eaLnBrk="1" fontAlgn="auto" latinLnBrk="0" hangingPunct="1">
              <a:lnSpc>
                <a:spcPct val="100000"/>
              </a:lnSpc>
              <a:spcBef>
                <a:spcPts val="0"/>
              </a:spcBef>
              <a:spcAft>
                <a:spcPts val="0"/>
              </a:spcAft>
              <a:buClrTx/>
              <a:buSzTx/>
              <a:buFontTx/>
              <a:buNone/>
              <a:tabLst/>
              <a:defRPr/>
            </a:pPr>
            <a:endParaRPr lang="en-GB" altLang="ko-KR" sz="1500" b="1">
              <a:solidFill>
                <a:prstClr val="black"/>
              </a:solidFill>
              <a:latin typeface="Arial" panose="020B0604020202020204" pitchFamily="34" charset="0"/>
              <a:cs typeface="Arial" panose="020B0604020202020204" pitchFamily="34" charset="0"/>
            </a:endParaRPr>
          </a:p>
        </p:txBody>
      </p:sp>
      <p:sp>
        <p:nvSpPr>
          <p:cNvPr id="3" name="Oval 2">
            <a:extLst>
              <a:ext uri="{FF2B5EF4-FFF2-40B4-BE49-F238E27FC236}">
                <a16:creationId xmlns:a16="http://schemas.microsoft.com/office/drawing/2014/main" id="{A5B09D4A-8D99-1D14-F2D5-87AA4926A227}"/>
              </a:ext>
            </a:extLst>
          </p:cNvPr>
          <p:cNvSpPr/>
          <p:nvPr/>
        </p:nvSpPr>
        <p:spPr>
          <a:xfrm>
            <a:off x="2631594" y="5553215"/>
            <a:ext cx="435546" cy="405236"/>
          </a:xfrm>
          <a:prstGeom prst="ellipse">
            <a:avLst/>
          </a:prstGeom>
          <a:solidFill>
            <a:srgbClr val="003373"/>
          </a:solidFill>
          <a:ln w="9525">
            <a:solidFill>
              <a:srgbClr val="0033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5" name="Oval 14">
            <a:extLst>
              <a:ext uri="{FF2B5EF4-FFF2-40B4-BE49-F238E27FC236}">
                <a16:creationId xmlns:a16="http://schemas.microsoft.com/office/drawing/2014/main" id="{35635B7F-4888-E56B-3BE5-1FDC80887A8B}"/>
              </a:ext>
            </a:extLst>
          </p:cNvPr>
          <p:cNvSpPr/>
          <p:nvPr/>
        </p:nvSpPr>
        <p:spPr>
          <a:xfrm>
            <a:off x="11171436" y="5553214"/>
            <a:ext cx="435546" cy="405236"/>
          </a:xfrm>
          <a:prstGeom prst="ellipse">
            <a:avLst/>
          </a:prstGeom>
          <a:solidFill>
            <a:schemeClr val="bg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5" name="Oval 24">
            <a:extLst>
              <a:ext uri="{FF2B5EF4-FFF2-40B4-BE49-F238E27FC236}">
                <a16:creationId xmlns:a16="http://schemas.microsoft.com/office/drawing/2014/main" id="{10BF6C56-7832-AB80-32D9-0FB35EB7BB81}"/>
              </a:ext>
            </a:extLst>
          </p:cNvPr>
          <p:cNvSpPr/>
          <p:nvPr/>
        </p:nvSpPr>
        <p:spPr>
          <a:xfrm>
            <a:off x="13784008" y="5553214"/>
            <a:ext cx="435546" cy="405236"/>
          </a:xfrm>
          <a:prstGeom prst="ellipse">
            <a:avLst/>
          </a:prstGeom>
          <a:solidFill>
            <a:schemeClr val="bg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pic>
        <p:nvPicPr>
          <p:cNvPr id="28" name="Picture 27">
            <a:extLst>
              <a:ext uri="{FF2B5EF4-FFF2-40B4-BE49-F238E27FC236}">
                <a16:creationId xmlns:a16="http://schemas.microsoft.com/office/drawing/2014/main" id="{9E47E6A5-2EFE-487B-590E-B1B255677B58}"/>
              </a:ext>
            </a:extLst>
          </p:cNvPr>
          <p:cNvPicPr>
            <a:picLocks noChangeAspect="1"/>
          </p:cNvPicPr>
          <p:nvPr/>
        </p:nvPicPr>
        <p:blipFill>
          <a:blip r:embed="rId3"/>
          <a:stretch>
            <a:fillRect/>
          </a:stretch>
        </p:blipFill>
        <p:spPr>
          <a:xfrm>
            <a:off x="2811917" y="5259161"/>
            <a:ext cx="123825" cy="323850"/>
          </a:xfrm>
          <a:prstGeom prst="rect">
            <a:avLst/>
          </a:prstGeom>
        </p:spPr>
      </p:pic>
      <p:pic>
        <p:nvPicPr>
          <p:cNvPr id="34" name="Picture 33">
            <a:extLst>
              <a:ext uri="{FF2B5EF4-FFF2-40B4-BE49-F238E27FC236}">
                <a16:creationId xmlns:a16="http://schemas.microsoft.com/office/drawing/2014/main" id="{DA7827FB-F068-C833-9C1B-E7C9C54C3687}"/>
              </a:ext>
            </a:extLst>
          </p:cNvPr>
          <p:cNvPicPr>
            <a:picLocks noChangeAspect="1"/>
          </p:cNvPicPr>
          <p:nvPr/>
        </p:nvPicPr>
        <p:blipFill>
          <a:blip r:embed="rId4"/>
          <a:stretch>
            <a:fillRect/>
          </a:stretch>
        </p:blipFill>
        <p:spPr>
          <a:xfrm>
            <a:off x="5620431" y="5228545"/>
            <a:ext cx="123825" cy="352425"/>
          </a:xfrm>
          <a:prstGeom prst="rect">
            <a:avLst/>
          </a:prstGeom>
        </p:spPr>
      </p:pic>
      <p:sp>
        <p:nvSpPr>
          <p:cNvPr id="35" name="Oval 34">
            <a:extLst>
              <a:ext uri="{FF2B5EF4-FFF2-40B4-BE49-F238E27FC236}">
                <a16:creationId xmlns:a16="http://schemas.microsoft.com/office/drawing/2014/main" id="{B2FA03BC-8C2D-BB90-AF12-86A2E874839D}"/>
              </a:ext>
            </a:extLst>
          </p:cNvPr>
          <p:cNvSpPr/>
          <p:nvPr/>
        </p:nvSpPr>
        <p:spPr>
          <a:xfrm>
            <a:off x="5456437" y="5553215"/>
            <a:ext cx="435546" cy="405236"/>
          </a:xfrm>
          <a:prstGeom prst="ellipse">
            <a:avLst/>
          </a:prstGeom>
          <a:solidFill>
            <a:srgbClr val="00B05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pic>
        <p:nvPicPr>
          <p:cNvPr id="40" name="Picture 39">
            <a:extLst>
              <a:ext uri="{FF2B5EF4-FFF2-40B4-BE49-F238E27FC236}">
                <a16:creationId xmlns:a16="http://schemas.microsoft.com/office/drawing/2014/main" id="{810E14B4-5179-CEC9-2052-A553952A1668}"/>
              </a:ext>
            </a:extLst>
          </p:cNvPr>
          <p:cNvPicPr>
            <a:picLocks noChangeAspect="1"/>
          </p:cNvPicPr>
          <p:nvPr/>
        </p:nvPicPr>
        <p:blipFill>
          <a:blip r:embed="rId5"/>
          <a:stretch>
            <a:fillRect/>
          </a:stretch>
        </p:blipFill>
        <p:spPr>
          <a:xfrm>
            <a:off x="13931674" y="5146221"/>
            <a:ext cx="123825" cy="419100"/>
          </a:xfrm>
          <a:prstGeom prst="rect">
            <a:avLst/>
          </a:prstGeom>
        </p:spPr>
      </p:pic>
      <p:pic>
        <p:nvPicPr>
          <p:cNvPr id="41" name="Picture 40">
            <a:extLst>
              <a:ext uri="{FF2B5EF4-FFF2-40B4-BE49-F238E27FC236}">
                <a16:creationId xmlns:a16="http://schemas.microsoft.com/office/drawing/2014/main" id="{953CDFA0-249B-B693-F21D-3E4CA42EC049}"/>
              </a:ext>
            </a:extLst>
          </p:cNvPr>
          <p:cNvPicPr>
            <a:picLocks noChangeAspect="1"/>
          </p:cNvPicPr>
          <p:nvPr/>
        </p:nvPicPr>
        <p:blipFill>
          <a:blip r:embed="rId5"/>
          <a:stretch>
            <a:fillRect/>
          </a:stretch>
        </p:blipFill>
        <p:spPr>
          <a:xfrm>
            <a:off x="11335430" y="5162550"/>
            <a:ext cx="123825" cy="419100"/>
          </a:xfrm>
          <a:prstGeom prst="rect">
            <a:avLst/>
          </a:prstGeom>
        </p:spPr>
      </p:pic>
      <p:sp>
        <p:nvSpPr>
          <p:cNvPr id="32" name="Oval 31">
            <a:extLst>
              <a:ext uri="{FF2B5EF4-FFF2-40B4-BE49-F238E27FC236}">
                <a16:creationId xmlns:a16="http://schemas.microsoft.com/office/drawing/2014/main" id="{B132625D-6F79-BBDF-089D-F715435FAD45}"/>
              </a:ext>
            </a:extLst>
          </p:cNvPr>
          <p:cNvSpPr/>
          <p:nvPr/>
        </p:nvSpPr>
        <p:spPr>
          <a:xfrm>
            <a:off x="8509655" y="5553214"/>
            <a:ext cx="435546" cy="405236"/>
          </a:xfrm>
          <a:prstGeom prst="ellipse">
            <a:avLst/>
          </a:prstGeom>
          <a:solidFill>
            <a:srgbClr val="00B05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pic>
        <p:nvPicPr>
          <p:cNvPr id="33" name="Picture 32">
            <a:extLst>
              <a:ext uri="{FF2B5EF4-FFF2-40B4-BE49-F238E27FC236}">
                <a16:creationId xmlns:a16="http://schemas.microsoft.com/office/drawing/2014/main" id="{9A11FF7B-F035-890B-699D-0D6408990DF4}"/>
              </a:ext>
            </a:extLst>
          </p:cNvPr>
          <p:cNvPicPr>
            <a:picLocks noChangeAspect="1"/>
          </p:cNvPicPr>
          <p:nvPr/>
        </p:nvPicPr>
        <p:blipFill>
          <a:blip r:embed="rId4"/>
          <a:stretch>
            <a:fillRect/>
          </a:stretch>
        </p:blipFill>
        <p:spPr>
          <a:xfrm>
            <a:off x="8673649" y="5181572"/>
            <a:ext cx="123825" cy="352425"/>
          </a:xfrm>
          <a:prstGeom prst="rect">
            <a:avLst/>
          </a:prstGeom>
        </p:spPr>
      </p:pic>
    </p:spTree>
    <p:extLst>
      <p:ext uri="{BB962C8B-B14F-4D97-AF65-F5344CB8AC3E}">
        <p14:creationId xmlns:p14="http://schemas.microsoft.com/office/powerpoint/2010/main" val="24988394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C43DE-38B9-1E5E-796A-9EEB4EC4889A}"/>
            </a:ext>
          </a:extLst>
        </p:cNvPr>
        <p:cNvGrpSpPr/>
        <p:nvPr/>
      </p:nvGrpSpPr>
      <p:grpSpPr>
        <a:xfrm>
          <a:off x="0" y="0"/>
          <a:ext cx="0" cy="0"/>
          <a:chOff x="0" y="0"/>
          <a:chExt cx="0" cy="0"/>
        </a:xfrm>
      </p:grpSpPr>
      <p:pic>
        <p:nvPicPr>
          <p:cNvPr id="53" name="Picture 52">
            <a:extLst>
              <a:ext uri="{FF2B5EF4-FFF2-40B4-BE49-F238E27FC236}">
                <a16:creationId xmlns:a16="http://schemas.microsoft.com/office/drawing/2014/main" id="{D8B71580-A9D9-9707-4F61-285F5E64DA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19415" y="60344"/>
            <a:ext cx="2308638" cy="1251719"/>
          </a:xfrm>
          <a:prstGeom prst="rect">
            <a:avLst/>
          </a:prstGeom>
        </p:spPr>
      </p:pic>
      <p:sp>
        <p:nvSpPr>
          <p:cNvPr id="3" name="Rectangle 2">
            <a:extLst>
              <a:ext uri="{FF2B5EF4-FFF2-40B4-BE49-F238E27FC236}">
                <a16:creationId xmlns:a16="http://schemas.microsoft.com/office/drawing/2014/main" id="{3BF622F9-FA0D-A268-831E-0AD1770ED2A0}"/>
              </a:ext>
            </a:extLst>
          </p:cNvPr>
          <p:cNvSpPr/>
          <p:nvPr/>
        </p:nvSpPr>
        <p:spPr>
          <a:xfrm>
            <a:off x="831653" y="1660601"/>
            <a:ext cx="16583688" cy="452903"/>
          </a:xfrm>
          <a:prstGeom prst="rect">
            <a:avLst/>
          </a:prstGeom>
          <a:solidFill>
            <a:srgbClr val="00A69C"/>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Key Action Items</a:t>
            </a:r>
          </a:p>
        </p:txBody>
      </p:sp>
      <p:sp>
        <p:nvSpPr>
          <p:cNvPr id="6" name="Title 1">
            <a:extLst>
              <a:ext uri="{FF2B5EF4-FFF2-40B4-BE49-F238E27FC236}">
                <a16:creationId xmlns:a16="http://schemas.microsoft.com/office/drawing/2014/main" id="{DE347383-2966-4A5E-8546-3942E32D5274}"/>
              </a:ext>
            </a:extLst>
          </p:cNvPr>
          <p:cNvSpPr txBox="1">
            <a:spLocks/>
          </p:cNvSpPr>
          <p:nvPr/>
        </p:nvSpPr>
        <p:spPr>
          <a:xfrm>
            <a:off x="831653" y="1059248"/>
            <a:ext cx="13441680" cy="415499"/>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ct val="0"/>
              </a:spcBef>
              <a:spcAft>
                <a:spcPts val="0"/>
              </a:spcAft>
              <a:buClrTx/>
              <a:buSzTx/>
              <a:buFontTx/>
              <a:buNone/>
              <a:tabLst/>
              <a:defRPr/>
            </a:pPr>
            <a:r>
              <a:rPr lang="en-US" sz="2700">
                <a:solidFill>
                  <a:srgbClr val="000000"/>
                </a:solidFill>
              </a:rPr>
              <a:t>Process Enhancement and Automation</a:t>
            </a:r>
            <a:endParaRPr kumimoji="0" lang="en-US" sz="2700" b="1" i="0" u="none" strike="noStrike" kern="1200" cap="none" spc="0" normalizeH="0" baseline="0" noProof="0">
              <a:ln w="6350" cap="flat">
                <a:noFill/>
                <a:miter lim="800000"/>
              </a:ln>
              <a:solidFill>
                <a:srgbClr val="000000"/>
              </a:solidFill>
              <a:effectLst/>
              <a:uLnTx/>
              <a:uFillTx/>
            </a:endParaRPr>
          </a:p>
        </p:txBody>
      </p:sp>
      <p:graphicFrame>
        <p:nvGraphicFramePr>
          <p:cNvPr id="7" name="Table 6">
            <a:extLst>
              <a:ext uri="{FF2B5EF4-FFF2-40B4-BE49-F238E27FC236}">
                <a16:creationId xmlns:a16="http://schemas.microsoft.com/office/drawing/2014/main" id="{6A15A95A-38E1-47AF-AB2F-F01E4F4F49E5}"/>
              </a:ext>
            </a:extLst>
          </p:cNvPr>
          <p:cNvGraphicFramePr>
            <a:graphicFrameLocks noGrp="1"/>
          </p:cNvGraphicFramePr>
          <p:nvPr>
            <p:extLst>
              <p:ext uri="{D42A27DB-BD31-4B8C-83A1-F6EECF244321}">
                <p14:modId xmlns:p14="http://schemas.microsoft.com/office/powerpoint/2010/main" val="1980815941"/>
              </p:ext>
            </p:extLst>
          </p:nvPr>
        </p:nvGraphicFramePr>
        <p:xfrm>
          <a:off x="804790" y="2299358"/>
          <a:ext cx="16637414" cy="6400425"/>
        </p:xfrm>
        <a:graphic>
          <a:graphicData uri="http://schemas.openxmlformats.org/drawingml/2006/table">
            <a:tbl>
              <a:tblPr firstRow="1" bandRow="1">
                <a:tableStyleId>{5C22544A-7EE6-4342-B048-85BDC9FD1C3A}</a:tableStyleId>
              </a:tblPr>
              <a:tblGrid>
                <a:gridCol w="781283">
                  <a:extLst>
                    <a:ext uri="{9D8B030D-6E8A-4147-A177-3AD203B41FA5}">
                      <a16:colId xmlns:a16="http://schemas.microsoft.com/office/drawing/2014/main" val="1957147653"/>
                    </a:ext>
                  </a:extLst>
                </a:gridCol>
                <a:gridCol w="5873682">
                  <a:extLst>
                    <a:ext uri="{9D8B030D-6E8A-4147-A177-3AD203B41FA5}">
                      <a16:colId xmlns:a16="http://schemas.microsoft.com/office/drawing/2014/main" val="2952343754"/>
                    </a:ext>
                  </a:extLst>
                </a:gridCol>
                <a:gridCol w="3327483">
                  <a:extLst>
                    <a:ext uri="{9D8B030D-6E8A-4147-A177-3AD203B41FA5}">
                      <a16:colId xmlns:a16="http://schemas.microsoft.com/office/drawing/2014/main" val="899017330"/>
                    </a:ext>
                  </a:extLst>
                </a:gridCol>
                <a:gridCol w="3327483">
                  <a:extLst>
                    <a:ext uri="{9D8B030D-6E8A-4147-A177-3AD203B41FA5}">
                      <a16:colId xmlns:a16="http://schemas.microsoft.com/office/drawing/2014/main" val="3463251137"/>
                    </a:ext>
                  </a:extLst>
                </a:gridCol>
                <a:gridCol w="3327483">
                  <a:extLst>
                    <a:ext uri="{9D8B030D-6E8A-4147-A177-3AD203B41FA5}">
                      <a16:colId xmlns:a16="http://schemas.microsoft.com/office/drawing/2014/main" val="1499313505"/>
                    </a:ext>
                  </a:extLst>
                </a:gridCol>
              </a:tblGrid>
              <a:tr h="653721">
                <a:tc>
                  <a:txBody>
                    <a:bodyPr/>
                    <a:lstStyle/>
                    <a:p>
                      <a:pPr algn="ctr" fontAlgn="ctr"/>
                      <a:r>
                        <a:rPr lang="en-US" sz="1700" b="1" i="0" u="none" strike="noStrike">
                          <a:solidFill>
                            <a:schemeClr val="bg1"/>
                          </a:solidFill>
                          <a:effectLst/>
                          <a:latin typeface="Aptos Narrow"/>
                        </a:rPr>
                        <a:t>#</a:t>
                      </a:r>
                    </a:p>
                  </a:txBody>
                  <a:tcPr marL="11430" marR="11430" marT="11430" marB="0" anchor="ctr">
                    <a:lnB w="12700" cap="flat" cmpd="sng" algn="ctr">
                      <a:noFill/>
                      <a:prstDash val="solid"/>
                      <a:round/>
                      <a:headEnd type="none" w="med" len="med"/>
                      <a:tailEnd type="none" w="med" len="med"/>
                    </a:lnB>
                    <a:solidFill>
                      <a:srgbClr val="00A69C"/>
                    </a:solidFill>
                  </a:tcPr>
                </a:tc>
                <a:tc>
                  <a:txBody>
                    <a:bodyPr/>
                    <a:lstStyle/>
                    <a:p>
                      <a:pPr algn="ctr" fontAlgn="ctr"/>
                      <a:r>
                        <a:rPr lang="en-US" sz="1700" b="1" i="0" u="none" strike="noStrike">
                          <a:solidFill>
                            <a:schemeClr val="bg1"/>
                          </a:solidFill>
                          <a:effectLst/>
                          <a:latin typeface="Aptos Narrow"/>
                        </a:rPr>
                        <a:t>Action Item</a:t>
                      </a:r>
                    </a:p>
                  </a:txBody>
                  <a:tcPr marL="11430" marR="11430" marT="11430" marB="0" anchor="ctr">
                    <a:lnB w="12700" cap="flat" cmpd="sng" algn="ctr">
                      <a:noFill/>
                      <a:prstDash val="solid"/>
                      <a:round/>
                      <a:headEnd type="none" w="med" len="med"/>
                      <a:tailEnd type="none" w="med" len="med"/>
                    </a:lnB>
                    <a:solidFill>
                      <a:srgbClr val="00A69C"/>
                    </a:solidFill>
                  </a:tcPr>
                </a:tc>
                <a:tc>
                  <a:txBody>
                    <a:bodyPr/>
                    <a:lstStyle/>
                    <a:p>
                      <a:pPr algn="ctr" fontAlgn="ctr"/>
                      <a:r>
                        <a:rPr lang="en-US" sz="1700" b="1" i="0" u="none" strike="noStrike">
                          <a:solidFill>
                            <a:schemeClr val="bg1"/>
                          </a:solidFill>
                          <a:effectLst/>
                          <a:latin typeface="Aptos Narrow"/>
                        </a:rPr>
                        <a:t>Status</a:t>
                      </a:r>
                    </a:p>
                  </a:txBody>
                  <a:tcPr marL="11430" marR="11430" marT="11430" marB="0" anchor="ctr">
                    <a:lnB w="12700" cap="flat" cmpd="sng" algn="ctr">
                      <a:noFill/>
                      <a:prstDash val="solid"/>
                      <a:round/>
                      <a:headEnd type="none" w="med" len="med"/>
                      <a:tailEnd type="none" w="med" len="med"/>
                    </a:lnB>
                    <a:solidFill>
                      <a:srgbClr val="00A69C"/>
                    </a:solidFill>
                  </a:tcPr>
                </a:tc>
                <a:tc>
                  <a:txBody>
                    <a:bodyPr/>
                    <a:lstStyle/>
                    <a:p>
                      <a:pPr algn="ctr" fontAlgn="ctr"/>
                      <a:r>
                        <a:rPr lang="en-US" sz="1700" b="1" i="0" u="none" strike="noStrike">
                          <a:solidFill>
                            <a:schemeClr val="bg1"/>
                          </a:solidFill>
                          <a:effectLst/>
                          <a:latin typeface="Aptos Narrow"/>
                        </a:rPr>
                        <a:t>Due Date</a:t>
                      </a:r>
                    </a:p>
                  </a:txBody>
                  <a:tcPr marL="11430" marR="11430" marT="11430" marB="0" anchor="ctr">
                    <a:lnB w="12700" cap="flat" cmpd="sng" algn="ctr">
                      <a:noFill/>
                      <a:prstDash val="solid"/>
                      <a:round/>
                      <a:headEnd type="none" w="med" len="med"/>
                      <a:tailEnd type="none" w="med" len="med"/>
                    </a:lnB>
                    <a:solidFill>
                      <a:srgbClr val="00A69C"/>
                    </a:solidFill>
                  </a:tcPr>
                </a:tc>
                <a:tc>
                  <a:txBody>
                    <a:bodyPr/>
                    <a:lstStyle/>
                    <a:p>
                      <a:pPr algn="ctr" fontAlgn="ctr"/>
                      <a:r>
                        <a:rPr lang="en-US" sz="1700" b="1" i="0" u="none" strike="noStrike">
                          <a:solidFill>
                            <a:schemeClr val="bg1"/>
                          </a:solidFill>
                          <a:effectLst/>
                          <a:latin typeface="Aptos Narrow"/>
                        </a:rPr>
                        <a:t>Owner</a:t>
                      </a:r>
                    </a:p>
                  </a:txBody>
                  <a:tcPr marL="11430" marR="11430" marT="11430" marB="0" anchor="ctr">
                    <a:lnB w="12700" cap="flat" cmpd="sng" algn="ctr">
                      <a:noFill/>
                      <a:prstDash val="solid"/>
                      <a:round/>
                      <a:headEnd type="none" w="med" len="med"/>
                      <a:tailEnd type="none" w="med" len="med"/>
                    </a:lnB>
                    <a:solidFill>
                      <a:srgbClr val="00A69C"/>
                    </a:solidFill>
                  </a:tcPr>
                </a:tc>
                <a:extLst>
                  <a:ext uri="{0D108BD9-81ED-4DB2-BD59-A6C34878D82A}">
                    <a16:rowId xmlns:a16="http://schemas.microsoft.com/office/drawing/2014/main" val="3393840757"/>
                  </a:ext>
                </a:extLst>
              </a:tr>
              <a:tr h="653721">
                <a:tc>
                  <a:txBody>
                    <a:bodyPr/>
                    <a:lstStyle/>
                    <a:p>
                      <a:pPr algn="ctr" fontAlgn="ctr"/>
                      <a:r>
                        <a:rPr lang="en-US" sz="1700" b="0" i="0" u="none" strike="noStrike">
                          <a:solidFill>
                            <a:srgbClr val="000000"/>
                          </a:solidFill>
                          <a:effectLst/>
                          <a:latin typeface="Aptos Narrow"/>
                        </a:rPr>
                        <a:t>1</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700" b="0" i="0" u="none" strike="noStrike">
                          <a:solidFill>
                            <a:srgbClr val="000000"/>
                          </a:solidFill>
                          <a:effectLst/>
                          <a:latin typeface="Arial"/>
                          <a:cs typeface="Arial"/>
                        </a:rPr>
                        <a:t>Review Current Processes</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Completed</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sngStrike" baseline="0">
                          <a:solidFill>
                            <a:srgbClr val="000000"/>
                          </a:solidFill>
                          <a:effectLst/>
                          <a:latin typeface="Arial"/>
                          <a:cs typeface="Arial"/>
                        </a:rPr>
                        <a:t>5.10.2025</a:t>
                      </a:r>
                    </a:p>
                    <a:p>
                      <a:pPr algn="ctr" fontAlgn="ctr"/>
                      <a:r>
                        <a:rPr lang="en-US" sz="1700" b="0" i="0" u="none" strike="sngStrike" baseline="0">
                          <a:solidFill>
                            <a:srgbClr val="000000"/>
                          </a:solidFill>
                          <a:effectLst/>
                          <a:latin typeface="Arial"/>
                          <a:cs typeface="Arial"/>
                        </a:rPr>
                        <a:t>12.10.2025</a:t>
                      </a:r>
                    </a:p>
                    <a:p>
                      <a:pPr lvl="0" algn="ctr">
                        <a:buNone/>
                      </a:pPr>
                      <a:r>
                        <a:rPr lang="en-US" sz="1700" b="0" i="0" u="none" strike="noStrike" baseline="0" noProof="0">
                          <a:solidFill>
                            <a:srgbClr val="000000"/>
                          </a:solidFill>
                          <a:effectLst/>
                          <a:latin typeface="Arial"/>
                        </a:rPr>
                        <a:t>1.12.2025</a:t>
                      </a:r>
                      <a:endParaRPr lang="en-US"/>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ICD and PMO</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3816635"/>
                  </a:ext>
                </a:extLst>
              </a:tr>
              <a:tr h="1268730">
                <a:tc>
                  <a:txBody>
                    <a:bodyPr/>
                    <a:lstStyle/>
                    <a:p>
                      <a:pPr algn="ctr" fontAlgn="ctr"/>
                      <a:r>
                        <a:rPr lang="en-US" sz="1700" b="0" i="0" u="none" strike="noStrike">
                          <a:solidFill>
                            <a:srgbClr val="000000"/>
                          </a:solidFill>
                          <a:effectLst/>
                          <a:latin typeface="Aptos Narrow"/>
                        </a:rPr>
                        <a:t>2</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700" b="0" i="0" u="none" strike="noStrike">
                          <a:solidFill>
                            <a:srgbClr val="000000"/>
                          </a:solidFill>
                          <a:effectLst/>
                          <a:latin typeface="Arial"/>
                          <a:cs typeface="Arial"/>
                        </a:rPr>
                        <a:t>Business Requirement Documents</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700" b="0" i="0" u="none" strike="noStrike">
                          <a:solidFill>
                            <a:srgbClr val="000000"/>
                          </a:solidFill>
                          <a:effectLst/>
                          <a:latin typeface="Arial"/>
                          <a:cs typeface="Arial"/>
                        </a:rPr>
                        <a:t>Completed</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700" b="0" i="0" u="none" strike="sngStrike" baseline="0">
                          <a:solidFill>
                            <a:srgbClr val="000000"/>
                          </a:solidFill>
                          <a:effectLst/>
                          <a:latin typeface="Arial"/>
                          <a:cs typeface="Arial"/>
                        </a:rPr>
                        <a:t>9.10.2025</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700" b="0" i="0" u="none" strike="sngStrike" baseline="0">
                          <a:solidFill>
                            <a:srgbClr val="000000"/>
                          </a:solidFill>
                          <a:effectLst/>
                          <a:latin typeface="Arial"/>
                          <a:cs typeface="Arial"/>
                        </a:rPr>
                        <a:t>16.10.2025</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700" b="0" i="0" u="none" strike="sngStrike" baseline="0">
                          <a:solidFill>
                            <a:srgbClr val="000000"/>
                          </a:solidFill>
                          <a:effectLst/>
                          <a:latin typeface="Arial"/>
                          <a:cs typeface="Arial"/>
                        </a:rPr>
                        <a:t>28.10.2025</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700" b="0" i="0" u="none" strike="sngStrike" baseline="0">
                          <a:solidFill>
                            <a:srgbClr val="000000"/>
                          </a:solidFill>
                          <a:effectLst/>
                          <a:latin typeface="Arial"/>
                          <a:cs typeface="Arial"/>
                        </a:rPr>
                        <a:t>6.11.2025</a:t>
                      </a:r>
                    </a:p>
                    <a:p>
                      <a:pPr marL="0" marR="0" lvl="0" indent="0" algn="ctr" defTabSz="914400">
                        <a:lnSpc>
                          <a:spcPct val="100000"/>
                        </a:lnSpc>
                        <a:spcBef>
                          <a:spcPts val="0"/>
                        </a:spcBef>
                        <a:spcAft>
                          <a:spcPts val="0"/>
                        </a:spcAft>
                        <a:buNone/>
                        <a:tabLst/>
                        <a:defRPr/>
                      </a:pPr>
                      <a:r>
                        <a:rPr lang="en-US" sz="1700" b="0" i="0" u="none" strike="sngStrike" baseline="0" noProof="0">
                          <a:solidFill>
                            <a:srgbClr val="000000"/>
                          </a:solidFill>
                          <a:effectLst/>
                          <a:latin typeface="Arial"/>
                        </a:rPr>
                        <a:t>30.11.2025</a:t>
                      </a:r>
                      <a:endParaRPr lang="en-US"/>
                    </a:p>
                    <a:p>
                      <a:pPr marL="0" marR="0" lvl="0" indent="0" algn="ctr">
                        <a:lnSpc>
                          <a:spcPct val="100000"/>
                        </a:lnSpc>
                        <a:spcBef>
                          <a:spcPts val="0"/>
                        </a:spcBef>
                        <a:spcAft>
                          <a:spcPts val="0"/>
                        </a:spcAft>
                        <a:buNone/>
                      </a:pPr>
                      <a:r>
                        <a:rPr lang="en-US" sz="1700" b="0" i="0" u="none" strike="sngStrike" baseline="0" noProof="0">
                          <a:solidFill>
                            <a:srgbClr val="000000"/>
                          </a:solidFill>
                          <a:effectLst/>
                          <a:latin typeface="Arial"/>
                        </a:rPr>
                        <a:t>15.12.2025</a:t>
                      </a:r>
                      <a:endParaRPr lang="en-US"/>
                    </a:p>
                    <a:p>
                      <a:pPr marL="0" marR="0" lvl="0" indent="0" algn="ctr">
                        <a:lnSpc>
                          <a:spcPct val="100000"/>
                        </a:lnSpc>
                        <a:spcBef>
                          <a:spcPts val="0"/>
                        </a:spcBef>
                        <a:spcAft>
                          <a:spcPts val="0"/>
                        </a:spcAft>
                        <a:buNone/>
                      </a:pPr>
                      <a:r>
                        <a:rPr lang="en-US" sz="1700" b="0" i="0" u="none" strike="sngStrike" baseline="0" noProof="0">
                          <a:solidFill>
                            <a:srgbClr val="000000"/>
                          </a:solidFill>
                          <a:effectLst/>
                          <a:latin typeface="Arial"/>
                        </a:rPr>
                        <a:t>31.12.2025</a:t>
                      </a:r>
                    </a:p>
                    <a:p>
                      <a:pPr marL="0" marR="0" lvl="0" indent="0" algn="ctr">
                        <a:lnSpc>
                          <a:spcPct val="100000"/>
                        </a:lnSpc>
                        <a:spcBef>
                          <a:spcPts val="0"/>
                        </a:spcBef>
                        <a:spcAft>
                          <a:spcPts val="0"/>
                        </a:spcAft>
                        <a:buNone/>
                      </a:pPr>
                      <a:r>
                        <a:rPr lang="en-US" sz="1700" b="0" i="0" u="none" strike="sngStrike" baseline="0" noProof="0">
                          <a:solidFill>
                            <a:srgbClr val="000000"/>
                          </a:solidFill>
                          <a:effectLst/>
                          <a:latin typeface="Arial"/>
                        </a:rPr>
                        <a:t>15.1.2026</a:t>
                      </a:r>
                    </a:p>
                    <a:p>
                      <a:pPr marL="0" marR="0" lvl="0" indent="0" algn="ctr">
                        <a:lnSpc>
                          <a:spcPct val="100000"/>
                        </a:lnSpc>
                        <a:spcBef>
                          <a:spcPts val="0"/>
                        </a:spcBef>
                        <a:spcAft>
                          <a:spcPts val="0"/>
                        </a:spcAft>
                        <a:buNone/>
                      </a:pPr>
                      <a:r>
                        <a:rPr lang="en-US" sz="1700" b="0" i="0" u="none" strike="noStrike" baseline="0" noProof="0">
                          <a:solidFill>
                            <a:srgbClr val="000000"/>
                          </a:solidFill>
                          <a:effectLst/>
                          <a:latin typeface="Arial"/>
                        </a:rPr>
                        <a:t>31.3.2026</a:t>
                      </a:r>
                      <a:endParaRPr lang="en-US"/>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ICD and PMO</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4845869"/>
                  </a:ext>
                </a:extLst>
              </a:tr>
              <a:tr h="653721">
                <a:tc>
                  <a:txBody>
                    <a:bodyPr/>
                    <a:lstStyle/>
                    <a:p>
                      <a:pPr algn="ctr" fontAlgn="ctr"/>
                      <a:r>
                        <a:rPr lang="en-US" sz="1700" b="0" i="0" u="none" strike="noStrike">
                          <a:solidFill>
                            <a:srgbClr val="000000"/>
                          </a:solidFill>
                          <a:effectLst/>
                          <a:latin typeface="Aptos Narrow"/>
                        </a:rPr>
                        <a:t>3</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700" b="0" i="0" u="none" strike="noStrike">
                          <a:solidFill>
                            <a:srgbClr val="000000"/>
                          </a:solidFill>
                          <a:effectLst/>
                          <a:latin typeface="Arial"/>
                          <a:cs typeface="Arial"/>
                        </a:rPr>
                        <a:t>Development</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In Progress</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sngStrike" baseline="0">
                          <a:solidFill>
                            <a:srgbClr val="000000"/>
                          </a:solidFill>
                          <a:effectLst/>
                          <a:latin typeface="Arial"/>
                          <a:cs typeface="Arial"/>
                        </a:rPr>
                        <a:t>31.5.2026</a:t>
                      </a:r>
                    </a:p>
                    <a:p>
                      <a:pPr lvl="0" algn="ctr">
                        <a:buNone/>
                      </a:pPr>
                      <a:r>
                        <a:rPr lang="en-US" sz="1700" b="0" i="0" u="none" strike="noStrike" baseline="0">
                          <a:solidFill>
                            <a:srgbClr val="000000"/>
                          </a:solidFill>
                          <a:effectLst/>
                          <a:latin typeface="Arial"/>
                          <a:cs typeface="Arial"/>
                        </a:rPr>
                        <a:t>30.6.2026</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ICD, PMO, IT</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2546927"/>
                  </a:ext>
                </a:extLst>
              </a:tr>
              <a:tr h="653721">
                <a:tc>
                  <a:txBody>
                    <a:bodyPr/>
                    <a:lstStyle/>
                    <a:p>
                      <a:pPr algn="ctr" fontAlgn="ctr"/>
                      <a:r>
                        <a:rPr lang="en-US" sz="1700" b="0" i="0" u="none" strike="noStrike">
                          <a:solidFill>
                            <a:srgbClr val="000000"/>
                          </a:solidFill>
                          <a:effectLst/>
                          <a:latin typeface="Aptos Narrow"/>
                        </a:rPr>
                        <a:t>4</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700" b="0" i="0" u="none" strike="noStrike">
                          <a:solidFill>
                            <a:srgbClr val="000000"/>
                          </a:solidFill>
                          <a:effectLst/>
                          <a:latin typeface="Arial"/>
                          <a:cs typeface="Arial"/>
                        </a:rPr>
                        <a:t>Quality and Procedures Validations</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Not Started</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1700" b="0" i="0" u="none" strike="noStrike" baseline="0">
                        <a:solidFill>
                          <a:srgbClr val="000000"/>
                        </a:solidFill>
                        <a:effectLst/>
                        <a:latin typeface="Arial"/>
                        <a:cs typeface="Arial"/>
                      </a:endParaRP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PMO, Quality and Procedures </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79124527"/>
                  </a:ext>
                </a:extLst>
              </a:tr>
              <a:tr h="653721">
                <a:tc>
                  <a:txBody>
                    <a:bodyPr/>
                    <a:lstStyle/>
                    <a:p>
                      <a:pPr algn="ctr" fontAlgn="ctr"/>
                      <a:r>
                        <a:rPr lang="en-US" sz="1700" b="0" i="0" u="none" strike="noStrike">
                          <a:solidFill>
                            <a:srgbClr val="000000"/>
                          </a:solidFill>
                          <a:effectLst/>
                          <a:latin typeface="Aptos Narrow"/>
                        </a:rPr>
                        <a:t>5</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700" b="0" i="0" u="none" strike="noStrike">
                          <a:solidFill>
                            <a:srgbClr val="000000"/>
                          </a:solidFill>
                          <a:effectLst/>
                          <a:latin typeface="Arial"/>
                          <a:cs typeface="Arial"/>
                        </a:rPr>
                        <a:t>User Acceptance Testing</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700" b="0" i="0" u="none" strike="noStrike">
                          <a:solidFill>
                            <a:srgbClr val="000000"/>
                          </a:solidFill>
                          <a:effectLst/>
                          <a:latin typeface="Arial"/>
                          <a:cs typeface="Arial"/>
                        </a:rPr>
                        <a:t>Not Started</a:t>
                      </a:r>
                    </a:p>
                    <a:p>
                      <a:pPr algn="ctr" fontAlgn="ctr"/>
                      <a:endParaRPr lang="en-US" sz="1700" b="0" i="0" u="none" strike="noStrike">
                        <a:solidFill>
                          <a:srgbClr val="000000"/>
                        </a:solidFill>
                        <a:effectLst/>
                        <a:latin typeface="Arial" panose="020B0604020202020204" pitchFamily="34" charset="0"/>
                        <a:cs typeface="Arial" panose="020B0604020202020204" pitchFamily="34" charset="0"/>
                      </a:endParaRP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700" b="0" i="0" u="none" strike="noStrike" baseline="0">
                        <a:solidFill>
                          <a:srgbClr val="000000"/>
                        </a:solidFill>
                        <a:effectLst/>
                        <a:latin typeface="Arial" panose="020B0604020202020204" pitchFamily="34" charset="0"/>
                        <a:cs typeface="Arial" panose="020B0604020202020204" pitchFamily="34" charset="0"/>
                      </a:endParaRP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PMO, Development</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1928028"/>
                  </a:ext>
                </a:extLst>
              </a:tr>
              <a:tr h="653721">
                <a:tc>
                  <a:txBody>
                    <a:bodyPr/>
                    <a:lstStyle/>
                    <a:p>
                      <a:pPr algn="ctr" fontAlgn="ctr"/>
                      <a:r>
                        <a:rPr lang="en-US" sz="1700" b="0" i="0" u="none" strike="noStrike">
                          <a:solidFill>
                            <a:srgbClr val="000000"/>
                          </a:solidFill>
                          <a:effectLst/>
                          <a:latin typeface="Aptos Narrow"/>
                        </a:rPr>
                        <a:t>6</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700" b="0" i="0" u="none" strike="noStrike">
                          <a:solidFill>
                            <a:srgbClr val="000000"/>
                          </a:solidFill>
                          <a:effectLst/>
                          <a:latin typeface="Arial"/>
                          <a:cs typeface="Arial"/>
                        </a:rPr>
                        <a:t>Go-Live</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700" b="0" i="0" u="none" strike="noStrike">
                          <a:solidFill>
                            <a:srgbClr val="000000"/>
                          </a:solidFill>
                          <a:effectLst/>
                          <a:latin typeface="Arial"/>
                          <a:cs typeface="Arial"/>
                        </a:rPr>
                        <a:t>Not Started</a:t>
                      </a:r>
                    </a:p>
                    <a:p>
                      <a:pPr algn="ctr" fontAlgn="ctr"/>
                      <a:endParaRPr lang="en-US" sz="1700" b="0" i="0" u="none" strike="noStrike">
                        <a:solidFill>
                          <a:srgbClr val="000000"/>
                        </a:solidFill>
                        <a:effectLst/>
                        <a:latin typeface="Arial" panose="020B0604020202020204" pitchFamily="34" charset="0"/>
                        <a:cs typeface="Arial" panose="020B0604020202020204" pitchFamily="34" charset="0"/>
                      </a:endParaRP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700" b="0" i="0" u="none" strike="noStrike" baseline="0">
                        <a:solidFill>
                          <a:srgbClr val="000000"/>
                        </a:solidFill>
                        <a:effectLst/>
                        <a:latin typeface="Arial" panose="020B0604020202020204" pitchFamily="34" charset="0"/>
                        <a:cs typeface="Arial" panose="020B0604020202020204" pitchFamily="34" charset="0"/>
                      </a:endParaRP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PMO, Development</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6763877"/>
                  </a:ext>
                </a:extLst>
              </a:tr>
            </a:tbl>
          </a:graphicData>
        </a:graphic>
      </p:graphicFrame>
    </p:spTree>
    <p:extLst>
      <p:ext uri="{BB962C8B-B14F-4D97-AF65-F5344CB8AC3E}">
        <p14:creationId xmlns:p14="http://schemas.microsoft.com/office/powerpoint/2010/main" val="10546959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738774"/>
            <a:ext cx="15029164" cy="1058623"/>
          </a:xfrm>
          <a:prstGeom prst="rect">
            <a:avLst/>
          </a:prstGeom>
        </p:spPr>
        <p:txBody>
          <a:bodyPr wrap="square" lIns="0" tIns="0" rIns="0" bIns="0" rtlCol="0" anchor="t">
            <a:spAutoFit/>
          </a:bodyPr>
          <a:lstStyle/>
          <a:p>
            <a:pPr>
              <a:lnSpc>
                <a:spcPts val="8961"/>
              </a:lnSpc>
              <a:spcBef>
                <a:spcPct val="0"/>
              </a:spcBef>
            </a:pPr>
            <a:r>
              <a:rPr lang="en-US" sz="6400" b="1">
                <a:solidFill>
                  <a:srgbClr val="03A39D"/>
                </a:solidFill>
                <a:latin typeface="Inter Bold"/>
                <a:ea typeface="Inter Bold"/>
                <a:cs typeface="Inter Bold"/>
                <a:sym typeface="Inter Bold"/>
              </a:rPr>
              <a:t>Centralized data Warehouse</a:t>
            </a:r>
            <a:r>
              <a:rPr lang="en-US" sz="6400" b="1">
                <a:solidFill>
                  <a:srgbClr val="1C1818"/>
                </a:solidFill>
                <a:latin typeface="Inter Bold"/>
                <a:ea typeface="Inter Bold"/>
                <a:cs typeface="Inter Bold"/>
                <a:sym typeface="Inter Bold"/>
              </a:rPr>
              <a:t> Project</a:t>
            </a:r>
            <a:endParaRPr lang="en-US" sz="6400" b="1">
              <a:solidFill>
                <a:srgbClr val="1C1818"/>
              </a:solidFill>
              <a:latin typeface="Inter Bold"/>
              <a:ea typeface="Inter Bold"/>
              <a:cs typeface="Inter Bold"/>
            </a:endParaRPr>
          </a:p>
        </p:txBody>
      </p:sp>
      <p:sp>
        <p:nvSpPr>
          <p:cNvPr id="3" name="Freeform 3"/>
          <p:cNvSpPr/>
          <p:nvPr/>
        </p:nvSpPr>
        <p:spPr>
          <a:xfrm>
            <a:off x="0" y="0"/>
            <a:ext cx="1028700" cy="1028700"/>
          </a:xfrm>
          <a:custGeom>
            <a:avLst/>
            <a:gdLst/>
            <a:ahLst/>
            <a:cxnLst/>
            <a:rect l="l" t="t" r="r" b="b"/>
            <a:pathLst>
              <a:path w="1028700" h="1028700">
                <a:moveTo>
                  <a:pt x="0" y="0"/>
                </a:moveTo>
                <a:lnTo>
                  <a:pt x="1028700" y="0"/>
                </a:lnTo>
                <a:lnTo>
                  <a:pt x="1028700" y="1028700"/>
                </a:lnTo>
                <a:lnTo>
                  <a:pt x="0" y="10287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10" name="Group 10"/>
          <p:cNvGrpSpPr/>
          <p:nvPr/>
        </p:nvGrpSpPr>
        <p:grpSpPr>
          <a:xfrm>
            <a:off x="514350" y="8877758"/>
            <a:ext cx="295243" cy="295243"/>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A09A"/>
            </a:solidFill>
          </p:spPr>
          <p:txBody>
            <a:bodyPr/>
            <a:lstStyle/>
            <a:p>
              <a:endParaRPr lang="en-US"/>
            </a:p>
          </p:txBody>
        </p:sp>
        <p:sp>
          <p:nvSpPr>
            <p:cNvPr id="12" name="TextBox 12"/>
            <p:cNvSpPr txBox="1"/>
            <p:nvPr/>
          </p:nvSpPr>
          <p:spPr>
            <a:xfrm>
              <a:off x="76200" y="-47625"/>
              <a:ext cx="660400" cy="784225"/>
            </a:xfrm>
            <a:prstGeom prst="rect">
              <a:avLst/>
            </a:prstGeom>
          </p:spPr>
          <p:txBody>
            <a:bodyPr lIns="50800" tIns="50800" rIns="50800" bIns="50800" rtlCol="0" anchor="ctr"/>
            <a:lstStyle/>
            <a:p>
              <a:pPr algn="ctr">
                <a:lnSpc>
                  <a:spcPts val="3910"/>
                </a:lnSpc>
              </a:pPr>
              <a:endParaRPr/>
            </a:p>
          </p:txBody>
        </p:sp>
      </p:grpSp>
      <p:grpSp>
        <p:nvGrpSpPr>
          <p:cNvPr id="14" name="Group 14"/>
          <p:cNvGrpSpPr/>
          <p:nvPr/>
        </p:nvGrpSpPr>
        <p:grpSpPr>
          <a:xfrm>
            <a:off x="9864276" y="7543183"/>
            <a:ext cx="7124195" cy="1419873"/>
            <a:chOff x="0" y="0"/>
            <a:chExt cx="9498926" cy="1893165"/>
          </a:xfrm>
        </p:grpSpPr>
        <p:sp>
          <p:nvSpPr>
            <p:cNvPr id="15" name="Freeform 15"/>
            <p:cNvSpPr/>
            <p:nvPr/>
          </p:nvSpPr>
          <p:spPr>
            <a:xfrm>
              <a:off x="0" y="19403"/>
              <a:ext cx="1738820" cy="1738820"/>
            </a:xfrm>
            <a:custGeom>
              <a:avLst/>
              <a:gdLst/>
              <a:ahLst/>
              <a:cxnLst/>
              <a:rect l="l" t="t" r="r" b="b"/>
              <a:pathLst>
                <a:path w="1738820" h="1738820">
                  <a:moveTo>
                    <a:pt x="0" y="0"/>
                  </a:moveTo>
                  <a:lnTo>
                    <a:pt x="1738820" y="0"/>
                  </a:lnTo>
                  <a:lnTo>
                    <a:pt x="1738820" y="1738821"/>
                  </a:lnTo>
                  <a:lnTo>
                    <a:pt x="0" y="17388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Freeform 16"/>
            <p:cNvSpPr/>
            <p:nvPr/>
          </p:nvSpPr>
          <p:spPr>
            <a:xfrm>
              <a:off x="2603399" y="0"/>
              <a:ext cx="1713314" cy="1893165"/>
            </a:xfrm>
            <a:custGeom>
              <a:avLst/>
              <a:gdLst/>
              <a:ahLst/>
              <a:cxnLst/>
              <a:rect l="l" t="t" r="r" b="b"/>
              <a:pathLst>
                <a:path w="1713314" h="1893165">
                  <a:moveTo>
                    <a:pt x="0" y="0"/>
                  </a:moveTo>
                  <a:lnTo>
                    <a:pt x="1713314" y="0"/>
                  </a:lnTo>
                  <a:lnTo>
                    <a:pt x="1713314" y="1893165"/>
                  </a:lnTo>
                  <a:lnTo>
                    <a:pt x="0" y="189316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7" name="Freeform 17"/>
            <p:cNvSpPr/>
            <p:nvPr/>
          </p:nvSpPr>
          <p:spPr>
            <a:xfrm>
              <a:off x="5180313" y="20296"/>
              <a:ext cx="1737928" cy="1737928"/>
            </a:xfrm>
            <a:custGeom>
              <a:avLst/>
              <a:gdLst/>
              <a:ahLst/>
              <a:cxnLst/>
              <a:rect l="l" t="t" r="r" b="b"/>
              <a:pathLst>
                <a:path w="1737928" h="1737928">
                  <a:moveTo>
                    <a:pt x="0" y="0"/>
                  </a:moveTo>
                  <a:lnTo>
                    <a:pt x="1737928" y="0"/>
                  </a:lnTo>
                  <a:lnTo>
                    <a:pt x="1737928" y="1737928"/>
                  </a:lnTo>
                  <a:lnTo>
                    <a:pt x="0" y="173792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8" name="Freeform 18"/>
            <p:cNvSpPr/>
            <p:nvPr/>
          </p:nvSpPr>
          <p:spPr>
            <a:xfrm>
              <a:off x="7781841" y="19403"/>
              <a:ext cx="1717085" cy="1738820"/>
            </a:xfrm>
            <a:custGeom>
              <a:avLst/>
              <a:gdLst/>
              <a:ahLst/>
              <a:cxnLst/>
              <a:rect l="l" t="t" r="r" b="b"/>
              <a:pathLst>
                <a:path w="1717085" h="1738820">
                  <a:moveTo>
                    <a:pt x="0" y="0"/>
                  </a:moveTo>
                  <a:lnTo>
                    <a:pt x="1717085" y="0"/>
                  </a:lnTo>
                  <a:lnTo>
                    <a:pt x="1717085" y="1738821"/>
                  </a:lnTo>
                  <a:lnTo>
                    <a:pt x="0" y="173882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sp>
        <p:nvSpPr>
          <p:cNvPr id="19" name="TextBox 19"/>
          <p:cNvSpPr txBox="1"/>
          <p:nvPr/>
        </p:nvSpPr>
        <p:spPr>
          <a:xfrm>
            <a:off x="1028700" y="2029664"/>
            <a:ext cx="5364956" cy="339324"/>
          </a:xfrm>
          <a:prstGeom prst="rect">
            <a:avLst/>
          </a:prstGeom>
        </p:spPr>
        <p:txBody>
          <a:bodyPr lIns="0" tIns="0" rIns="0" bIns="0" rtlCol="0" anchor="t">
            <a:spAutoFit/>
          </a:bodyPr>
          <a:lstStyle/>
          <a:p>
            <a:pPr algn="just">
              <a:lnSpc>
                <a:spcPts val="2799"/>
              </a:lnSpc>
              <a:spcBef>
                <a:spcPct val="0"/>
              </a:spcBef>
            </a:pPr>
            <a:r>
              <a:rPr lang="en-US" sz="1950">
                <a:solidFill>
                  <a:srgbClr val="000000"/>
                </a:solidFill>
                <a:latin typeface="Poppins"/>
                <a:ea typeface="Poppins"/>
                <a:cs typeface="Poppins"/>
                <a:sym typeface="Poppins"/>
              </a:rPr>
              <a:t>Project Manager : Ezzat </a:t>
            </a:r>
            <a:r>
              <a:rPr lang="en-US" sz="1950" err="1">
                <a:solidFill>
                  <a:srgbClr val="000000"/>
                </a:solidFill>
                <a:latin typeface="Poppins"/>
                <a:ea typeface="Poppins"/>
                <a:cs typeface="Poppins"/>
                <a:sym typeface="Poppins"/>
              </a:rPr>
              <a:t>Zalzala</a:t>
            </a:r>
            <a:endParaRPr lang="en-US" sz="1999" err="1">
              <a:solidFill>
                <a:srgbClr val="000000"/>
              </a:solidFill>
              <a:latin typeface="Poppins"/>
              <a:ea typeface="Poppins"/>
              <a:cs typeface="Poppins"/>
              <a:sym typeface="Poppins"/>
            </a:endParaRPr>
          </a:p>
        </p:txBody>
      </p:sp>
      <p:sp>
        <p:nvSpPr>
          <p:cNvPr id="5" name="Freeform 13" descr="A blue and black logo&#10;&#10;AI-generated content may be incorrect.">
            <a:extLst>
              <a:ext uri="{FF2B5EF4-FFF2-40B4-BE49-F238E27FC236}">
                <a16:creationId xmlns:a16="http://schemas.microsoft.com/office/drawing/2014/main" id="{579A3AF8-30FC-8D1F-E181-AD7212AC18B2}"/>
              </a:ext>
            </a:extLst>
          </p:cNvPr>
          <p:cNvSpPr/>
          <p:nvPr/>
        </p:nvSpPr>
        <p:spPr>
          <a:xfrm>
            <a:off x="16062518" y="309634"/>
            <a:ext cx="1851905" cy="870481"/>
          </a:xfrm>
          <a:custGeom>
            <a:avLst/>
            <a:gdLst/>
            <a:ahLst/>
            <a:cxnLst/>
            <a:rect l="l" t="t" r="r" b="b"/>
            <a:pathLst>
              <a:path w="1851905" h="870481">
                <a:moveTo>
                  <a:pt x="0" y="0"/>
                </a:moveTo>
                <a:lnTo>
                  <a:pt x="1851905" y="0"/>
                </a:lnTo>
                <a:lnTo>
                  <a:pt x="1851905" y="870481"/>
                </a:lnTo>
                <a:lnTo>
                  <a:pt x="0" y="870481"/>
                </a:lnTo>
                <a:lnTo>
                  <a:pt x="0" y="0"/>
                </a:lnTo>
                <a:close/>
              </a:path>
            </a:pathLst>
          </a:custGeom>
          <a:blipFill>
            <a:blip r:embed="rId7"/>
            <a:stretch>
              <a:fillRect/>
            </a:stretch>
          </a:blipFill>
        </p:spPr>
        <p:txBody>
          <a:bodyPr/>
          <a:lstStyle/>
          <a:p>
            <a:endParaRPr lang="en-US"/>
          </a:p>
        </p:txBody>
      </p:sp>
      <p:sp>
        <p:nvSpPr>
          <p:cNvPr id="6" name="TextBox 20">
            <a:extLst>
              <a:ext uri="{FF2B5EF4-FFF2-40B4-BE49-F238E27FC236}">
                <a16:creationId xmlns:a16="http://schemas.microsoft.com/office/drawing/2014/main" id="{1EABBDF8-C9E1-0F68-244A-362400332AA2}"/>
              </a:ext>
            </a:extLst>
          </p:cNvPr>
          <p:cNvSpPr txBox="1"/>
          <p:nvPr/>
        </p:nvSpPr>
        <p:spPr>
          <a:xfrm>
            <a:off x="1028700" y="8836895"/>
            <a:ext cx="3192084" cy="338362"/>
          </a:xfrm>
          <a:prstGeom prst="rect">
            <a:avLst/>
          </a:prstGeom>
        </p:spPr>
        <p:txBody>
          <a:bodyPr wrap="square" lIns="0" tIns="0" rIns="0" bIns="0" rtlCol="0" anchor="t">
            <a:spAutoFit/>
          </a:bodyPr>
          <a:lstStyle/>
          <a:p>
            <a:pPr algn="just">
              <a:lnSpc>
                <a:spcPts val="2799"/>
              </a:lnSpc>
              <a:spcBef>
                <a:spcPct val="0"/>
              </a:spcBef>
            </a:pPr>
            <a:r>
              <a:rPr lang="en-US" sz="1950">
                <a:solidFill>
                  <a:srgbClr val="000000"/>
                </a:solidFill>
                <a:latin typeface="Poppins"/>
                <a:ea typeface="Poppins"/>
                <a:cs typeface="Poppins"/>
                <a:sym typeface="Poppins"/>
              </a:rPr>
              <a:t> 9</a:t>
            </a:r>
            <a:r>
              <a:rPr lang="en-US" sz="1950" baseline="30000">
                <a:solidFill>
                  <a:srgbClr val="000000"/>
                </a:solidFill>
                <a:latin typeface="Poppins"/>
                <a:ea typeface="Poppins"/>
                <a:cs typeface="Poppins"/>
                <a:sym typeface="Poppins"/>
              </a:rPr>
              <a:t>th</a:t>
            </a:r>
            <a:r>
              <a:rPr lang="en-US" sz="1950">
                <a:solidFill>
                  <a:srgbClr val="000000"/>
                </a:solidFill>
                <a:latin typeface="Poppins"/>
                <a:ea typeface="Poppins"/>
                <a:cs typeface="Poppins"/>
                <a:sym typeface="Poppins"/>
              </a:rPr>
              <a:t> June 2026</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91263-1B05-8216-47D2-ED36FA65A447}"/>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E0A4D2A7-3FD3-85AB-AC99-2A5E56A9EE3A}"/>
              </a:ext>
            </a:extLst>
          </p:cNvPr>
          <p:cNvSpPr/>
          <p:nvPr/>
        </p:nvSpPr>
        <p:spPr>
          <a:xfrm>
            <a:off x="5904661" y="2057718"/>
            <a:ext cx="8148722" cy="1312602"/>
          </a:xfrm>
          <a:prstGeom prst="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just"/>
            <a:r>
              <a:rPr lang="en-US" sz="1600" b="1">
                <a:latin typeface="Calibri"/>
                <a:ea typeface="Calibri"/>
                <a:cs typeface="Calibri"/>
              </a:rPr>
              <a:t>Project Status Update: </a:t>
            </a:r>
            <a:r>
              <a:rPr lang="en-US" sz="1600">
                <a:latin typeface="Calibri"/>
                <a:ea typeface="Calibri"/>
                <a:cs typeface="Calibri"/>
              </a:rPr>
              <a:t> </a:t>
            </a:r>
            <a:r>
              <a:rPr lang="en-US" sz="1600">
                <a:ea typeface="Calibri"/>
                <a:cs typeface="Calibri"/>
              </a:rPr>
              <a:t>All tickets related to Kaka Goran team are on hold, while the remaining tickets are progressing.  </a:t>
            </a:r>
          </a:p>
          <a:p>
            <a:endParaRPr lang="en-GB" sz="1600">
              <a:ea typeface="Calibri"/>
              <a:cs typeface="Calibri"/>
            </a:endParaRPr>
          </a:p>
          <a:p>
            <a:endParaRPr lang="en-GB" sz="1600">
              <a:latin typeface="Calibri"/>
              <a:ea typeface="Calibri"/>
              <a:cs typeface="Calibri"/>
            </a:endParaRPr>
          </a:p>
        </p:txBody>
      </p:sp>
      <p:sp>
        <p:nvSpPr>
          <p:cNvPr id="84" name="Rectangle 83">
            <a:extLst>
              <a:ext uri="{FF2B5EF4-FFF2-40B4-BE49-F238E27FC236}">
                <a16:creationId xmlns:a16="http://schemas.microsoft.com/office/drawing/2014/main" id="{C4CC6164-0CEB-08D2-E195-9B01CBAB9766}"/>
              </a:ext>
            </a:extLst>
          </p:cNvPr>
          <p:cNvSpPr/>
          <p:nvPr/>
        </p:nvSpPr>
        <p:spPr bwMode="gray">
          <a:xfrm>
            <a:off x="1135789" y="5003938"/>
            <a:ext cx="16643170" cy="2003913"/>
          </a:xfrm>
          <a:prstGeom prst="rect">
            <a:avLst/>
          </a:prstGeom>
          <a:solidFill>
            <a:schemeClr val="bg1">
              <a:lumMod val="95000"/>
            </a:schemeClr>
          </a:solidFill>
          <a:ln w="19050" algn="ctr">
            <a:no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IN"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 name="Rectangle 3">
            <a:extLst>
              <a:ext uri="{FF2B5EF4-FFF2-40B4-BE49-F238E27FC236}">
                <a16:creationId xmlns:a16="http://schemas.microsoft.com/office/drawing/2014/main" id="{E762C36D-0EA9-913C-7EF4-6A9C3927E848}"/>
              </a:ext>
            </a:extLst>
          </p:cNvPr>
          <p:cNvSpPr/>
          <p:nvPr/>
        </p:nvSpPr>
        <p:spPr>
          <a:xfrm>
            <a:off x="821533" y="1462082"/>
            <a:ext cx="16626842" cy="452903"/>
          </a:xfrm>
          <a:prstGeom prst="rect">
            <a:avLst/>
          </a:prstGeom>
          <a:solidFill>
            <a:srgbClr val="00A69C"/>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mj-lt"/>
                <a:ea typeface="+mn-ea"/>
                <a:cs typeface="+mn-cs"/>
              </a:rPr>
              <a:t>Project Highlights </a:t>
            </a:r>
          </a:p>
        </p:txBody>
      </p:sp>
      <p:sp>
        <p:nvSpPr>
          <p:cNvPr id="5" name="Title 1">
            <a:extLst>
              <a:ext uri="{FF2B5EF4-FFF2-40B4-BE49-F238E27FC236}">
                <a16:creationId xmlns:a16="http://schemas.microsoft.com/office/drawing/2014/main" id="{74A374DE-3061-BDC4-4989-A4CB8E799415}"/>
              </a:ext>
            </a:extLst>
          </p:cNvPr>
          <p:cNvSpPr txBox="1">
            <a:spLocks/>
          </p:cNvSpPr>
          <p:nvPr/>
        </p:nvSpPr>
        <p:spPr>
          <a:xfrm>
            <a:off x="779350" y="1052140"/>
            <a:ext cx="13406511" cy="83099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defRPr/>
            </a:pPr>
            <a:r>
              <a:rPr lang="en-US">
                <a:solidFill>
                  <a:srgbClr val="000000"/>
                </a:solidFill>
              </a:rPr>
              <a:t>Centralized Data Warehouse – Gap Analysis – Phase I</a:t>
            </a:r>
          </a:p>
          <a:p>
            <a:pPr>
              <a:spcBef>
                <a:spcPct val="0"/>
              </a:spcBef>
              <a:defRPr/>
            </a:pPr>
            <a:endParaRPr lang="en-US" sz="2700" i="0" u="none" strike="noStrike" kern="1200" cap="none" spc="0" normalizeH="0" baseline="0" noProof="0">
              <a:solidFill>
                <a:srgbClr val="000000"/>
              </a:solidFill>
              <a:effectLst/>
              <a:uLnTx/>
              <a:uFillTx/>
              <a:ea typeface="Calibri"/>
              <a:cs typeface="Calibri"/>
            </a:endParaRPr>
          </a:p>
        </p:txBody>
      </p:sp>
      <p:sp>
        <p:nvSpPr>
          <p:cNvPr id="6" name="Rectangle 5">
            <a:extLst>
              <a:ext uri="{FF2B5EF4-FFF2-40B4-BE49-F238E27FC236}">
                <a16:creationId xmlns:a16="http://schemas.microsoft.com/office/drawing/2014/main" id="{90C5EE57-EC69-B3B1-D54A-1AECC4CB95B9}"/>
              </a:ext>
            </a:extLst>
          </p:cNvPr>
          <p:cNvSpPr/>
          <p:nvPr/>
        </p:nvSpPr>
        <p:spPr bwMode="auto">
          <a:xfrm>
            <a:off x="15836117" y="2117372"/>
            <a:ext cx="1612257" cy="405768"/>
          </a:xfrm>
          <a:prstGeom prst="rect">
            <a:avLst/>
          </a:prstGeom>
          <a:solidFill>
            <a:srgbClr val="00A69C"/>
          </a:solid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anose="020B0604020202020204" pitchFamily="34" charset="0"/>
              </a:rPr>
              <a:t>Current Period</a:t>
            </a:r>
          </a:p>
        </p:txBody>
      </p:sp>
      <p:sp>
        <p:nvSpPr>
          <p:cNvPr id="7" name="Rectangle 6">
            <a:extLst>
              <a:ext uri="{FF2B5EF4-FFF2-40B4-BE49-F238E27FC236}">
                <a16:creationId xmlns:a16="http://schemas.microsoft.com/office/drawing/2014/main" id="{5A356419-0565-05DA-5298-AEF139FEC7B6}"/>
              </a:ext>
            </a:extLst>
          </p:cNvPr>
          <p:cNvSpPr/>
          <p:nvPr/>
        </p:nvSpPr>
        <p:spPr bwMode="auto">
          <a:xfrm>
            <a:off x="14111579" y="2117372"/>
            <a:ext cx="1620000" cy="405768"/>
          </a:xfrm>
          <a:prstGeom prst="rect">
            <a:avLst/>
          </a:prstGeom>
          <a:solidFill>
            <a:srgbClr val="00A69C"/>
          </a:solid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anose="020B0604020202020204" pitchFamily="34" charset="0"/>
              </a:rPr>
              <a:t>Previous Period</a:t>
            </a:r>
          </a:p>
        </p:txBody>
      </p:sp>
      <p:sp>
        <p:nvSpPr>
          <p:cNvPr id="8" name="Rectangle 7">
            <a:extLst>
              <a:ext uri="{FF2B5EF4-FFF2-40B4-BE49-F238E27FC236}">
                <a16:creationId xmlns:a16="http://schemas.microsoft.com/office/drawing/2014/main" id="{276D12A4-71D0-4778-BB34-337F5FA2A0F5}"/>
              </a:ext>
            </a:extLst>
          </p:cNvPr>
          <p:cNvSpPr/>
          <p:nvPr/>
        </p:nvSpPr>
        <p:spPr bwMode="auto">
          <a:xfrm>
            <a:off x="14108566" y="2521505"/>
            <a:ext cx="1612256" cy="533700"/>
          </a:xfrm>
          <a:prstGeom prst="rect">
            <a:avLst/>
          </a:prstGeom>
          <a:solidFill>
            <a:srgbClr val="E2F0D9"/>
          </a:solidFill>
          <a:ln w="9525" cap="flat" cmpd="sng" algn="ctr">
            <a:solidFill>
              <a:srgbClr val="FFCCCC"/>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defTabSz="1564584">
              <a:defRPr/>
            </a:pPr>
            <a:r>
              <a:rPr lang="en-US" sz="1500" b="1" kern="0">
                <a:solidFill>
                  <a:prstClr val="black"/>
                </a:solidFill>
                <a:latin typeface="+mj-lt"/>
                <a:cs typeface="Arial" panose="020B0604020202020204" pitchFamily="34" charset="0"/>
              </a:rPr>
              <a:t>On Track</a:t>
            </a:r>
            <a:endParaRPr lang="en-GB" sz="1500" b="1" kern="0">
              <a:solidFill>
                <a:prstClr val="black"/>
              </a:solidFill>
              <a:latin typeface="+mj-lt"/>
              <a:cs typeface="Arial" panose="020B0604020202020204" pitchFamily="34" charset="0"/>
            </a:endParaRPr>
          </a:p>
        </p:txBody>
      </p:sp>
      <p:sp>
        <p:nvSpPr>
          <p:cNvPr id="10" name="Rectangle 9">
            <a:extLst>
              <a:ext uri="{FF2B5EF4-FFF2-40B4-BE49-F238E27FC236}">
                <a16:creationId xmlns:a16="http://schemas.microsoft.com/office/drawing/2014/main" id="{D2D54F0F-2C15-D7AD-EA06-A12C237D7F2E}"/>
              </a:ext>
            </a:extLst>
          </p:cNvPr>
          <p:cNvSpPr/>
          <p:nvPr/>
        </p:nvSpPr>
        <p:spPr>
          <a:xfrm>
            <a:off x="794309" y="7086823"/>
            <a:ext cx="16626842" cy="452903"/>
          </a:xfrm>
          <a:prstGeom prst="rect">
            <a:avLst/>
          </a:prstGeom>
          <a:solidFill>
            <a:srgbClr val="00A69C"/>
          </a:solidFill>
          <a:ln w="952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mj-lt"/>
                <a:ea typeface="+mn-ea"/>
                <a:cs typeface="+mn-cs"/>
              </a:rPr>
              <a:t>Key Risks, Issues &amp; Decisions</a:t>
            </a:r>
          </a:p>
        </p:txBody>
      </p:sp>
      <p:grpSp>
        <p:nvGrpSpPr>
          <p:cNvPr id="12" name="Group 11">
            <a:extLst>
              <a:ext uri="{FF2B5EF4-FFF2-40B4-BE49-F238E27FC236}">
                <a16:creationId xmlns:a16="http://schemas.microsoft.com/office/drawing/2014/main" id="{43D31D25-D727-5CE6-5A39-FBBD812DC8E0}"/>
              </a:ext>
            </a:extLst>
          </p:cNvPr>
          <p:cNvGrpSpPr/>
          <p:nvPr/>
        </p:nvGrpSpPr>
        <p:grpSpPr>
          <a:xfrm>
            <a:off x="860944" y="2053329"/>
            <a:ext cx="5041568" cy="1202997"/>
            <a:chOff x="567987" y="1398301"/>
            <a:chExt cx="3361045" cy="801998"/>
          </a:xfrm>
          <a:solidFill>
            <a:srgbClr val="00A69C"/>
          </a:solidFill>
        </p:grpSpPr>
        <p:sp>
          <p:nvSpPr>
            <p:cNvPr id="13" name="Rectangle 12">
              <a:extLst>
                <a:ext uri="{FF2B5EF4-FFF2-40B4-BE49-F238E27FC236}">
                  <a16:creationId xmlns:a16="http://schemas.microsoft.com/office/drawing/2014/main" id="{E96997B9-3CD6-173E-A8CF-ED1653778038}"/>
                </a:ext>
              </a:extLst>
            </p:cNvPr>
            <p:cNvSpPr/>
            <p:nvPr/>
          </p:nvSpPr>
          <p:spPr bwMode="auto">
            <a:xfrm>
              <a:off x="567987" y="1398301"/>
              <a:ext cx="1440000" cy="256198"/>
            </a:xfrm>
            <a:prstGeom prst="rect">
              <a:avLst/>
            </a:prstGeom>
            <a:grp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itchFamily="34" charset="0"/>
                </a:rPr>
                <a:t>Reporting Period</a:t>
              </a:r>
            </a:p>
          </p:txBody>
        </p:sp>
        <p:sp>
          <p:nvSpPr>
            <p:cNvPr id="14" name="Rectangle 13">
              <a:extLst>
                <a:ext uri="{FF2B5EF4-FFF2-40B4-BE49-F238E27FC236}">
                  <a16:creationId xmlns:a16="http://schemas.microsoft.com/office/drawing/2014/main" id="{20B8010A-F143-9D6C-79E3-174FF5A4C866}"/>
                </a:ext>
              </a:extLst>
            </p:cNvPr>
            <p:cNvSpPr/>
            <p:nvPr/>
          </p:nvSpPr>
          <p:spPr bwMode="auto">
            <a:xfrm>
              <a:off x="2127836" y="1398301"/>
              <a:ext cx="1800000" cy="256198"/>
            </a:xfrm>
            <a:prstGeom prst="rect">
              <a:avLst/>
            </a:prstGeom>
            <a:grp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endParaRPr lang="en-US"/>
            </a:p>
            <a:p>
              <a:pPr defTabSz="1564584">
                <a:defRPr/>
              </a:pPr>
              <a:endParaRPr lang="en-US"/>
            </a:p>
            <a:p>
              <a:pPr defTabSz="1564584">
                <a:defRPr/>
              </a:pPr>
              <a:r>
                <a:rPr lang="en-GB" sz="1600" b="1">
                  <a:solidFill>
                    <a:schemeClr val="bg1"/>
                  </a:solidFill>
                  <a:ea typeface="Calibri"/>
                  <a:cs typeface="Calibri"/>
                </a:rPr>
                <a:t>2</a:t>
              </a:r>
              <a:r>
                <a:rPr lang="en-GB" sz="1600" b="1" baseline="30000">
                  <a:solidFill>
                    <a:schemeClr val="bg1"/>
                  </a:solidFill>
                  <a:ea typeface="Calibri"/>
                  <a:cs typeface="Calibri"/>
                </a:rPr>
                <a:t>nd </a:t>
              </a:r>
              <a:r>
                <a:rPr lang="en-GB" sz="1600" b="1">
                  <a:solidFill>
                    <a:schemeClr val="bg1"/>
                  </a:solidFill>
                  <a:ea typeface="Calibri"/>
                  <a:cs typeface="Calibri"/>
                </a:rPr>
                <a:t>June. 2026– 9</a:t>
              </a:r>
              <a:r>
                <a:rPr lang="en-GB" sz="1600" b="1" baseline="30000">
                  <a:solidFill>
                    <a:schemeClr val="bg1"/>
                  </a:solidFill>
                  <a:ea typeface="Calibri"/>
                  <a:cs typeface="Calibri"/>
                </a:rPr>
                <a:t>th</a:t>
              </a:r>
              <a:r>
                <a:rPr lang="en-GB" sz="1600" b="1">
                  <a:solidFill>
                    <a:schemeClr val="bg1"/>
                  </a:solidFill>
                  <a:ea typeface="Calibri"/>
                  <a:cs typeface="Calibri"/>
                </a:rPr>
                <a:t>June 2026</a:t>
              </a:r>
              <a:endParaRPr lang="en-US" sz="1600">
                <a:solidFill>
                  <a:schemeClr val="bg1"/>
                </a:solidFill>
                <a:ea typeface="Calibri"/>
                <a:cs typeface="Calibri"/>
              </a:endParaRPr>
            </a:p>
            <a:p>
              <a:pPr defTabSz="1564584">
                <a:defRPr/>
              </a:pPr>
              <a:br>
                <a:rPr lang="en-US"/>
              </a:br>
              <a:endParaRPr lang="en-US"/>
            </a:p>
          </p:txBody>
        </p:sp>
        <p:sp>
          <p:nvSpPr>
            <p:cNvPr id="16" name="Rectangle 15">
              <a:extLst>
                <a:ext uri="{FF2B5EF4-FFF2-40B4-BE49-F238E27FC236}">
                  <a16:creationId xmlns:a16="http://schemas.microsoft.com/office/drawing/2014/main" id="{24904B29-4851-28A3-87E8-B3D34387A2AC}"/>
                </a:ext>
              </a:extLst>
            </p:cNvPr>
            <p:cNvSpPr/>
            <p:nvPr/>
          </p:nvSpPr>
          <p:spPr bwMode="auto">
            <a:xfrm>
              <a:off x="570971" y="1682431"/>
              <a:ext cx="1440000" cy="238706"/>
            </a:xfrm>
            <a:prstGeom prst="rect">
              <a:avLst/>
            </a:prstGeom>
            <a:grp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defTabSz="1564584" eaLnBrk="1" fontAlgn="auto" latinLnBrk="0" hangingPunct="1">
                <a:lnSpc>
                  <a:spcPct val="100000"/>
                </a:lnSpc>
                <a:spcBef>
                  <a:spcPts val="0"/>
                </a:spcBef>
                <a:spcAft>
                  <a:spcPts val="0"/>
                </a:spcAft>
                <a:buClrTx/>
                <a:buSzTx/>
                <a:buFontTx/>
                <a:buNone/>
                <a:tabLst/>
                <a:defRPr/>
              </a:pPr>
              <a:r>
                <a:rPr lang="en-GB" sz="1500" b="1" kern="0">
                  <a:solidFill>
                    <a:schemeClr val="bg1"/>
                  </a:solidFill>
                  <a:latin typeface="+mj-lt"/>
                  <a:cs typeface="Arial" pitchFamily="34" charset="0"/>
                </a:rPr>
                <a:t>Business</a:t>
              </a:r>
              <a:r>
                <a:rPr kumimoji="0" lang="en-GB" sz="1500" b="1" i="0" u="none" strike="noStrike" kern="0" cap="none" spc="0" normalizeH="0" baseline="0" noProof="0">
                  <a:ln>
                    <a:noFill/>
                  </a:ln>
                  <a:solidFill>
                    <a:schemeClr val="bg1"/>
                  </a:solidFill>
                  <a:effectLst/>
                  <a:uLnTx/>
                  <a:uFillTx/>
                  <a:latin typeface="+mj-lt"/>
                  <a:cs typeface="Arial" pitchFamily="34" charset="0"/>
                </a:rPr>
                <a:t> Owner</a:t>
              </a:r>
            </a:p>
          </p:txBody>
        </p:sp>
        <p:sp>
          <p:nvSpPr>
            <p:cNvPr id="17" name="Rectangle 16">
              <a:extLst>
                <a:ext uri="{FF2B5EF4-FFF2-40B4-BE49-F238E27FC236}">
                  <a16:creationId xmlns:a16="http://schemas.microsoft.com/office/drawing/2014/main" id="{8AF2349C-D860-61CF-F9C8-52618C6A6AEA}"/>
                </a:ext>
              </a:extLst>
            </p:cNvPr>
            <p:cNvSpPr/>
            <p:nvPr/>
          </p:nvSpPr>
          <p:spPr bwMode="auto">
            <a:xfrm>
              <a:off x="2130820" y="1682431"/>
              <a:ext cx="1798212" cy="214907"/>
            </a:xfrm>
            <a:prstGeom prst="rect">
              <a:avLst/>
            </a:prstGeom>
            <a:grp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US" sz="1500" b="1" kern="0">
                  <a:solidFill>
                    <a:schemeClr val="bg1"/>
                  </a:solidFill>
                  <a:latin typeface="+mj-lt"/>
                  <a:cs typeface="Arial" pitchFamily="34" charset="0"/>
                </a:rPr>
                <a:t>Hazem Al-Tamimi</a:t>
              </a:r>
              <a:endParaRPr lang="en-GB" sz="1500" b="1" kern="0">
                <a:solidFill>
                  <a:schemeClr val="bg1"/>
                </a:solidFill>
                <a:latin typeface="+mj-lt"/>
                <a:cs typeface="Arial" pitchFamily="34" charset="0"/>
              </a:endParaRPr>
            </a:p>
          </p:txBody>
        </p:sp>
        <p:sp>
          <p:nvSpPr>
            <p:cNvPr id="18" name="Rectangle 17">
              <a:extLst>
                <a:ext uri="{FF2B5EF4-FFF2-40B4-BE49-F238E27FC236}">
                  <a16:creationId xmlns:a16="http://schemas.microsoft.com/office/drawing/2014/main" id="{F6FF9674-42D2-DBF2-51B8-390B0CBF3D9D}"/>
                </a:ext>
              </a:extLst>
            </p:cNvPr>
            <p:cNvSpPr/>
            <p:nvPr/>
          </p:nvSpPr>
          <p:spPr bwMode="auto">
            <a:xfrm>
              <a:off x="567987" y="1944101"/>
              <a:ext cx="1440000" cy="256198"/>
            </a:xfrm>
            <a:prstGeom prst="rect">
              <a:avLst/>
            </a:prstGeom>
            <a:grp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itchFamily="34" charset="0"/>
                </a:rPr>
                <a:t>Project Manager</a:t>
              </a:r>
            </a:p>
          </p:txBody>
        </p:sp>
        <p:sp>
          <p:nvSpPr>
            <p:cNvPr id="19" name="Rectangle 18">
              <a:extLst>
                <a:ext uri="{FF2B5EF4-FFF2-40B4-BE49-F238E27FC236}">
                  <a16:creationId xmlns:a16="http://schemas.microsoft.com/office/drawing/2014/main" id="{F7A432F9-832F-87AF-296B-11AC164E91DB}"/>
                </a:ext>
              </a:extLst>
            </p:cNvPr>
            <p:cNvSpPr/>
            <p:nvPr/>
          </p:nvSpPr>
          <p:spPr bwMode="auto">
            <a:xfrm>
              <a:off x="2127836" y="1944101"/>
              <a:ext cx="1800000" cy="256198"/>
            </a:xfrm>
            <a:prstGeom prst="rect">
              <a:avLst/>
            </a:prstGeom>
            <a:grp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GB" sz="1500" b="1" kern="0">
                  <a:solidFill>
                    <a:schemeClr val="bg1"/>
                  </a:solidFill>
                  <a:latin typeface="+mj-lt"/>
                  <a:cs typeface="Arial" pitchFamily="34" charset="0"/>
                </a:rPr>
                <a:t>Ezzat Zalzala</a:t>
              </a:r>
            </a:p>
          </p:txBody>
        </p:sp>
      </p:grpSp>
      <p:grpSp>
        <p:nvGrpSpPr>
          <p:cNvPr id="20" name="Group 19">
            <a:extLst>
              <a:ext uri="{FF2B5EF4-FFF2-40B4-BE49-F238E27FC236}">
                <a16:creationId xmlns:a16="http://schemas.microsoft.com/office/drawing/2014/main" id="{BD4DB3DE-9494-7076-CC17-BC3695778CDF}"/>
              </a:ext>
            </a:extLst>
          </p:cNvPr>
          <p:cNvGrpSpPr/>
          <p:nvPr/>
        </p:nvGrpSpPr>
        <p:grpSpPr>
          <a:xfrm>
            <a:off x="774830" y="5012448"/>
            <a:ext cx="16610310" cy="2002585"/>
            <a:chOff x="547739" y="2219457"/>
            <a:chExt cx="8455306" cy="1358894"/>
          </a:xfrm>
        </p:grpSpPr>
        <p:sp>
          <p:nvSpPr>
            <p:cNvPr id="21" name="Rectangle 20">
              <a:extLst>
                <a:ext uri="{FF2B5EF4-FFF2-40B4-BE49-F238E27FC236}">
                  <a16:creationId xmlns:a16="http://schemas.microsoft.com/office/drawing/2014/main" id="{DBFC650F-B75B-7518-7F8F-CAD120170D70}"/>
                </a:ext>
              </a:extLst>
            </p:cNvPr>
            <p:cNvSpPr/>
            <p:nvPr/>
          </p:nvSpPr>
          <p:spPr bwMode="auto">
            <a:xfrm>
              <a:off x="554704" y="2954084"/>
              <a:ext cx="8425558" cy="277524"/>
            </a:xfrm>
            <a:prstGeom prst="rect">
              <a:avLst/>
            </a:prstGeom>
            <a:solidFill>
              <a:srgbClr val="002060"/>
            </a:solid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GB" sz="1650" b="1" kern="0">
                  <a:solidFill>
                    <a:schemeClr val="bg1"/>
                  </a:solidFill>
                  <a:latin typeface="+mj-lt"/>
                  <a:cs typeface="Arial" panose="020B0604020202020204" pitchFamily="34" charset="0"/>
                </a:rPr>
                <a:t>Key Risks, Issues, &amp; Decisions </a:t>
              </a:r>
            </a:p>
          </p:txBody>
        </p:sp>
        <p:sp>
          <p:nvSpPr>
            <p:cNvPr id="22" name="Rectangle 21">
              <a:extLst>
                <a:ext uri="{FF2B5EF4-FFF2-40B4-BE49-F238E27FC236}">
                  <a16:creationId xmlns:a16="http://schemas.microsoft.com/office/drawing/2014/main" id="{B7E13D97-F1A9-6B72-5734-FF0C2D040D49}"/>
                </a:ext>
              </a:extLst>
            </p:cNvPr>
            <p:cNvSpPr/>
            <p:nvPr/>
          </p:nvSpPr>
          <p:spPr bwMode="gray">
            <a:xfrm>
              <a:off x="554704" y="2249977"/>
              <a:ext cx="8448341" cy="1263745"/>
            </a:xfrm>
            <a:prstGeom prst="rect">
              <a:avLst/>
            </a:prstGeom>
            <a:solidFill>
              <a:schemeClr val="bg1">
                <a:lumMod val="95000"/>
              </a:schemeClr>
            </a:solidFill>
            <a:ln w="19050" algn="ctr">
              <a:no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IN"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3" name="Rectangle 22">
              <a:extLst>
                <a:ext uri="{FF2B5EF4-FFF2-40B4-BE49-F238E27FC236}">
                  <a16:creationId xmlns:a16="http://schemas.microsoft.com/office/drawing/2014/main" id="{266EAAEC-CEF2-9FF9-5E6A-C37D164AC7D8}"/>
                </a:ext>
              </a:extLst>
            </p:cNvPr>
            <p:cNvSpPr/>
            <p:nvPr/>
          </p:nvSpPr>
          <p:spPr bwMode="gray">
            <a:xfrm>
              <a:off x="547739" y="2219457"/>
              <a:ext cx="5890699" cy="1358894"/>
            </a:xfrm>
            <a:prstGeom prst="rect">
              <a:avLst/>
            </a:prstGeom>
            <a:solidFill>
              <a:srgbClr val="00B0F0">
                <a:alpha val="13000"/>
              </a:srgbClr>
            </a:solidFill>
            <a:ln w="19050" algn="ctr">
              <a:no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24" name="Straight Connector 23">
              <a:extLst>
                <a:ext uri="{FF2B5EF4-FFF2-40B4-BE49-F238E27FC236}">
                  <a16:creationId xmlns:a16="http://schemas.microsoft.com/office/drawing/2014/main" id="{C42EAF21-6E9F-C950-03D7-18496EC7551B}"/>
                </a:ext>
              </a:extLst>
            </p:cNvPr>
            <p:cNvCxnSpPr>
              <a:cxnSpLocks/>
            </p:cNvCxnSpPr>
            <p:nvPr/>
          </p:nvCxnSpPr>
          <p:spPr>
            <a:xfrm>
              <a:off x="1435071" y="2975869"/>
              <a:ext cx="7541790" cy="10557"/>
            </a:xfrm>
            <a:prstGeom prst="line">
              <a:avLst/>
            </a:prstGeom>
            <a:ln w="22225">
              <a:solidFill>
                <a:schemeClr val="tx1">
                  <a:lumMod val="75000"/>
                  <a:lumOff val="2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8A1153CE-2384-7140-B9BC-F6E82DC91B17}"/>
                </a:ext>
              </a:extLst>
            </p:cNvPr>
            <p:cNvSpPr txBox="1"/>
            <p:nvPr/>
          </p:nvSpPr>
          <p:spPr>
            <a:xfrm>
              <a:off x="2115076" y="2375388"/>
              <a:ext cx="1880565" cy="561279"/>
            </a:xfrm>
            <a:prstGeom prst="rect">
              <a:avLst/>
            </a:prstGeom>
            <a:noFill/>
          </p:spPr>
          <p:txBody>
            <a:bodyPr wrap="square" lIns="0" tIns="45720" rIns="0" bIns="4572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defRPr/>
              </a:pPr>
              <a:r>
                <a:rPr lang="en-GB" sz="1600" b="1">
                  <a:solidFill>
                    <a:prstClr val="black"/>
                  </a:solidFill>
                  <a:latin typeface="Arial"/>
                  <a:ea typeface="맑은 고딕"/>
                  <a:cs typeface="Arial"/>
                </a:rPr>
                <a:t>Initiation &amp; setting </a:t>
              </a:r>
              <a:endParaRPr lang="en-US" sz="1600">
                <a:solidFill>
                  <a:prstClr val="black"/>
                </a:solidFill>
                <a:latin typeface="Calibri"/>
                <a:ea typeface="Calibri"/>
                <a:cs typeface="Calibri"/>
              </a:endParaRPr>
            </a:p>
            <a:p>
              <a:pPr algn="ctr">
                <a:defRPr/>
              </a:pPr>
              <a:r>
                <a:rPr kumimoji="0" lang="en-GB" sz="1600" b="1" i="0" u="none" strike="noStrike" kern="1200" cap="none" spc="0" normalizeH="0" baseline="0" noProof="0">
                  <a:ln>
                    <a:noFill/>
                  </a:ln>
                  <a:solidFill>
                    <a:prstClr val="black"/>
                  </a:solidFill>
                  <a:effectLst/>
                  <a:uLnTx/>
                  <a:uFillTx/>
                  <a:latin typeface="Arial"/>
                  <a:ea typeface="맑은 고딕"/>
                  <a:cs typeface="Arial"/>
                </a:rPr>
                <a:t>Requirements</a:t>
              </a:r>
              <a:endParaRPr lang="en-US" sz="1600">
                <a:solidFill>
                  <a:prstClr val="black"/>
                </a:solidFill>
                <a:ea typeface="Calibri"/>
                <a:cs typeface="Calibri"/>
              </a:endParaRPr>
            </a:p>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altLang="ko-KR" sz="1575"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7" name="TextBox 26">
              <a:extLst>
                <a:ext uri="{FF2B5EF4-FFF2-40B4-BE49-F238E27FC236}">
                  <a16:creationId xmlns:a16="http://schemas.microsoft.com/office/drawing/2014/main" id="{8C763CD4-CFEE-9CBF-AAFA-88160420117B}"/>
                </a:ext>
              </a:extLst>
            </p:cNvPr>
            <p:cNvSpPr txBox="1"/>
            <p:nvPr/>
          </p:nvSpPr>
          <p:spPr>
            <a:xfrm>
              <a:off x="888637" y="2379772"/>
              <a:ext cx="1461722" cy="396811"/>
            </a:xfrm>
            <a:prstGeom prst="rect">
              <a:avLst/>
            </a:prstGeom>
            <a:noFill/>
          </p:spPr>
          <p:txBody>
            <a:bodyPr wrap="square" lIns="0" tIns="45720" rIns="0" bIns="4572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defRPr/>
              </a:pPr>
              <a:r>
                <a:rPr lang="en-US" sz="1600" b="1">
                  <a:solidFill>
                    <a:prstClr val="black"/>
                  </a:solidFill>
                  <a:latin typeface="Arial"/>
                  <a:ea typeface="맑은 고딕"/>
                  <a:cs typeface="Arial"/>
                </a:rPr>
                <a:t>Kick off </a:t>
              </a:r>
              <a:endParaRPr lang="en-US" altLang="ko-KR" sz="1600">
                <a:solidFill>
                  <a:prstClr val="black"/>
                </a:solidFill>
                <a:latin typeface="Arial"/>
                <a:ea typeface="맑은 고딕"/>
                <a:cs typeface="Arial"/>
              </a:endParaRPr>
            </a:p>
            <a:p>
              <a:pPr algn="ctr">
                <a:defRPr/>
              </a:pPr>
              <a:r>
                <a:rPr lang="en-US" sz="1600" b="1">
                  <a:solidFill>
                    <a:prstClr val="black"/>
                  </a:solidFill>
                  <a:latin typeface="Arial"/>
                  <a:ea typeface="맑은 고딕"/>
                  <a:cs typeface="Arial"/>
                </a:rPr>
                <a:t>Gap Analysis – Phase I </a:t>
              </a:r>
              <a:endParaRPr lang="ko-KR"/>
            </a:p>
          </p:txBody>
        </p:sp>
        <p:sp>
          <p:nvSpPr>
            <p:cNvPr id="31" name="TextBox 30">
              <a:extLst>
                <a:ext uri="{FF2B5EF4-FFF2-40B4-BE49-F238E27FC236}">
                  <a16:creationId xmlns:a16="http://schemas.microsoft.com/office/drawing/2014/main" id="{ECCF06A3-FB22-240B-B9AE-57A9DCF94B72}"/>
                </a:ext>
              </a:extLst>
            </p:cNvPr>
            <p:cNvSpPr txBox="1"/>
            <p:nvPr/>
          </p:nvSpPr>
          <p:spPr>
            <a:xfrm>
              <a:off x="1064482" y="3307071"/>
              <a:ext cx="1096955" cy="156636"/>
            </a:xfrm>
            <a:prstGeom prst="rect">
              <a:avLst/>
            </a:prstGeom>
            <a:noFill/>
          </p:spPr>
          <p:txBody>
            <a:bodyPr wrap="square" lIns="0" tIns="0" rIns="0" bIns="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defRPr/>
              </a:pPr>
              <a:r>
                <a:rPr lang="en-US" altLang="ko-KR" sz="1500" b="1">
                  <a:solidFill>
                    <a:prstClr val="black"/>
                  </a:solidFill>
                  <a:latin typeface="Arial"/>
                  <a:ea typeface="맑은 고딕"/>
                  <a:cs typeface="Arial"/>
                </a:rPr>
                <a:t>February</a:t>
              </a:r>
              <a:endParaRPr kumimoji="0" lang="ko-KR" altLang="en-US" sz="15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pic>
        <p:nvPicPr>
          <p:cNvPr id="53" name="Picture 52">
            <a:extLst>
              <a:ext uri="{FF2B5EF4-FFF2-40B4-BE49-F238E27FC236}">
                <a16:creationId xmlns:a16="http://schemas.microsoft.com/office/drawing/2014/main" id="{8B730209-A51C-CA75-243B-FB4E828CF0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19415" y="60344"/>
            <a:ext cx="2308638" cy="1251719"/>
          </a:xfrm>
          <a:prstGeom prst="rect">
            <a:avLst/>
          </a:prstGeom>
        </p:spPr>
      </p:pic>
      <p:sp>
        <p:nvSpPr>
          <p:cNvPr id="77" name="TextBox 76">
            <a:extLst>
              <a:ext uri="{FF2B5EF4-FFF2-40B4-BE49-F238E27FC236}">
                <a16:creationId xmlns:a16="http://schemas.microsoft.com/office/drawing/2014/main" id="{099AE03B-C107-FCD5-C326-61FC1AB3EC6A}"/>
              </a:ext>
            </a:extLst>
          </p:cNvPr>
          <p:cNvSpPr txBox="1"/>
          <p:nvPr/>
        </p:nvSpPr>
        <p:spPr>
          <a:xfrm>
            <a:off x="6931564" y="5283724"/>
            <a:ext cx="3604247" cy="334707"/>
          </a:xfrm>
          <a:prstGeom prst="rect">
            <a:avLst/>
          </a:prstGeom>
          <a:noFill/>
        </p:spPr>
        <p:txBody>
          <a:bodyPr wrap="square" lIns="0" tIns="45720" rIns="0" bIns="4572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defRPr/>
            </a:pPr>
            <a:r>
              <a:rPr lang="en-US" altLang="ko-KR" sz="1550" b="1">
                <a:solidFill>
                  <a:prstClr val="black"/>
                </a:solidFill>
                <a:latin typeface="Arial"/>
                <a:ea typeface="맑은 고딕"/>
                <a:cs typeface="Arial"/>
              </a:rPr>
              <a:t>Gaps Identifications</a:t>
            </a:r>
            <a:endParaRPr lang="en-US"/>
          </a:p>
        </p:txBody>
      </p:sp>
      <p:sp>
        <p:nvSpPr>
          <p:cNvPr id="56" name="TextBox 55">
            <a:extLst>
              <a:ext uri="{FF2B5EF4-FFF2-40B4-BE49-F238E27FC236}">
                <a16:creationId xmlns:a16="http://schemas.microsoft.com/office/drawing/2014/main" id="{A3B7A196-3F57-3641-F84C-EA5AB91DAACE}"/>
              </a:ext>
            </a:extLst>
          </p:cNvPr>
          <p:cNvSpPr txBox="1"/>
          <p:nvPr/>
        </p:nvSpPr>
        <p:spPr>
          <a:xfrm>
            <a:off x="11730834" y="5235152"/>
            <a:ext cx="4746297" cy="569387"/>
          </a:xfrm>
          <a:prstGeom prst="rect">
            <a:avLst/>
          </a:prstGeom>
          <a:noFill/>
        </p:spPr>
        <p:txBody>
          <a:bodyPr wrap="square" lIns="0" tIns="45720" rIns="0" bIns="4572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defRPr/>
            </a:pPr>
            <a:r>
              <a:rPr lang="en-US" altLang="ko-KR" sz="1550" b="1">
                <a:solidFill>
                  <a:prstClr val="black"/>
                </a:solidFill>
                <a:latin typeface="Arial"/>
                <a:ea typeface="맑은 고딕"/>
                <a:cs typeface="Arial"/>
              </a:rPr>
              <a:t>Phase II – Implementation </a:t>
            </a:r>
            <a:endParaRPr lang="en-US">
              <a:solidFill>
                <a:prstClr val="black"/>
              </a:solidFill>
              <a:latin typeface="Calibri"/>
              <a:ea typeface="Calibri"/>
              <a:cs typeface="Calibri"/>
            </a:endParaRPr>
          </a:p>
          <a:p>
            <a:pPr algn="ctr">
              <a:defRPr/>
            </a:pPr>
            <a:r>
              <a:rPr lang="en-US" altLang="ko-KR" sz="1550" b="1">
                <a:solidFill>
                  <a:prstClr val="black"/>
                </a:solidFill>
                <a:latin typeface="Arial"/>
                <a:ea typeface="맑은 고딕"/>
                <a:cs typeface="Arial"/>
              </a:rPr>
              <a:t>&amp; Training</a:t>
            </a:r>
            <a:endParaRPr lang="en-US">
              <a:solidFill>
                <a:prstClr val="black"/>
              </a:solidFill>
              <a:ea typeface="Calibri"/>
              <a:cs typeface="Calibri"/>
            </a:endParaRPr>
          </a:p>
        </p:txBody>
      </p:sp>
      <p:sp>
        <p:nvSpPr>
          <p:cNvPr id="30" name="Rectangle 29">
            <a:extLst>
              <a:ext uri="{FF2B5EF4-FFF2-40B4-BE49-F238E27FC236}">
                <a16:creationId xmlns:a16="http://schemas.microsoft.com/office/drawing/2014/main" id="{A008FA2C-3A21-1C65-0988-5F34AA03E303}"/>
              </a:ext>
            </a:extLst>
          </p:cNvPr>
          <p:cNvSpPr/>
          <p:nvPr/>
        </p:nvSpPr>
        <p:spPr bwMode="auto">
          <a:xfrm>
            <a:off x="15847604" y="2530028"/>
            <a:ext cx="1574978" cy="533700"/>
          </a:xfrm>
          <a:prstGeom prst="rect">
            <a:avLst/>
          </a:prstGeom>
          <a:solidFill>
            <a:srgbClr val="E2F0D9"/>
          </a:solidFill>
          <a:ln w="9525" cap="flat" cmpd="sng" algn="ctr">
            <a:solidFill>
              <a:srgbClr val="FFCCCC"/>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defTabSz="1564584">
              <a:defRPr/>
            </a:pPr>
            <a:r>
              <a:rPr lang="en-US" sz="1500" b="1" kern="0">
                <a:solidFill>
                  <a:prstClr val="black"/>
                </a:solidFill>
                <a:latin typeface="+mj-lt"/>
                <a:cs typeface="Arial" panose="020B0604020202020204" pitchFamily="34" charset="0"/>
              </a:rPr>
              <a:t>On Track</a:t>
            </a:r>
            <a:endParaRPr lang="en-GB" sz="1500" b="1" kern="0">
              <a:solidFill>
                <a:prstClr val="black"/>
              </a:solidFill>
              <a:latin typeface="+mj-lt"/>
              <a:cs typeface="Arial" panose="020B0604020202020204" pitchFamily="34" charset="0"/>
            </a:endParaRPr>
          </a:p>
        </p:txBody>
      </p:sp>
      <p:grpSp>
        <p:nvGrpSpPr>
          <p:cNvPr id="29" name="Group 28">
            <a:extLst>
              <a:ext uri="{FF2B5EF4-FFF2-40B4-BE49-F238E27FC236}">
                <a16:creationId xmlns:a16="http://schemas.microsoft.com/office/drawing/2014/main" id="{11A9C504-8568-0DDD-FB2E-E7CA7ADBC8A4}"/>
              </a:ext>
            </a:extLst>
          </p:cNvPr>
          <p:cNvGrpSpPr/>
          <p:nvPr/>
        </p:nvGrpSpPr>
        <p:grpSpPr>
          <a:xfrm>
            <a:off x="9927058" y="9781211"/>
            <a:ext cx="10637918" cy="505790"/>
            <a:chOff x="5956720" y="6443049"/>
            <a:chExt cx="7091945" cy="357913"/>
          </a:xfrm>
        </p:grpSpPr>
        <p:grpSp>
          <p:nvGrpSpPr>
            <p:cNvPr id="52" name="Group 51">
              <a:extLst>
                <a:ext uri="{FF2B5EF4-FFF2-40B4-BE49-F238E27FC236}">
                  <a16:creationId xmlns:a16="http://schemas.microsoft.com/office/drawing/2014/main" id="{3129C3F0-140A-37BD-CEB8-B25F3D0CD6D0}"/>
                </a:ext>
              </a:extLst>
            </p:cNvPr>
            <p:cNvGrpSpPr/>
            <p:nvPr/>
          </p:nvGrpSpPr>
          <p:grpSpPr>
            <a:xfrm>
              <a:off x="5956720" y="6443049"/>
              <a:ext cx="7091945" cy="357913"/>
              <a:chOff x="5966485" y="6485413"/>
              <a:chExt cx="7091945" cy="357913"/>
            </a:xfrm>
          </p:grpSpPr>
          <p:sp>
            <p:nvSpPr>
              <p:cNvPr id="62" name="Oval 61">
                <a:extLst>
                  <a:ext uri="{FF2B5EF4-FFF2-40B4-BE49-F238E27FC236}">
                    <a16:creationId xmlns:a16="http://schemas.microsoft.com/office/drawing/2014/main" id="{B8D3FAD0-A8E4-1A7E-97B7-095572F30494}"/>
                  </a:ext>
                </a:extLst>
              </p:cNvPr>
              <p:cNvSpPr/>
              <p:nvPr/>
            </p:nvSpPr>
            <p:spPr>
              <a:xfrm>
                <a:off x="6950322" y="6494495"/>
                <a:ext cx="133346" cy="126401"/>
              </a:xfrm>
              <a:prstGeom prst="ellipse">
                <a:avLst/>
              </a:prstGeom>
              <a:solidFill>
                <a:srgbClr val="E2F0D9"/>
              </a:solidFill>
              <a:ln w="9525">
                <a:solidFill>
                  <a:srgbClr val="E2F0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63" name="Oval 62">
                <a:extLst>
                  <a:ext uri="{FF2B5EF4-FFF2-40B4-BE49-F238E27FC236}">
                    <a16:creationId xmlns:a16="http://schemas.microsoft.com/office/drawing/2014/main" id="{9876C8E4-E9FE-3978-6B44-7B84B19FAE98}"/>
                  </a:ext>
                </a:extLst>
              </p:cNvPr>
              <p:cNvSpPr/>
              <p:nvPr/>
            </p:nvSpPr>
            <p:spPr>
              <a:xfrm>
                <a:off x="7594167" y="6503611"/>
                <a:ext cx="135071" cy="126401"/>
              </a:xfrm>
              <a:prstGeom prst="ellipse">
                <a:avLst/>
              </a:prstGeom>
              <a:solidFill>
                <a:srgbClr val="FF0000"/>
              </a:solid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64" name="Oval 63">
                <a:extLst>
                  <a:ext uri="{FF2B5EF4-FFF2-40B4-BE49-F238E27FC236}">
                    <a16:creationId xmlns:a16="http://schemas.microsoft.com/office/drawing/2014/main" id="{E1E89CCB-E2F3-762D-CE27-C9C4A9AB645C}"/>
                  </a:ext>
                </a:extLst>
              </p:cNvPr>
              <p:cNvSpPr/>
              <p:nvPr/>
            </p:nvSpPr>
            <p:spPr>
              <a:xfrm>
                <a:off x="8149931" y="6505195"/>
                <a:ext cx="131200" cy="126401"/>
              </a:xfrm>
              <a:prstGeom prst="ellipse">
                <a:avLst/>
              </a:prstGeom>
              <a:solidFill>
                <a:srgbClr val="FFC000"/>
              </a:solidFill>
              <a:ln w="95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65" name="TextBox 64">
                <a:extLst>
                  <a:ext uri="{FF2B5EF4-FFF2-40B4-BE49-F238E27FC236}">
                    <a16:creationId xmlns:a16="http://schemas.microsoft.com/office/drawing/2014/main" id="{EEE21ABA-9DE4-C262-0488-0CECF3EA8D96}"/>
                  </a:ext>
                </a:extLst>
              </p:cNvPr>
              <p:cNvSpPr txBox="1"/>
              <p:nvPr/>
            </p:nvSpPr>
            <p:spPr>
              <a:xfrm>
                <a:off x="6734909" y="6611779"/>
                <a:ext cx="717687"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On track </a:t>
                </a:r>
              </a:p>
            </p:txBody>
          </p:sp>
          <p:sp>
            <p:nvSpPr>
              <p:cNvPr id="66" name="TextBox 65">
                <a:extLst>
                  <a:ext uri="{FF2B5EF4-FFF2-40B4-BE49-F238E27FC236}">
                    <a16:creationId xmlns:a16="http://schemas.microsoft.com/office/drawing/2014/main" id="{B65F3295-7198-F067-A6A5-57EAD98BBFC7}"/>
                  </a:ext>
                </a:extLst>
              </p:cNvPr>
              <p:cNvSpPr txBox="1"/>
              <p:nvPr/>
            </p:nvSpPr>
            <p:spPr>
              <a:xfrm>
                <a:off x="7360310" y="6621931"/>
                <a:ext cx="664200"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Delayed</a:t>
                </a:r>
              </a:p>
            </p:txBody>
          </p:sp>
          <p:sp>
            <p:nvSpPr>
              <p:cNvPr id="67" name="TextBox 66">
                <a:extLst>
                  <a:ext uri="{FF2B5EF4-FFF2-40B4-BE49-F238E27FC236}">
                    <a16:creationId xmlns:a16="http://schemas.microsoft.com/office/drawing/2014/main" id="{816298D2-BAE5-60CB-FD64-FCAFD60C037E}"/>
                  </a:ext>
                </a:extLst>
              </p:cNvPr>
              <p:cNvSpPr txBox="1"/>
              <p:nvPr/>
            </p:nvSpPr>
            <p:spPr>
              <a:xfrm>
                <a:off x="7962993" y="6624764"/>
                <a:ext cx="664200"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At Risk</a:t>
                </a:r>
              </a:p>
            </p:txBody>
          </p:sp>
          <p:sp>
            <p:nvSpPr>
              <p:cNvPr id="68" name="TextBox 67">
                <a:extLst>
                  <a:ext uri="{FF2B5EF4-FFF2-40B4-BE49-F238E27FC236}">
                    <a16:creationId xmlns:a16="http://schemas.microsoft.com/office/drawing/2014/main" id="{E3E0B58A-5282-1584-8DE1-52455F6AB2CB}"/>
                  </a:ext>
                </a:extLst>
              </p:cNvPr>
              <p:cNvSpPr txBox="1"/>
              <p:nvPr/>
            </p:nvSpPr>
            <p:spPr>
              <a:xfrm>
                <a:off x="9357110" y="6627882"/>
                <a:ext cx="970136"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Implemented</a:t>
                </a:r>
              </a:p>
            </p:txBody>
          </p:sp>
          <p:sp>
            <p:nvSpPr>
              <p:cNvPr id="69" name="Oval 68">
                <a:extLst>
                  <a:ext uri="{FF2B5EF4-FFF2-40B4-BE49-F238E27FC236}">
                    <a16:creationId xmlns:a16="http://schemas.microsoft.com/office/drawing/2014/main" id="{DDA8FA00-8AB5-24B0-F9EF-EB66951CF3F7}"/>
                  </a:ext>
                </a:extLst>
              </p:cNvPr>
              <p:cNvSpPr/>
              <p:nvPr/>
            </p:nvSpPr>
            <p:spPr>
              <a:xfrm>
                <a:off x="10428038" y="6512756"/>
                <a:ext cx="137031" cy="126401"/>
              </a:xfrm>
              <a:prstGeom prst="ellipse">
                <a:avLst/>
              </a:prstGeom>
              <a:solidFill>
                <a:srgbClr val="00B0F0"/>
              </a:solid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8906156C-1E6F-C676-3010-C0A16FAC903D}"/>
                  </a:ext>
                </a:extLst>
              </p:cNvPr>
              <p:cNvSpPr txBox="1"/>
              <p:nvPr/>
            </p:nvSpPr>
            <p:spPr>
              <a:xfrm>
                <a:off x="10194922" y="6621646"/>
                <a:ext cx="2311615"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US" sz="1200">
                    <a:latin typeface="Arial" panose="020B0604020202020204" pitchFamily="34" charset="0"/>
                    <a:cs typeface="Arial" panose="020B0604020202020204" pitchFamily="34" charset="0"/>
                  </a:rPr>
                  <a:t>On Hold</a:t>
                </a:r>
                <a:endParaRPr kumimoji="0" lang="en-US" sz="120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71" name="Oval 70">
                <a:extLst>
                  <a:ext uri="{FF2B5EF4-FFF2-40B4-BE49-F238E27FC236}">
                    <a16:creationId xmlns:a16="http://schemas.microsoft.com/office/drawing/2014/main" id="{375A46A6-81BD-CE38-F762-BE9421207A9E}"/>
                  </a:ext>
                </a:extLst>
              </p:cNvPr>
              <p:cNvSpPr/>
              <p:nvPr/>
            </p:nvSpPr>
            <p:spPr>
              <a:xfrm>
                <a:off x="11073431" y="6488248"/>
                <a:ext cx="137031" cy="126401"/>
              </a:xfrm>
              <a:prstGeom prst="ellipse">
                <a:avLst/>
              </a:prstGeom>
              <a:solidFill>
                <a:srgbClr val="FFFF00"/>
              </a:solidFill>
              <a:ln w="952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72" name="TextBox 71">
                <a:extLst>
                  <a:ext uri="{FF2B5EF4-FFF2-40B4-BE49-F238E27FC236}">
                    <a16:creationId xmlns:a16="http://schemas.microsoft.com/office/drawing/2014/main" id="{C54272F8-4C20-AD91-20C9-FEDEBD10B691}"/>
                  </a:ext>
                </a:extLst>
              </p:cNvPr>
              <p:cNvSpPr txBox="1"/>
              <p:nvPr/>
            </p:nvSpPr>
            <p:spPr>
              <a:xfrm>
                <a:off x="10746815" y="6611779"/>
                <a:ext cx="2311615"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Terminated</a:t>
                </a:r>
              </a:p>
            </p:txBody>
          </p:sp>
          <p:sp>
            <p:nvSpPr>
              <p:cNvPr id="76" name="Oval 75">
                <a:extLst>
                  <a:ext uri="{FF2B5EF4-FFF2-40B4-BE49-F238E27FC236}">
                    <a16:creationId xmlns:a16="http://schemas.microsoft.com/office/drawing/2014/main" id="{58186120-6C6E-347E-7F19-F8F27033A527}"/>
                  </a:ext>
                </a:extLst>
              </p:cNvPr>
              <p:cNvSpPr/>
              <p:nvPr/>
            </p:nvSpPr>
            <p:spPr>
              <a:xfrm>
                <a:off x="8836849" y="6505195"/>
                <a:ext cx="131200" cy="126401"/>
              </a:xfrm>
              <a:prstGeom prst="ellipse">
                <a:avLst/>
              </a:prstGeom>
              <a:solidFill>
                <a:srgbClr val="00B050"/>
              </a:solid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78" name="TextBox 77">
                <a:extLst>
                  <a:ext uri="{FF2B5EF4-FFF2-40B4-BE49-F238E27FC236}">
                    <a16:creationId xmlns:a16="http://schemas.microsoft.com/office/drawing/2014/main" id="{BC457503-FC6C-2C4F-22DD-EE3D2C2A8122}"/>
                  </a:ext>
                </a:extLst>
              </p:cNvPr>
              <p:cNvSpPr txBox="1"/>
              <p:nvPr/>
            </p:nvSpPr>
            <p:spPr>
              <a:xfrm>
                <a:off x="8555682" y="6620896"/>
                <a:ext cx="815094"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InProgress</a:t>
                </a:r>
              </a:p>
            </p:txBody>
          </p:sp>
          <p:sp>
            <p:nvSpPr>
              <p:cNvPr id="79" name="Oval 78">
                <a:extLst>
                  <a:ext uri="{FF2B5EF4-FFF2-40B4-BE49-F238E27FC236}">
                    <a16:creationId xmlns:a16="http://schemas.microsoft.com/office/drawing/2014/main" id="{1691B2CE-F960-72DB-E6D4-499BCC68943E}"/>
                  </a:ext>
                </a:extLst>
              </p:cNvPr>
              <p:cNvSpPr/>
              <p:nvPr/>
            </p:nvSpPr>
            <p:spPr>
              <a:xfrm>
                <a:off x="6328246" y="6485413"/>
                <a:ext cx="133346" cy="126401"/>
              </a:xfrm>
              <a:prstGeom prst="ellipse">
                <a:avLst/>
              </a:prstGeom>
              <a:solidFill>
                <a:srgbClr val="BFBFBF"/>
              </a:solidFill>
              <a:ln w="9525">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80" name="TextBox 79">
                <a:extLst>
                  <a:ext uri="{FF2B5EF4-FFF2-40B4-BE49-F238E27FC236}">
                    <a16:creationId xmlns:a16="http://schemas.microsoft.com/office/drawing/2014/main" id="{2148DF2C-073E-DF47-3222-08581666C0AD}"/>
                  </a:ext>
                </a:extLst>
              </p:cNvPr>
              <p:cNvSpPr txBox="1"/>
              <p:nvPr/>
            </p:nvSpPr>
            <p:spPr>
              <a:xfrm>
                <a:off x="5966485" y="6601627"/>
                <a:ext cx="858416"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Not Started</a:t>
                </a:r>
              </a:p>
            </p:txBody>
          </p:sp>
        </p:grpSp>
        <p:sp>
          <p:nvSpPr>
            <p:cNvPr id="61" name="Oval 60">
              <a:extLst>
                <a:ext uri="{FF2B5EF4-FFF2-40B4-BE49-F238E27FC236}">
                  <a16:creationId xmlns:a16="http://schemas.microsoft.com/office/drawing/2014/main" id="{CF0BB35E-305D-9568-0742-C1E8532B2231}"/>
                </a:ext>
              </a:extLst>
            </p:cNvPr>
            <p:cNvSpPr/>
            <p:nvPr/>
          </p:nvSpPr>
          <p:spPr>
            <a:xfrm>
              <a:off x="9702904" y="6470392"/>
              <a:ext cx="131200" cy="126401"/>
            </a:xfrm>
            <a:prstGeom prst="ellipse">
              <a:avLst/>
            </a:prstGeom>
            <a:solidFill>
              <a:srgbClr val="003373"/>
            </a:solidFill>
            <a:ln w="9525">
              <a:solidFill>
                <a:srgbClr val="0033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grpSp>
      <p:sp>
        <p:nvSpPr>
          <p:cNvPr id="42" name="TextBox 41">
            <a:extLst>
              <a:ext uri="{FF2B5EF4-FFF2-40B4-BE49-F238E27FC236}">
                <a16:creationId xmlns:a16="http://schemas.microsoft.com/office/drawing/2014/main" id="{62CFC1C8-915C-2265-1065-A0F9A699E7FC}"/>
              </a:ext>
            </a:extLst>
          </p:cNvPr>
          <p:cNvSpPr txBox="1"/>
          <p:nvPr/>
        </p:nvSpPr>
        <p:spPr>
          <a:xfrm>
            <a:off x="9277555" y="5279857"/>
            <a:ext cx="4127854" cy="573234"/>
          </a:xfrm>
          <a:prstGeom prst="rect">
            <a:avLst/>
          </a:prstGeom>
          <a:noFill/>
        </p:spPr>
        <p:txBody>
          <a:bodyPr wrap="square" lIns="0" tIns="45720" rIns="0" bIns="4572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defRPr/>
            </a:pPr>
            <a:r>
              <a:rPr lang="en-US" altLang="ko-KR" sz="1550" b="1">
                <a:solidFill>
                  <a:prstClr val="black"/>
                </a:solidFill>
                <a:latin typeface="Arial"/>
                <a:ea typeface="맑은 고딕"/>
                <a:cs typeface="Arial"/>
              </a:rPr>
              <a:t>Remedy Plan</a:t>
            </a:r>
            <a:endParaRPr lang="en-US"/>
          </a:p>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altLang="ko-KR" sz="1575"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aphicFrame>
        <p:nvGraphicFramePr>
          <p:cNvPr id="83" name="Table 82">
            <a:extLst>
              <a:ext uri="{FF2B5EF4-FFF2-40B4-BE49-F238E27FC236}">
                <a16:creationId xmlns:a16="http://schemas.microsoft.com/office/drawing/2014/main" id="{34065042-E355-8F0E-8419-EFACADF8CE8B}"/>
              </a:ext>
            </a:extLst>
          </p:cNvPr>
          <p:cNvGraphicFramePr>
            <a:graphicFrameLocks noGrp="1"/>
          </p:cNvGraphicFramePr>
          <p:nvPr>
            <p:extLst>
              <p:ext uri="{D42A27DB-BD31-4B8C-83A1-F6EECF244321}">
                <p14:modId xmlns:p14="http://schemas.microsoft.com/office/powerpoint/2010/main" val="2006453206"/>
              </p:ext>
            </p:extLst>
          </p:nvPr>
        </p:nvGraphicFramePr>
        <p:xfrm>
          <a:off x="774428" y="7573830"/>
          <a:ext cx="16612647" cy="2134977"/>
        </p:xfrm>
        <a:graphic>
          <a:graphicData uri="http://schemas.openxmlformats.org/drawingml/2006/table">
            <a:tbl>
              <a:tblPr firstRow="1" bandRow="1">
                <a:tableStyleId>{3B4B98B0-60AC-42C2-AFA5-B58CD77FA1E5}</a:tableStyleId>
              </a:tblPr>
              <a:tblGrid>
                <a:gridCol w="1600449">
                  <a:extLst>
                    <a:ext uri="{9D8B030D-6E8A-4147-A177-3AD203B41FA5}">
                      <a16:colId xmlns:a16="http://schemas.microsoft.com/office/drawing/2014/main" val="500621086"/>
                    </a:ext>
                  </a:extLst>
                </a:gridCol>
                <a:gridCol w="8394104">
                  <a:extLst>
                    <a:ext uri="{9D8B030D-6E8A-4147-A177-3AD203B41FA5}">
                      <a16:colId xmlns:a16="http://schemas.microsoft.com/office/drawing/2014/main" val="2523077405"/>
                    </a:ext>
                  </a:extLst>
                </a:gridCol>
                <a:gridCol w="1921184">
                  <a:extLst>
                    <a:ext uri="{9D8B030D-6E8A-4147-A177-3AD203B41FA5}">
                      <a16:colId xmlns:a16="http://schemas.microsoft.com/office/drawing/2014/main" val="93284136"/>
                    </a:ext>
                  </a:extLst>
                </a:gridCol>
                <a:gridCol w="2098526">
                  <a:extLst>
                    <a:ext uri="{9D8B030D-6E8A-4147-A177-3AD203B41FA5}">
                      <a16:colId xmlns:a16="http://schemas.microsoft.com/office/drawing/2014/main" val="885857888"/>
                    </a:ext>
                  </a:extLst>
                </a:gridCol>
                <a:gridCol w="2598384">
                  <a:extLst>
                    <a:ext uri="{9D8B030D-6E8A-4147-A177-3AD203B41FA5}">
                      <a16:colId xmlns:a16="http://schemas.microsoft.com/office/drawing/2014/main" val="3402767439"/>
                    </a:ext>
                  </a:extLst>
                </a:gridCol>
              </a:tblGrid>
              <a:tr h="285348">
                <a:tc>
                  <a:txBody>
                    <a:bodyPr/>
                    <a:lstStyle/>
                    <a:p>
                      <a:pPr algn="ctr" fontAlgn="ctr"/>
                      <a:r>
                        <a:rPr lang="en-US" sz="1500" b="1" u="none" strike="noStrike">
                          <a:solidFill>
                            <a:srgbClr val="000000"/>
                          </a:solidFill>
                          <a:effectLst/>
                        </a:rPr>
                        <a:t>Area</a:t>
                      </a:r>
                      <a:endParaRPr lang="en-US" sz="1500" b="1" i="0" u="none" strike="noStrike">
                        <a:solidFill>
                          <a:srgbClr val="000000"/>
                        </a:solidFill>
                        <a:effectLst/>
                        <a:latin typeface="+mj-lt"/>
                        <a:cs typeface="Times New Roman" panose="02020603050405020304" pitchFamily="18" charset="0"/>
                      </a:endParaRPr>
                    </a:p>
                  </a:txBody>
                  <a:tcPr marL="11430" marR="11430" marT="11430" marB="0" anchor="ctr"/>
                </a:tc>
                <a:tc>
                  <a:txBody>
                    <a:bodyPr/>
                    <a:lstStyle/>
                    <a:p>
                      <a:pPr algn="ctr" fontAlgn="ctr"/>
                      <a:r>
                        <a:rPr lang="en-US" sz="1500" b="1" u="none" strike="noStrike">
                          <a:solidFill>
                            <a:srgbClr val="000000"/>
                          </a:solidFill>
                          <a:effectLst/>
                        </a:rPr>
                        <a:t>Item</a:t>
                      </a:r>
                      <a:endParaRPr lang="en-US" sz="1500" b="1" i="0" u="none" strike="noStrike">
                        <a:solidFill>
                          <a:srgbClr val="000000"/>
                        </a:solidFill>
                        <a:effectLst/>
                        <a:latin typeface="+mj-lt"/>
                        <a:cs typeface="Times New Roman" panose="02020603050405020304" pitchFamily="18" charset="0"/>
                      </a:endParaRPr>
                    </a:p>
                  </a:txBody>
                  <a:tcPr marL="11430" marR="11430" marT="11430" marB="0" anchor="ctr"/>
                </a:tc>
                <a:tc>
                  <a:txBody>
                    <a:bodyPr/>
                    <a:lstStyle/>
                    <a:p>
                      <a:pPr algn="ctr" fontAlgn="ctr"/>
                      <a:r>
                        <a:rPr lang="en-US" sz="1500" b="1" u="none" strike="noStrike">
                          <a:solidFill>
                            <a:srgbClr val="000000"/>
                          </a:solidFill>
                          <a:effectLst/>
                        </a:rPr>
                        <a:t>Status</a:t>
                      </a:r>
                      <a:endParaRPr lang="en-US" sz="1500" b="1" i="0" u="none" strike="noStrike">
                        <a:solidFill>
                          <a:srgbClr val="000000"/>
                        </a:solidFill>
                        <a:effectLst/>
                        <a:latin typeface="+mj-lt"/>
                        <a:cs typeface="Times New Roman"/>
                      </a:endParaRPr>
                    </a:p>
                  </a:txBody>
                  <a:tcPr marL="11430" marR="11430" marT="11430" marB="0" anchor="ctr"/>
                </a:tc>
                <a:tc>
                  <a:txBody>
                    <a:bodyPr/>
                    <a:lstStyle/>
                    <a:p>
                      <a:pPr algn="ctr" fontAlgn="ctr"/>
                      <a:r>
                        <a:rPr lang="en-US" sz="1500" b="1" u="none" strike="noStrike">
                          <a:solidFill>
                            <a:srgbClr val="000000"/>
                          </a:solidFill>
                          <a:effectLst/>
                        </a:rPr>
                        <a:t>Due Date</a:t>
                      </a:r>
                      <a:endParaRPr lang="en-US" sz="1500" b="1" i="0" u="none" strike="noStrike">
                        <a:solidFill>
                          <a:srgbClr val="000000"/>
                        </a:solidFill>
                        <a:effectLst/>
                        <a:latin typeface="+mj-lt"/>
                        <a:cs typeface="Times New Roman"/>
                      </a:endParaRPr>
                    </a:p>
                  </a:txBody>
                  <a:tcPr marL="11430" marR="11430" marT="11430" marB="0" anchor="ctr"/>
                </a:tc>
                <a:tc>
                  <a:txBody>
                    <a:bodyPr/>
                    <a:lstStyle/>
                    <a:p>
                      <a:pPr algn="ctr" fontAlgn="ctr"/>
                      <a:r>
                        <a:rPr lang="en-US" sz="1500" b="1" u="none" strike="noStrike">
                          <a:solidFill>
                            <a:srgbClr val="000000"/>
                          </a:solidFill>
                          <a:effectLst/>
                        </a:rPr>
                        <a:t>Owner</a:t>
                      </a:r>
                      <a:endParaRPr lang="en-US" sz="1500" b="1" i="0" u="none" strike="noStrike">
                        <a:solidFill>
                          <a:srgbClr val="000000"/>
                        </a:solidFill>
                        <a:effectLst/>
                        <a:latin typeface="+mj-lt"/>
                        <a:cs typeface="Times New Roman"/>
                      </a:endParaRPr>
                    </a:p>
                  </a:txBody>
                  <a:tcPr marL="11430" marR="11430" marT="11430" marB="0" anchor="ctr"/>
                </a:tc>
                <a:extLst>
                  <a:ext uri="{0D108BD9-81ED-4DB2-BD59-A6C34878D82A}">
                    <a16:rowId xmlns:a16="http://schemas.microsoft.com/office/drawing/2014/main" val="3746560476"/>
                  </a:ext>
                </a:extLst>
              </a:tr>
              <a:tr h="697230">
                <a:tc>
                  <a:txBody>
                    <a:bodyPr/>
                    <a:lstStyle/>
                    <a:p>
                      <a:pPr algn="ctr" fontAlgn="ctr"/>
                      <a:r>
                        <a:rPr lang="en-US" sz="1500" b="1" u="none" strike="noStrike">
                          <a:solidFill>
                            <a:srgbClr val="000000"/>
                          </a:solidFill>
                          <a:effectLst/>
                        </a:rPr>
                        <a:t>Risks</a:t>
                      </a:r>
                      <a:endParaRPr lang="en-US" sz="1500" b="1" i="0" u="none" strike="noStrike">
                        <a:solidFill>
                          <a:srgbClr val="000000"/>
                        </a:solidFill>
                        <a:effectLst/>
                        <a:latin typeface="+mj-lt"/>
                        <a:cs typeface="Times New Roman"/>
                      </a:endParaRPr>
                    </a:p>
                  </a:txBody>
                  <a:tcPr marL="11430" marR="11430" marT="11430" marB="0" anchor="ctr"/>
                </a:tc>
                <a:tc>
                  <a:txBody>
                    <a:bodyPr/>
                    <a:lstStyle/>
                    <a:p>
                      <a:pPr marL="0" indent="0" algn="ctr" fontAlgn="ctr">
                        <a:buNone/>
                      </a:pPr>
                      <a:endParaRPr lang="en-US" sz="1500" b="0" u="none" strike="noStrike" baseline="0">
                        <a:solidFill>
                          <a:srgbClr val="000000"/>
                        </a:solidFill>
                        <a:effectLst/>
                      </a:endParaRPr>
                    </a:p>
                    <a:p>
                      <a:pPr marL="0" indent="0" algn="ctr" fontAlgn="ctr">
                        <a:buNone/>
                      </a:pPr>
                      <a:r>
                        <a:rPr lang="en-US" sz="1500" b="0" u="none" strike="noStrike" baseline="0">
                          <a:solidFill>
                            <a:srgbClr val="000000"/>
                          </a:solidFill>
                          <a:effectLst/>
                        </a:rPr>
                        <a:t>No risks identified- currently</a:t>
                      </a:r>
                    </a:p>
                    <a:p>
                      <a:pPr marL="228600" indent="-228600" algn="ctr" fontAlgn="ctr">
                        <a:buAutoNum type="arabicPeriod"/>
                      </a:pPr>
                      <a:endParaRPr lang="en-US" sz="1500" b="0" i="0" u="none" strike="noStrike" baseline="0">
                        <a:solidFill>
                          <a:srgbClr val="000000"/>
                        </a:solidFill>
                        <a:effectLst/>
                        <a:latin typeface="+mj-lt"/>
                        <a:cs typeface="Times New Roman"/>
                      </a:endParaRPr>
                    </a:p>
                  </a:txBody>
                  <a:tcPr marL="11430" marR="11430" marT="11430" marB="0" anchor="ctr"/>
                </a:tc>
                <a:tc>
                  <a:txBody>
                    <a:bodyPr/>
                    <a:lstStyle/>
                    <a:p>
                      <a:pPr algn="ctr" fontAlgn="ctr"/>
                      <a:endParaRPr lang="en-US" sz="1500" b="0" i="0" u="none" strike="noStrike">
                        <a:solidFill>
                          <a:schemeClr val="tx1"/>
                        </a:solidFill>
                        <a:effectLst/>
                        <a:latin typeface="+mj-lt"/>
                        <a:cs typeface="Times New Roman"/>
                      </a:endParaRPr>
                    </a:p>
                  </a:txBody>
                  <a:tcPr marL="11430" marR="11430" marT="11430" marB="0" anchor="ctr"/>
                </a:tc>
                <a:tc>
                  <a:txBody>
                    <a:bodyPr/>
                    <a:lstStyle/>
                    <a:p>
                      <a:pPr algn="ctr" fontAlgn="ctr"/>
                      <a:endParaRPr lang="en-US" sz="1500" b="0" i="0" u="none" strike="noStrike" baseline="0">
                        <a:solidFill>
                          <a:srgbClr val="000000"/>
                        </a:solidFill>
                        <a:effectLst/>
                        <a:latin typeface="+mj-lt"/>
                        <a:cs typeface="Times New Roman"/>
                      </a:endParaRPr>
                    </a:p>
                  </a:txBody>
                  <a:tcPr marL="11430" marR="11430" marT="11430" marB="0" anchor="ctr"/>
                </a:tc>
                <a:tc>
                  <a:txBody>
                    <a:bodyPr/>
                    <a:lstStyle/>
                    <a:p>
                      <a:pPr algn="ctr" fontAlgn="ctr"/>
                      <a:endParaRPr lang="en-US" sz="1500" b="0" i="0" u="none" strike="noStrike" kern="1200">
                        <a:solidFill>
                          <a:srgbClr val="000000"/>
                        </a:solidFill>
                        <a:effectLst/>
                        <a:latin typeface="+mn-lt"/>
                        <a:ea typeface="+mn-ea"/>
                        <a:cs typeface="Times New Roman"/>
                      </a:endParaRPr>
                    </a:p>
                  </a:txBody>
                  <a:tcPr marL="11430" marR="11430" marT="11430" marB="0" anchor="ctr"/>
                </a:tc>
                <a:extLst>
                  <a:ext uri="{0D108BD9-81ED-4DB2-BD59-A6C34878D82A}">
                    <a16:rowId xmlns:a16="http://schemas.microsoft.com/office/drawing/2014/main" val="161483975"/>
                  </a:ext>
                </a:extLst>
              </a:tr>
              <a:tr h="69723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1" u="none" strike="noStrike" kern="1200" cap="none" spc="0" normalizeH="0" baseline="0" noProof="0">
                          <a:ln>
                            <a:noFill/>
                          </a:ln>
                          <a:solidFill>
                            <a:srgbClr val="000000"/>
                          </a:solidFill>
                          <a:effectLst/>
                          <a:uLnTx/>
                          <a:uFillTx/>
                        </a:rPr>
                        <a:t>Issues</a:t>
                      </a:r>
                      <a:endParaRPr kumimoji="0" lang="en-US" sz="1500" b="1" i="0" u="none" strike="noStrike" kern="1200" cap="none" spc="0" normalizeH="0" baseline="0" noProof="0">
                        <a:ln>
                          <a:noFill/>
                        </a:ln>
                        <a:solidFill>
                          <a:srgbClr val="000000"/>
                        </a:solidFill>
                        <a:effectLst/>
                        <a:uLnTx/>
                        <a:uFillTx/>
                        <a:latin typeface="Aptos Display" panose="02110004020202020204"/>
                        <a:ea typeface="+mn-ea"/>
                        <a:cs typeface="Times New Roman" panose="02020603050405020304" pitchFamily="18" charset="0"/>
                      </a:endParaRPr>
                    </a:p>
                  </a:txBody>
                  <a:tcPr marL="137160" marR="137160" marT="68580" marB="68580" anchor="ctr"/>
                </a:tc>
                <a:tc>
                  <a:txBody>
                    <a:bodyPr/>
                    <a:lstStyle/>
                    <a:p>
                      <a:pPr marL="457200" marR="0" lvl="1" indent="0" algn="ctr" defTabSz="914400" rtl="0" eaLnBrk="1" fontAlgn="auto" latinLnBrk="0" hangingPunct="1">
                        <a:lnSpc>
                          <a:spcPct val="100000"/>
                        </a:lnSpc>
                        <a:spcBef>
                          <a:spcPts val="0"/>
                        </a:spcBef>
                        <a:spcAft>
                          <a:spcPts val="0"/>
                        </a:spcAft>
                        <a:buClrTx/>
                        <a:buSzTx/>
                        <a:buFont typeface="+mj-lt"/>
                        <a:buNone/>
                        <a:tabLst/>
                        <a:defRPr/>
                      </a:pPr>
                      <a:endParaRPr lang="en-US" sz="1500" strike="noStrike"/>
                    </a:p>
                    <a:p>
                      <a:pPr marL="0" marR="0" lvl="0" indent="0" algn="ctr" defTabSz="914400" rtl="0" eaLnBrk="1" fontAlgn="auto" latinLnBrk="0" hangingPunct="1">
                        <a:lnSpc>
                          <a:spcPct val="100000"/>
                        </a:lnSpc>
                        <a:spcBef>
                          <a:spcPts val="0"/>
                        </a:spcBef>
                        <a:spcAft>
                          <a:spcPts val="0"/>
                        </a:spcAft>
                        <a:buClrTx/>
                        <a:buSzTx/>
                        <a:buFont typeface="+mj-lt"/>
                        <a:buNone/>
                        <a:tabLst/>
                        <a:defRPr/>
                      </a:pPr>
                      <a:r>
                        <a:rPr lang="en-US" sz="1500" strike="noStrike"/>
                        <a:t>  No issues identified- currently</a:t>
                      </a:r>
                      <a:endParaRPr lang="en-US" sz="1500"/>
                    </a:p>
                  </a:txBody>
                  <a:tcPr marL="11430" marR="11430" marT="11430" marB="0"/>
                </a:tc>
                <a:tc>
                  <a:txBody>
                    <a:bodyPr/>
                    <a:lstStyle/>
                    <a:p>
                      <a:pPr algn="ctr" fontAlgn="ctr"/>
                      <a:endParaRPr lang="en-US" sz="1500" b="0" u="none" strike="noStrike" kern="1200">
                        <a:solidFill>
                          <a:srgbClr val="000000"/>
                        </a:solidFill>
                        <a:effectLst/>
                      </a:endParaRPr>
                    </a:p>
                    <a:p>
                      <a:pPr algn="ctr" fontAlgn="ctr"/>
                      <a:br>
                        <a:rPr lang="en-US" sz="1500" b="0" u="none" strike="noStrike" kern="1200">
                          <a:solidFill>
                            <a:srgbClr val="000000"/>
                          </a:solidFill>
                          <a:effectLst/>
                        </a:rPr>
                      </a:br>
                      <a:endParaRPr lang="en-US" sz="1500" b="0" i="0" u="none" strike="noStrike" kern="1200">
                        <a:solidFill>
                          <a:srgbClr val="000000"/>
                        </a:solidFill>
                        <a:effectLst/>
                        <a:latin typeface="+mn-lt"/>
                        <a:ea typeface="+mn-ea"/>
                        <a:cs typeface="Times New Roman"/>
                      </a:endParaRPr>
                    </a:p>
                  </a:txBody>
                  <a:tcPr marL="11430" marR="11430" marT="11430" marB="0"/>
                </a:tc>
                <a:tc>
                  <a:txBody>
                    <a:bodyPr/>
                    <a:lstStyle/>
                    <a:p>
                      <a:pPr marL="0" marR="0" lvl="0" indent="0" algn="ctr">
                        <a:lnSpc>
                          <a:spcPct val="100000"/>
                        </a:lnSpc>
                        <a:spcBef>
                          <a:spcPts val="0"/>
                        </a:spcBef>
                        <a:spcAft>
                          <a:spcPts val="0"/>
                        </a:spcAft>
                        <a:buNone/>
                      </a:pPr>
                      <a:endParaRPr lang="en-US" sz="1500" b="0" u="none" strike="noStrike" baseline="0" noProof="0">
                        <a:solidFill>
                          <a:srgbClr val="000000"/>
                        </a:solidFill>
                        <a:effectLst/>
                      </a:endParaRPr>
                    </a:p>
                  </a:txBody>
                  <a:tcPr marL="11430" marR="11430" marT="11430" marB="0"/>
                </a:tc>
                <a:tc>
                  <a:txBody>
                    <a:bodyPr/>
                    <a:lstStyle/>
                    <a:p>
                      <a:pPr lvl="0" algn="ctr">
                        <a:lnSpc>
                          <a:spcPct val="100000"/>
                        </a:lnSpc>
                        <a:spcBef>
                          <a:spcPts val="0"/>
                        </a:spcBef>
                        <a:spcAft>
                          <a:spcPts val="0"/>
                        </a:spcAft>
                        <a:buNone/>
                      </a:pPr>
                      <a:endParaRPr lang="en-US" sz="1500" b="0" u="none" strike="noStrike" noProof="0">
                        <a:solidFill>
                          <a:srgbClr val="000000"/>
                        </a:solidFill>
                        <a:effectLst/>
                      </a:endParaRPr>
                    </a:p>
                  </a:txBody>
                  <a:tcPr marL="11430" marR="11430" marT="11430" marB="0"/>
                </a:tc>
                <a:extLst>
                  <a:ext uri="{0D108BD9-81ED-4DB2-BD59-A6C34878D82A}">
                    <a16:rowId xmlns:a16="http://schemas.microsoft.com/office/drawing/2014/main" val="2752322571"/>
                  </a:ext>
                </a:extLst>
              </a:tr>
              <a:tr h="455169">
                <a:tc>
                  <a:txBody>
                    <a:bodyPr/>
                    <a:lstStyle/>
                    <a:p>
                      <a:pPr algn="ctr" fontAlgn="ctr"/>
                      <a:r>
                        <a:rPr lang="en-US" sz="1500" b="1" u="none" strike="noStrike">
                          <a:solidFill>
                            <a:srgbClr val="000000"/>
                          </a:solidFill>
                          <a:effectLst/>
                        </a:rPr>
                        <a:t>Decisions</a:t>
                      </a:r>
                    </a:p>
                  </a:txBody>
                  <a:tcPr marL="11430" marR="11430" marT="11430" marB="0" anchor="ctr"/>
                </a:tc>
                <a:tc>
                  <a:txBody>
                    <a:bodyPr/>
                    <a:lstStyle/>
                    <a:p>
                      <a:pPr marL="457200" marR="0" lvl="1" indent="0" algn="ctr" defTabSz="914400" rtl="0" eaLnBrk="1" fontAlgn="auto" latinLnBrk="0" hangingPunct="1">
                        <a:lnSpc>
                          <a:spcPct val="100000"/>
                        </a:lnSpc>
                        <a:spcBef>
                          <a:spcPts val="0"/>
                        </a:spcBef>
                        <a:spcAft>
                          <a:spcPts val="0"/>
                        </a:spcAft>
                        <a:buClrTx/>
                        <a:buSzTx/>
                        <a:buFontTx/>
                        <a:buNone/>
                        <a:tabLst/>
                        <a:defRPr/>
                      </a:pPr>
                      <a:endParaRPr kumimoji="0" lang="en-US" sz="1500" b="0" u="none" strike="noStrike" kern="1200" cap="none" spc="0" normalizeH="0" baseline="0" noProof="0">
                        <a:ln>
                          <a:noFill/>
                        </a:ln>
                        <a:solidFill>
                          <a:srgbClr val="000000"/>
                        </a:solidFill>
                        <a:effectLst/>
                        <a:uLnTx/>
                        <a:uFillTx/>
                      </a:endParaRPr>
                    </a:p>
                  </a:txBody>
                  <a:tcPr marL="11430" marR="11430" marT="11430" marB="0" anchor="ctr"/>
                </a:tc>
                <a:tc>
                  <a:txBody>
                    <a:bodyPr/>
                    <a:lstStyle/>
                    <a:p>
                      <a:pPr algn="ctr" fontAlgn="ctr"/>
                      <a:endParaRPr lang="en-US" sz="1500" b="0" u="none" strike="noStrike">
                        <a:solidFill>
                          <a:srgbClr val="000000"/>
                        </a:solidFill>
                        <a:effectLst/>
                      </a:endParaRPr>
                    </a:p>
                  </a:txBody>
                  <a:tcPr marL="11430" marR="11430" marT="1143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500" strike="noStrike">
                        <a:effectLst/>
                        <a:latin typeface="+mj-lt"/>
                        <a:cs typeface="Times New Roman" panose="02020603050405020304" pitchFamily="18" charset="0"/>
                      </a:endParaRPr>
                    </a:p>
                  </a:txBody>
                  <a:tcPr marL="11430" marR="11430" marT="11430" marB="0" anchor="ctr"/>
                </a:tc>
                <a:tc>
                  <a:txBody>
                    <a:bodyPr/>
                    <a:lstStyle/>
                    <a:p>
                      <a:pPr algn="ctr" fontAlgn="ctr"/>
                      <a:endParaRPr lang="en-US" sz="1500" b="0" u="none" strike="noStrike">
                        <a:solidFill>
                          <a:srgbClr val="000000"/>
                        </a:solidFill>
                        <a:effectLst/>
                      </a:endParaRPr>
                    </a:p>
                  </a:txBody>
                  <a:tcPr marL="11430" marR="11430" marT="11430" marB="0" anchor="ctr"/>
                </a:tc>
                <a:extLst>
                  <a:ext uri="{0D108BD9-81ED-4DB2-BD59-A6C34878D82A}">
                    <a16:rowId xmlns:a16="http://schemas.microsoft.com/office/drawing/2014/main" val="2986965557"/>
                  </a:ext>
                </a:extLst>
              </a:tr>
            </a:tbl>
          </a:graphicData>
        </a:graphic>
      </p:graphicFrame>
      <p:sp>
        <p:nvSpPr>
          <p:cNvPr id="74" name="TextBox 73">
            <a:extLst>
              <a:ext uri="{FF2B5EF4-FFF2-40B4-BE49-F238E27FC236}">
                <a16:creationId xmlns:a16="http://schemas.microsoft.com/office/drawing/2014/main" id="{18330CF9-AD57-9CFB-6736-AB551F37FB39}"/>
              </a:ext>
            </a:extLst>
          </p:cNvPr>
          <p:cNvSpPr txBox="1"/>
          <p:nvPr/>
        </p:nvSpPr>
        <p:spPr>
          <a:xfrm>
            <a:off x="7650037" y="6593890"/>
            <a:ext cx="2159441" cy="461666"/>
          </a:xfrm>
          <a:prstGeom prst="rect">
            <a:avLst/>
          </a:prstGeom>
          <a:noFill/>
        </p:spPr>
        <p:txBody>
          <a:bodyPr wrap="square" lIns="0" tIns="0" rIns="0" bIns="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defRPr/>
            </a:pPr>
            <a:r>
              <a:rPr lang="en-GB" altLang="ko-KR" sz="1500" b="1">
                <a:solidFill>
                  <a:prstClr val="black"/>
                </a:solidFill>
                <a:latin typeface="Arial"/>
                <a:ea typeface="맑은 고딕"/>
                <a:cs typeface="Arial"/>
              </a:rPr>
              <a:t>July </a:t>
            </a:r>
          </a:p>
          <a:p>
            <a:pPr marL="0" marR="0" lvl="0" indent="0" algn="ctr" defTabSz="1371600" rtl="0" eaLnBrk="1" fontAlgn="auto" latinLnBrk="0" hangingPunct="1">
              <a:lnSpc>
                <a:spcPct val="100000"/>
              </a:lnSpc>
              <a:spcBef>
                <a:spcPts val="0"/>
              </a:spcBef>
              <a:spcAft>
                <a:spcPts val="0"/>
              </a:spcAft>
              <a:buClrTx/>
              <a:buSzTx/>
              <a:buFontTx/>
              <a:buNone/>
              <a:tabLst/>
              <a:defRPr/>
            </a:pPr>
            <a:endParaRPr lang="en-GB" altLang="ko-KR" sz="1500" b="1">
              <a:solidFill>
                <a:prstClr val="black"/>
              </a:solidFill>
              <a:latin typeface="Arial" panose="020B0604020202020204" pitchFamily="34" charset="0"/>
              <a:cs typeface="Arial" panose="020B0604020202020204" pitchFamily="34" charset="0"/>
            </a:endParaRPr>
          </a:p>
        </p:txBody>
      </p:sp>
      <p:sp>
        <p:nvSpPr>
          <p:cNvPr id="75" name="TextBox 74">
            <a:extLst>
              <a:ext uri="{FF2B5EF4-FFF2-40B4-BE49-F238E27FC236}">
                <a16:creationId xmlns:a16="http://schemas.microsoft.com/office/drawing/2014/main" id="{024D3A4E-4237-29DE-FA7B-3D8C9F43BF31}"/>
              </a:ext>
            </a:extLst>
          </p:cNvPr>
          <p:cNvSpPr txBox="1"/>
          <p:nvPr/>
        </p:nvSpPr>
        <p:spPr>
          <a:xfrm>
            <a:off x="10307603" y="6617122"/>
            <a:ext cx="2159441" cy="692497"/>
          </a:xfrm>
          <a:prstGeom prst="rect">
            <a:avLst/>
          </a:prstGeom>
          <a:noFill/>
        </p:spPr>
        <p:txBody>
          <a:bodyPr wrap="square" lIns="0" tIns="0" rIns="0" bIns="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defRPr/>
            </a:pPr>
            <a:r>
              <a:rPr lang="en-GB" altLang="ko-KR" sz="1500" b="1" strike="sngStrike">
                <a:solidFill>
                  <a:prstClr val="black"/>
                </a:solidFill>
                <a:latin typeface="Arial"/>
                <a:ea typeface="맑은 고딕"/>
                <a:cs typeface="Arial"/>
              </a:rPr>
              <a:t>March , April,</a:t>
            </a:r>
            <a:r>
              <a:rPr lang="en-GB" altLang="ko-KR" sz="1500" b="1">
                <a:solidFill>
                  <a:prstClr val="black"/>
                </a:solidFill>
                <a:latin typeface="Arial"/>
                <a:ea typeface="맑은 고딕"/>
                <a:cs typeface="Arial"/>
              </a:rPr>
              <a:t> </a:t>
            </a:r>
            <a:r>
              <a:rPr lang="en-GB" altLang="ko-KR" sz="1500" b="1" strike="sngStrike">
                <a:solidFill>
                  <a:prstClr val="black"/>
                </a:solidFill>
                <a:latin typeface="Arial"/>
                <a:ea typeface="맑은 고딕"/>
                <a:cs typeface="Arial"/>
              </a:rPr>
              <a:t>May </a:t>
            </a:r>
            <a:r>
              <a:rPr lang="en-GB" altLang="ko-KR" sz="1500" b="1">
                <a:solidFill>
                  <a:prstClr val="black"/>
                </a:solidFill>
                <a:latin typeface="Arial"/>
                <a:ea typeface="맑은 고딕"/>
                <a:cs typeface="Arial"/>
              </a:rPr>
              <a:t>June (2026)</a:t>
            </a:r>
          </a:p>
          <a:p>
            <a:pPr marL="0" marR="0" lvl="0" indent="0" algn="ctr" defTabSz="1371600" rtl="0" eaLnBrk="1" fontAlgn="auto" latinLnBrk="0" hangingPunct="1">
              <a:lnSpc>
                <a:spcPct val="100000"/>
              </a:lnSpc>
              <a:spcBef>
                <a:spcPts val="0"/>
              </a:spcBef>
              <a:spcAft>
                <a:spcPts val="0"/>
              </a:spcAft>
              <a:buClrTx/>
              <a:buSzTx/>
              <a:buFontTx/>
              <a:buNone/>
              <a:tabLst/>
              <a:defRPr/>
            </a:pPr>
            <a:endParaRPr lang="en-GB" altLang="ko-KR" sz="1500" b="1">
              <a:solidFill>
                <a:prstClr val="black"/>
              </a:solidFill>
              <a:latin typeface="Arial" panose="020B0604020202020204" pitchFamily="34" charset="0"/>
              <a:cs typeface="Arial" panose="020B0604020202020204" pitchFamily="34" charset="0"/>
            </a:endParaRPr>
          </a:p>
        </p:txBody>
      </p:sp>
      <p:sp>
        <p:nvSpPr>
          <p:cNvPr id="82" name="TextBox 81">
            <a:extLst>
              <a:ext uri="{FF2B5EF4-FFF2-40B4-BE49-F238E27FC236}">
                <a16:creationId xmlns:a16="http://schemas.microsoft.com/office/drawing/2014/main" id="{63320395-A4B3-6317-8217-83351933BB63}"/>
              </a:ext>
            </a:extLst>
          </p:cNvPr>
          <p:cNvSpPr txBox="1"/>
          <p:nvPr/>
        </p:nvSpPr>
        <p:spPr>
          <a:xfrm>
            <a:off x="12956940" y="6600794"/>
            <a:ext cx="2159441" cy="461666"/>
          </a:xfrm>
          <a:prstGeom prst="rect">
            <a:avLst/>
          </a:prstGeom>
          <a:noFill/>
        </p:spPr>
        <p:txBody>
          <a:bodyPr wrap="square" lIns="0" tIns="0" rIns="0" bIns="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a:lnSpc>
                <a:spcPct val="100000"/>
              </a:lnSpc>
              <a:spcBef>
                <a:spcPts val="0"/>
              </a:spcBef>
              <a:spcAft>
                <a:spcPts val="0"/>
              </a:spcAft>
              <a:buNone/>
              <a:tabLst/>
              <a:defRPr/>
            </a:pPr>
            <a:r>
              <a:rPr lang="en-GB" altLang="ko-KR" sz="1500" b="1">
                <a:solidFill>
                  <a:prstClr val="black"/>
                </a:solidFill>
                <a:latin typeface="Arial"/>
                <a:ea typeface="맑은 고딕"/>
                <a:cs typeface="Arial"/>
              </a:rPr>
              <a:t>Unknown</a:t>
            </a:r>
            <a:endParaRPr lang="en-US"/>
          </a:p>
          <a:p>
            <a:pPr marL="0" marR="0" lvl="0" indent="0" algn="ctr" defTabSz="1371600" rtl="0" eaLnBrk="1" fontAlgn="auto" latinLnBrk="0" hangingPunct="1">
              <a:lnSpc>
                <a:spcPct val="100000"/>
              </a:lnSpc>
              <a:spcBef>
                <a:spcPts val="0"/>
              </a:spcBef>
              <a:spcAft>
                <a:spcPts val="0"/>
              </a:spcAft>
              <a:buClrTx/>
              <a:buSzTx/>
              <a:buFontTx/>
              <a:buNone/>
              <a:tabLst/>
              <a:defRPr/>
            </a:pPr>
            <a:endParaRPr lang="en-GB" altLang="ko-KR" sz="1500" b="1">
              <a:solidFill>
                <a:prstClr val="black"/>
              </a:solidFill>
              <a:latin typeface="Arial" panose="020B0604020202020204" pitchFamily="34" charset="0"/>
              <a:cs typeface="Arial" panose="020B0604020202020204" pitchFamily="34" charset="0"/>
            </a:endParaRPr>
          </a:p>
        </p:txBody>
      </p:sp>
      <p:sp>
        <p:nvSpPr>
          <p:cNvPr id="3" name="Oval 2">
            <a:extLst>
              <a:ext uri="{FF2B5EF4-FFF2-40B4-BE49-F238E27FC236}">
                <a16:creationId xmlns:a16="http://schemas.microsoft.com/office/drawing/2014/main" id="{AF594CAA-E6EB-667F-FC43-E7AACED0FC20}"/>
              </a:ext>
            </a:extLst>
          </p:cNvPr>
          <p:cNvSpPr/>
          <p:nvPr/>
        </p:nvSpPr>
        <p:spPr>
          <a:xfrm>
            <a:off x="2631594" y="6148201"/>
            <a:ext cx="435546" cy="405236"/>
          </a:xfrm>
          <a:prstGeom prst="ellipse">
            <a:avLst/>
          </a:prstGeom>
          <a:solidFill>
            <a:srgbClr val="003373"/>
          </a:solidFill>
          <a:ln w="9525">
            <a:solidFill>
              <a:srgbClr val="0033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9" name="Oval 8">
            <a:extLst>
              <a:ext uri="{FF2B5EF4-FFF2-40B4-BE49-F238E27FC236}">
                <a16:creationId xmlns:a16="http://schemas.microsoft.com/office/drawing/2014/main" id="{1CB5E505-7778-7882-00E0-FB06C7E626D2}"/>
              </a:ext>
            </a:extLst>
          </p:cNvPr>
          <p:cNvSpPr/>
          <p:nvPr/>
        </p:nvSpPr>
        <p:spPr>
          <a:xfrm>
            <a:off x="8509879" y="6148201"/>
            <a:ext cx="435546" cy="405236"/>
          </a:xfrm>
          <a:prstGeom prst="ellipse">
            <a:avLst/>
          </a:prstGeom>
          <a:solidFill>
            <a:srgbClr val="00337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5" name="Oval 14">
            <a:extLst>
              <a:ext uri="{FF2B5EF4-FFF2-40B4-BE49-F238E27FC236}">
                <a16:creationId xmlns:a16="http://schemas.microsoft.com/office/drawing/2014/main" id="{2E21F430-C2B1-E6C6-D193-CCED2B3DFA66}"/>
              </a:ext>
            </a:extLst>
          </p:cNvPr>
          <p:cNvSpPr/>
          <p:nvPr/>
        </p:nvSpPr>
        <p:spPr>
          <a:xfrm>
            <a:off x="11171436" y="6148200"/>
            <a:ext cx="435546" cy="405236"/>
          </a:xfrm>
          <a:prstGeom prst="ellipse">
            <a:avLst/>
          </a:prstGeom>
          <a:solidFill>
            <a:srgbClr val="00B05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5" name="Oval 24">
            <a:extLst>
              <a:ext uri="{FF2B5EF4-FFF2-40B4-BE49-F238E27FC236}">
                <a16:creationId xmlns:a16="http://schemas.microsoft.com/office/drawing/2014/main" id="{FD47EEB5-411B-415F-B678-641EB1E7FC2A}"/>
              </a:ext>
            </a:extLst>
          </p:cNvPr>
          <p:cNvSpPr/>
          <p:nvPr/>
        </p:nvSpPr>
        <p:spPr>
          <a:xfrm>
            <a:off x="13784008" y="6148200"/>
            <a:ext cx="435546" cy="405236"/>
          </a:xfrm>
          <a:prstGeom prst="ellipse">
            <a:avLst/>
          </a:prstGeom>
          <a:solidFill>
            <a:schemeClr val="bg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pic>
        <p:nvPicPr>
          <p:cNvPr id="28" name="Picture 27">
            <a:extLst>
              <a:ext uri="{FF2B5EF4-FFF2-40B4-BE49-F238E27FC236}">
                <a16:creationId xmlns:a16="http://schemas.microsoft.com/office/drawing/2014/main" id="{847A75DE-88D1-C281-A2CA-8DB71157FC13}"/>
              </a:ext>
            </a:extLst>
          </p:cNvPr>
          <p:cNvPicPr>
            <a:picLocks noChangeAspect="1"/>
          </p:cNvPicPr>
          <p:nvPr/>
        </p:nvPicPr>
        <p:blipFill>
          <a:blip r:embed="rId3"/>
          <a:stretch>
            <a:fillRect/>
          </a:stretch>
        </p:blipFill>
        <p:spPr>
          <a:xfrm>
            <a:off x="2811917" y="5854147"/>
            <a:ext cx="123825" cy="323850"/>
          </a:xfrm>
          <a:prstGeom prst="rect">
            <a:avLst/>
          </a:prstGeom>
        </p:spPr>
      </p:pic>
      <p:sp>
        <p:nvSpPr>
          <p:cNvPr id="35" name="Oval 34">
            <a:extLst>
              <a:ext uri="{FF2B5EF4-FFF2-40B4-BE49-F238E27FC236}">
                <a16:creationId xmlns:a16="http://schemas.microsoft.com/office/drawing/2014/main" id="{332BE954-3025-825A-F159-896F169905B2}"/>
              </a:ext>
            </a:extLst>
          </p:cNvPr>
          <p:cNvSpPr/>
          <p:nvPr/>
        </p:nvSpPr>
        <p:spPr>
          <a:xfrm>
            <a:off x="5456437" y="6148201"/>
            <a:ext cx="435546" cy="405236"/>
          </a:xfrm>
          <a:prstGeom prst="ellipse">
            <a:avLst/>
          </a:prstGeom>
          <a:solidFill>
            <a:srgbClr val="00337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pic>
        <p:nvPicPr>
          <p:cNvPr id="40" name="Picture 39">
            <a:extLst>
              <a:ext uri="{FF2B5EF4-FFF2-40B4-BE49-F238E27FC236}">
                <a16:creationId xmlns:a16="http://schemas.microsoft.com/office/drawing/2014/main" id="{F27C18A7-FD36-06B9-BC47-94AE38C1E656}"/>
              </a:ext>
            </a:extLst>
          </p:cNvPr>
          <p:cNvPicPr>
            <a:picLocks noChangeAspect="1"/>
          </p:cNvPicPr>
          <p:nvPr/>
        </p:nvPicPr>
        <p:blipFill>
          <a:blip r:embed="rId4"/>
          <a:stretch>
            <a:fillRect/>
          </a:stretch>
        </p:blipFill>
        <p:spPr>
          <a:xfrm>
            <a:off x="13931674" y="5741207"/>
            <a:ext cx="123825" cy="419100"/>
          </a:xfrm>
          <a:prstGeom prst="rect">
            <a:avLst/>
          </a:prstGeom>
        </p:spPr>
      </p:pic>
      <p:sp>
        <p:nvSpPr>
          <p:cNvPr id="32" name="TextBox 31">
            <a:extLst>
              <a:ext uri="{FF2B5EF4-FFF2-40B4-BE49-F238E27FC236}">
                <a16:creationId xmlns:a16="http://schemas.microsoft.com/office/drawing/2014/main" id="{057B678B-AD62-6B64-0078-D6305E349F92}"/>
              </a:ext>
            </a:extLst>
          </p:cNvPr>
          <p:cNvSpPr txBox="1"/>
          <p:nvPr/>
        </p:nvSpPr>
        <p:spPr>
          <a:xfrm>
            <a:off x="5269844" y="6610009"/>
            <a:ext cx="1236946" cy="6001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solidFill>
                  <a:srgbClr val="000000"/>
                </a:solidFill>
                <a:latin typeface="Arial"/>
                <a:ea typeface="Arial"/>
                <a:cs typeface="Arial"/>
              </a:rPr>
              <a:t>March</a:t>
            </a:r>
            <a:r>
              <a:rPr lang="en-US" sz="1500" b="1" i="0">
                <a:solidFill>
                  <a:srgbClr val="000000"/>
                </a:solidFill>
                <a:latin typeface="Arial"/>
                <a:ea typeface="Arial"/>
                <a:cs typeface="Arial"/>
              </a:rPr>
              <a:t> </a:t>
            </a:r>
            <a:endParaRPr lang="en-US" sz="1500">
              <a:ea typeface="Calibri"/>
              <a:cs typeface="Calibri"/>
            </a:endParaRPr>
          </a:p>
          <a:p>
            <a:pPr algn="ctr"/>
            <a:endParaRPr lang="en-GB"/>
          </a:p>
        </p:txBody>
      </p:sp>
      <p:pic>
        <p:nvPicPr>
          <p:cNvPr id="33" name="Picture 32">
            <a:extLst>
              <a:ext uri="{FF2B5EF4-FFF2-40B4-BE49-F238E27FC236}">
                <a16:creationId xmlns:a16="http://schemas.microsoft.com/office/drawing/2014/main" id="{3A8E487A-1CDD-0705-F827-EA4C06E2A1CA}"/>
              </a:ext>
            </a:extLst>
          </p:cNvPr>
          <p:cNvPicPr>
            <a:picLocks noChangeAspect="1"/>
          </p:cNvPicPr>
          <p:nvPr/>
        </p:nvPicPr>
        <p:blipFill>
          <a:blip r:embed="rId3"/>
          <a:stretch>
            <a:fillRect/>
          </a:stretch>
        </p:blipFill>
        <p:spPr>
          <a:xfrm>
            <a:off x="5607870" y="5836561"/>
            <a:ext cx="123825" cy="323850"/>
          </a:xfrm>
          <a:prstGeom prst="rect">
            <a:avLst/>
          </a:prstGeom>
        </p:spPr>
      </p:pic>
      <p:pic>
        <p:nvPicPr>
          <p:cNvPr id="36" name="Picture 35">
            <a:extLst>
              <a:ext uri="{FF2B5EF4-FFF2-40B4-BE49-F238E27FC236}">
                <a16:creationId xmlns:a16="http://schemas.microsoft.com/office/drawing/2014/main" id="{B4313D81-F734-68EE-B063-F05968C6C40F}"/>
              </a:ext>
            </a:extLst>
          </p:cNvPr>
          <p:cNvPicPr>
            <a:picLocks noChangeAspect="1"/>
          </p:cNvPicPr>
          <p:nvPr/>
        </p:nvPicPr>
        <p:blipFill>
          <a:blip r:embed="rId3"/>
          <a:stretch>
            <a:fillRect/>
          </a:stretch>
        </p:blipFill>
        <p:spPr>
          <a:xfrm>
            <a:off x="8667593" y="5801392"/>
            <a:ext cx="123825" cy="323850"/>
          </a:xfrm>
          <a:prstGeom prst="rect">
            <a:avLst/>
          </a:prstGeom>
        </p:spPr>
      </p:pic>
      <p:pic>
        <p:nvPicPr>
          <p:cNvPr id="38" name="Picture 37">
            <a:extLst>
              <a:ext uri="{FF2B5EF4-FFF2-40B4-BE49-F238E27FC236}">
                <a16:creationId xmlns:a16="http://schemas.microsoft.com/office/drawing/2014/main" id="{9DDFA586-04A1-24FE-2071-37DBE02201F3}"/>
              </a:ext>
            </a:extLst>
          </p:cNvPr>
          <p:cNvPicPr>
            <a:picLocks noChangeAspect="1"/>
          </p:cNvPicPr>
          <p:nvPr/>
        </p:nvPicPr>
        <p:blipFill>
          <a:blip r:embed="rId5"/>
          <a:stretch>
            <a:fillRect/>
          </a:stretch>
        </p:blipFill>
        <p:spPr>
          <a:xfrm>
            <a:off x="11335431" y="5770777"/>
            <a:ext cx="123825" cy="352425"/>
          </a:xfrm>
          <a:prstGeom prst="rect">
            <a:avLst/>
          </a:prstGeom>
        </p:spPr>
      </p:pic>
    </p:spTree>
    <p:extLst>
      <p:ext uri="{BB962C8B-B14F-4D97-AF65-F5344CB8AC3E}">
        <p14:creationId xmlns:p14="http://schemas.microsoft.com/office/powerpoint/2010/main" val="11975063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C43DE-38B9-1E5E-796A-9EEB4EC4889A}"/>
            </a:ext>
          </a:extLst>
        </p:cNvPr>
        <p:cNvGrpSpPr/>
        <p:nvPr/>
      </p:nvGrpSpPr>
      <p:grpSpPr>
        <a:xfrm>
          <a:off x="0" y="0"/>
          <a:ext cx="0" cy="0"/>
          <a:chOff x="0" y="0"/>
          <a:chExt cx="0" cy="0"/>
        </a:xfrm>
      </p:grpSpPr>
      <p:pic>
        <p:nvPicPr>
          <p:cNvPr id="53" name="Picture 52">
            <a:extLst>
              <a:ext uri="{FF2B5EF4-FFF2-40B4-BE49-F238E27FC236}">
                <a16:creationId xmlns:a16="http://schemas.microsoft.com/office/drawing/2014/main" id="{D8B71580-A9D9-9707-4F61-285F5E64DA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19415" y="60344"/>
            <a:ext cx="2308638" cy="1251719"/>
          </a:xfrm>
          <a:prstGeom prst="rect">
            <a:avLst/>
          </a:prstGeom>
        </p:spPr>
      </p:pic>
      <p:sp>
        <p:nvSpPr>
          <p:cNvPr id="3" name="Rectangle 2">
            <a:extLst>
              <a:ext uri="{FF2B5EF4-FFF2-40B4-BE49-F238E27FC236}">
                <a16:creationId xmlns:a16="http://schemas.microsoft.com/office/drawing/2014/main" id="{3BF622F9-FA0D-A268-831E-0AD1770ED2A0}"/>
              </a:ext>
            </a:extLst>
          </p:cNvPr>
          <p:cNvSpPr/>
          <p:nvPr/>
        </p:nvSpPr>
        <p:spPr>
          <a:xfrm>
            <a:off x="831653" y="1660601"/>
            <a:ext cx="16583688" cy="452903"/>
          </a:xfrm>
          <a:prstGeom prst="rect">
            <a:avLst/>
          </a:prstGeom>
          <a:solidFill>
            <a:srgbClr val="00A69C"/>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Key Action Items</a:t>
            </a:r>
          </a:p>
        </p:txBody>
      </p:sp>
      <p:sp>
        <p:nvSpPr>
          <p:cNvPr id="6" name="Title 1">
            <a:extLst>
              <a:ext uri="{FF2B5EF4-FFF2-40B4-BE49-F238E27FC236}">
                <a16:creationId xmlns:a16="http://schemas.microsoft.com/office/drawing/2014/main" id="{DE347383-2966-4A5E-8546-3942E32D5274}"/>
              </a:ext>
            </a:extLst>
          </p:cNvPr>
          <p:cNvSpPr txBox="1">
            <a:spLocks/>
          </p:cNvSpPr>
          <p:nvPr/>
        </p:nvSpPr>
        <p:spPr>
          <a:xfrm>
            <a:off x="831653" y="1059248"/>
            <a:ext cx="13441680" cy="415499"/>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ct val="0"/>
              </a:spcBef>
              <a:spcAft>
                <a:spcPts val="0"/>
              </a:spcAft>
              <a:buClrTx/>
              <a:buSzTx/>
              <a:buFontTx/>
              <a:buNone/>
              <a:tabLst/>
              <a:defRPr/>
            </a:pPr>
            <a:r>
              <a:rPr lang="en-US" sz="2700">
                <a:solidFill>
                  <a:srgbClr val="000000"/>
                </a:solidFill>
              </a:rPr>
              <a:t>Centralized Data Warehouse – Gap Analysis – Phase I</a:t>
            </a:r>
            <a:endParaRPr kumimoji="0" lang="en-US" sz="2700" b="1" i="0" u="none" strike="noStrike" kern="1200" cap="none" spc="0" normalizeH="0" baseline="0" noProof="0">
              <a:ln w="6350" cap="flat">
                <a:noFill/>
                <a:miter lim="800000"/>
              </a:ln>
              <a:solidFill>
                <a:srgbClr val="000000"/>
              </a:solidFill>
              <a:effectLst/>
              <a:uLnTx/>
              <a:uFillTx/>
            </a:endParaRPr>
          </a:p>
        </p:txBody>
      </p:sp>
      <p:graphicFrame>
        <p:nvGraphicFramePr>
          <p:cNvPr id="7" name="Table 6">
            <a:extLst>
              <a:ext uri="{FF2B5EF4-FFF2-40B4-BE49-F238E27FC236}">
                <a16:creationId xmlns:a16="http://schemas.microsoft.com/office/drawing/2014/main" id="{6A15A95A-38E1-47AF-AB2F-F01E4F4F49E5}"/>
              </a:ext>
            </a:extLst>
          </p:cNvPr>
          <p:cNvGraphicFramePr>
            <a:graphicFrameLocks noGrp="1"/>
          </p:cNvGraphicFramePr>
          <p:nvPr>
            <p:extLst>
              <p:ext uri="{D42A27DB-BD31-4B8C-83A1-F6EECF244321}">
                <p14:modId xmlns:p14="http://schemas.microsoft.com/office/powerpoint/2010/main" val="2105066735"/>
              </p:ext>
            </p:extLst>
          </p:nvPr>
        </p:nvGraphicFramePr>
        <p:xfrm>
          <a:off x="804790" y="2299358"/>
          <a:ext cx="16637414" cy="5229768"/>
        </p:xfrm>
        <a:graphic>
          <a:graphicData uri="http://schemas.openxmlformats.org/drawingml/2006/table">
            <a:tbl>
              <a:tblPr firstRow="1" bandRow="1">
                <a:tableStyleId>{5C22544A-7EE6-4342-B048-85BDC9FD1C3A}</a:tableStyleId>
              </a:tblPr>
              <a:tblGrid>
                <a:gridCol w="781283">
                  <a:extLst>
                    <a:ext uri="{9D8B030D-6E8A-4147-A177-3AD203B41FA5}">
                      <a16:colId xmlns:a16="http://schemas.microsoft.com/office/drawing/2014/main" val="1957147653"/>
                    </a:ext>
                  </a:extLst>
                </a:gridCol>
                <a:gridCol w="5873682">
                  <a:extLst>
                    <a:ext uri="{9D8B030D-6E8A-4147-A177-3AD203B41FA5}">
                      <a16:colId xmlns:a16="http://schemas.microsoft.com/office/drawing/2014/main" val="2952343754"/>
                    </a:ext>
                  </a:extLst>
                </a:gridCol>
                <a:gridCol w="3327483">
                  <a:extLst>
                    <a:ext uri="{9D8B030D-6E8A-4147-A177-3AD203B41FA5}">
                      <a16:colId xmlns:a16="http://schemas.microsoft.com/office/drawing/2014/main" val="899017330"/>
                    </a:ext>
                  </a:extLst>
                </a:gridCol>
                <a:gridCol w="3327483">
                  <a:extLst>
                    <a:ext uri="{9D8B030D-6E8A-4147-A177-3AD203B41FA5}">
                      <a16:colId xmlns:a16="http://schemas.microsoft.com/office/drawing/2014/main" val="3463251137"/>
                    </a:ext>
                  </a:extLst>
                </a:gridCol>
                <a:gridCol w="3327483">
                  <a:extLst>
                    <a:ext uri="{9D8B030D-6E8A-4147-A177-3AD203B41FA5}">
                      <a16:colId xmlns:a16="http://schemas.microsoft.com/office/drawing/2014/main" val="1499313505"/>
                    </a:ext>
                  </a:extLst>
                </a:gridCol>
              </a:tblGrid>
              <a:tr h="653721">
                <a:tc>
                  <a:txBody>
                    <a:bodyPr/>
                    <a:lstStyle/>
                    <a:p>
                      <a:pPr algn="ctr" fontAlgn="ctr"/>
                      <a:r>
                        <a:rPr lang="en-US" sz="1700" b="1" i="0" u="none" strike="noStrike">
                          <a:solidFill>
                            <a:schemeClr val="bg1"/>
                          </a:solidFill>
                          <a:effectLst/>
                          <a:latin typeface="Aptos Narrow"/>
                        </a:rPr>
                        <a:t>#</a:t>
                      </a:r>
                    </a:p>
                  </a:txBody>
                  <a:tcPr marL="11430" marR="11430" marT="11430" marB="0" anchor="ctr">
                    <a:lnB w="12700" cap="flat" cmpd="sng" algn="ctr">
                      <a:noFill/>
                      <a:prstDash val="solid"/>
                      <a:round/>
                      <a:headEnd type="none" w="med" len="med"/>
                      <a:tailEnd type="none" w="med" len="med"/>
                    </a:lnB>
                    <a:solidFill>
                      <a:srgbClr val="00A69C"/>
                    </a:solidFill>
                  </a:tcPr>
                </a:tc>
                <a:tc>
                  <a:txBody>
                    <a:bodyPr/>
                    <a:lstStyle/>
                    <a:p>
                      <a:pPr algn="ctr" fontAlgn="ctr"/>
                      <a:r>
                        <a:rPr lang="en-US" sz="1700" b="1" i="0" u="none" strike="noStrike">
                          <a:solidFill>
                            <a:schemeClr val="bg1"/>
                          </a:solidFill>
                          <a:effectLst/>
                          <a:latin typeface="Aptos Narrow"/>
                        </a:rPr>
                        <a:t>Action Item</a:t>
                      </a:r>
                    </a:p>
                  </a:txBody>
                  <a:tcPr marL="11430" marR="11430" marT="11430" marB="0" anchor="ctr">
                    <a:lnB w="12700" cap="flat" cmpd="sng" algn="ctr">
                      <a:noFill/>
                      <a:prstDash val="solid"/>
                      <a:round/>
                      <a:headEnd type="none" w="med" len="med"/>
                      <a:tailEnd type="none" w="med" len="med"/>
                    </a:lnB>
                    <a:solidFill>
                      <a:srgbClr val="00A69C"/>
                    </a:solidFill>
                  </a:tcPr>
                </a:tc>
                <a:tc>
                  <a:txBody>
                    <a:bodyPr/>
                    <a:lstStyle/>
                    <a:p>
                      <a:pPr algn="ctr" fontAlgn="ctr"/>
                      <a:r>
                        <a:rPr lang="en-US" sz="1700" b="1" i="0" u="none" strike="noStrike">
                          <a:solidFill>
                            <a:schemeClr val="bg1"/>
                          </a:solidFill>
                          <a:effectLst/>
                          <a:latin typeface="Aptos Narrow"/>
                        </a:rPr>
                        <a:t>Status</a:t>
                      </a:r>
                    </a:p>
                  </a:txBody>
                  <a:tcPr marL="11430" marR="11430" marT="11430" marB="0" anchor="ctr">
                    <a:lnB w="12700" cap="flat" cmpd="sng" algn="ctr">
                      <a:noFill/>
                      <a:prstDash val="solid"/>
                      <a:round/>
                      <a:headEnd type="none" w="med" len="med"/>
                      <a:tailEnd type="none" w="med" len="med"/>
                    </a:lnB>
                    <a:solidFill>
                      <a:srgbClr val="00A69C"/>
                    </a:solidFill>
                  </a:tcPr>
                </a:tc>
                <a:tc>
                  <a:txBody>
                    <a:bodyPr/>
                    <a:lstStyle/>
                    <a:p>
                      <a:pPr algn="ctr" fontAlgn="ctr"/>
                      <a:r>
                        <a:rPr lang="en-US" sz="1700" b="1" i="0" u="none" strike="noStrike">
                          <a:solidFill>
                            <a:schemeClr val="bg1"/>
                          </a:solidFill>
                          <a:effectLst/>
                          <a:latin typeface="Aptos Narrow"/>
                        </a:rPr>
                        <a:t>Due Date</a:t>
                      </a:r>
                    </a:p>
                  </a:txBody>
                  <a:tcPr marL="11430" marR="11430" marT="11430" marB="0" anchor="ctr">
                    <a:lnB w="12700" cap="flat" cmpd="sng" algn="ctr">
                      <a:noFill/>
                      <a:prstDash val="solid"/>
                      <a:round/>
                      <a:headEnd type="none" w="med" len="med"/>
                      <a:tailEnd type="none" w="med" len="med"/>
                    </a:lnB>
                    <a:solidFill>
                      <a:srgbClr val="00A69C"/>
                    </a:solidFill>
                  </a:tcPr>
                </a:tc>
                <a:tc>
                  <a:txBody>
                    <a:bodyPr/>
                    <a:lstStyle/>
                    <a:p>
                      <a:pPr algn="ctr" fontAlgn="ctr"/>
                      <a:r>
                        <a:rPr lang="en-US" sz="1700" b="1" i="0" u="none" strike="noStrike">
                          <a:solidFill>
                            <a:schemeClr val="bg1"/>
                          </a:solidFill>
                          <a:effectLst/>
                          <a:latin typeface="Aptos Narrow"/>
                        </a:rPr>
                        <a:t>Owner</a:t>
                      </a:r>
                    </a:p>
                  </a:txBody>
                  <a:tcPr marL="11430" marR="11430" marT="11430" marB="0" anchor="ctr">
                    <a:lnB w="12700" cap="flat" cmpd="sng" algn="ctr">
                      <a:noFill/>
                      <a:prstDash val="solid"/>
                      <a:round/>
                      <a:headEnd type="none" w="med" len="med"/>
                      <a:tailEnd type="none" w="med" len="med"/>
                    </a:lnB>
                    <a:solidFill>
                      <a:srgbClr val="00A69C"/>
                    </a:solidFill>
                  </a:tcPr>
                </a:tc>
                <a:extLst>
                  <a:ext uri="{0D108BD9-81ED-4DB2-BD59-A6C34878D82A}">
                    <a16:rowId xmlns:a16="http://schemas.microsoft.com/office/drawing/2014/main" val="3393840757"/>
                  </a:ext>
                </a:extLst>
              </a:tr>
              <a:tr h="653721">
                <a:tc>
                  <a:txBody>
                    <a:bodyPr/>
                    <a:lstStyle/>
                    <a:p>
                      <a:pPr algn="ctr" fontAlgn="ctr"/>
                      <a:r>
                        <a:rPr lang="en-US" sz="1700" b="0" i="0" u="none" strike="noStrike">
                          <a:solidFill>
                            <a:srgbClr val="000000"/>
                          </a:solidFill>
                          <a:effectLst/>
                          <a:latin typeface="Aptos Narrow"/>
                        </a:rPr>
                        <a:t>1</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700" b="0" i="0" u="none" strike="noStrike">
                          <a:solidFill>
                            <a:srgbClr val="000000"/>
                          </a:solidFill>
                          <a:effectLst/>
                          <a:latin typeface="Arial"/>
                          <a:cs typeface="Arial"/>
                        </a:rPr>
                        <a:t>Data Landscape Assessment </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Completed</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baseline="0">
                          <a:solidFill>
                            <a:srgbClr val="000000"/>
                          </a:solidFill>
                          <a:effectLst/>
                          <a:latin typeface="Arial"/>
                          <a:cs typeface="Arial"/>
                        </a:rPr>
                        <a:t>6.4.2025</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Beye</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3816635"/>
                  </a:ext>
                </a:extLst>
              </a:tr>
              <a:tr h="653721">
                <a:tc>
                  <a:txBody>
                    <a:bodyPr/>
                    <a:lstStyle/>
                    <a:p>
                      <a:pPr algn="ctr" fontAlgn="ctr"/>
                      <a:r>
                        <a:rPr lang="en-US" sz="1700" b="0" i="0" u="none" strike="noStrike">
                          <a:solidFill>
                            <a:srgbClr val="000000"/>
                          </a:solidFill>
                          <a:effectLst/>
                          <a:latin typeface="Aptos Narrow"/>
                        </a:rPr>
                        <a:t>2</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700" b="0" i="0" u="none" strike="noStrike">
                          <a:solidFill>
                            <a:srgbClr val="000000"/>
                          </a:solidFill>
                          <a:effectLst/>
                          <a:latin typeface="Arial"/>
                          <a:cs typeface="Arial"/>
                        </a:rPr>
                        <a:t>Data Quality Assessment</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Completed</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700" b="0" i="0" u="none" strike="noStrike" baseline="0">
                          <a:solidFill>
                            <a:srgbClr val="000000"/>
                          </a:solidFill>
                          <a:effectLst/>
                          <a:latin typeface="Arial"/>
                          <a:cs typeface="Arial"/>
                        </a:rPr>
                        <a:t>6.4.2025</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Beye</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4845869"/>
                  </a:ext>
                </a:extLst>
              </a:tr>
              <a:tr h="653721">
                <a:tc>
                  <a:txBody>
                    <a:bodyPr/>
                    <a:lstStyle/>
                    <a:p>
                      <a:pPr algn="ctr" fontAlgn="ctr"/>
                      <a:r>
                        <a:rPr lang="en-US" sz="1700" b="0" i="0" u="none" strike="noStrike">
                          <a:solidFill>
                            <a:srgbClr val="000000"/>
                          </a:solidFill>
                          <a:effectLst/>
                          <a:latin typeface="Aptos Narrow"/>
                        </a:rPr>
                        <a:t>3</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700" b="0" i="0" u="none" strike="noStrike">
                          <a:solidFill>
                            <a:srgbClr val="000000"/>
                          </a:solidFill>
                          <a:effectLst/>
                          <a:latin typeface="Arial"/>
                          <a:cs typeface="Arial"/>
                        </a:rPr>
                        <a:t>Business Requirements Alignment (KPIs </a:t>
                      </a:r>
                    </a:p>
                    <a:p>
                      <a:pPr algn="l" fontAlgn="ctr"/>
                      <a:r>
                        <a:rPr lang="en-US" sz="1700" b="0" i="0" u="none" strike="noStrike">
                          <a:solidFill>
                            <a:srgbClr val="000000"/>
                          </a:solidFill>
                          <a:effectLst/>
                          <a:latin typeface="Arial"/>
                          <a:cs typeface="Arial"/>
                        </a:rPr>
                        <a:t>And reports per department)</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Completed</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sngStrike" baseline="0">
                          <a:solidFill>
                            <a:srgbClr val="000000"/>
                          </a:solidFill>
                          <a:effectLst/>
                          <a:latin typeface="Arial"/>
                          <a:cs typeface="Arial"/>
                        </a:rPr>
                        <a:t>22.5.2025</a:t>
                      </a:r>
                    </a:p>
                    <a:p>
                      <a:pPr lvl="0" algn="ctr">
                        <a:buNone/>
                      </a:pPr>
                      <a:r>
                        <a:rPr lang="en-US" sz="1700" b="0" i="0" u="none" strike="noStrike" baseline="0">
                          <a:solidFill>
                            <a:srgbClr val="000000"/>
                          </a:solidFill>
                          <a:effectLst/>
                          <a:latin typeface="Arial"/>
                          <a:cs typeface="Arial"/>
                        </a:rPr>
                        <a:t>29.5.2025</a:t>
                      </a:r>
                      <a:endParaRPr lang="en-US"/>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Beye, FIB, GW</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2546927"/>
                  </a:ext>
                </a:extLst>
              </a:tr>
              <a:tr h="653721">
                <a:tc>
                  <a:txBody>
                    <a:bodyPr/>
                    <a:lstStyle/>
                    <a:p>
                      <a:pPr algn="ctr" fontAlgn="ctr"/>
                      <a:r>
                        <a:rPr lang="en-US" sz="1700" b="0" i="0" u="none" strike="noStrike">
                          <a:solidFill>
                            <a:srgbClr val="000000"/>
                          </a:solidFill>
                          <a:effectLst/>
                          <a:latin typeface="Aptos Narrow"/>
                        </a:rPr>
                        <a:t>4</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700" b="0" i="0" u="none" strike="noStrike">
                          <a:solidFill>
                            <a:srgbClr val="000000"/>
                          </a:solidFill>
                          <a:effectLst/>
                          <a:latin typeface="Arial"/>
                          <a:cs typeface="Arial"/>
                        </a:rPr>
                        <a:t>GL Gaps Identification </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 Completed</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baseline="0">
                          <a:solidFill>
                            <a:srgbClr val="000000"/>
                          </a:solidFill>
                          <a:effectLst/>
                          <a:latin typeface="Arial"/>
                          <a:cs typeface="Arial"/>
                        </a:rPr>
                        <a:t>22.7.2025</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Beye</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79124527"/>
                  </a:ext>
                </a:extLst>
              </a:tr>
              <a:tr h="653721">
                <a:tc>
                  <a:txBody>
                    <a:bodyPr/>
                    <a:lstStyle/>
                    <a:p>
                      <a:pPr algn="ctr" fontAlgn="ctr"/>
                      <a:r>
                        <a:rPr lang="en-US" sz="1700" b="0" i="0" u="none" strike="noStrike">
                          <a:solidFill>
                            <a:srgbClr val="000000"/>
                          </a:solidFill>
                          <a:effectLst/>
                          <a:latin typeface="Aptos Narrow"/>
                        </a:rPr>
                        <a:t>5</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700" b="0" i="0" u="none" strike="noStrike">
                          <a:solidFill>
                            <a:srgbClr val="000000"/>
                          </a:solidFill>
                          <a:effectLst/>
                          <a:latin typeface="Arial"/>
                          <a:cs typeface="Arial"/>
                        </a:rPr>
                        <a:t>MIS Gaps Identification</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Completed</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a:lnSpc>
                          <a:spcPct val="100000"/>
                        </a:lnSpc>
                        <a:spcBef>
                          <a:spcPts val="0"/>
                        </a:spcBef>
                        <a:spcAft>
                          <a:spcPts val="0"/>
                        </a:spcAft>
                        <a:buNone/>
                        <a:tabLst/>
                        <a:defRPr/>
                      </a:pPr>
                      <a:r>
                        <a:rPr lang="en-US" sz="1700" b="0" i="0" u="none" strike="noStrike" baseline="0">
                          <a:solidFill>
                            <a:srgbClr val="000000"/>
                          </a:solidFill>
                          <a:effectLst/>
                          <a:latin typeface="Arial"/>
                          <a:cs typeface="Arial"/>
                        </a:rPr>
                        <a:t>22.7.2025</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Beye</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0568541"/>
                  </a:ext>
                </a:extLst>
              </a:tr>
              <a:tr h="653721">
                <a:tc>
                  <a:txBody>
                    <a:bodyPr/>
                    <a:lstStyle/>
                    <a:p>
                      <a:pPr algn="ctr" fontAlgn="ctr"/>
                      <a:r>
                        <a:rPr lang="en-US" sz="1700" b="0" i="0" u="none" strike="noStrike">
                          <a:solidFill>
                            <a:srgbClr val="000000"/>
                          </a:solidFill>
                          <a:effectLst/>
                          <a:latin typeface="Aptos Narrow"/>
                        </a:rPr>
                        <a:t>6</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700" b="0" i="0" u="none" strike="noStrike">
                          <a:solidFill>
                            <a:srgbClr val="000000"/>
                          </a:solidFill>
                          <a:effectLst/>
                          <a:latin typeface="Arial"/>
                          <a:cs typeface="Arial"/>
                        </a:rPr>
                        <a:t>GL Remedy Plans (The recommendations</a:t>
                      </a:r>
                    </a:p>
                    <a:p>
                      <a:pPr algn="l" fontAlgn="ctr"/>
                      <a:r>
                        <a:rPr lang="en-US" sz="1700" b="0" i="0" u="none" strike="noStrike">
                          <a:solidFill>
                            <a:srgbClr val="000000"/>
                          </a:solidFill>
                          <a:effectLst/>
                          <a:latin typeface="Arial"/>
                          <a:cs typeface="Arial"/>
                        </a:rPr>
                        <a:t>To resolve GL Gaps)</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In progress</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700" b="0" i="0" u="none" strike="sngStrike" baseline="0">
                          <a:solidFill>
                            <a:srgbClr val="000000"/>
                          </a:solidFill>
                          <a:effectLst/>
                          <a:latin typeface="Arial"/>
                          <a:cs typeface="Arial"/>
                        </a:rPr>
                        <a:t>31.5.2026</a:t>
                      </a:r>
                    </a:p>
                    <a:p>
                      <a:pPr marL="0" marR="0" lvl="0" indent="0" algn="ctr">
                        <a:lnSpc>
                          <a:spcPct val="100000"/>
                        </a:lnSpc>
                        <a:spcBef>
                          <a:spcPts val="0"/>
                        </a:spcBef>
                        <a:spcAft>
                          <a:spcPts val="0"/>
                        </a:spcAft>
                        <a:buClrTx/>
                        <a:buSzTx/>
                        <a:buFontTx/>
                        <a:buNone/>
                      </a:pPr>
                      <a:r>
                        <a:rPr lang="en-US" sz="1700" b="0" i="0" u="none" strike="noStrike" baseline="0">
                          <a:solidFill>
                            <a:srgbClr val="000000"/>
                          </a:solidFill>
                          <a:effectLst/>
                          <a:latin typeface="Arial"/>
                          <a:cs typeface="Arial"/>
                        </a:rPr>
                        <a:t>30.6.2026</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GW, FIB</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1928028"/>
                  </a:ext>
                </a:extLst>
              </a:tr>
              <a:tr h="653721">
                <a:tc>
                  <a:txBody>
                    <a:bodyPr/>
                    <a:lstStyle/>
                    <a:p>
                      <a:pPr algn="ctr" fontAlgn="ctr"/>
                      <a:r>
                        <a:rPr lang="en-US" sz="1700" b="0" i="0" u="none" strike="noStrike">
                          <a:solidFill>
                            <a:srgbClr val="000000"/>
                          </a:solidFill>
                          <a:effectLst/>
                          <a:latin typeface="Aptos Narrow"/>
                        </a:rPr>
                        <a:t>7</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700" b="0" i="0" u="none" strike="noStrike">
                          <a:solidFill>
                            <a:srgbClr val="000000"/>
                          </a:solidFill>
                          <a:effectLst/>
                          <a:latin typeface="Arial"/>
                          <a:cs typeface="Arial"/>
                        </a:rPr>
                        <a:t>MIS Remedy Plans (The recommendations</a:t>
                      </a:r>
                    </a:p>
                    <a:p>
                      <a:pPr algn="l" fontAlgn="ctr"/>
                      <a:r>
                        <a:rPr lang="en-US" sz="1700" b="0" i="0" u="none" strike="noStrike">
                          <a:solidFill>
                            <a:srgbClr val="000000"/>
                          </a:solidFill>
                          <a:effectLst/>
                          <a:latin typeface="Arial"/>
                          <a:cs typeface="Arial"/>
                        </a:rPr>
                        <a:t>To resolve MIS Gaps)</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700" b="0" i="0" u="none" strike="noStrike">
                          <a:solidFill>
                            <a:srgbClr val="000000"/>
                          </a:solidFill>
                          <a:effectLst/>
                          <a:latin typeface="Arial"/>
                          <a:cs typeface="Arial"/>
                        </a:rPr>
                        <a:t>In progress</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700" b="0" i="0" u="none" strike="sngStrike" baseline="0">
                          <a:solidFill>
                            <a:srgbClr val="000000"/>
                          </a:solidFill>
                          <a:effectLst/>
                          <a:latin typeface="Arial"/>
                          <a:cs typeface="Arial"/>
                        </a:rPr>
                        <a:t>31.5.2026</a:t>
                      </a:r>
                    </a:p>
                    <a:p>
                      <a:pPr marL="0" marR="0" lvl="0" indent="0" algn="ctr">
                        <a:lnSpc>
                          <a:spcPct val="100000"/>
                        </a:lnSpc>
                        <a:spcBef>
                          <a:spcPts val="0"/>
                        </a:spcBef>
                        <a:spcAft>
                          <a:spcPts val="0"/>
                        </a:spcAft>
                        <a:buClrTx/>
                        <a:buSzTx/>
                        <a:buFontTx/>
                        <a:buNone/>
                      </a:pPr>
                      <a:r>
                        <a:rPr lang="en-US" sz="1700" b="0" i="0" u="none" strike="noStrike" baseline="0">
                          <a:solidFill>
                            <a:srgbClr val="000000"/>
                          </a:solidFill>
                          <a:effectLst/>
                          <a:latin typeface="Arial"/>
                          <a:cs typeface="Arial"/>
                        </a:rPr>
                        <a:t>30.6.2026</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GW,FIB</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3891358"/>
                  </a:ext>
                </a:extLst>
              </a:tr>
            </a:tbl>
          </a:graphicData>
        </a:graphic>
      </p:graphicFrame>
    </p:spTree>
    <p:extLst>
      <p:ext uri="{BB962C8B-B14F-4D97-AF65-F5344CB8AC3E}">
        <p14:creationId xmlns:p14="http://schemas.microsoft.com/office/powerpoint/2010/main" val="40531994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CDF79-D2DE-8F84-E217-20B3CFD98176}"/>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B3D0C1EC-8B45-8BCC-C652-A7C0EEFAA257}"/>
              </a:ext>
            </a:extLst>
          </p:cNvPr>
          <p:cNvSpPr txBox="1"/>
          <p:nvPr/>
        </p:nvSpPr>
        <p:spPr>
          <a:xfrm>
            <a:off x="1028700" y="857250"/>
            <a:ext cx="14178650" cy="1276247"/>
          </a:xfrm>
          <a:prstGeom prst="rect">
            <a:avLst/>
          </a:prstGeom>
        </p:spPr>
        <p:txBody>
          <a:bodyPr wrap="square" lIns="0" tIns="0" rIns="0" bIns="0" rtlCol="0" anchor="t">
            <a:spAutoFit/>
          </a:bodyPr>
          <a:lstStyle/>
          <a:p>
            <a:pPr>
              <a:lnSpc>
                <a:spcPts val="11200"/>
              </a:lnSpc>
              <a:spcBef>
                <a:spcPct val="0"/>
              </a:spcBef>
            </a:pPr>
            <a:r>
              <a:rPr lang="en-US" sz="6000" b="1">
                <a:solidFill>
                  <a:srgbClr val="03A39D"/>
                </a:solidFill>
                <a:latin typeface="Inter Bold"/>
                <a:ea typeface="Inter Bold"/>
                <a:cs typeface="Inter Bold"/>
                <a:sym typeface="Inter Bold"/>
              </a:rPr>
              <a:t>GAS STATION</a:t>
            </a:r>
            <a:r>
              <a:rPr lang="en-US" sz="6000" b="1">
                <a:solidFill>
                  <a:srgbClr val="1C1818"/>
                </a:solidFill>
                <a:latin typeface="Inter Bold"/>
                <a:ea typeface="Inter Bold"/>
                <a:cs typeface="Inter Bold"/>
                <a:sym typeface="Inter Bold"/>
              </a:rPr>
              <a:t> PROJECT - Public</a:t>
            </a:r>
            <a:endParaRPr lang="en-US" sz="6000" b="1">
              <a:solidFill>
                <a:srgbClr val="1C1818"/>
              </a:solidFill>
              <a:latin typeface="Inter Bold"/>
              <a:ea typeface="Inter Bold"/>
              <a:cs typeface="Inter Bold"/>
            </a:endParaRPr>
          </a:p>
        </p:txBody>
      </p:sp>
      <p:sp>
        <p:nvSpPr>
          <p:cNvPr id="3" name="Freeform 3">
            <a:extLst>
              <a:ext uri="{FF2B5EF4-FFF2-40B4-BE49-F238E27FC236}">
                <a16:creationId xmlns:a16="http://schemas.microsoft.com/office/drawing/2014/main" id="{ABA85FEB-F682-D814-B566-F15D98963535}"/>
              </a:ext>
            </a:extLst>
          </p:cNvPr>
          <p:cNvSpPr/>
          <p:nvPr/>
        </p:nvSpPr>
        <p:spPr>
          <a:xfrm>
            <a:off x="0" y="0"/>
            <a:ext cx="1028700" cy="1028700"/>
          </a:xfrm>
          <a:custGeom>
            <a:avLst/>
            <a:gdLst/>
            <a:ahLst/>
            <a:cxnLst/>
            <a:rect l="l" t="t" r="r" b="b"/>
            <a:pathLst>
              <a:path w="1028700" h="1028700">
                <a:moveTo>
                  <a:pt x="0" y="0"/>
                </a:moveTo>
                <a:lnTo>
                  <a:pt x="1028700" y="0"/>
                </a:lnTo>
                <a:lnTo>
                  <a:pt x="1028700" y="1028700"/>
                </a:lnTo>
                <a:lnTo>
                  <a:pt x="0" y="10287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10" name="Group 10">
            <a:extLst>
              <a:ext uri="{FF2B5EF4-FFF2-40B4-BE49-F238E27FC236}">
                <a16:creationId xmlns:a16="http://schemas.microsoft.com/office/drawing/2014/main" id="{0181C728-3851-6368-8C88-F55AB2B87EA2}"/>
              </a:ext>
            </a:extLst>
          </p:cNvPr>
          <p:cNvGrpSpPr/>
          <p:nvPr/>
        </p:nvGrpSpPr>
        <p:grpSpPr>
          <a:xfrm>
            <a:off x="514350" y="8877758"/>
            <a:ext cx="295243" cy="295243"/>
            <a:chOff x="0" y="0"/>
            <a:chExt cx="812800" cy="812800"/>
          </a:xfrm>
        </p:grpSpPr>
        <p:sp>
          <p:nvSpPr>
            <p:cNvPr id="11" name="Freeform 11">
              <a:extLst>
                <a:ext uri="{FF2B5EF4-FFF2-40B4-BE49-F238E27FC236}">
                  <a16:creationId xmlns:a16="http://schemas.microsoft.com/office/drawing/2014/main" id="{0D6B6A11-7711-8A0E-E60C-CEE45B2944D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A09A"/>
            </a:solidFill>
          </p:spPr>
          <p:txBody>
            <a:bodyPr/>
            <a:lstStyle/>
            <a:p>
              <a:endParaRPr lang="en-US"/>
            </a:p>
          </p:txBody>
        </p:sp>
        <p:sp>
          <p:nvSpPr>
            <p:cNvPr id="12" name="TextBox 12">
              <a:extLst>
                <a:ext uri="{FF2B5EF4-FFF2-40B4-BE49-F238E27FC236}">
                  <a16:creationId xmlns:a16="http://schemas.microsoft.com/office/drawing/2014/main" id="{B6AE9E57-3D11-B875-B0DC-F8F197174CDE}"/>
                </a:ext>
              </a:extLst>
            </p:cNvPr>
            <p:cNvSpPr txBox="1"/>
            <p:nvPr/>
          </p:nvSpPr>
          <p:spPr>
            <a:xfrm>
              <a:off x="76200" y="-47625"/>
              <a:ext cx="660400" cy="784225"/>
            </a:xfrm>
            <a:prstGeom prst="rect">
              <a:avLst/>
            </a:prstGeom>
          </p:spPr>
          <p:txBody>
            <a:bodyPr lIns="50800" tIns="50800" rIns="50800" bIns="50800" rtlCol="0" anchor="ctr"/>
            <a:lstStyle/>
            <a:p>
              <a:pPr algn="ctr">
                <a:lnSpc>
                  <a:spcPts val="3910"/>
                </a:lnSpc>
              </a:pPr>
              <a:endParaRPr/>
            </a:p>
          </p:txBody>
        </p:sp>
      </p:grpSp>
      <p:grpSp>
        <p:nvGrpSpPr>
          <p:cNvPr id="14" name="Group 14">
            <a:extLst>
              <a:ext uri="{FF2B5EF4-FFF2-40B4-BE49-F238E27FC236}">
                <a16:creationId xmlns:a16="http://schemas.microsoft.com/office/drawing/2014/main" id="{467266DD-37AC-589E-DB60-228AF3DBE6AC}"/>
              </a:ext>
            </a:extLst>
          </p:cNvPr>
          <p:cNvGrpSpPr/>
          <p:nvPr/>
        </p:nvGrpSpPr>
        <p:grpSpPr>
          <a:xfrm>
            <a:off x="9864276" y="7543183"/>
            <a:ext cx="7124195" cy="1419873"/>
            <a:chOff x="0" y="0"/>
            <a:chExt cx="9498926" cy="1893165"/>
          </a:xfrm>
        </p:grpSpPr>
        <p:sp>
          <p:nvSpPr>
            <p:cNvPr id="15" name="Freeform 15">
              <a:extLst>
                <a:ext uri="{FF2B5EF4-FFF2-40B4-BE49-F238E27FC236}">
                  <a16:creationId xmlns:a16="http://schemas.microsoft.com/office/drawing/2014/main" id="{CBB3219A-633D-79E4-FCB2-4C05F05458C2}"/>
                </a:ext>
              </a:extLst>
            </p:cNvPr>
            <p:cNvSpPr/>
            <p:nvPr/>
          </p:nvSpPr>
          <p:spPr>
            <a:xfrm>
              <a:off x="0" y="19403"/>
              <a:ext cx="1738820" cy="1738820"/>
            </a:xfrm>
            <a:custGeom>
              <a:avLst/>
              <a:gdLst/>
              <a:ahLst/>
              <a:cxnLst/>
              <a:rect l="l" t="t" r="r" b="b"/>
              <a:pathLst>
                <a:path w="1738820" h="1738820">
                  <a:moveTo>
                    <a:pt x="0" y="0"/>
                  </a:moveTo>
                  <a:lnTo>
                    <a:pt x="1738820" y="0"/>
                  </a:lnTo>
                  <a:lnTo>
                    <a:pt x="1738820" y="1738821"/>
                  </a:lnTo>
                  <a:lnTo>
                    <a:pt x="0" y="17388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Freeform 16">
              <a:extLst>
                <a:ext uri="{FF2B5EF4-FFF2-40B4-BE49-F238E27FC236}">
                  <a16:creationId xmlns:a16="http://schemas.microsoft.com/office/drawing/2014/main" id="{69106029-7E55-D38F-21FF-C6880380D6F2}"/>
                </a:ext>
              </a:extLst>
            </p:cNvPr>
            <p:cNvSpPr/>
            <p:nvPr/>
          </p:nvSpPr>
          <p:spPr>
            <a:xfrm>
              <a:off x="2603399" y="0"/>
              <a:ext cx="1713314" cy="1893165"/>
            </a:xfrm>
            <a:custGeom>
              <a:avLst/>
              <a:gdLst/>
              <a:ahLst/>
              <a:cxnLst/>
              <a:rect l="l" t="t" r="r" b="b"/>
              <a:pathLst>
                <a:path w="1713314" h="1893165">
                  <a:moveTo>
                    <a:pt x="0" y="0"/>
                  </a:moveTo>
                  <a:lnTo>
                    <a:pt x="1713314" y="0"/>
                  </a:lnTo>
                  <a:lnTo>
                    <a:pt x="1713314" y="1893165"/>
                  </a:lnTo>
                  <a:lnTo>
                    <a:pt x="0" y="189316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7" name="Freeform 17">
              <a:extLst>
                <a:ext uri="{FF2B5EF4-FFF2-40B4-BE49-F238E27FC236}">
                  <a16:creationId xmlns:a16="http://schemas.microsoft.com/office/drawing/2014/main" id="{C1F20650-2F9A-7F00-D5E7-692FA30504AA}"/>
                </a:ext>
              </a:extLst>
            </p:cNvPr>
            <p:cNvSpPr/>
            <p:nvPr/>
          </p:nvSpPr>
          <p:spPr>
            <a:xfrm>
              <a:off x="5180313" y="20296"/>
              <a:ext cx="1737928" cy="1737928"/>
            </a:xfrm>
            <a:custGeom>
              <a:avLst/>
              <a:gdLst/>
              <a:ahLst/>
              <a:cxnLst/>
              <a:rect l="l" t="t" r="r" b="b"/>
              <a:pathLst>
                <a:path w="1737928" h="1737928">
                  <a:moveTo>
                    <a:pt x="0" y="0"/>
                  </a:moveTo>
                  <a:lnTo>
                    <a:pt x="1737928" y="0"/>
                  </a:lnTo>
                  <a:lnTo>
                    <a:pt x="1737928" y="1737928"/>
                  </a:lnTo>
                  <a:lnTo>
                    <a:pt x="0" y="173792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8" name="Freeform 18">
              <a:extLst>
                <a:ext uri="{FF2B5EF4-FFF2-40B4-BE49-F238E27FC236}">
                  <a16:creationId xmlns:a16="http://schemas.microsoft.com/office/drawing/2014/main" id="{4AED90E0-F90A-4E21-6108-91A7C311D773}"/>
                </a:ext>
              </a:extLst>
            </p:cNvPr>
            <p:cNvSpPr/>
            <p:nvPr/>
          </p:nvSpPr>
          <p:spPr>
            <a:xfrm>
              <a:off x="7781841" y="19403"/>
              <a:ext cx="1717085" cy="1738820"/>
            </a:xfrm>
            <a:custGeom>
              <a:avLst/>
              <a:gdLst/>
              <a:ahLst/>
              <a:cxnLst/>
              <a:rect l="l" t="t" r="r" b="b"/>
              <a:pathLst>
                <a:path w="1717085" h="1738820">
                  <a:moveTo>
                    <a:pt x="0" y="0"/>
                  </a:moveTo>
                  <a:lnTo>
                    <a:pt x="1717085" y="0"/>
                  </a:lnTo>
                  <a:lnTo>
                    <a:pt x="1717085" y="1738821"/>
                  </a:lnTo>
                  <a:lnTo>
                    <a:pt x="0" y="173882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sp>
        <p:nvSpPr>
          <p:cNvPr id="19" name="TextBox 19">
            <a:extLst>
              <a:ext uri="{FF2B5EF4-FFF2-40B4-BE49-F238E27FC236}">
                <a16:creationId xmlns:a16="http://schemas.microsoft.com/office/drawing/2014/main" id="{E2374B99-4DD1-3D43-D521-146ED7B21642}"/>
              </a:ext>
            </a:extLst>
          </p:cNvPr>
          <p:cNvSpPr txBox="1"/>
          <p:nvPr/>
        </p:nvSpPr>
        <p:spPr>
          <a:xfrm>
            <a:off x="1028700" y="2187559"/>
            <a:ext cx="5364956" cy="339324"/>
          </a:xfrm>
          <a:prstGeom prst="rect">
            <a:avLst/>
          </a:prstGeom>
        </p:spPr>
        <p:txBody>
          <a:bodyPr lIns="0" tIns="0" rIns="0" bIns="0" rtlCol="0" anchor="t">
            <a:spAutoFit/>
          </a:bodyPr>
          <a:lstStyle/>
          <a:p>
            <a:pPr algn="just">
              <a:lnSpc>
                <a:spcPts val="2799"/>
              </a:lnSpc>
              <a:spcBef>
                <a:spcPct val="0"/>
              </a:spcBef>
            </a:pPr>
            <a:r>
              <a:rPr lang="en-US" sz="1950">
                <a:solidFill>
                  <a:srgbClr val="000000"/>
                </a:solidFill>
                <a:latin typeface="Poppins"/>
                <a:ea typeface="Poppins"/>
                <a:cs typeface="Poppins"/>
                <a:sym typeface="Poppins"/>
              </a:rPr>
              <a:t>Project Manager : Ezzat </a:t>
            </a:r>
            <a:r>
              <a:rPr lang="en-US" sz="1950" err="1">
                <a:solidFill>
                  <a:srgbClr val="000000"/>
                </a:solidFill>
                <a:latin typeface="Poppins"/>
                <a:ea typeface="Poppins"/>
                <a:cs typeface="Poppins"/>
                <a:sym typeface="Poppins"/>
              </a:rPr>
              <a:t>Zalzala</a:t>
            </a:r>
            <a:endParaRPr lang="en-US" sz="1999" err="1">
              <a:solidFill>
                <a:srgbClr val="000000"/>
              </a:solidFill>
              <a:latin typeface="Poppins"/>
              <a:ea typeface="Poppins"/>
              <a:cs typeface="Poppins"/>
              <a:sym typeface="Poppins"/>
            </a:endParaRPr>
          </a:p>
        </p:txBody>
      </p:sp>
      <p:sp>
        <p:nvSpPr>
          <p:cNvPr id="5" name="Freeform 13" descr="A blue and black logo&#10;&#10;AI-generated content may be incorrect.">
            <a:extLst>
              <a:ext uri="{FF2B5EF4-FFF2-40B4-BE49-F238E27FC236}">
                <a16:creationId xmlns:a16="http://schemas.microsoft.com/office/drawing/2014/main" id="{12856B0F-83F1-130B-95F8-F7AF45B3F636}"/>
              </a:ext>
            </a:extLst>
          </p:cNvPr>
          <p:cNvSpPr/>
          <p:nvPr/>
        </p:nvSpPr>
        <p:spPr>
          <a:xfrm>
            <a:off x="16062518" y="309634"/>
            <a:ext cx="1851905" cy="870481"/>
          </a:xfrm>
          <a:custGeom>
            <a:avLst/>
            <a:gdLst/>
            <a:ahLst/>
            <a:cxnLst/>
            <a:rect l="l" t="t" r="r" b="b"/>
            <a:pathLst>
              <a:path w="1851905" h="870481">
                <a:moveTo>
                  <a:pt x="0" y="0"/>
                </a:moveTo>
                <a:lnTo>
                  <a:pt x="1851905" y="0"/>
                </a:lnTo>
                <a:lnTo>
                  <a:pt x="1851905" y="870481"/>
                </a:lnTo>
                <a:lnTo>
                  <a:pt x="0" y="870481"/>
                </a:lnTo>
                <a:lnTo>
                  <a:pt x="0" y="0"/>
                </a:lnTo>
                <a:close/>
              </a:path>
            </a:pathLst>
          </a:custGeom>
          <a:blipFill>
            <a:blip r:embed="rId7"/>
            <a:stretch>
              <a:fillRect/>
            </a:stretch>
          </a:blipFill>
        </p:spPr>
        <p:txBody>
          <a:bodyPr/>
          <a:lstStyle/>
          <a:p>
            <a:endParaRPr lang="en-US"/>
          </a:p>
        </p:txBody>
      </p:sp>
      <p:sp>
        <p:nvSpPr>
          <p:cNvPr id="6" name="TextBox 20">
            <a:extLst>
              <a:ext uri="{FF2B5EF4-FFF2-40B4-BE49-F238E27FC236}">
                <a16:creationId xmlns:a16="http://schemas.microsoft.com/office/drawing/2014/main" id="{D6C4D659-C607-5C9A-8D84-399C1E039123}"/>
              </a:ext>
            </a:extLst>
          </p:cNvPr>
          <p:cNvSpPr txBox="1"/>
          <p:nvPr/>
        </p:nvSpPr>
        <p:spPr>
          <a:xfrm>
            <a:off x="1028700" y="8795945"/>
            <a:ext cx="3192084" cy="341119"/>
          </a:xfrm>
          <a:prstGeom prst="rect">
            <a:avLst/>
          </a:prstGeom>
        </p:spPr>
        <p:txBody>
          <a:bodyPr wrap="square" lIns="0" tIns="0" rIns="0" bIns="0" rtlCol="0" anchor="t">
            <a:spAutoFit/>
          </a:bodyPr>
          <a:lstStyle/>
          <a:p>
            <a:pPr algn="just">
              <a:lnSpc>
                <a:spcPts val="2799"/>
              </a:lnSpc>
              <a:spcBef>
                <a:spcPct val="0"/>
              </a:spcBef>
            </a:pPr>
            <a:r>
              <a:rPr lang="en-US" sz="1950">
                <a:solidFill>
                  <a:srgbClr val="000000"/>
                </a:solidFill>
                <a:latin typeface="Poppins"/>
                <a:ea typeface="Poppins"/>
                <a:cs typeface="Poppins"/>
                <a:sym typeface="Poppins"/>
              </a:rPr>
              <a:t>9</a:t>
            </a:r>
            <a:r>
              <a:rPr lang="en-US" sz="1950" baseline="30000">
                <a:solidFill>
                  <a:srgbClr val="000000"/>
                </a:solidFill>
                <a:latin typeface="Poppins"/>
                <a:ea typeface="Poppins"/>
                <a:cs typeface="Poppins"/>
                <a:sym typeface="Poppins"/>
              </a:rPr>
              <a:t>th</a:t>
            </a:r>
            <a:r>
              <a:rPr lang="en-US" sz="1950">
                <a:solidFill>
                  <a:srgbClr val="000000"/>
                </a:solidFill>
                <a:latin typeface="Poppins"/>
                <a:ea typeface="Poppins"/>
                <a:cs typeface="Poppins"/>
                <a:sym typeface="Poppins"/>
              </a:rPr>
              <a:t> June 2026</a:t>
            </a:r>
            <a:endParaRPr lang="en-US"/>
          </a:p>
        </p:txBody>
      </p:sp>
    </p:spTree>
    <p:extLst>
      <p:ext uri="{BB962C8B-B14F-4D97-AF65-F5344CB8AC3E}">
        <p14:creationId xmlns:p14="http://schemas.microsoft.com/office/powerpoint/2010/main" val="9205727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B7837-D1E6-DC27-CEBD-067DEE5DF2C8}"/>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A9EE3033-ADB5-50CF-4BFC-73567864C1E5}"/>
              </a:ext>
            </a:extLst>
          </p:cNvPr>
          <p:cNvSpPr/>
          <p:nvPr/>
        </p:nvSpPr>
        <p:spPr>
          <a:xfrm>
            <a:off x="6043058" y="2057869"/>
            <a:ext cx="7965870" cy="997650"/>
          </a:xfrm>
          <a:prstGeom prst="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just"/>
            <a:r>
              <a:rPr lang="en-US" sz="1600" b="1" i="0" u="none" strike="noStrike" baseline="0">
                <a:solidFill>
                  <a:srgbClr val="000000"/>
                </a:solidFill>
                <a:latin typeface="Calibri"/>
                <a:ea typeface="Segoe UI"/>
                <a:cs typeface="Segoe UI"/>
              </a:rPr>
              <a:t>Project Status Update:</a:t>
            </a:r>
            <a:r>
              <a:rPr lang="en-US" sz="1600" b="1">
                <a:solidFill>
                  <a:srgbClr val="000000"/>
                </a:solidFill>
                <a:latin typeface="Calibri"/>
                <a:ea typeface="Segoe UI"/>
                <a:cs typeface="Segoe UI"/>
              </a:rPr>
              <a:t> </a:t>
            </a:r>
            <a:r>
              <a:rPr lang="en-US" sz="1600">
                <a:solidFill>
                  <a:srgbClr val="000000"/>
                </a:solidFill>
                <a:latin typeface="Calibri"/>
                <a:ea typeface="Segoe UI"/>
                <a:cs typeface="Segoe UI"/>
              </a:rPr>
              <a:t>As per last discussions with the CBI, we will have to do the re-test again for the public gas stations. Awaiting Kaka </a:t>
            </a:r>
            <a:r>
              <a:rPr lang="en-US" sz="1600" err="1">
                <a:solidFill>
                  <a:srgbClr val="000000"/>
                </a:solidFill>
                <a:latin typeface="Calibri"/>
                <a:ea typeface="Segoe UI"/>
                <a:cs typeface="Segoe UI"/>
              </a:rPr>
              <a:t>Bzhar</a:t>
            </a:r>
            <a:r>
              <a:rPr lang="en-US" sz="1600">
                <a:solidFill>
                  <a:srgbClr val="000000"/>
                </a:solidFill>
                <a:latin typeface="Calibri"/>
                <a:ea typeface="Segoe UI"/>
                <a:cs typeface="Segoe UI"/>
              </a:rPr>
              <a:t> for the set up to discuss it again with CBI. A letter already sent to the CBI for the re-test of public gas stations and </a:t>
            </a:r>
            <a:r>
              <a:rPr lang="en-US" sz="1600" err="1">
                <a:solidFill>
                  <a:srgbClr val="000000"/>
                </a:solidFill>
                <a:latin typeface="Calibri"/>
                <a:ea typeface="Segoe UI"/>
                <a:cs typeface="Segoe UI"/>
              </a:rPr>
              <a:t>requiest</a:t>
            </a:r>
            <a:r>
              <a:rPr lang="en-US" sz="1600">
                <a:solidFill>
                  <a:srgbClr val="000000"/>
                </a:solidFill>
                <a:latin typeface="Calibri"/>
                <a:ea typeface="Segoe UI"/>
                <a:cs typeface="Segoe UI"/>
              </a:rPr>
              <a:t> project initiation for the private gas stations.</a:t>
            </a:r>
            <a:endParaRPr lang="en-US" sz="1600">
              <a:latin typeface="Calibri"/>
              <a:ea typeface="Calibri"/>
              <a:cs typeface="Segoe UI"/>
            </a:endParaRPr>
          </a:p>
        </p:txBody>
      </p:sp>
      <p:sp>
        <p:nvSpPr>
          <p:cNvPr id="84" name="Rectangle 83">
            <a:extLst>
              <a:ext uri="{FF2B5EF4-FFF2-40B4-BE49-F238E27FC236}">
                <a16:creationId xmlns:a16="http://schemas.microsoft.com/office/drawing/2014/main" id="{BF878975-F66C-90FE-2704-77E06A2BA664}"/>
              </a:ext>
            </a:extLst>
          </p:cNvPr>
          <p:cNvSpPr/>
          <p:nvPr/>
        </p:nvSpPr>
        <p:spPr bwMode="gray">
          <a:xfrm>
            <a:off x="1135789" y="4408952"/>
            <a:ext cx="16643170" cy="2003913"/>
          </a:xfrm>
          <a:prstGeom prst="rect">
            <a:avLst/>
          </a:prstGeom>
          <a:solidFill>
            <a:schemeClr val="bg1">
              <a:lumMod val="95000"/>
            </a:schemeClr>
          </a:solidFill>
          <a:ln w="19050" algn="ctr">
            <a:no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IN"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 name="Rectangle 3">
            <a:extLst>
              <a:ext uri="{FF2B5EF4-FFF2-40B4-BE49-F238E27FC236}">
                <a16:creationId xmlns:a16="http://schemas.microsoft.com/office/drawing/2014/main" id="{AB90F9BB-F6FB-5884-928F-B2F52D09CAD4}"/>
              </a:ext>
            </a:extLst>
          </p:cNvPr>
          <p:cNvSpPr/>
          <p:nvPr/>
        </p:nvSpPr>
        <p:spPr>
          <a:xfrm>
            <a:off x="821533" y="1462082"/>
            <a:ext cx="16626842" cy="452903"/>
          </a:xfrm>
          <a:prstGeom prst="rect">
            <a:avLst/>
          </a:prstGeom>
          <a:solidFill>
            <a:srgbClr val="00A69C"/>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mj-lt"/>
                <a:ea typeface="+mn-ea"/>
                <a:cs typeface="+mn-cs"/>
              </a:rPr>
              <a:t>Project Highlights </a:t>
            </a:r>
          </a:p>
        </p:txBody>
      </p:sp>
      <p:sp>
        <p:nvSpPr>
          <p:cNvPr id="5" name="Title 1">
            <a:extLst>
              <a:ext uri="{FF2B5EF4-FFF2-40B4-BE49-F238E27FC236}">
                <a16:creationId xmlns:a16="http://schemas.microsoft.com/office/drawing/2014/main" id="{9E1FDBA3-E270-1A39-CE0F-D782F27A818B}"/>
              </a:ext>
            </a:extLst>
          </p:cNvPr>
          <p:cNvSpPr txBox="1">
            <a:spLocks/>
          </p:cNvSpPr>
          <p:nvPr/>
        </p:nvSpPr>
        <p:spPr>
          <a:xfrm>
            <a:off x="832104" y="940100"/>
            <a:ext cx="13441680" cy="415499"/>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spcBef>
                <a:spcPct val="0"/>
              </a:spcBef>
              <a:defRPr/>
            </a:pPr>
            <a:r>
              <a:rPr lang="en-US">
                <a:solidFill>
                  <a:srgbClr val="000000"/>
                </a:solidFill>
              </a:rPr>
              <a:t>Gas Station - Public</a:t>
            </a:r>
            <a:endParaRPr lang="en-US"/>
          </a:p>
        </p:txBody>
      </p:sp>
      <p:sp>
        <p:nvSpPr>
          <p:cNvPr id="6" name="Rectangle 5">
            <a:extLst>
              <a:ext uri="{FF2B5EF4-FFF2-40B4-BE49-F238E27FC236}">
                <a16:creationId xmlns:a16="http://schemas.microsoft.com/office/drawing/2014/main" id="{C90E757E-B5C7-C1B7-7B09-04FCD4FB8F97}"/>
              </a:ext>
            </a:extLst>
          </p:cNvPr>
          <p:cNvSpPr/>
          <p:nvPr/>
        </p:nvSpPr>
        <p:spPr bwMode="auto">
          <a:xfrm>
            <a:off x="15836117" y="2117372"/>
            <a:ext cx="1612257" cy="405768"/>
          </a:xfrm>
          <a:prstGeom prst="rect">
            <a:avLst/>
          </a:prstGeom>
          <a:solidFill>
            <a:srgbClr val="00A69C"/>
          </a:solid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anose="020B0604020202020204" pitchFamily="34" charset="0"/>
              </a:rPr>
              <a:t>Current Period</a:t>
            </a:r>
          </a:p>
        </p:txBody>
      </p:sp>
      <p:sp>
        <p:nvSpPr>
          <p:cNvPr id="7" name="Rectangle 6">
            <a:extLst>
              <a:ext uri="{FF2B5EF4-FFF2-40B4-BE49-F238E27FC236}">
                <a16:creationId xmlns:a16="http://schemas.microsoft.com/office/drawing/2014/main" id="{89B6A70B-E34B-86A5-7E41-E428BFA48327}"/>
              </a:ext>
            </a:extLst>
          </p:cNvPr>
          <p:cNvSpPr/>
          <p:nvPr/>
        </p:nvSpPr>
        <p:spPr bwMode="auto">
          <a:xfrm>
            <a:off x="14111579" y="2117372"/>
            <a:ext cx="1620000" cy="405768"/>
          </a:xfrm>
          <a:prstGeom prst="rect">
            <a:avLst/>
          </a:prstGeom>
          <a:solidFill>
            <a:srgbClr val="00A69C"/>
          </a:solid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anose="020B0604020202020204" pitchFamily="34" charset="0"/>
              </a:rPr>
              <a:t>Previous Period</a:t>
            </a:r>
          </a:p>
        </p:txBody>
      </p:sp>
      <p:sp>
        <p:nvSpPr>
          <p:cNvPr id="8" name="Rectangle 7">
            <a:extLst>
              <a:ext uri="{FF2B5EF4-FFF2-40B4-BE49-F238E27FC236}">
                <a16:creationId xmlns:a16="http://schemas.microsoft.com/office/drawing/2014/main" id="{24E57B8E-C300-60D1-F36A-A06DAAE19ECD}"/>
              </a:ext>
            </a:extLst>
          </p:cNvPr>
          <p:cNvSpPr/>
          <p:nvPr/>
        </p:nvSpPr>
        <p:spPr bwMode="auto">
          <a:xfrm>
            <a:off x="14108566" y="2521505"/>
            <a:ext cx="1612256" cy="533700"/>
          </a:xfrm>
          <a:prstGeom prst="rect">
            <a:avLst/>
          </a:prstGeom>
          <a:solidFill>
            <a:srgbClr val="E2F0D9"/>
          </a:solidFill>
          <a:ln w="9525" cap="flat" cmpd="sng" algn="ctr">
            <a:solidFill>
              <a:srgbClr val="FFCCCC"/>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defTabSz="1564584">
              <a:defRPr/>
            </a:pPr>
            <a:r>
              <a:rPr lang="en-US" sz="1500" b="1" kern="0">
                <a:solidFill>
                  <a:prstClr val="black"/>
                </a:solidFill>
                <a:latin typeface="+mj-lt"/>
                <a:cs typeface="Arial" panose="020B0604020202020204" pitchFamily="34" charset="0"/>
              </a:rPr>
              <a:t>On Track</a:t>
            </a:r>
            <a:endParaRPr lang="en-GB" sz="1500" b="1" kern="0">
              <a:solidFill>
                <a:prstClr val="black"/>
              </a:solidFill>
              <a:latin typeface="+mj-lt"/>
              <a:cs typeface="Arial" panose="020B0604020202020204" pitchFamily="34" charset="0"/>
            </a:endParaRPr>
          </a:p>
        </p:txBody>
      </p:sp>
      <p:sp>
        <p:nvSpPr>
          <p:cNvPr id="10" name="Rectangle 9">
            <a:extLst>
              <a:ext uri="{FF2B5EF4-FFF2-40B4-BE49-F238E27FC236}">
                <a16:creationId xmlns:a16="http://schemas.microsoft.com/office/drawing/2014/main" id="{23042D45-AD16-96A7-995A-745B90FCCC06}"/>
              </a:ext>
            </a:extLst>
          </p:cNvPr>
          <p:cNvSpPr/>
          <p:nvPr/>
        </p:nvSpPr>
        <p:spPr>
          <a:xfrm>
            <a:off x="794309" y="6930248"/>
            <a:ext cx="16626842" cy="452903"/>
          </a:xfrm>
          <a:prstGeom prst="rect">
            <a:avLst/>
          </a:prstGeom>
          <a:solidFill>
            <a:srgbClr val="00A69C"/>
          </a:solidFill>
          <a:ln w="952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mj-lt"/>
                <a:ea typeface="+mn-ea"/>
                <a:cs typeface="+mn-cs"/>
              </a:rPr>
              <a:t>Key Risks, Issues &amp; Decisions</a:t>
            </a:r>
          </a:p>
        </p:txBody>
      </p:sp>
      <p:grpSp>
        <p:nvGrpSpPr>
          <p:cNvPr id="12" name="Group 11">
            <a:extLst>
              <a:ext uri="{FF2B5EF4-FFF2-40B4-BE49-F238E27FC236}">
                <a16:creationId xmlns:a16="http://schemas.microsoft.com/office/drawing/2014/main" id="{8EB91817-906C-276C-7340-BC80AD2E67AF}"/>
              </a:ext>
            </a:extLst>
          </p:cNvPr>
          <p:cNvGrpSpPr/>
          <p:nvPr/>
        </p:nvGrpSpPr>
        <p:grpSpPr>
          <a:xfrm>
            <a:off x="860944" y="2053329"/>
            <a:ext cx="5041568" cy="1202997"/>
            <a:chOff x="567987" y="1398301"/>
            <a:chExt cx="3361045" cy="801998"/>
          </a:xfrm>
          <a:solidFill>
            <a:srgbClr val="00A69C"/>
          </a:solidFill>
        </p:grpSpPr>
        <p:sp>
          <p:nvSpPr>
            <p:cNvPr id="13" name="Rectangle 12">
              <a:extLst>
                <a:ext uri="{FF2B5EF4-FFF2-40B4-BE49-F238E27FC236}">
                  <a16:creationId xmlns:a16="http://schemas.microsoft.com/office/drawing/2014/main" id="{C7A89E7E-A120-7051-D9E1-534F798386BF}"/>
                </a:ext>
              </a:extLst>
            </p:cNvPr>
            <p:cNvSpPr/>
            <p:nvPr/>
          </p:nvSpPr>
          <p:spPr bwMode="auto">
            <a:xfrm>
              <a:off x="567987" y="1398301"/>
              <a:ext cx="1440000" cy="256198"/>
            </a:xfrm>
            <a:prstGeom prst="rect">
              <a:avLst/>
            </a:prstGeom>
            <a:grp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a:rPr>
                <a:t>Reporting Period</a:t>
              </a:r>
              <a:endParaRPr lang="en-GB" sz="1500" b="1" i="0" u="none" strike="noStrike" kern="0" cap="none" spc="0" normalizeH="0" baseline="0" noProof="0">
                <a:ln>
                  <a:noFill/>
                </a:ln>
                <a:solidFill>
                  <a:schemeClr val="bg1"/>
                </a:solidFill>
                <a:effectLst/>
                <a:uLnTx/>
                <a:uFillTx/>
                <a:latin typeface="+mj-lt"/>
                <a:ea typeface="Calibri"/>
                <a:cs typeface="Arial"/>
              </a:endParaRPr>
            </a:p>
          </p:txBody>
        </p:sp>
        <p:sp>
          <p:nvSpPr>
            <p:cNvPr id="14" name="Rectangle 13">
              <a:extLst>
                <a:ext uri="{FF2B5EF4-FFF2-40B4-BE49-F238E27FC236}">
                  <a16:creationId xmlns:a16="http://schemas.microsoft.com/office/drawing/2014/main" id="{C19AF632-D84A-0D86-5D34-DCA7170BE97E}"/>
                </a:ext>
              </a:extLst>
            </p:cNvPr>
            <p:cNvSpPr/>
            <p:nvPr/>
          </p:nvSpPr>
          <p:spPr bwMode="auto">
            <a:xfrm>
              <a:off x="2127836" y="1398301"/>
              <a:ext cx="1800000" cy="256198"/>
            </a:xfrm>
            <a:prstGeom prst="rect">
              <a:avLst/>
            </a:prstGeom>
            <a:grp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GB" sz="1600" b="1" kern="0">
                  <a:solidFill>
                    <a:schemeClr val="bg1"/>
                  </a:solidFill>
                  <a:latin typeface="+mj-lt"/>
                  <a:cs typeface="Arial"/>
                </a:rPr>
                <a:t>2</a:t>
              </a:r>
              <a:r>
                <a:rPr lang="en-GB" sz="1600" b="1" kern="0" baseline="30000">
                  <a:solidFill>
                    <a:schemeClr val="bg1"/>
                  </a:solidFill>
                  <a:latin typeface="+mj-lt"/>
                  <a:cs typeface="Arial"/>
                </a:rPr>
                <a:t>nd</a:t>
              </a:r>
              <a:r>
                <a:rPr lang="en-GB" sz="1600" b="1" kern="0">
                  <a:solidFill>
                    <a:schemeClr val="bg1"/>
                  </a:solidFill>
                  <a:latin typeface="+mj-lt"/>
                  <a:cs typeface="Arial"/>
                </a:rPr>
                <a:t> June. 2026 –9</a:t>
              </a:r>
              <a:r>
                <a:rPr lang="en-GB" sz="1600" b="1" kern="0" baseline="30000">
                  <a:solidFill>
                    <a:schemeClr val="bg1"/>
                  </a:solidFill>
                  <a:latin typeface="+mj-lt"/>
                  <a:cs typeface="Arial"/>
                </a:rPr>
                <a:t>th</a:t>
              </a:r>
              <a:r>
                <a:rPr lang="en-GB" sz="1600" b="1" kern="0">
                  <a:solidFill>
                    <a:schemeClr val="bg1"/>
                  </a:solidFill>
                  <a:latin typeface="+mj-lt"/>
                  <a:cs typeface="Arial"/>
                </a:rPr>
                <a:t> </a:t>
              </a:r>
              <a:r>
                <a:rPr lang="en-GB" sz="1600" b="1" kern="0" baseline="30000">
                  <a:solidFill>
                    <a:schemeClr val="bg1"/>
                  </a:solidFill>
                  <a:latin typeface="+mj-lt"/>
                  <a:cs typeface="Arial"/>
                </a:rPr>
                <a:t> </a:t>
              </a:r>
              <a:r>
                <a:rPr lang="en-GB" sz="1600" b="1" kern="0">
                  <a:solidFill>
                    <a:schemeClr val="bg1"/>
                  </a:solidFill>
                  <a:latin typeface="+mj-lt"/>
                  <a:cs typeface="Arial"/>
                </a:rPr>
                <a:t>June </a:t>
              </a:r>
              <a:r>
                <a:rPr lang="en-GB" sz="1600" b="1" kern="0">
                  <a:solidFill>
                    <a:schemeClr val="bg1"/>
                  </a:solidFill>
                  <a:latin typeface="+mj-lt"/>
                  <a:cs typeface="Calibri"/>
                </a:rPr>
                <a:t>2026</a:t>
              </a:r>
              <a:endParaRPr lang="en-US" sz="1600">
                <a:solidFill>
                  <a:schemeClr val="bg1"/>
                </a:solidFill>
                <a:ea typeface="Calibri"/>
                <a:cs typeface="Calibri"/>
              </a:endParaRPr>
            </a:p>
          </p:txBody>
        </p:sp>
        <p:sp>
          <p:nvSpPr>
            <p:cNvPr id="16" name="Rectangle 15">
              <a:extLst>
                <a:ext uri="{FF2B5EF4-FFF2-40B4-BE49-F238E27FC236}">
                  <a16:creationId xmlns:a16="http://schemas.microsoft.com/office/drawing/2014/main" id="{0D5BBC08-EF96-A4D2-DEED-D5AB3AA8960B}"/>
                </a:ext>
              </a:extLst>
            </p:cNvPr>
            <p:cNvSpPr/>
            <p:nvPr/>
          </p:nvSpPr>
          <p:spPr bwMode="auto">
            <a:xfrm>
              <a:off x="570971" y="1682431"/>
              <a:ext cx="1440000" cy="238706"/>
            </a:xfrm>
            <a:prstGeom prst="rect">
              <a:avLst/>
            </a:prstGeom>
            <a:grp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defTabSz="1564584" eaLnBrk="1" fontAlgn="auto" latinLnBrk="0" hangingPunct="1">
                <a:lnSpc>
                  <a:spcPct val="100000"/>
                </a:lnSpc>
                <a:spcBef>
                  <a:spcPts val="0"/>
                </a:spcBef>
                <a:spcAft>
                  <a:spcPts val="0"/>
                </a:spcAft>
                <a:buClrTx/>
                <a:buSzTx/>
                <a:buFontTx/>
                <a:buNone/>
                <a:tabLst/>
                <a:defRPr/>
              </a:pPr>
              <a:r>
                <a:rPr lang="en-GB" sz="1500" b="1" kern="0">
                  <a:solidFill>
                    <a:schemeClr val="bg1"/>
                  </a:solidFill>
                  <a:latin typeface="+mj-lt"/>
                  <a:cs typeface="Arial"/>
                </a:rPr>
                <a:t>Business</a:t>
              </a:r>
              <a:r>
                <a:rPr kumimoji="0" lang="en-GB" sz="1500" b="1" i="0" u="none" strike="noStrike" kern="0" cap="none" spc="0" normalizeH="0" baseline="0" noProof="0">
                  <a:ln>
                    <a:noFill/>
                  </a:ln>
                  <a:solidFill>
                    <a:schemeClr val="bg1"/>
                  </a:solidFill>
                  <a:effectLst/>
                  <a:uLnTx/>
                  <a:uFillTx/>
                  <a:latin typeface="+mj-lt"/>
                  <a:cs typeface="Arial"/>
                </a:rPr>
                <a:t> Owner</a:t>
              </a:r>
              <a:endParaRPr lang="en-GB" sz="1500" b="1" i="0" u="none" strike="noStrike" kern="0" cap="none" spc="0" normalizeH="0" baseline="0" noProof="0">
                <a:ln>
                  <a:noFill/>
                </a:ln>
                <a:solidFill>
                  <a:schemeClr val="bg1"/>
                </a:solidFill>
                <a:effectLst/>
                <a:uLnTx/>
                <a:uFillTx/>
                <a:latin typeface="+mj-lt"/>
                <a:ea typeface="Calibri"/>
                <a:cs typeface="Arial"/>
              </a:endParaRPr>
            </a:p>
          </p:txBody>
        </p:sp>
        <p:sp>
          <p:nvSpPr>
            <p:cNvPr id="17" name="Rectangle 16">
              <a:extLst>
                <a:ext uri="{FF2B5EF4-FFF2-40B4-BE49-F238E27FC236}">
                  <a16:creationId xmlns:a16="http://schemas.microsoft.com/office/drawing/2014/main" id="{9DBF08CA-34DE-EA87-EADE-0BF0157D6C69}"/>
                </a:ext>
              </a:extLst>
            </p:cNvPr>
            <p:cNvSpPr/>
            <p:nvPr/>
          </p:nvSpPr>
          <p:spPr bwMode="auto">
            <a:xfrm>
              <a:off x="2130820" y="1682431"/>
              <a:ext cx="1798212" cy="214907"/>
            </a:xfrm>
            <a:prstGeom prst="rect">
              <a:avLst/>
            </a:prstGeom>
            <a:grp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US" sz="1500" b="1" kern="0" err="1">
                  <a:solidFill>
                    <a:schemeClr val="bg1"/>
                  </a:solidFill>
                  <a:latin typeface="+mj-lt"/>
                  <a:cs typeface="Arial"/>
                </a:rPr>
                <a:t>Bzhar</a:t>
              </a:r>
              <a:r>
                <a:rPr lang="en-US" sz="1500" b="1" kern="0">
                  <a:solidFill>
                    <a:schemeClr val="bg1"/>
                  </a:solidFill>
                  <a:latin typeface="+mj-lt"/>
                  <a:cs typeface="Arial"/>
                </a:rPr>
                <a:t> Omar</a:t>
              </a:r>
              <a:endParaRPr lang="en-US">
                <a:solidFill>
                  <a:schemeClr val="bg1"/>
                </a:solidFill>
              </a:endParaRPr>
            </a:p>
          </p:txBody>
        </p:sp>
        <p:sp>
          <p:nvSpPr>
            <p:cNvPr id="18" name="Rectangle 17">
              <a:extLst>
                <a:ext uri="{FF2B5EF4-FFF2-40B4-BE49-F238E27FC236}">
                  <a16:creationId xmlns:a16="http://schemas.microsoft.com/office/drawing/2014/main" id="{3843E7DC-E8B3-2DF9-DA4F-8496777BB8D3}"/>
                </a:ext>
              </a:extLst>
            </p:cNvPr>
            <p:cNvSpPr/>
            <p:nvPr/>
          </p:nvSpPr>
          <p:spPr bwMode="auto">
            <a:xfrm>
              <a:off x="567987" y="1944101"/>
              <a:ext cx="1440000" cy="256198"/>
            </a:xfrm>
            <a:prstGeom prst="rect">
              <a:avLst/>
            </a:prstGeom>
            <a:grp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a:rPr>
                <a:t>Project Manager</a:t>
              </a:r>
              <a:endParaRPr lang="en-GB" sz="1500" b="1" i="0" u="none" strike="noStrike" kern="0" cap="none" spc="0" normalizeH="0" baseline="0" noProof="0">
                <a:ln>
                  <a:noFill/>
                </a:ln>
                <a:solidFill>
                  <a:schemeClr val="bg1"/>
                </a:solidFill>
                <a:effectLst/>
                <a:uLnTx/>
                <a:uFillTx/>
                <a:latin typeface="+mj-lt"/>
                <a:ea typeface="Calibri"/>
                <a:cs typeface="Arial"/>
              </a:endParaRPr>
            </a:p>
          </p:txBody>
        </p:sp>
        <p:sp>
          <p:nvSpPr>
            <p:cNvPr id="19" name="Rectangle 18">
              <a:extLst>
                <a:ext uri="{FF2B5EF4-FFF2-40B4-BE49-F238E27FC236}">
                  <a16:creationId xmlns:a16="http://schemas.microsoft.com/office/drawing/2014/main" id="{DE702E1C-09E0-6DDA-C40A-86E0AC6707B6}"/>
                </a:ext>
              </a:extLst>
            </p:cNvPr>
            <p:cNvSpPr/>
            <p:nvPr/>
          </p:nvSpPr>
          <p:spPr bwMode="auto">
            <a:xfrm>
              <a:off x="2127836" y="1944101"/>
              <a:ext cx="1800000" cy="256198"/>
            </a:xfrm>
            <a:prstGeom prst="rect">
              <a:avLst/>
            </a:prstGeom>
            <a:grp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GB" sz="1500" b="1" kern="0">
                  <a:solidFill>
                    <a:schemeClr val="bg1"/>
                  </a:solidFill>
                  <a:latin typeface="+mj-lt"/>
                  <a:cs typeface="Arial"/>
                </a:rPr>
                <a:t>Ezzat </a:t>
              </a:r>
              <a:r>
                <a:rPr lang="en-GB" sz="1500" b="1" kern="0" err="1">
                  <a:solidFill>
                    <a:schemeClr val="bg1"/>
                  </a:solidFill>
                  <a:latin typeface="+mj-lt"/>
                  <a:cs typeface="Arial"/>
                </a:rPr>
                <a:t>Zalzala</a:t>
              </a:r>
              <a:endParaRPr lang="en-GB" sz="1500" b="1" kern="0" err="1">
                <a:solidFill>
                  <a:schemeClr val="bg1"/>
                </a:solidFill>
                <a:latin typeface="+mj-lt"/>
                <a:ea typeface="Calibri"/>
                <a:cs typeface="Arial"/>
              </a:endParaRPr>
            </a:p>
          </p:txBody>
        </p:sp>
      </p:grpSp>
      <p:grpSp>
        <p:nvGrpSpPr>
          <p:cNvPr id="20" name="Group 19">
            <a:extLst>
              <a:ext uri="{FF2B5EF4-FFF2-40B4-BE49-F238E27FC236}">
                <a16:creationId xmlns:a16="http://schemas.microsoft.com/office/drawing/2014/main" id="{578768B5-E3C6-AA80-4546-81F6B63C9D25}"/>
              </a:ext>
            </a:extLst>
          </p:cNvPr>
          <p:cNvGrpSpPr/>
          <p:nvPr/>
        </p:nvGrpSpPr>
        <p:grpSpPr>
          <a:xfrm>
            <a:off x="1136878" y="4404330"/>
            <a:ext cx="16263916" cy="2004515"/>
            <a:chOff x="540573" y="2210543"/>
            <a:chExt cx="8462472" cy="1360202"/>
          </a:xfrm>
        </p:grpSpPr>
        <p:sp>
          <p:nvSpPr>
            <p:cNvPr id="21" name="Rectangle 20">
              <a:extLst>
                <a:ext uri="{FF2B5EF4-FFF2-40B4-BE49-F238E27FC236}">
                  <a16:creationId xmlns:a16="http://schemas.microsoft.com/office/drawing/2014/main" id="{E8693E6B-6108-52A1-903B-AC7849366A58}"/>
                </a:ext>
              </a:extLst>
            </p:cNvPr>
            <p:cNvSpPr/>
            <p:nvPr/>
          </p:nvSpPr>
          <p:spPr bwMode="auto">
            <a:xfrm>
              <a:off x="554704" y="2954084"/>
              <a:ext cx="8425558" cy="277524"/>
            </a:xfrm>
            <a:prstGeom prst="rect">
              <a:avLst/>
            </a:prstGeom>
            <a:solidFill>
              <a:srgbClr val="002060"/>
            </a:solid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GB" sz="1650" b="1" kern="0">
                  <a:solidFill>
                    <a:schemeClr val="bg1"/>
                  </a:solidFill>
                  <a:latin typeface="+mj-lt"/>
                  <a:cs typeface="Arial" panose="020B0604020202020204" pitchFamily="34" charset="0"/>
                </a:rPr>
                <a:t>Key Risks, Issues, &amp; Decisions </a:t>
              </a:r>
            </a:p>
          </p:txBody>
        </p:sp>
        <p:sp>
          <p:nvSpPr>
            <p:cNvPr id="22" name="Rectangle 21">
              <a:extLst>
                <a:ext uri="{FF2B5EF4-FFF2-40B4-BE49-F238E27FC236}">
                  <a16:creationId xmlns:a16="http://schemas.microsoft.com/office/drawing/2014/main" id="{2FAC304C-8F6D-E5CF-FCDE-EFA1FC44F845}"/>
                </a:ext>
              </a:extLst>
            </p:cNvPr>
            <p:cNvSpPr/>
            <p:nvPr/>
          </p:nvSpPr>
          <p:spPr bwMode="gray">
            <a:xfrm>
              <a:off x="554704" y="2249977"/>
              <a:ext cx="8448341" cy="1263745"/>
            </a:xfrm>
            <a:prstGeom prst="rect">
              <a:avLst/>
            </a:prstGeom>
            <a:solidFill>
              <a:schemeClr val="bg1">
                <a:lumMod val="95000"/>
              </a:schemeClr>
            </a:solidFill>
            <a:ln w="19050" algn="ctr">
              <a:no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IN"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3" name="Rectangle 22">
              <a:extLst>
                <a:ext uri="{FF2B5EF4-FFF2-40B4-BE49-F238E27FC236}">
                  <a16:creationId xmlns:a16="http://schemas.microsoft.com/office/drawing/2014/main" id="{5600DDD7-1DE7-D2A3-F64A-4AD82D5852B3}"/>
                </a:ext>
              </a:extLst>
            </p:cNvPr>
            <p:cNvSpPr/>
            <p:nvPr/>
          </p:nvSpPr>
          <p:spPr bwMode="gray">
            <a:xfrm>
              <a:off x="540573" y="2210543"/>
              <a:ext cx="7390018" cy="1360202"/>
            </a:xfrm>
            <a:prstGeom prst="rect">
              <a:avLst/>
            </a:prstGeom>
            <a:solidFill>
              <a:srgbClr val="00B0F0">
                <a:alpha val="13000"/>
              </a:srgbClr>
            </a:solidFill>
            <a:ln w="19050" algn="ctr">
              <a:no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24" name="Straight Connector 23">
              <a:extLst>
                <a:ext uri="{FF2B5EF4-FFF2-40B4-BE49-F238E27FC236}">
                  <a16:creationId xmlns:a16="http://schemas.microsoft.com/office/drawing/2014/main" id="{4FA4F180-64D4-48D9-BC63-22E217BF4923}"/>
                </a:ext>
              </a:extLst>
            </p:cNvPr>
            <p:cNvCxnSpPr>
              <a:cxnSpLocks/>
            </p:cNvCxnSpPr>
            <p:nvPr/>
          </p:nvCxnSpPr>
          <p:spPr>
            <a:xfrm>
              <a:off x="1435071" y="2975869"/>
              <a:ext cx="7541790" cy="10557"/>
            </a:xfrm>
            <a:prstGeom prst="line">
              <a:avLst/>
            </a:prstGeom>
            <a:ln w="22225">
              <a:solidFill>
                <a:schemeClr val="tx1">
                  <a:lumMod val="75000"/>
                  <a:lumOff val="2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43B5E8F8-DC70-CB4F-5EEC-7B6329A8407F}"/>
                </a:ext>
              </a:extLst>
            </p:cNvPr>
            <p:cNvSpPr txBox="1"/>
            <p:nvPr/>
          </p:nvSpPr>
          <p:spPr>
            <a:xfrm>
              <a:off x="886407" y="3291214"/>
              <a:ext cx="1096955" cy="167078"/>
            </a:xfrm>
            <a:prstGeom prst="rect">
              <a:avLst/>
            </a:prstGeom>
            <a:noFill/>
          </p:spPr>
          <p:txBody>
            <a:bodyPr wrap="square" lIns="0" tIns="0" rIns="0" bIns="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defRPr/>
              </a:pPr>
              <a:r>
                <a:rPr lang="en-US" altLang="ko-KR" sz="1600" b="1">
                  <a:solidFill>
                    <a:prstClr val="black"/>
                  </a:solidFill>
                  <a:latin typeface="Calibri"/>
                  <a:ea typeface="Calibri"/>
                  <a:cs typeface="Calibri"/>
                </a:rPr>
                <a:t>January (2026)</a:t>
              </a:r>
              <a:endParaRPr lang="en-US" altLang="ko-KR" sz="1600">
                <a:latin typeface="Calibri"/>
                <a:ea typeface="Calibri"/>
                <a:cs typeface="Calibri"/>
              </a:endParaRPr>
            </a:p>
          </p:txBody>
        </p:sp>
      </p:grpSp>
      <p:pic>
        <p:nvPicPr>
          <p:cNvPr id="53" name="Picture 52">
            <a:extLst>
              <a:ext uri="{FF2B5EF4-FFF2-40B4-BE49-F238E27FC236}">
                <a16:creationId xmlns:a16="http://schemas.microsoft.com/office/drawing/2014/main" id="{0DCC4D75-3D81-BD3B-276B-DED1E59173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19415" y="60344"/>
            <a:ext cx="2308638" cy="1251719"/>
          </a:xfrm>
          <a:prstGeom prst="rect">
            <a:avLst/>
          </a:prstGeom>
        </p:spPr>
      </p:pic>
      <p:sp>
        <p:nvSpPr>
          <p:cNvPr id="30" name="Rectangle 29">
            <a:extLst>
              <a:ext uri="{FF2B5EF4-FFF2-40B4-BE49-F238E27FC236}">
                <a16:creationId xmlns:a16="http://schemas.microsoft.com/office/drawing/2014/main" id="{EC72F501-C784-F087-F0ED-A03E60BB759F}"/>
              </a:ext>
            </a:extLst>
          </p:cNvPr>
          <p:cNvSpPr/>
          <p:nvPr/>
        </p:nvSpPr>
        <p:spPr bwMode="auto">
          <a:xfrm>
            <a:off x="15847604" y="2530028"/>
            <a:ext cx="1574978" cy="533700"/>
          </a:xfrm>
          <a:prstGeom prst="rect">
            <a:avLst/>
          </a:prstGeom>
          <a:solidFill>
            <a:srgbClr val="E2F0D9"/>
          </a:solidFill>
          <a:ln w="9525" cap="flat" cmpd="sng" algn="ctr">
            <a:solidFill>
              <a:srgbClr val="FFCCCC"/>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defTabSz="1564584">
              <a:defRPr/>
            </a:pPr>
            <a:r>
              <a:rPr lang="en-US" sz="1500" b="1" kern="0">
                <a:solidFill>
                  <a:prstClr val="black"/>
                </a:solidFill>
                <a:latin typeface="+mj-lt"/>
                <a:cs typeface="Arial" panose="020B0604020202020204" pitchFamily="34" charset="0"/>
              </a:rPr>
              <a:t>On Track</a:t>
            </a:r>
            <a:endParaRPr lang="en-GB" sz="1500" b="1" kern="0">
              <a:solidFill>
                <a:prstClr val="black"/>
              </a:solidFill>
              <a:latin typeface="+mj-lt"/>
              <a:cs typeface="Arial" panose="020B0604020202020204" pitchFamily="34" charset="0"/>
            </a:endParaRPr>
          </a:p>
        </p:txBody>
      </p:sp>
      <p:grpSp>
        <p:nvGrpSpPr>
          <p:cNvPr id="29" name="Group 28">
            <a:extLst>
              <a:ext uri="{FF2B5EF4-FFF2-40B4-BE49-F238E27FC236}">
                <a16:creationId xmlns:a16="http://schemas.microsoft.com/office/drawing/2014/main" id="{C31D186C-3B62-666D-9883-B9732F6D0CDD}"/>
              </a:ext>
            </a:extLst>
          </p:cNvPr>
          <p:cNvGrpSpPr/>
          <p:nvPr/>
        </p:nvGrpSpPr>
        <p:grpSpPr>
          <a:xfrm>
            <a:off x="10114954" y="9781137"/>
            <a:ext cx="10450035" cy="505786"/>
            <a:chOff x="6081980" y="6443049"/>
            <a:chExt cx="6966685" cy="357913"/>
          </a:xfrm>
        </p:grpSpPr>
        <p:grpSp>
          <p:nvGrpSpPr>
            <p:cNvPr id="52" name="Group 51">
              <a:extLst>
                <a:ext uri="{FF2B5EF4-FFF2-40B4-BE49-F238E27FC236}">
                  <a16:creationId xmlns:a16="http://schemas.microsoft.com/office/drawing/2014/main" id="{37038C00-8E0C-7173-475D-812C7BC63071}"/>
                </a:ext>
              </a:extLst>
            </p:cNvPr>
            <p:cNvGrpSpPr/>
            <p:nvPr/>
          </p:nvGrpSpPr>
          <p:grpSpPr>
            <a:xfrm>
              <a:off x="6081980" y="6443049"/>
              <a:ext cx="6966685" cy="357913"/>
              <a:chOff x="6091745" y="6485413"/>
              <a:chExt cx="6966685" cy="357913"/>
            </a:xfrm>
          </p:grpSpPr>
          <p:sp>
            <p:nvSpPr>
              <p:cNvPr id="62" name="Oval 61">
                <a:extLst>
                  <a:ext uri="{FF2B5EF4-FFF2-40B4-BE49-F238E27FC236}">
                    <a16:creationId xmlns:a16="http://schemas.microsoft.com/office/drawing/2014/main" id="{C3F142D9-A619-CA08-E8EF-C3E5155CB6A0}"/>
                  </a:ext>
                </a:extLst>
              </p:cNvPr>
              <p:cNvSpPr/>
              <p:nvPr/>
            </p:nvSpPr>
            <p:spPr>
              <a:xfrm>
                <a:off x="6950322" y="6494495"/>
                <a:ext cx="133346" cy="126401"/>
              </a:xfrm>
              <a:prstGeom prst="ellipse">
                <a:avLst/>
              </a:prstGeom>
              <a:solidFill>
                <a:srgbClr val="E2F0D9"/>
              </a:solidFill>
              <a:ln w="9525">
                <a:solidFill>
                  <a:srgbClr val="E2F0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63" name="Oval 62">
                <a:extLst>
                  <a:ext uri="{FF2B5EF4-FFF2-40B4-BE49-F238E27FC236}">
                    <a16:creationId xmlns:a16="http://schemas.microsoft.com/office/drawing/2014/main" id="{43A1FA8B-F57F-50A3-AA51-654B9A945518}"/>
                  </a:ext>
                </a:extLst>
              </p:cNvPr>
              <p:cNvSpPr/>
              <p:nvPr/>
            </p:nvSpPr>
            <p:spPr>
              <a:xfrm>
                <a:off x="7594167" y="6503611"/>
                <a:ext cx="135071" cy="126401"/>
              </a:xfrm>
              <a:prstGeom prst="ellipse">
                <a:avLst/>
              </a:prstGeom>
              <a:solidFill>
                <a:srgbClr val="FF0000"/>
              </a:solid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64" name="Oval 63">
                <a:extLst>
                  <a:ext uri="{FF2B5EF4-FFF2-40B4-BE49-F238E27FC236}">
                    <a16:creationId xmlns:a16="http://schemas.microsoft.com/office/drawing/2014/main" id="{9560A87B-3F4E-047E-6FE0-AC1A0E7558D9}"/>
                  </a:ext>
                </a:extLst>
              </p:cNvPr>
              <p:cNvSpPr/>
              <p:nvPr/>
            </p:nvSpPr>
            <p:spPr>
              <a:xfrm>
                <a:off x="8149931" y="6505195"/>
                <a:ext cx="131200" cy="126401"/>
              </a:xfrm>
              <a:prstGeom prst="ellipse">
                <a:avLst/>
              </a:prstGeom>
              <a:solidFill>
                <a:srgbClr val="FFC000"/>
              </a:solidFill>
              <a:ln w="95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65" name="TextBox 64">
                <a:extLst>
                  <a:ext uri="{FF2B5EF4-FFF2-40B4-BE49-F238E27FC236}">
                    <a16:creationId xmlns:a16="http://schemas.microsoft.com/office/drawing/2014/main" id="{C7D88837-F3E9-B999-F801-B86AC954BCDC}"/>
                  </a:ext>
                </a:extLst>
              </p:cNvPr>
              <p:cNvSpPr txBox="1"/>
              <p:nvPr/>
            </p:nvSpPr>
            <p:spPr>
              <a:xfrm>
                <a:off x="6734909" y="6611779"/>
                <a:ext cx="717687"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On track </a:t>
                </a:r>
              </a:p>
            </p:txBody>
          </p:sp>
          <p:sp>
            <p:nvSpPr>
              <p:cNvPr id="66" name="TextBox 65">
                <a:extLst>
                  <a:ext uri="{FF2B5EF4-FFF2-40B4-BE49-F238E27FC236}">
                    <a16:creationId xmlns:a16="http://schemas.microsoft.com/office/drawing/2014/main" id="{0FAFB578-5253-345B-00DB-FFB2D96FCE30}"/>
                  </a:ext>
                </a:extLst>
              </p:cNvPr>
              <p:cNvSpPr txBox="1"/>
              <p:nvPr/>
            </p:nvSpPr>
            <p:spPr>
              <a:xfrm>
                <a:off x="7360310" y="6621931"/>
                <a:ext cx="664200"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Delayed</a:t>
                </a:r>
              </a:p>
            </p:txBody>
          </p:sp>
          <p:sp>
            <p:nvSpPr>
              <p:cNvPr id="67" name="TextBox 66">
                <a:extLst>
                  <a:ext uri="{FF2B5EF4-FFF2-40B4-BE49-F238E27FC236}">
                    <a16:creationId xmlns:a16="http://schemas.microsoft.com/office/drawing/2014/main" id="{0DE7A308-6D60-CB19-0CA5-E7FA58A11C7C}"/>
                  </a:ext>
                </a:extLst>
              </p:cNvPr>
              <p:cNvSpPr txBox="1"/>
              <p:nvPr/>
            </p:nvSpPr>
            <p:spPr>
              <a:xfrm>
                <a:off x="7962993" y="6624764"/>
                <a:ext cx="664200"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At Risk</a:t>
                </a:r>
              </a:p>
            </p:txBody>
          </p:sp>
          <p:sp>
            <p:nvSpPr>
              <p:cNvPr id="68" name="TextBox 67">
                <a:extLst>
                  <a:ext uri="{FF2B5EF4-FFF2-40B4-BE49-F238E27FC236}">
                    <a16:creationId xmlns:a16="http://schemas.microsoft.com/office/drawing/2014/main" id="{F7D205B3-15EE-A2EF-7BE5-BC93B5842133}"/>
                  </a:ext>
                </a:extLst>
              </p:cNvPr>
              <p:cNvSpPr txBox="1"/>
              <p:nvPr/>
            </p:nvSpPr>
            <p:spPr>
              <a:xfrm>
                <a:off x="9357110" y="6627882"/>
                <a:ext cx="970136"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Implemented</a:t>
                </a:r>
              </a:p>
            </p:txBody>
          </p:sp>
          <p:sp>
            <p:nvSpPr>
              <p:cNvPr id="69" name="Oval 68">
                <a:extLst>
                  <a:ext uri="{FF2B5EF4-FFF2-40B4-BE49-F238E27FC236}">
                    <a16:creationId xmlns:a16="http://schemas.microsoft.com/office/drawing/2014/main" id="{4C214AF3-82E9-EAA3-F211-06D6BE2FBC85}"/>
                  </a:ext>
                </a:extLst>
              </p:cNvPr>
              <p:cNvSpPr/>
              <p:nvPr/>
            </p:nvSpPr>
            <p:spPr>
              <a:xfrm>
                <a:off x="10428038" y="6512756"/>
                <a:ext cx="137031" cy="126401"/>
              </a:xfrm>
              <a:prstGeom prst="ellipse">
                <a:avLst/>
              </a:prstGeom>
              <a:solidFill>
                <a:srgbClr val="00B0F0"/>
              </a:solid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4BBCF017-D156-E440-726B-14AEEA107738}"/>
                  </a:ext>
                </a:extLst>
              </p:cNvPr>
              <p:cNvSpPr txBox="1"/>
              <p:nvPr/>
            </p:nvSpPr>
            <p:spPr>
              <a:xfrm>
                <a:off x="10194922" y="6621646"/>
                <a:ext cx="2311615"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US" sz="1200">
                    <a:latin typeface="Arial" panose="020B0604020202020204" pitchFamily="34" charset="0"/>
                    <a:cs typeface="Arial" panose="020B0604020202020204" pitchFamily="34" charset="0"/>
                  </a:rPr>
                  <a:t>On Hold</a:t>
                </a:r>
                <a:endParaRPr kumimoji="0" lang="en-US" sz="120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71" name="Oval 70">
                <a:extLst>
                  <a:ext uri="{FF2B5EF4-FFF2-40B4-BE49-F238E27FC236}">
                    <a16:creationId xmlns:a16="http://schemas.microsoft.com/office/drawing/2014/main" id="{3112B9E3-5FBB-A7BD-007E-48FD6357DAD9}"/>
                  </a:ext>
                </a:extLst>
              </p:cNvPr>
              <p:cNvSpPr/>
              <p:nvPr/>
            </p:nvSpPr>
            <p:spPr>
              <a:xfrm>
                <a:off x="11073431" y="6488248"/>
                <a:ext cx="137031" cy="126401"/>
              </a:xfrm>
              <a:prstGeom prst="ellipse">
                <a:avLst/>
              </a:prstGeom>
              <a:solidFill>
                <a:srgbClr val="FFFF00"/>
              </a:solidFill>
              <a:ln w="952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72" name="TextBox 71">
                <a:extLst>
                  <a:ext uri="{FF2B5EF4-FFF2-40B4-BE49-F238E27FC236}">
                    <a16:creationId xmlns:a16="http://schemas.microsoft.com/office/drawing/2014/main" id="{C84E201F-E72D-620D-AD43-9A1AC17E9128}"/>
                  </a:ext>
                </a:extLst>
              </p:cNvPr>
              <p:cNvSpPr txBox="1"/>
              <p:nvPr/>
            </p:nvSpPr>
            <p:spPr>
              <a:xfrm>
                <a:off x="10746815" y="6611779"/>
                <a:ext cx="2311615"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Terminated</a:t>
                </a:r>
              </a:p>
            </p:txBody>
          </p:sp>
          <p:sp>
            <p:nvSpPr>
              <p:cNvPr id="76" name="Oval 75">
                <a:extLst>
                  <a:ext uri="{FF2B5EF4-FFF2-40B4-BE49-F238E27FC236}">
                    <a16:creationId xmlns:a16="http://schemas.microsoft.com/office/drawing/2014/main" id="{D38A3278-3E16-C378-1C59-26EF8738B8AA}"/>
                  </a:ext>
                </a:extLst>
              </p:cNvPr>
              <p:cNvSpPr/>
              <p:nvPr/>
            </p:nvSpPr>
            <p:spPr>
              <a:xfrm>
                <a:off x="8836849" y="6505195"/>
                <a:ext cx="131200" cy="126401"/>
              </a:xfrm>
              <a:prstGeom prst="ellipse">
                <a:avLst/>
              </a:prstGeom>
              <a:solidFill>
                <a:srgbClr val="00B050"/>
              </a:solid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78" name="TextBox 77">
                <a:extLst>
                  <a:ext uri="{FF2B5EF4-FFF2-40B4-BE49-F238E27FC236}">
                    <a16:creationId xmlns:a16="http://schemas.microsoft.com/office/drawing/2014/main" id="{EC05CD6E-8589-FF82-2E2F-2B9168751FA0}"/>
                  </a:ext>
                </a:extLst>
              </p:cNvPr>
              <p:cNvSpPr txBox="1"/>
              <p:nvPr/>
            </p:nvSpPr>
            <p:spPr>
              <a:xfrm>
                <a:off x="8555682" y="6620896"/>
                <a:ext cx="815094"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InProgress</a:t>
                </a:r>
              </a:p>
            </p:txBody>
          </p:sp>
          <p:sp>
            <p:nvSpPr>
              <p:cNvPr id="79" name="Oval 78">
                <a:extLst>
                  <a:ext uri="{FF2B5EF4-FFF2-40B4-BE49-F238E27FC236}">
                    <a16:creationId xmlns:a16="http://schemas.microsoft.com/office/drawing/2014/main" id="{8833F64E-CBA6-7862-2A40-DE9BB091FFF9}"/>
                  </a:ext>
                </a:extLst>
              </p:cNvPr>
              <p:cNvSpPr/>
              <p:nvPr/>
            </p:nvSpPr>
            <p:spPr>
              <a:xfrm>
                <a:off x="6328246" y="6485413"/>
                <a:ext cx="133346" cy="126401"/>
              </a:xfrm>
              <a:prstGeom prst="ellipse">
                <a:avLst/>
              </a:prstGeom>
              <a:solidFill>
                <a:srgbClr val="BFBFBF"/>
              </a:solidFill>
              <a:ln w="9525">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80" name="TextBox 79">
                <a:extLst>
                  <a:ext uri="{FF2B5EF4-FFF2-40B4-BE49-F238E27FC236}">
                    <a16:creationId xmlns:a16="http://schemas.microsoft.com/office/drawing/2014/main" id="{6F77C02E-330E-9F94-AD49-9A4C8D34155C}"/>
                  </a:ext>
                </a:extLst>
              </p:cNvPr>
              <p:cNvSpPr txBox="1"/>
              <p:nvPr/>
            </p:nvSpPr>
            <p:spPr>
              <a:xfrm>
                <a:off x="6091745" y="6623787"/>
                <a:ext cx="858416"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Not Started</a:t>
                </a:r>
              </a:p>
            </p:txBody>
          </p:sp>
        </p:grpSp>
        <p:sp>
          <p:nvSpPr>
            <p:cNvPr id="61" name="Oval 60">
              <a:extLst>
                <a:ext uri="{FF2B5EF4-FFF2-40B4-BE49-F238E27FC236}">
                  <a16:creationId xmlns:a16="http://schemas.microsoft.com/office/drawing/2014/main" id="{58BEBC13-BF8B-B5F8-EF9A-0B1076C0E138}"/>
                </a:ext>
              </a:extLst>
            </p:cNvPr>
            <p:cNvSpPr/>
            <p:nvPr/>
          </p:nvSpPr>
          <p:spPr>
            <a:xfrm>
              <a:off x="9702904" y="6470392"/>
              <a:ext cx="131200" cy="126401"/>
            </a:xfrm>
            <a:prstGeom prst="ellipse">
              <a:avLst/>
            </a:prstGeom>
            <a:solidFill>
              <a:srgbClr val="003373"/>
            </a:solidFill>
            <a:ln w="9525">
              <a:solidFill>
                <a:srgbClr val="0033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grpSp>
      <p:graphicFrame>
        <p:nvGraphicFramePr>
          <p:cNvPr id="83" name="Table 82">
            <a:extLst>
              <a:ext uri="{FF2B5EF4-FFF2-40B4-BE49-F238E27FC236}">
                <a16:creationId xmlns:a16="http://schemas.microsoft.com/office/drawing/2014/main" id="{E4F8C419-077A-195F-2819-558D25240373}"/>
              </a:ext>
            </a:extLst>
          </p:cNvPr>
          <p:cNvGraphicFramePr>
            <a:graphicFrameLocks noGrp="1"/>
          </p:cNvGraphicFramePr>
          <p:nvPr/>
        </p:nvGraphicFramePr>
        <p:xfrm>
          <a:off x="774428" y="7385940"/>
          <a:ext cx="16612647" cy="2134977"/>
        </p:xfrm>
        <a:graphic>
          <a:graphicData uri="http://schemas.openxmlformats.org/drawingml/2006/table">
            <a:tbl>
              <a:tblPr firstRow="1" bandRow="1">
                <a:tableStyleId>{3B4B98B0-60AC-42C2-AFA5-B58CD77FA1E5}</a:tableStyleId>
              </a:tblPr>
              <a:tblGrid>
                <a:gridCol w="1600449">
                  <a:extLst>
                    <a:ext uri="{9D8B030D-6E8A-4147-A177-3AD203B41FA5}">
                      <a16:colId xmlns:a16="http://schemas.microsoft.com/office/drawing/2014/main" val="500621086"/>
                    </a:ext>
                  </a:extLst>
                </a:gridCol>
                <a:gridCol w="8394104">
                  <a:extLst>
                    <a:ext uri="{9D8B030D-6E8A-4147-A177-3AD203B41FA5}">
                      <a16:colId xmlns:a16="http://schemas.microsoft.com/office/drawing/2014/main" val="2523077405"/>
                    </a:ext>
                  </a:extLst>
                </a:gridCol>
                <a:gridCol w="1921184">
                  <a:extLst>
                    <a:ext uri="{9D8B030D-6E8A-4147-A177-3AD203B41FA5}">
                      <a16:colId xmlns:a16="http://schemas.microsoft.com/office/drawing/2014/main" val="93284136"/>
                    </a:ext>
                  </a:extLst>
                </a:gridCol>
                <a:gridCol w="2098526">
                  <a:extLst>
                    <a:ext uri="{9D8B030D-6E8A-4147-A177-3AD203B41FA5}">
                      <a16:colId xmlns:a16="http://schemas.microsoft.com/office/drawing/2014/main" val="885857888"/>
                    </a:ext>
                  </a:extLst>
                </a:gridCol>
                <a:gridCol w="2598384">
                  <a:extLst>
                    <a:ext uri="{9D8B030D-6E8A-4147-A177-3AD203B41FA5}">
                      <a16:colId xmlns:a16="http://schemas.microsoft.com/office/drawing/2014/main" val="3402767439"/>
                    </a:ext>
                  </a:extLst>
                </a:gridCol>
              </a:tblGrid>
              <a:tr h="285348">
                <a:tc>
                  <a:txBody>
                    <a:bodyPr/>
                    <a:lstStyle/>
                    <a:p>
                      <a:pPr algn="ctr" fontAlgn="ctr"/>
                      <a:r>
                        <a:rPr lang="en-US" sz="1500" b="1" u="none" strike="noStrike">
                          <a:solidFill>
                            <a:srgbClr val="000000"/>
                          </a:solidFill>
                          <a:effectLst/>
                        </a:rPr>
                        <a:t>Area</a:t>
                      </a:r>
                      <a:endParaRPr lang="en-US" sz="1500" b="1" i="0" u="none" strike="noStrike">
                        <a:solidFill>
                          <a:srgbClr val="000000"/>
                        </a:solidFill>
                        <a:effectLst/>
                        <a:latin typeface="+mj-lt"/>
                        <a:cs typeface="Times New Roman" panose="02020603050405020304" pitchFamily="18" charset="0"/>
                      </a:endParaRPr>
                    </a:p>
                  </a:txBody>
                  <a:tcPr marL="11430" marR="11430" marT="11430" marB="0" anchor="ctr"/>
                </a:tc>
                <a:tc>
                  <a:txBody>
                    <a:bodyPr/>
                    <a:lstStyle/>
                    <a:p>
                      <a:pPr algn="ctr" fontAlgn="ctr"/>
                      <a:r>
                        <a:rPr lang="en-US" sz="1500" b="1" u="none" strike="noStrike">
                          <a:solidFill>
                            <a:srgbClr val="000000"/>
                          </a:solidFill>
                          <a:effectLst/>
                        </a:rPr>
                        <a:t>Item</a:t>
                      </a:r>
                      <a:endParaRPr lang="en-US" sz="1500" b="1" i="0" u="none" strike="noStrike">
                        <a:solidFill>
                          <a:srgbClr val="000000"/>
                        </a:solidFill>
                        <a:effectLst/>
                        <a:latin typeface="+mj-lt"/>
                        <a:cs typeface="Times New Roman" panose="02020603050405020304" pitchFamily="18" charset="0"/>
                      </a:endParaRPr>
                    </a:p>
                  </a:txBody>
                  <a:tcPr marL="11430" marR="11430" marT="11430" marB="0" anchor="ctr"/>
                </a:tc>
                <a:tc>
                  <a:txBody>
                    <a:bodyPr/>
                    <a:lstStyle/>
                    <a:p>
                      <a:pPr algn="ctr" fontAlgn="ctr"/>
                      <a:r>
                        <a:rPr lang="en-US" sz="1500" b="1" u="none" strike="noStrike">
                          <a:solidFill>
                            <a:srgbClr val="000000"/>
                          </a:solidFill>
                          <a:effectLst/>
                        </a:rPr>
                        <a:t>Status</a:t>
                      </a:r>
                      <a:endParaRPr lang="en-US" sz="1500" b="1" i="0" u="none" strike="noStrike">
                        <a:solidFill>
                          <a:srgbClr val="000000"/>
                        </a:solidFill>
                        <a:effectLst/>
                        <a:latin typeface="+mj-lt"/>
                        <a:cs typeface="Times New Roman"/>
                      </a:endParaRPr>
                    </a:p>
                  </a:txBody>
                  <a:tcPr marL="11430" marR="11430" marT="11430" marB="0" anchor="ctr"/>
                </a:tc>
                <a:tc>
                  <a:txBody>
                    <a:bodyPr/>
                    <a:lstStyle/>
                    <a:p>
                      <a:pPr algn="ctr" fontAlgn="ctr"/>
                      <a:r>
                        <a:rPr lang="en-US" sz="1500" b="1" u="none" strike="noStrike">
                          <a:solidFill>
                            <a:srgbClr val="000000"/>
                          </a:solidFill>
                          <a:effectLst/>
                        </a:rPr>
                        <a:t>Due Date</a:t>
                      </a:r>
                      <a:endParaRPr lang="en-US" sz="1500" b="1" i="0" u="none" strike="noStrike">
                        <a:solidFill>
                          <a:srgbClr val="000000"/>
                        </a:solidFill>
                        <a:effectLst/>
                        <a:latin typeface="+mj-lt"/>
                        <a:cs typeface="Times New Roman"/>
                      </a:endParaRPr>
                    </a:p>
                  </a:txBody>
                  <a:tcPr marL="11430" marR="11430" marT="11430" marB="0" anchor="ctr"/>
                </a:tc>
                <a:tc>
                  <a:txBody>
                    <a:bodyPr/>
                    <a:lstStyle/>
                    <a:p>
                      <a:pPr algn="ctr" fontAlgn="ctr"/>
                      <a:r>
                        <a:rPr lang="en-US" sz="1500" b="1" u="none" strike="noStrike">
                          <a:solidFill>
                            <a:srgbClr val="000000"/>
                          </a:solidFill>
                          <a:effectLst/>
                        </a:rPr>
                        <a:t>Owner</a:t>
                      </a:r>
                      <a:endParaRPr lang="en-US" sz="1500" b="1" i="0" u="none" strike="noStrike">
                        <a:solidFill>
                          <a:srgbClr val="000000"/>
                        </a:solidFill>
                        <a:effectLst/>
                        <a:latin typeface="+mj-lt"/>
                        <a:cs typeface="Times New Roman"/>
                      </a:endParaRPr>
                    </a:p>
                  </a:txBody>
                  <a:tcPr marL="11430" marR="11430" marT="11430" marB="0" anchor="ctr"/>
                </a:tc>
                <a:extLst>
                  <a:ext uri="{0D108BD9-81ED-4DB2-BD59-A6C34878D82A}">
                    <a16:rowId xmlns:a16="http://schemas.microsoft.com/office/drawing/2014/main" val="3746560476"/>
                  </a:ext>
                </a:extLst>
              </a:tr>
              <a:tr h="697230">
                <a:tc>
                  <a:txBody>
                    <a:bodyPr/>
                    <a:lstStyle/>
                    <a:p>
                      <a:pPr algn="ctr" fontAlgn="ctr"/>
                      <a:r>
                        <a:rPr lang="en-US" sz="1500" b="1" u="none" strike="noStrike">
                          <a:solidFill>
                            <a:srgbClr val="000000"/>
                          </a:solidFill>
                          <a:effectLst/>
                        </a:rPr>
                        <a:t>Risks</a:t>
                      </a:r>
                      <a:endParaRPr lang="en-US" sz="1500" b="1" i="0" u="none" strike="noStrike">
                        <a:solidFill>
                          <a:srgbClr val="000000"/>
                        </a:solidFill>
                        <a:effectLst/>
                        <a:latin typeface="+mj-lt"/>
                        <a:cs typeface="Times New Roman"/>
                      </a:endParaRPr>
                    </a:p>
                  </a:txBody>
                  <a:tcPr marL="11430" marR="11430" marT="11430" marB="0" anchor="ctr"/>
                </a:tc>
                <a:tc>
                  <a:txBody>
                    <a:bodyPr/>
                    <a:lstStyle/>
                    <a:p>
                      <a:pPr marL="0" indent="0" algn="ctr" fontAlgn="ctr">
                        <a:buNone/>
                      </a:pPr>
                      <a:endParaRPr lang="en-US" sz="1500" b="0" u="none" strike="noStrike" baseline="0">
                        <a:solidFill>
                          <a:srgbClr val="000000"/>
                        </a:solidFill>
                        <a:effectLst/>
                      </a:endParaRPr>
                    </a:p>
                    <a:p>
                      <a:pPr marL="0" indent="0" algn="ctr" fontAlgn="ctr">
                        <a:buNone/>
                      </a:pPr>
                      <a:r>
                        <a:rPr lang="en-US" sz="1500" b="0" u="none" strike="noStrike" baseline="0">
                          <a:solidFill>
                            <a:srgbClr val="000000"/>
                          </a:solidFill>
                          <a:effectLst/>
                        </a:rPr>
                        <a:t>No risks identified- currently</a:t>
                      </a:r>
                    </a:p>
                    <a:p>
                      <a:pPr marL="228600" indent="-228600" algn="ctr" fontAlgn="ctr">
                        <a:buAutoNum type="arabicPeriod"/>
                      </a:pPr>
                      <a:endParaRPr lang="en-US" sz="1500" b="0" i="0" u="none" strike="noStrike" baseline="0">
                        <a:solidFill>
                          <a:srgbClr val="000000"/>
                        </a:solidFill>
                        <a:effectLst/>
                        <a:latin typeface="+mj-lt"/>
                        <a:cs typeface="Times New Roman"/>
                      </a:endParaRPr>
                    </a:p>
                  </a:txBody>
                  <a:tcPr marL="11430" marR="11430" marT="11430" marB="0" anchor="ctr"/>
                </a:tc>
                <a:tc>
                  <a:txBody>
                    <a:bodyPr/>
                    <a:lstStyle/>
                    <a:p>
                      <a:pPr algn="ctr" fontAlgn="ctr"/>
                      <a:endParaRPr lang="en-US" sz="1500" b="0" i="0" u="none" strike="noStrike">
                        <a:solidFill>
                          <a:schemeClr val="tx1"/>
                        </a:solidFill>
                        <a:effectLst/>
                        <a:latin typeface="+mj-lt"/>
                        <a:cs typeface="Times New Roman"/>
                      </a:endParaRPr>
                    </a:p>
                  </a:txBody>
                  <a:tcPr marL="11430" marR="11430" marT="11430" marB="0" anchor="ctr"/>
                </a:tc>
                <a:tc>
                  <a:txBody>
                    <a:bodyPr/>
                    <a:lstStyle/>
                    <a:p>
                      <a:pPr algn="ctr" fontAlgn="ctr"/>
                      <a:endParaRPr lang="en-US" sz="1500" b="0" i="0" u="none" strike="noStrike" baseline="0">
                        <a:solidFill>
                          <a:srgbClr val="000000"/>
                        </a:solidFill>
                        <a:effectLst/>
                        <a:latin typeface="+mj-lt"/>
                        <a:cs typeface="Times New Roman"/>
                      </a:endParaRPr>
                    </a:p>
                  </a:txBody>
                  <a:tcPr marL="11430" marR="11430" marT="11430" marB="0" anchor="ctr"/>
                </a:tc>
                <a:tc>
                  <a:txBody>
                    <a:bodyPr/>
                    <a:lstStyle/>
                    <a:p>
                      <a:pPr algn="ctr" fontAlgn="ctr"/>
                      <a:endParaRPr lang="en-US" sz="1500" b="0" i="0" u="none" strike="noStrike" kern="1200">
                        <a:solidFill>
                          <a:srgbClr val="000000"/>
                        </a:solidFill>
                        <a:effectLst/>
                        <a:latin typeface="+mn-lt"/>
                        <a:ea typeface="+mn-ea"/>
                        <a:cs typeface="Times New Roman"/>
                      </a:endParaRPr>
                    </a:p>
                  </a:txBody>
                  <a:tcPr marL="11430" marR="11430" marT="11430" marB="0" anchor="ctr"/>
                </a:tc>
                <a:extLst>
                  <a:ext uri="{0D108BD9-81ED-4DB2-BD59-A6C34878D82A}">
                    <a16:rowId xmlns:a16="http://schemas.microsoft.com/office/drawing/2014/main" val="161483975"/>
                  </a:ext>
                </a:extLst>
              </a:tr>
              <a:tr h="69723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1" u="none" strike="noStrike" kern="1200" cap="none" spc="0" normalizeH="0" baseline="0" noProof="0">
                          <a:ln>
                            <a:noFill/>
                          </a:ln>
                          <a:solidFill>
                            <a:srgbClr val="000000"/>
                          </a:solidFill>
                          <a:effectLst/>
                          <a:uLnTx/>
                          <a:uFillTx/>
                        </a:rPr>
                        <a:t>Issues</a:t>
                      </a:r>
                      <a:endParaRPr kumimoji="0" lang="en-US" sz="1500" b="1" i="0" u="none" strike="noStrike" kern="1200" cap="none" spc="0" normalizeH="0" baseline="0" noProof="0">
                        <a:ln>
                          <a:noFill/>
                        </a:ln>
                        <a:solidFill>
                          <a:srgbClr val="000000"/>
                        </a:solidFill>
                        <a:effectLst/>
                        <a:uLnTx/>
                        <a:uFillTx/>
                        <a:latin typeface="Aptos Display" panose="02110004020202020204"/>
                        <a:ea typeface="+mn-ea"/>
                        <a:cs typeface="Times New Roman" panose="02020603050405020304" pitchFamily="18" charset="0"/>
                      </a:endParaRPr>
                    </a:p>
                  </a:txBody>
                  <a:tcPr marL="137160" marR="137160" marT="68580" marB="68580" anchor="ctr"/>
                </a:tc>
                <a:tc>
                  <a:txBody>
                    <a:bodyPr/>
                    <a:lstStyle/>
                    <a:p>
                      <a:pPr marL="457200" marR="0" lvl="1" indent="0" algn="ctr" defTabSz="914400" rtl="0" eaLnBrk="1" fontAlgn="auto" latinLnBrk="0" hangingPunct="1">
                        <a:lnSpc>
                          <a:spcPct val="100000"/>
                        </a:lnSpc>
                        <a:spcBef>
                          <a:spcPts val="0"/>
                        </a:spcBef>
                        <a:spcAft>
                          <a:spcPts val="0"/>
                        </a:spcAft>
                        <a:buClrTx/>
                        <a:buSzTx/>
                        <a:buFont typeface="+mj-lt"/>
                        <a:buNone/>
                        <a:tabLst/>
                        <a:defRPr/>
                      </a:pPr>
                      <a:endParaRPr lang="en-US" sz="1500" strike="noStrike"/>
                    </a:p>
                    <a:p>
                      <a:pPr marL="0" marR="0" lvl="0" indent="0" algn="ctr" defTabSz="914400" rtl="0" eaLnBrk="1" fontAlgn="auto" latinLnBrk="0" hangingPunct="1">
                        <a:lnSpc>
                          <a:spcPct val="100000"/>
                        </a:lnSpc>
                        <a:spcBef>
                          <a:spcPts val="0"/>
                        </a:spcBef>
                        <a:spcAft>
                          <a:spcPts val="0"/>
                        </a:spcAft>
                        <a:buClrTx/>
                        <a:buSzTx/>
                        <a:buFont typeface="+mj-lt"/>
                        <a:buNone/>
                        <a:tabLst/>
                        <a:defRPr/>
                      </a:pPr>
                      <a:r>
                        <a:rPr lang="en-US" sz="1500" strike="noStrike"/>
                        <a:t>  No issues identified- currently</a:t>
                      </a:r>
                      <a:endParaRPr lang="en-US" sz="1500"/>
                    </a:p>
                  </a:txBody>
                  <a:tcPr marL="11430" marR="11430" marT="11430" marB="0"/>
                </a:tc>
                <a:tc>
                  <a:txBody>
                    <a:bodyPr/>
                    <a:lstStyle/>
                    <a:p>
                      <a:pPr algn="ctr" fontAlgn="ctr"/>
                      <a:endParaRPr lang="en-US" sz="1500" b="0" u="none" strike="noStrike" kern="1200">
                        <a:solidFill>
                          <a:srgbClr val="000000"/>
                        </a:solidFill>
                        <a:effectLst/>
                      </a:endParaRPr>
                    </a:p>
                    <a:p>
                      <a:pPr algn="ctr" fontAlgn="ctr"/>
                      <a:br>
                        <a:rPr lang="en-US" sz="1500" b="0" u="none" strike="noStrike" kern="1200">
                          <a:solidFill>
                            <a:srgbClr val="000000"/>
                          </a:solidFill>
                          <a:effectLst/>
                        </a:rPr>
                      </a:br>
                      <a:endParaRPr lang="en-US" sz="1500" b="0" i="0" u="none" strike="noStrike" kern="1200">
                        <a:solidFill>
                          <a:srgbClr val="000000"/>
                        </a:solidFill>
                        <a:effectLst/>
                        <a:latin typeface="+mn-lt"/>
                        <a:ea typeface="+mn-ea"/>
                        <a:cs typeface="Times New Roman"/>
                      </a:endParaRPr>
                    </a:p>
                  </a:txBody>
                  <a:tcPr marL="11430" marR="11430" marT="11430" marB="0"/>
                </a:tc>
                <a:tc>
                  <a:txBody>
                    <a:bodyPr/>
                    <a:lstStyle/>
                    <a:p>
                      <a:pPr marL="0" marR="0" lvl="0" indent="0" algn="ctr">
                        <a:lnSpc>
                          <a:spcPct val="100000"/>
                        </a:lnSpc>
                        <a:spcBef>
                          <a:spcPts val="0"/>
                        </a:spcBef>
                        <a:spcAft>
                          <a:spcPts val="0"/>
                        </a:spcAft>
                        <a:buNone/>
                      </a:pPr>
                      <a:endParaRPr lang="en-US" sz="1500" b="0" u="none" strike="noStrike" baseline="0" noProof="0">
                        <a:solidFill>
                          <a:srgbClr val="000000"/>
                        </a:solidFill>
                        <a:effectLst/>
                      </a:endParaRPr>
                    </a:p>
                  </a:txBody>
                  <a:tcPr marL="11430" marR="11430" marT="11430" marB="0"/>
                </a:tc>
                <a:tc>
                  <a:txBody>
                    <a:bodyPr/>
                    <a:lstStyle/>
                    <a:p>
                      <a:pPr lvl="0" algn="ctr">
                        <a:lnSpc>
                          <a:spcPct val="100000"/>
                        </a:lnSpc>
                        <a:spcBef>
                          <a:spcPts val="0"/>
                        </a:spcBef>
                        <a:spcAft>
                          <a:spcPts val="0"/>
                        </a:spcAft>
                        <a:buNone/>
                      </a:pPr>
                      <a:endParaRPr lang="en-US" sz="1500" b="0" u="none" strike="noStrike" noProof="0">
                        <a:solidFill>
                          <a:srgbClr val="000000"/>
                        </a:solidFill>
                        <a:effectLst/>
                      </a:endParaRPr>
                    </a:p>
                  </a:txBody>
                  <a:tcPr marL="11430" marR="11430" marT="11430" marB="0"/>
                </a:tc>
                <a:extLst>
                  <a:ext uri="{0D108BD9-81ED-4DB2-BD59-A6C34878D82A}">
                    <a16:rowId xmlns:a16="http://schemas.microsoft.com/office/drawing/2014/main" val="2752322571"/>
                  </a:ext>
                </a:extLst>
              </a:tr>
              <a:tr h="455169">
                <a:tc>
                  <a:txBody>
                    <a:bodyPr/>
                    <a:lstStyle/>
                    <a:p>
                      <a:pPr algn="ctr" fontAlgn="ctr"/>
                      <a:r>
                        <a:rPr lang="en-US" sz="1500" b="1" u="none" strike="noStrike">
                          <a:solidFill>
                            <a:srgbClr val="000000"/>
                          </a:solidFill>
                          <a:effectLst/>
                        </a:rPr>
                        <a:t>Decisions</a:t>
                      </a:r>
                    </a:p>
                  </a:txBody>
                  <a:tcPr marL="11430" marR="11430" marT="11430" marB="0" anchor="ctr"/>
                </a:tc>
                <a:tc>
                  <a:txBody>
                    <a:bodyPr/>
                    <a:lstStyle/>
                    <a:p>
                      <a:pPr marL="457200" marR="0" lvl="1" indent="0" algn="ctr" defTabSz="914400" rtl="0" eaLnBrk="1" fontAlgn="auto" latinLnBrk="0" hangingPunct="1">
                        <a:lnSpc>
                          <a:spcPct val="100000"/>
                        </a:lnSpc>
                        <a:spcBef>
                          <a:spcPts val="0"/>
                        </a:spcBef>
                        <a:spcAft>
                          <a:spcPts val="0"/>
                        </a:spcAft>
                        <a:buClrTx/>
                        <a:buSzTx/>
                        <a:buFontTx/>
                        <a:buNone/>
                        <a:tabLst/>
                        <a:defRPr/>
                      </a:pPr>
                      <a:endParaRPr kumimoji="0" lang="en-US" sz="1500" b="0" u="none" strike="noStrike" kern="1200" cap="none" spc="0" normalizeH="0" baseline="0" noProof="0">
                        <a:ln>
                          <a:noFill/>
                        </a:ln>
                        <a:solidFill>
                          <a:srgbClr val="000000"/>
                        </a:solidFill>
                        <a:effectLst/>
                        <a:uLnTx/>
                        <a:uFillTx/>
                      </a:endParaRPr>
                    </a:p>
                  </a:txBody>
                  <a:tcPr marL="11430" marR="11430" marT="11430" marB="0" anchor="ctr"/>
                </a:tc>
                <a:tc>
                  <a:txBody>
                    <a:bodyPr/>
                    <a:lstStyle/>
                    <a:p>
                      <a:pPr algn="ctr" fontAlgn="ctr"/>
                      <a:endParaRPr lang="en-US" sz="1500" b="0" u="none" strike="noStrike">
                        <a:solidFill>
                          <a:srgbClr val="000000"/>
                        </a:solidFill>
                        <a:effectLst/>
                      </a:endParaRPr>
                    </a:p>
                  </a:txBody>
                  <a:tcPr marL="11430" marR="11430" marT="1143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500" strike="noStrike">
                        <a:effectLst/>
                        <a:latin typeface="+mj-lt"/>
                        <a:cs typeface="Times New Roman" panose="02020603050405020304" pitchFamily="18" charset="0"/>
                      </a:endParaRPr>
                    </a:p>
                  </a:txBody>
                  <a:tcPr marL="11430" marR="11430" marT="11430" marB="0" anchor="ctr"/>
                </a:tc>
                <a:tc>
                  <a:txBody>
                    <a:bodyPr/>
                    <a:lstStyle/>
                    <a:p>
                      <a:pPr algn="ctr" fontAlgn="ctr"/>
                      <a:endParaRPr lang="en-US" sz="1500" b="0" u="none" strike="noStrike">
                        <a:solidFill>
                          <a:srgbClr val="000000"/>
                        </a:solidFill>
                        <a:effectLst/>
                      </a:endParaRPr>
                    </a:p>
                  </a:txBody>
                  <a:tcPr marL="11430" marR="11430" marT="11430" marB="0" anchor="ctr"/>
                </a:tc>
                <a:extLst>
                  <a:ext uri="{0D108BD9-81ED-4DB2-BD59-A6C34878D82A}">
                    <a16:rowId xmlns:a16="http://schemas.microsoft.com/office/drawing/2014/main" val="2986965557"/>
                  </a:ext>
                </a:extLst>
              </a:tr>
            </a:tbl>
          </a:graphicData>
        </a:graphic>
      </p:graphicFrame>
      <p:sp>
        <p:nvSpPr>
          <p:cNvPr id="3" name="Oval 2">
            <a:extLst>
              <a:ext uri="{FF2B5EF4-FFF2-40B4-BE49-F238E27FC236}">
                <a16:creationId xmlns:a16="http://schemas.microsoft.com/office/drawing/2014/main" id="{AFE572F6-2B3D-ED87-8339-2C231A4ACF7F}"/>
              </a:ext>
            </a:extLst>
          </p:cNvPr>
          <p:cNvSpPr/>
          <p:nvPr/>
        </p:nvSpPr>
        <p:spPr>
          <a:xfrm>
            <a:off x="2631594" y="5553215"/>
            <a:ext cx="435546" cy="405236"/>
          </a:xfrm>
          <a:prstGeom prst="ellipse">
            <a:avLst/>
          </a:prstGeom>
          <a:solidFill>
            <a:srgbClr val="003373"/>
          </a:solidFill>
          <a:ln w="9525">
            <a:solidFill>
              <a:srgbClr val="0033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pic>
        <p:nvPicPr>
          <p:cNvPr id="28" name="Picture 27">
            <a:extLst>
              <a:ext uri="{FF2B5EF4-FFF2-40B4-BE49-F238E27FC236}">
                <a16:creationId xmlns:a16="http://schemas.microsoft.com/office/drawing/2014/main" id="{91B7E9A0-3BC5-0EE7-B2DD-88616F4E33EE}"/>
              </a:ext>
            </a:extLst>
          </p:cNvPr>
          <p:cNvPicPr>
            <a:picLocks noChangeAspect="1"/>
          </p:cNvPicPr>
          <p:nvPr/>
        </p:nvPicPr>
        <p:blipFill>
          <a:blip r:embed="rId3"/>
          <a:stretch>
            <a:fillRect/>
          </a:stretch>
        </p:blipFill>
        <p:spPr>
          <a:xfrm>
            <a:off x="2811917" y="5259161"/>
            <a:ext cx="123825" cy="323850"/>
          </a:xfrm>
          <a:prstGeom prst="rect">
            <a:avLst/>
          </a:prstGeom>
        </p:spPr>
      </p:pic>
      <p:sp>
        <p:nvSpPr>
          <p:cNvPr id="33" name="TextBox 32">
            <a:extLst>
              <a:ext uri="{FF2B5EF4-FFF2-40B4-BE49-F238E27FC236}">
                <a16:creationId xmlns:a16="http://schemas.microsoft.com/office/drawing/2014/main" id="{BBFC96C1-DA6C-A73F-8126-CE0C01BC6769}"/>
              </a:ext>
            </a:extLst>
          </p:cNvPr>
          <p:cNvSpPr txBox="1"/>
          <p:nvPr/>
        </p:nvSpPr>
        <p:spPr>
          <a:xfrm>
            <a:off x="1444519" y="4653720"/>
            <a:ext cx="2871529" cy="330860"/>
          </a:xfrm>
          <a:prstGeom prst="rect">
            <a:avLst/>
          </a:prstGeom>
          <a:noFill/>
        </p:spPr>
        <p:txBody>
          <a:bodyPr wrap="square" lIns="0" tIns="45720" rIns="0" bIns="4572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defRPr/>
            </a:pPr>
            <a:r>
              <a:rPr lang="en-US" altLang="ko-KR" sz="1550" b="1">
                <a:solidFill>
                  <a:prstClr val="black"/>
                </a:solidFill>
                <a:latin typeface="Arial"/>
                <a:ea typeface="맑은 고딕"/>
                <a:cs typeface="Arial"/>
              </a:rPr>
              <a:t>Project Kick-off</a:t>
            </a:r>
          </a:p>
        </p:txBody>
      </p:sp>
      <p:sp>
        <p:nvSpPr>
          <p:cNvPr id="37" name="TextBox 36">
            <a:extLst>
              <a:ext uri="{FF2B5EF4-FFF2-40B4-BE49-F238E27FC236}">
                <a16:creationId xmlns:a16="http://schemas.microsoft.com/office/drawing/2014/main" id="{65231C7F-F922-BBBA-3F71-0CFF53EA02A5}"/>
              </a:ext>
            </a:extLst>
          </p:cNvPr>
          <p:cNvSpPr txBox="1"/>
          <p:nvPr/>
        </p:nvSpPr>
        <p:spPr>
          <a:xfrm>
            <a:off x="4325505" y="4653719"/>
            <a:ext cx="2871529" cy="330860"/>
          </a:xfrm>
          <a:prstGeom prst="rect">
            <a:avLst/>
          </a:prstGeom>
          <a:noFill/>
        </p:spPr>
        <p:txBody>
          <a:bodyPr wrap="square" lIns="0" tIns="45720" rIns="0" bIns="4572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defRPr/>
            </a:pPr>
            <a:r>
              <a:rPr lang="en-US" altLang="ko-KR" sz="1550" b="1">
                <a:solidFill>
                  <a:prstClr val="black"/>
                </a:solidFill>
                <a:latin typeface="Arial"/>
                <a:ea typeface="맑은 고딕"/>
                <a:cs typeface="Arial"/>
              </a:rPr>
              <a:t>Requirements &amp; Planning</a:t>
            </a:r>
            <a:endParaRPr lang="en-US"/>
          </a:p>
        </p:txBody>
      </p:sp>
      <p:sp>
        <p:nvSpPr>
          <p:cNvPr id="38" name="TextBox 37">
            <a:extLst>
              <a:ext uri="{FF2B5EF4-FFF2-40B4-BE49-F238E27FC236}">
                <a16:creationId xmlns:a16="http://schemas.microsoft.com/office/drawing/2014/main" id="{6D37C23D-54EE-1116-3300-5008917E8A27}"/>
              </a:ext>
            </a:extLst>
          </p:cNvPr>
          <p:cNvSpPr txBox="1"/>
          <p:nvPr/>
        </p:nvSpPr>
        <p:spPr>
          <a:xfrm>
            <a:off x="7206490" y="4653718"/>
            <a:ext cx="2871529" cy="330860"/>
          </a:xfrm>
          <a:prstGeom prst="rect">
            <a:avLst/>
          </a:prstGeom>
          <a:noFill/>
        </p:spPr>
        <p:txBody>
          <a:bodyPr wrap="square" lIns="0" tIns="45720" rIns="0" bIns="4572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defRPr/>
            </a:pPr>
            <a:r>
              <a:rPr lang="en-US" altLang="ko-KR" sz="1550" b="1">
                <a:solidFill>
                  <a:prstClr val="black"/>
                </a:solidFill>
                <a:latin typeface="Arial"/>
                <a:ea typeface="맑은 고딕"/>
                <a:cs typeface="Arial"/>
              </a:rPr>
              <a:t>Set-up and Configurations</a:t>
            </a:r>
            <a:endParaRPr lang="en-US"/>
          </a:p>
        </p:txBody>
      </p:sp>
      <p:sp>
        <p:nvSpPr>
          <p:cNvPr id="43" name="TextBox 42">
            <a:extLst>
              <a:ext uri="{FF2B5EF4-FFF2-40B4-BE49-F238E27FC236}">
                <a16:creationId xmlns:a16="http://schemas.microsoft.com/office/drawing/2014/main" id="{ADD00F75-1834-5AEC-D38C-953051826320}"/>
              </a:ext>
            </a:extLst>
          </p:cNvPr>
          <p:cNvSpPr txBox="1"/>
          <p:nvPr/>
        </p:nvSpPr>
        <p:spPr>
          <a:xfrm>
            <a:off x="9962217" y="4653718"/>
            <a:ext cx="2871529" cy="330860"/>
          </a:xfrm>
          <a:prstGeom prst="rect">
            <a:avLst/>
          </a:prstGeom>
          <a:noFill/>
        </p:spPr>
        <p:txBody>
          <a:bodyPr wrap="square" lIns="0" tIns="45720" rIns="0" bIns="4572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defRPr/>
            </a:pPr>
            <a:r>
              <a:rPr lang="en-US" altLang="ko-KR" sz="1550" b="1">
                <a:solidFill>
                  <a:prstClr val="black"/>
                </a:solidFill>
                <a:latin typeface="Arial"/>
                <a:ea typeface="맑은 고딕"/>
                <a:cs typeface="Arial"/>
              </a:rPr>
              <a:t>UAT</a:t>
            </a:r>
            <a:endParaRPr lang="en-US"/>
          </a:p>
        </p:txBody>
      </p:sp>
      <p:sp>
        <p:nvSpPr>
          <p:cNvPr id="44" name="TextBox 43">
            <a:extLst>
              <a:ext uri="{FF2B5EF4-FFF2-40B4-BE49-F238E27FC236}">
                <a16:creationId xmlns:a16="http://schemas.microsoft.com/office/drawing/2014/main" id="{25C9DB7B-B8DF-8A52-81BB-B7FF58DEDF41}"/>
              </a:ext>
            </a:extLst>
          </p:cNvPr>
          <p:cNvSpPr txBox="1"/>
          <p:nvPr/>
        </p:nvSpPr>
        <p:spPr>
          <a:xfrm>
            <a:off x="12561367" y="4653717"/>
            <a:ext cx="2871529" cy="330860"/>
          </a:xfrm>
          <a:prstGeom prst="rect">
            <a:avLst/>
          </a:prstGeom>
          <a:noFill/>
        </p:spPr>
        <p:txBody>
          <a:bodyPr wrap="square" lIns="0" tIns="45720" rIns="0" bIns="4572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defRPr/>
            </a:pPr>
            <a:r>
              <a:rPr lang="en-US" altLang="ko-KR" sz="1550" b="1">
                <a:solidFill>
                  <a:prstClr val="black"/>
                </a:solidFill>
                <a:latin typeface="Arial"/>
                <a:ea typeface="맑은 고딕"/>
                <a:cs typeface="Arial"/>
              </a:rPr>
              <a:t>Go-Live</a:t>
            </a:r>
            <a:endParaRPr lang="en-US"/>
          </a:p>
        </p:txBody>
      </p:sp>
      <p:sp>
        <p:nvSpPr>
          <p:cNvPr id="27" name="TextBox 26">
            <a:extLst>
              <a:ext uri="{FF2B5EF4-FFF2-40B4-BE49-F238E27FC236}">
                <a16:creationId xmlns:a16="http://schemas.microsoft.com/office/drawing/2014/main" id="{DAEFF50A-2853-A025-F4FE-6B43A4F5D9AE}"/>
              </a:ext>
            </a:extLst>
          </p:cNvPr>
          <p:cNvSpPr txBox="1"/>
          <p:nvPr/>
        </p:nvSpPr>
        <p:spPr>
          <a:xfrm>
            <a:off x="5197824" y="5953290"/>
            <a:ext cx="1146131"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600" b="1">
                <a:ea typeface="Calibri"/>
                <a:cs typeface="Calibri"/>
              </a:rPr>
              <a:t>February</a:t>
            </a:r>
            <a:endParaRPr lang="en-GB" sz="1600" b="1"/>
          </a:p>
        </p:txBody>
      </p:sp>
      <p:sp>
        <p:nvSpPr>
          <p:cNvPr id="32" name="TextBox 31">
            <a:extLst>
              <a:ext uri="{FF2B5EF4-FFF2-40B4-BE49-F238E27FC236}">
                <a16:creationId xmlns:a16="http://schemas.microsoft.com/office/drawing/2014/main" id="{20774851-16D8-254C-E33D-A423B53DF978}"/>
              </a:ext>
            </a:extLst>
          </p:cNvPr>
          <p:cNvSpPr txBox="1"/>
          <p:nvPr/>
        </p:nvSpPr>
        <p:spPr>
          <a:xfrm>
            <a:off x="8204070" y="5953289"/>
            <a:ext cx="1146131"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600" b="1">
                <a:ea typeface="Calibri"/>
                <a:cs typeface="Calibri"/>
              </a:rPr>
              <a:t>February</a:t>
            </a:r>
            <a:endParaRPr lang="en-GB" sz="1600" b="1"/>
          </a:p>
        </p:txBody>
      </p:sp>
      <p:sp>
        <p:nvSpPr>
          <p:cNvPr id="34" name="TextBox 33">
            <a:extLst>
              <a:ext uri="{FF2B5EF4-FFF2-40B4-BE49-F238E27FC236}">
                <a16:creationId xmlns:a16="http://schemas.microsoft.com/office/drawing/2014/main" id="{E217EFE2-5CCC-EBDF-03EB-A6A4E593B5BD}"/>
              </a:ext>
            </a:extLst>
          </p:cNvPr>
          <p:cNvSpPr txBox="1"/>
          <p:nvPr/>
        </p:nvSpPr>
        <p:spPr>
          <a:xfrm>
            <a:off x="10881507" y="5953288"/>
            <a:ext cx="1146131"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600" b="1">
                <a:ea typeface="Calibri"/>
                <a:cs typeface="Calibri"/>
              </a:rPr>
              <a:t>February</a:t>
            </a:r>
            <a:endParaRPr lang="en-GB" sz="1600" b="1"/>
          </a:p>
        </p:txBody>
      </p:sp>
      <p:sp>
        <p:nvSpPr>
          <p:cNvPr id="2" name="TextBox 1">
            <a:extLst>
              <a:ext uri="{FF2B5EF4-FFF2-40B4-BE49-F238E27FC236}">
                <a16:creationId xmlns:a16="http://schemas.microsoft.com/office/drawing/2014/main" id="{C9B681E6-58B3-2483-06B1-48137E8E1CBE}"/>
              </a:ext>
            </a:extLst>
          </p:cNvPr>
          <p:cNvSpPr txBox="1"/>
          <p:nvPr/>
        </p:nvSpPr>
        <p:spPr>
          <a:xfrm>
            <a:off x="13543287" y="5984602"/>
            <a:ext cx="192900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b="1" strike="sngStrike">
                <a:ea typeface="Calibri"/>
                <a:cs typeface="Calibri"/>
              </a:rPr>
              <a:t>March, </a:t>
            </a:r>
            <a:r>
              <a:rPr lang="en-GB" sz="1600" b="1">
                <a:ea typeface="Calibri"/>
                <a:cs typeface="Calibri"/>
              </a:rPr>
              <a:t>April (2026)</a:t>
            </a:r>
            <a:endParaRPr lang="en-US"/>
          </a:p>
        </p:txBody>
      </p:sp>
      <p:pic>
        <p:nvPicPr>
          <p:cNvPr id="26" name="Picture 25">
            <a:extLst>
              <a:ext uri="{FF2B5EF4-FFF2-40B4-BE49-F238E27FC236}">
                <a16:creationId xmlns:a16="http://schemas.microsoft.com/office/drawing/2014/main" id="{F2EA02CE-131E-6C93-C053-F1A39A8DA34E}"/>
              </a:ext>
            </a:extLst>
          </p:cNvPr>
          <p:cNvPicPr>
            <a:picLocks noChangeAspect="1"/>
          </p:cNvPicPr>
          <p:nvPr/>
        </p:nvPicPr>
        <p:blipFill>
          <a:blip r:embed="rId3"/>
          <a:stretch>
            <a:fillRect/>
          </a:stretch>
        </p:blipFill>
        <p:spPr>
          <a:xfrm>
            <a:off x="5661587" y="5227845"/>
            <a:ext cx="123825" cy="323850"/>
          </a:xfrm>
          <a:prstGeom prst="rect">
            <a:avLst/>
          </a:prstGeom>
        </p:spPr>
      </p:pic>
      <p:sp>
        <p:nvSpPr>
          <p:cNvPr id="42" name="Oval 41">
            <a:extLst>
              <a:ext uri="{FF2B5EF4-FFF2-40B4-BE49-F238E27FC236}">
                <a16:creationId xmlns:a16="http://schemas.microsoft.com/office/drawing/2014/main" id="{9DA7D0C9-59DA-71CA-931D-5CF9271C5B9B}"/>
              </a:ext>
            </a:extLst>
          </p:cNvPr>
          <p:cNvSpPr/>
          <p:nvPr/>
        </p:nvSpPr>
        <p:spPr>
          <a:xfrm>
            <a:off x="5496922" y="5553214"/>
            <a:ext cx="435546" cy="405236"/>
          </a:xfrm>
          <a:prstGeom prst="ellipse">
            <a:avLst/>
          </a:prstGeom>
          <a:solidFill>
            <a:srgbClr val="003373"/>
          </a:solidFill>
          <a:ln w="9525">
            <a:solidFill>
              <a:srgbClr val="0033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45" name="Oval 44">
            <a:extLst>
              <a:ext uri="{FF2B5EF4-FFF2-40B4-BE49-F238E27FC236}">
                <a16:creationId xmlns:a16="http://schemas.microsoft.com/office/drawing/2014/main" id="{CCEF1532-6807-83A2-A585-182A5D4597A5}"/>
              </a:ext>
            </a:extLst>
          </p:cNvPr>
          <p:cNvSpPr/>
          <p:nvPr/>
        </p:nvSpPr>
        <p:spPr>
          <a:xfrm>
            <a:off x="11180607" y="5553214"/>
            <a:ext cx="435546" cy="405236"/>
          </a:xfrm>
          <a:prstGeom prst="ellipse">
            <a:avLst/>
          </a:prstGeom>
          <a:solidFill>
            <a:srgbClr val="003373"/>
          </a:solidFill>
          <a:ln w="9525">
            <a:solidFill>
              <a:srgbClr val="0033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46" name="Oval 45">
            <a:extLst>
              <a:ext uri="{FF2B5EF4-FFF2-40B4-BE49-F238E27FC236}">
                <a16:creationId xmlns:a16="http://schemas.microsoft.com/office/drawing/2014/main" id="{597059B9-2407-79B9-1893-48CA840988C8}"/>
              </a:ext>
            </a:extLst>
          </p:cNvPr>
          <p:cNvSpPr/>
          <p:nvPr/>
        </p:nvSpPr>
        <p:spPr>
          <a:xfrm>
            <a:off x="8424881" y="5568872"/>
            <a:ext cx="435546" cy="405236"/>
          </a:xfrm>
          <a:prstGeom prst="ellipse">
            <a:avLst/>
          </a:prstGeom>
          <a:solidFill>
            <a:srgbClr val="003373"/>
          </a:solidFill>
          <a:ln w="9525">
            <a:solidFill>
              <a:srgbClr val="0033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pic>
        <p:nvPicPr>
          <p:cNvPr id="47" name="Picture 46">
            <a:extLst>
              <a:ext uri="{FF2B5EF4-FFF2-40B4-BE49-F238E27FC236}">
                <a16:creationId xmlns:a16="http://schemas.microsoft.com/office/drawing/2014/main" id="{2B580F9E-ECD6-E653-2526-89EBD8F419D9}"/>
              </a:ext>
            </a:extLst>
          </p:cNvPr>
          <p:cNvPicPr>
            <a:picLocks noChangeAspect="1"/>
          </p:cNvPicPr>
          <p:nvPr/>
        </p:nvPicPr>
        <p:blipFill>
          <a:blip r:embed="rId3"/>
          <a:stretch>
            <a:fillRect/>
          </a:stretch>
        </p:blipFill>
        <p:spPr>
          <a:xfrm>
            <a:off x="11345271" y="5227844"/>
            <a:ext cx="123825" cy="323850"/>
          </a:xfrm>
          <a:prstGeom prst="rect">
            <a:avLst/>
          </a:prstGeom>
        </p:spPr>
      </p:pic>
      <p:pic>
        <p:nvPicPr>
          <p:cNvPr id="48" name="Picture 47">
            <a:extLst>
              <a:ext uri="{FF2B5EF4-FFF2-40B4-BE49-F238E27FC236}">
                <a16:creationId xmlns:a16="http://schemas.microsoft.com/office/drawing/2014/main" id="{3F701896-F9CE-9E1C-536B-C9BF1721C70F}"/>
              </a:ext>
            </a:extLst>
          </p:cNvPr>
          <p:cNvPicPr>
            <a:picLocks noChangeAspect="1"/>
          </p:cNvPicPr>
          <p:nvPr/>
        </p:nvPicPr>
        <p:blipFill>
          <a:blip r:embed="rId3"/>
          <a:stretch>
            <a:fillRect/>
          </a:stretch>
        </p:blipFill>
        <p:spPr>
          <a:xfrm>
            <a:off x="8589546" y="5259160"/>
            <a:ext cx="123825" cy="323850"/>
          </a:xfrm>
          <a:prstGeom prst="rect">
            <a:avLst/>
          </a:prstGeom>
        </p:spPr>
      </p:pic>
      <p:sp>
        <p:nvSpPr>
          <p:cNvPr id="9" name="Oval 8">
            <a:extLst>
              <a:ext uri="{FF2B5EF4-FFF2-40B4-BE49-F238E27FC236}">
                <a16:creationId xmlns:a16="http://schemas.microsoft.com/office/drawing/2014/main" id="{1423BB42-875A-8999-163E-244212466E95}"/>
              </a:ext>
            </a:extLst>
          </p:cNvPr>
          <p:cNvSpPr/>
          <p:nvPr/>
        </p:nvSpPr>
        <p:spPr>
          <a:xfrm>
            <a:off x="13781917" y="5553214"/>
            <a:ext cx="435546" cy="405236"/>
          </a:xfrm>
          <a:prstGeom prst="ellipse">
            <a:avLst/>
          </a:prstGeom>
          <a:solidFill>
            <a:srgbClr val="003373"/>
          </a:solidFill>
          <a:ln w="9525">
            <a:solidFill>
              <a:srgbClr val="0033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D4FA37A8-7DD9-6EA0-BC1D-732E0E1798B9}"/>
              </a:ext>
            </a:extLst>
          </p:cNvPr>
          <p:cNvPicPr>
            <a:picLocks noChangeAspect="1"/>
          </p:cNvPicPr>
          <p:nvPr/>
        </p:nvPicPr>
        <p:blipFill>
          <a:blip r:embed="rId3"/>
          <a:stretch>
            <a:fillRect/>
          </a:stretch>
        </p:blipFill>
        <p:spPr>
          <a:xfrm>
            <a:off x="13946581" y="5227844"/>
            <a:ext cx="123825" cy="323850"/>
          </a:xfrm>
          <a:prstGeom prst="rect">
            <a:avLst/>
          </a:prstGeom>
        </p:spPr>
      </p:pic>
    </p:spTree>
    <p:extLst>
      <p:ext uri="{BB962C8B-B14F-4D97-AF65-F5344CB8AC3E}">
        <p14:creationId xmlns:p14="http://schemas.microsoft.com/office/powerpoint/2010/main" val="18470283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D1184-F8F2-4A3A-881B-A8A9AB6451E9}"/>
            </a:ext>
          </a:extLst>
        </p:cNvPr>
        <p:cNvGrpSpPr/>
        <p:nvPr/>
      </p:nvGrpSpPr>
      <p:grpSpPr>
        <a:xfrm>
          <a:off x="0" y="0"/>
          <a:ext cx="0" cy="0"/>
          <a:chOff x="0" y="0"/>
          <a:chExt cx="0" cy="0"/>
        </a:xfrm>
      </p:grpSpPr>
      <p:pic>
        <p:nvPicPr>
          <p:cNvPr id="53" name="Picture 52">
            <a:extLst>
              <a:ext uri="{FF2B5EF4-FFF2-40B4-BE49-F238E27FC236}">
                <a16:creationId xmlns:a16="http://schemas.microsoft.com/office/drawing/2014/main" id="{9016C072-7A46-1435-F178-2B9B33C07E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19415" y="60344"/>
            <a:ext cx="2308638" cy="1251719"/>
          </a:xfrm>
          <a:prstGeom prst="rect">
            <a:avLst/>
          </a:prstGeom>
        </p:spPr>
      </p:pic>
      <p:sp>
        <p:nvSpPr>
          <p:cNvPr id="3" name="Rectangle 2">
            <a:extLst>
              <a:ext uri="{FF2B5EF4-FFF2-40B4-BE49-F238E27FC236}">
                <a16:creationId xmlns:a16="http://schemas.microsoft.com/office/drawing/2014/main" id="{06877B90-AEC0-A8A8-3864-C74BB24113DD}"/>
              </a:ext>
            </a:extLst>
          </p:cNvPr>
          <p:cNvSpPr/>
          <p:nvPr/>
        </p:nvSpPr>
        <p:spPr>
          <a:xfrm>
            <a:off x="831653" y="1660601"/>
            <a:ext cx="16583688" cy="452903"/>
          </a:xfrm>
          <a:prstGeom prst="rect">
            <a:avLst/>
          </a:prstGeom>
          <a:solidFill>
            <a:srgbClr val="00A69C"/>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Key Action Items</a:t>
            </a:r>
          </a:p>
        </p:txBody>
      </p:sp>
      <p:sp>
        <p:nvSpPr>
          <p:cNvPr id="6" name="Title 1">
            <a:extLst>
              <a:ext uri="{FF2B5EF4-FFF2-40B4-BE49-F238E27FC236}">
                <a16:creationId xmlns:a16="http://schemas.microsoft.com/office/drawing/2014/main" id="{FA8A218A-C09D-2E3B-3222-9680BE4C8EDE}"/>
              </a:ext>
            </a:extLst>
          </p:cNvPr>
          <p:cNvSpPr txBox="1">
            <a:spLocks/>
          </p:cNvSpPr>
          <p:nvPr/>
        </p:nvSpPr>
        <p:spPr>
          <a:xfrm>
            <a:off x="831653" y="1059248"/>
            <a:ext cx="13441680" cy="415499"/>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spcBef>
                <a:spcPct val="0"/>
              </a:spcBef>
              <a:defRPr/>
            </a:pPr>
            <a:r>
              <a:rPr lang="en-US">
                <a:solidFill>
                  <a:srgbClr val="000000"/>
                </a:solidFill>
              </a:rPr>
              <a:t>Gas Station - Public</a:t>
            </a:r>
            <a:endParaRPr lang="en-US"/>
          </a:p>
        </p:txBody>
      </p:sp>
      <p:graphicFrame>
        <p:nvGraphicFramePr>
          <p:cNvPr id="7" name="Table 6">
            <a:extLst>
              <a:ext uri="{FF2B5EF4-FFF2-40B4-BE49-F238E27FC236}">
                <a16:creationId xmlns:a16="http://schemas.microsoft.com/office/drawing/2014/main" id="{CEB7667C-E0D3-25C2-6A6A-D5268B61AD9A}"/>
              </a:ext>
            </a:extLst>
          </p:cNvPr>
          <p:cNvGraphicFramePr>
            <a:graphicFrameLocks noGrp="1"/>
          </p:cNvGraphicFramePr>
          <p:nvPr>
            <p:extLst>
              <p:ext uri="{D42A27DB-BD31-4B8C-83A1-F6EECF244321}">
                <p14:modId xmlns:p14="http://schemas.microsoft.com/office/powerpoint/2010/main" val="4184087343"/>
              </p:ext>
            </p:extLst>
          </p:nvPr>
        </p:nvGraphicFramePr>
        <p:xfrm>
          <a:off x="804790" y="2299358"/>
          <a:ext cx="16637414" cy="6362325"/>
        </p:xfrm>
        <a:graphic>
          <a:graphicData uri="http://schemas.openxmlformats.org/drawingml/2006/table">
            <a:tbl>
              <a:tblPr>
                <a:tableStyleId>{5C22544A-7EE6-4342-B048-85BDC9FD1C3A}</a:tableStyleId>
              </a:tblPr>
              <a:tblGrid>
                <a:gridCol w="781283">
                  <a:extLst>
                    <a:ext uri="{9D8B030D-6E8A-4147-A177-3AD203B41FA5}">
                      <a16:colId xmlns:a16="http://schemas.microsoft.com/office/drawing/2014/main" val="1957147653"/>
                    </a:ext>
                  </a:extLst>
                </a:gridCol>
                <a:gridCol w="5873682">
                  <a:extLst>
                    <a:ext uri="{9D8B030D-6E8A-4147-A177-3AD203B41FA5}">
                      <a16:colId xmlns:a16="http://schemas.microsoft.com/office/drawing/2014/main" val="2952343754"/>
                    </a:ext>
                  </a:extLst>
                </a:gridCol>
                <a:gridCol w="3327483">
                  <a:extLst>
                    <a:ext uri="{9D8B030D-6E8A-4147-A177-3AD203B41FA5}">
                      <a16:colId xmlns:a16="http://schemas.microsoft.com/office/drawing/2014/main" val="899017330"/>
                    </a:ext>
                  </a:extLst>
                </a:gridCol>
                <a:gridCol w="3327483">
                  <a:extLst>
                    <a:ext uri="{9D8B030D-6E8A-4147-A177-3AD203B41FA5}">
                      <a16:colId xmlns:a16="http://schemas.microsoft.com/office/drawing/2014/main" val="3463251137"/>
                    </a:ext>
                  </a:extLst>
                </a:gridCol>
                <a:gridCol w="3327483">
                  <a:extLst>
                    <a:ext uri="{9D8B030D-6E8A-4147-A177-3AD203B41FA5}">
                      <a16:colId xmlns:a16="http://schemas.microsoft.com/office/drawing/2014/main" val="1499313505"/>
                    </a:ext>
                  </a:extLst>
                </a:gridCol>
              </a:tblGrid>
              <a:tr h="653721">
                <a:tc>
                  <a:txBody>
                    <a:bodyPr/>
                    <a:lstStyle/>
                    <a:p>
                      <a:pPr algn="ctr" fontAlgn="ctr"/>
                      <a:r>
                        <a:rPr lang="en-US" sz="1700" b="1" i="0" u="none" strike="noStrike">
                          <a:solidFill>
                            <a:schemeClr val="bg1"/>
                          </a:solidFill>
                          <a:effectLst/>
                          <a:latin typeface="Aptos Narrow"/>
                        </a:rPr>
                        <a:t>#</a:t>
                      </a:r>
                    </a:p>
                  </a:txBody>
                  <a:tcPr marL="11430" marR="11430" marT="11430" marB="0" anchor="ctr">
                    <a:lnB w="12700" cap="flat" cmpd="sng" algn="ctr">
                      <a:noFill/>
                      <a:prstDash val="solid"/>
                      <a:round/>
                      <a:headEnd type="none" w="med" len="med"/>
                      <a:tailEnd type="none" w="med" len="med"/>
                    </a:lnB>
                    <a:solidFill>
                      <a:srgbClr val="00A69C"/>
                    </a:solidFill>
                  </a:tcPr>
                </a:tc>
                <a:tc>
                  <a:txBody>
                    <a:bodyPr/>
                    <a:lstStyle/>
                    <a:p>
                      <a:pPr algn="ctr" fontAlgn="ctr"/>
                      <a:r>
                        <a:rPr lang="en-US" sz="1700" b="1" i="0" u="none" strike="noStrike">
                          <a:solidFill>
                            <a:schemeClr val="bg1"/>
                          </a:solidFill>
                          <a:effectLst/>
                          <a:latin typeface="Aptos Narrow"/>
                        </a:rPr>
                        <a:t>Action Item</a:t>
                      </a:r>
                    </a:p>
                  </a:txBody>
                  <a:tcPr marL="11430" marR="11430" marT="11430" marB="0" anchor="ctr">
                    <a:lnB w="12700" cap="flat" cmpd="sng" algn="ctr">
                      <a:noFill/>
                      <a:prstDash val="solid"/>
                      <a:round/>
                      <a:headEnd type="none" w="med" len="med"/>
                      <a:tailEnd type="none" w="med" len="med"/>
                    </a:lnB>
                    <a:solidFill>
                      <a:srgbClr val="00A69C"/>
                    </a:solidFill>
                  </a:tcPr>
                </a:tc>
                <a:tc>
                  <a:txBody>
                    <a:bodyPr/>
                    <a:lstStyle/>
                    <a:p>
                      <a:pPr algn="ctr" fontAlgn="ctr"/>
                      <a:r>
                        <a:rPr lang="en-US" sz="1700" b="1" i="0" u="none" strike="noStrike">
                          <a:solidFill>
                            <a:schemeClr val="bg1"/>
                          </a:solidFill>
                          <a:effectLst/>
                          <a:latin typeface="Aptos Narrow"/>
                        </a:rPr>
                        <a:t>Status</a:t>
                      </a:r>
                    </a:p>
                  </a:txBody>
                  <a:tcPr marL="11430" marR="11430" marT="11430" marB="0" anchor="ctr">
                    <a:lnB w="12700" cap="flat" cmpd="sng" algn="ctr">
                      <a:noFill/>
                      <a:prstDash val="solid"/>
                      <a:round/>
                      <a:headEnd type="none" w="med" len="med"/>
                      <a:tailEnd type="none" w="med" len="med"/>
                    </a:lnB>
                    <a:solidFill>
                      <a:srgbClr val="00A69C"/>
                    </a:solidFill>
                  </a:tcPr>
                </a:tc>
                <a:tc>
                  <a:txBody>
                    <a:bodyPr/>
                    <a:lstStyle/>
                    <a:p>
                      <a:pPr algn="ctr" fontAlgn="ctr"/>
                      <a:r>
                        <a:rPr lang="en-US" sz="1700" b="1" i="0" u="none" strike="noStrike">
                          <a:solidFill>
                            <a:schemeClr val="bg1"/>
                          </a:solidFill>
                          <a:effectLst/>
                          <a:latin typeface="Aptos Narrow"/>
                        </a:rPr>
                        <a:t>Due Date</a:t>
                      </a:r>
                    </a:p>
                  </a:txBody>
                  <a:tcPr marL="11430" marR="11430" marT="11430" marB="0" anchor="ctr">
                    <a:lnB w="12700" cap="flat" cmpd="sng" algn="ctr">
                      <a:noFill/>
                      <a:prstDash val="solid"/>
                      <a:round/>
                      <a:headEnd type="none" w="med" len="med"/>
                      <a:tailEnd type="none" w="med" len="med"/>
                    </a:lnB>
                    <a:solidFill>
                      <a:srgbClr val="00A69C"/>
                    </a:solidFill>
                  </a:tcPr>
                </a:tc>
                <a:tc>
                  <a:txBody>
                    <a:bodyPr/>
                    <a:lstStyle/>
                    <a:p>
                      <a:pPr algn="ctr" fontAlgn="ctr"/>
                      <a:r>
                        <a:rPr lang="en-US" sz="1700" b="1" i="0" u="none" strike="noStrike">
                          <a:solidFill>
                            <a:schemeClr val="bg1"/>
                          </a:solidFill>
                          <a:effectLst/>
                          <a:latin typeface="Aptos Narrow"/>
                        </a:rPr>
                        <a:t>Owner</a:t>
                      </a:r>
                    </a:p>
                  </a:txBody>
                  <a:tcPr marL="11430" marR="11430" marT="11430" marB="0" anchor="ctr">
                    <a:lnB w="12700" cap="flat" cmpd="sng" algn="ctr">
                      <a:noFill/>
                      <a:prstDash val="solid"/>
                      <a:round/>
                      <a:headEnd type="none" w="med" len="med"/>
                      <a:tailEnd type="none" w="med" len="med"/>
                    </a:lnB>
                    <a:solidFill>
                      <a:srgbClr val="00A69C"/>
                    </a:solidFill>
                  </a:tcPr>
                </a:tc>
                <a:extLst>
                  <a:ext uri="{0D108BD9-81ED-4DB2-BD59-A6C34878D82A}">
                    <a16:rowId xmlns:a16="http://schemas.microsoft.com/office/drawing/2014/main" val="3393840757"/>
                  </a:ext>
                </a:extLst>
              </a:tr>
              <a:tr h="653721">
                <a:tc>
                  <a:txBody>
                    <a:bodyPr/>
                    <a:lstStyle/>
                    <a:p>
                      <a:pPr algn="ctr" fontAlgn="ctr"/>
                      <a:r>
                        <a:rPr lang="en-US" sz="1700" b="0" i="0" u="none" strike="noStrike">
                          <a:solidFill>
                            <a:srgbClr val="000000"/>
                          </a:solidFill>
                          <a:effectLst/>
                          <a:latin typeface="Aptos Narrow"/>
                        </a:rPr>
                        <a:t>1</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700" b="0" i="0" u="none" strike="noStrike">
                          <a:solidFill>
                            <a:srgbClr val="000000"/>
                          </a:solidFill>
                          <a:effectLst/>
                          <a:latin typeface="Arial"/>
                          <a:cs typeface="Arial"/>
                        </a:rPr>
                        <a:t>Project Kick-off</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Completed</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en-US" sz="1700" b="0" i="0" u="none" strike="noStrike" baseline="0" noProof="0">
                          <a:solidFill>
                            <a:srgbClr val="000000"/>
                          </a:solidFill>
                          <a:effectLst/>
                          <a:latin typeface="Arial"/>
                        </a:rPr>
                        <a:t>19.1.2026</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700" b="0" i="0" u="none" strike="noStrike">
                          <a:solidFill>
                            <a:srgbClr val="000000"/>
                          </a:solidFill>
                          <a:effectLst/>
                          <a:latin typeface="Arial"/>
                          <a:cs typeface="Arial"/>
                        </a:rPr>
                        <a:t>Payments, PMO, XPI</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3816635"/>
                  </a:ext>
                </a:extLst>
              </a:tr>
              <a:tr h="1268730">
                <a:tc>
                  <a:txBody>
                    <a:bodyPr/>
                    <a:lstStyle/>
                    <a:p>
                      <a:pPr algn="ctr" fontAlgn="ctr"/>
                      <a:r>
                        <a:rPr lang="en-US" sz="1700" b="0" i="0" u="none" strike="noStrike">
                          <a:solidFill>
                            <a:srgbClr val="000000"/>
                          </a:solidFill>
                          <a:effectLst/>
                          <a:latin typeface="Aptos Narrow"/>
                        </a:rPr>
                        <a:t>2</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buNone/>
                      </a:pPr>
                      <a:r>
                        <a:rPr lang="en-US" sz="1700" b="0" i="0" u="none" strike="noStrike" baseline="0" noProof="0">
                          <a:solidFill>
                            <a:srgbClr val="000000"/>
                          </a:solidFill>
                          <a:effectLst/>
                          <a:latin typeface="Arial"/>
                        </a:rPr>
                        <a:t>Setting up the Requirements for the configuration files</a:t>
                      </a:r>
                      <a:endParaRPr lang="en-US"/>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Completed</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a:lnSpc>
                          <a:spcPct val="100000"/>
                        </a:lnSpc>
                        <a:spcBef>
                          <a:spcPts val="0"/>
                        </a:spcBef>
                        <a:spcAft>
                          <a:spcPts val="0"/>
                        </a:spcAft>
                        <a:buNone/>
                        <a:tabLst/>
                        <a:defRPr/>
                      </a:pPr>
                      <a:r>
                        <a:rPr lang="en-US" sz="1700" b="0" i="0" u="none" strike="noStrike" baseline="0" noProof="0">
                          <a:solidFill>
                            <a:srgbClr val="000000"/>
                          </a:solidFill>
                          <a:effectLst/>
                          <a:latin typeface="Arial"/>
                        </a:rPr>
                        <a:t>20.1.2026</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Payments, PMO, XPI</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4845869"/>
                  </a:ext>
                </a:extLst>
              </a:tr>
              <a:tr h="653721">
                <a:tc>
                  <a:txBody>
                    <a:bodyPr/>
                    <a:lstStyle/>
                    <a:p>
                      <a:pPr algn="ctr" fontAlgn="ctr"/>
                      <a:r>
                        <a:rPr lang="en-US" sz="1700" b="0" i="0" u="none" strike="noStrike">
                          <a:solidFill>
                            <a:srgbClr val="000000"/>
                          </a:solidFill>
                          <a:effectLst/>
                          <a:latin typeface="Aptos Narrow"/>
                        </a:rPr>
                        <a:t>3</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buNone/>
                      </a:pPr>
                      <a:r>
                        <a:rPr lang="en-US" sz="1700" b="0" i="0" u="none" strike="noStrike" baseline="0" noProof="0">
                          <a:solidFill>
                            <a:srgbClr val="000000"/>
                          </a:solidFill>
                          <a:effectLst/>
                          <a:latin typeface="Arial"/>
                        </a:rPr>
                        <a:t>Configuration files </a:t>
                      </a:r>
                      <a:endParaRPr lang="en-US"/>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700" b="0" i="0" u="none" strike="noStrike">
                          <a:solidFill>
                            <a:srgbClr val="000000"/>
                          </a:solidFill>
                          <a:effectLst/>
                          <a:latin typeface="Arial"/>
                          <a:cs typeface="Arial"/>
                        </a:rPr>
                        <a:t>Completed</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baseline="0">
                          <a:solidFill>
                            <a:srgbClr val="000000"/>
                          </a:solidFill>
                          <a:effectLst/>
                          <a:latin typeface="Arial"/>
                          <a:cs typeface="Arial"/>
                        </a:rPr>
                        <a:t>25.1.2026</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XPI</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2546927"/>
                  </a:ext>
                </a:extLst>
              </a:tr>
              <a:tr h="653721">
                <a:tc>
                  <a:txBody>
                    <a:bodyPr/>
                    <a:lstStyle/>
                    <a:p>
                      <a:pPr algn="ctr" fontAlgn="ctr"/>
                      <a:r>
                        <a:rPr lang="en-US" sz="1700" b="0" i="0" u="none" strike="noStrike">
                          <a:solidFill>
                            <a:srgbClr val="000000"/>
                          </a:solidFill>
                          <a:effectLst/>
                          <a:latin typeface="Aptos Narrow"/>
                        </a:rPr>
                        <a:t>4</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buNone/>
                      </a:pPr>
                      <a:r>
                        <a:rPr lang="en-US" sz="1700" b="0" i="0" u="none" strike="noStrike" baseline="0" noProof="0">
                          <a:solidFill>
                            <a:srgbClr val="000000"/>
                          </a:solidFill>
                          <a:effectLst/>
                          <a:latin typeface="Arial"/>
                        </a:rPr>
                        <a:t>Development &amp; Configuration testing</a:t>
                      </a:r>
                      <a:endParaRPr lang="en-US" sz="1700" b="0" i="0" u="none" strike="noStrike">
                        <a:solidFill>
                          <a:srgbClr val="000000"/>
                        </a:solidFill>
                        <a:effectLst/>
                        <a:latin typeface="Arial"/>
                        <a:cs typeface="Arial"/>
                      </a:endParaRP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a:lnSpc>
                          <a:spcPct val="100000"/>
                        </a:lnSpc>
                        <a:spcBef>
                          <a:spcPts val="0"/>
                        </a:spcBef>
                        <a:spcAft>
                          <a:spcPts val="0"/>
                        </a:spcAft>
                        <a:buNone/>
                      </a:pPr>
                      <a:r>
                        <a:rPr lang="en-US" sz="1700" b="0" i="0" u="none" strike="noStrike">
                          <a:solidFill>
                            <a:srgbClr val="000000"/>
                          </a:solidFill>
                          <a:effectLst/>
                          <a:latin typeface="Arial"/>
                          <a:cs typeface="Arial"/>
                        </a:rPr>
                        <a:t>Completed</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700" b="0" i="0" u="none" strike="noStrike" baseline="0">
                          <a:solidFill>
                            <a:srgbClr val="000000"/>
                          </a:solidFill>
                          <a:effectLst/>
                          <a:latin typeface="Arial"/>
                          <a:cs typeface="Arial"/>
                        </a:rPr>
                        <a:t>10.2.2026</a:t>
                      </a:r>
                      <a:endParaRPr lang="en-US" sz="1700" b="0" i="0" u="none" strike="noStrike" baseline="0">
                        <a:solidFill>
                          <a:srgbClr val="000000"/>
                        </a:solidFill>
                        <a:effectLst/>
                        <a:latin typeface="Arial" panose="020B0604020202020204" pitchFamily="34" charset="0"/>
                        <a:cs typeface="Arial" panose="020B0604020202020204" pitchFamily="34" charset="0"/>
                      </a:endParaRP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Payments, Cards</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1928028"/>
                  </a:ext>
                </a:extLst>
              </a:tr>
              <a:tr h="653721">
                <a:tc>
                  <a:txBody>
                    <a:bodyPr/>
                    <a:lstStyle/>
                    <a:p>
                      <a:pPr lvl="0" algn="ctr">
                        <a:buNone/>
                      </a:pPr>
                      <a:r>
                        <a:rPr lang="en-US" sz="1700" b="0" i="0" u="none" strike="noStrike">
                          <a:solidFill>
                            <a:srgbClr val="000000"/>
                          </a:solidFill>
                          <a:effectLst/>
                          <a:latin typeface="Aptos Narrow"/>
                        </a:rPr>
                        <a:t>5</a:t>
                      </a:r>
                    </a:p>
                  </a:txBody>
                  <a:tcPr marL="11430" marR="11430" marT="11430" marB="0" anchor="ctr">
                    <a:lnL w="0">
                      <a:noFill/>
                    </a:lnL>
                    <a:lnR w="0">
                      <a:noFill/>
                    </a:lnR>
                    <a:lnT w="12700">
                      <a:solidFill>
                        <a:schemeClr val="tx1"/>
                      </a:solidFill>
                    </a:lnT>
                    <a:lnB w="12700">
                      <a:solidFill>
                        <a:schemeClr val="tx1"/>
                      </a:solidFill>
                    </a:lnB>
                    <a:lnTlToBr w="0">
                      <a:noFill/>
                    </a:lnTlToBr>
                    <a:lnBlToTr w="0">
                      <a:noFill/>
                    </a:lnBlToTr>
                    <a:noFill/>
                  </a:tcPr>
                </a:tc>
                <a:tc>
                  <a:txBody>
                    <a:bodyPr/>
                    <a:lstStyle/>
                    <a:p>
                      <a:pPr lvl="0" algn="l">
                        <a:buNone/>
                      </a:pPr>
                      <a:r>
                        <a:rPr lang="en-US" sz="1700" b="0" i="0" u="none" strike="noStrike" baseline="0" noProof="0">
                          <a:solidFill>
                            <a:srgbClr val="000000"/>
                          </a:solidFill>
                          <a:effectLst/>
                          <a:latin typeface="Arial"/>
                        </a:rPr>
                        <a:t>Certification</a:t>
                      </a:r>
                      <a:endParaRPr lang="en-US"/>
                    </a:p>
                  </a:txBody>
                  <a:tcPr marL="11430" marR="11430" marT="11430" marB="0" anchor="ctr">
                    <a:lnL w="0">
                      <a:noFill/>
                    </a:lnL>
                    <a:lnR w="0">
                      <a:noFill/>
                    </a:lnR>
                    <a:lnT w="12700">
                      <a:solidFill>
                        <a:schemeClr val="tx1"/>
                      </a:solidFill>
                    </a:lnT>
                    <a:lnB w="12700">
                      <a:solidFill>
                        <a:schemeClr val="tx1"/>
                      </a:solidFill>
                    </a:lnB>
                    <a:lnTlToBr w="0">
                      <a:noFill/>
                    </a:lnTlToBr>
                    <a:lnBlToTr w="0">
                      <a:noFill/>
                    </a:lnBlToTr>
                    <a:noFill/>
                  </a:tcPr>
                </a:tc>
                <a:tc>
                  <a:txBody>
                    <a:bodyPr/>
                    <a:lstStyle/>
                    <a:p>
                      <a:pPr lvl="0" algn="ctr">
                        <a:buNone/>
                      </a:pPr>
                      <a:r>
                        <a:rPr lang="en-US" sz="1700" b="0" i="0" u="none" strike="noStrike">
                          <a:solidFill>
                            <a:srgbClr val="000000"/>
                          </a:solidFill>
                          <a:effectLst/>
                          <a:latin typeface="Arial"/>
                          <a:cs typeface="Arial"/>
                        </a:rPr>
                        <a:t>Completed</a:t>
                      </a:r>
                    </a:p>
                  </a:txBody>
                  <a:tcPr marL="11430" marR="11430" marT="11430" marB="0" anchor="ctr">
                    <a:lnL w="0">
                      <a:noFill/>
                    </a:lnL>
                    <a:lnR w="0">
                      <a:noFill/>
                    </a:lnR>
                    <a:lnT w="12700">
                      <a:solidFill>
                        <a:schemeClr val="tx1"/>
                      </a:solidFill>
                    </a:lnT>
                    <a:lnB w="12700">
                      <a:solidFill>
                        <a:schemeClr val="tx1"/>
                      </a:solidFill>
                    </a:lnB>
                    <a:lnTlToBr w="0">
                      <a:noFill/>
                    </a:lnTlToBr>
                    <a:lnBlToTr w="0">
                      <a:noFill/>
                    </a:lnBlToTr>
                    <a:noFill/>
                  </a:tcPr>
                </a:tc>
                <a:tc>
                  <a:txBody>
                    <a:bodyPr/>
                    <a:lstStyle/>
                    <a:p>
                      <a:pPr marL="0" lvl="0" indent="0" algn="ctr" defTabSz="914400">
                        <a:lnSpc>
                          <a:spcPct val="100000"/>
                        </a:lnSpc>
                        <a:spcBef>
                          <a:spcPts val="0"/>
                        </a:spcBef>
                        <a:spcAft>
                          <a:spcPts val="0"/>
                        </a:spcAft>
                        <a:buNone/>
                        <a:tabLst/>
                        <a:defRPr/>
                      </a:pPr>
                      <a:r>
                        <a:rPr lang="en-US" sz="1700" b="0" i="0" u="none" strike="sngStrike" baseline="0">
                          <a:solidFill>
                            <a:srgbClr val="000000"/>
                          </a:solidFill>
                          <a:effectLst/>
                          <a:latin typeface="Arial"/>
                          <a:cs typeface="Arial"/>
                        </a:rPr>
                        <a:t>18.2.2026</a:t>
                      </a:r>
                    </a:p>
                    <a:p>
                      <a:pPr marL="0" lvl="0" indent="0" algn="ctr">
                        <a:lnSpc>
                          <a:spcPct val="100000"/>
                        </a:lnSpc>
                        <a:spcBef>
                          <a:spcPts val="0"/>
                        </a:spcBef>
                        <a:spcAft>
                          <a:spcPts val="0"/>
                        </a:spcAft>
                        <a:buNone/>
                      </a:pPr>
                      <a:r>
                        <a:rPr lang="en-US" sz="1700" b="0" i="0" u="none" strike="noStrike" baseline="0">
                          <a:solidFill>
                            <a:srgbClr val="000000"/>
                          </a:solidFill>
                          <a:effectLst/>
                          <a:latin typeface="Arial"/>
                          <a:cs typeface="Arial"/>
                        </a:rPr>
                        <a:t>26.2.2026</a:t>
                      </a:r>
                    </a:p>
                  </a:txBody>
                  <a:tcPr marL="11430" marR="11430" marT="11430" marB="0" anchor="ctr">
                    <a:lnL w="0">
                      <a:noFill/>
                    </a:lnL>
                    <a:lnR w="0">
                      <a:noFill/>
                    </a:lnR>
                    <a:lnT w="12700">
                      <a:solidFill>
                        <a:schemeClr val="tx1"/>
                      </a:solidFill>
                    </a:lnT>
                    <a:lnB w="12700">
                      <a:solidFill>
                        <a:schemeClr val="tx1"/>
                      </a:solidFill>
                    </a:lnB>
                    <a:lnTlToBr w="0">
                      <a:noFill/>
                    </a:lnTlToBr>
                    <a:lnBlToTr w="0">
                      <a:noFill/>
                    </a:lnBlToTr>
                    <a:noFill/>
                  </a:tcPr>
                </a:tc>
                <a:tc>
                  <a:txBody>
                    <a:bodyPr/>
                    <a:lstStyle/>
                    <a:p>
                      <a:pPr lvl="0" algn="ctr">
                        <a:buNone/>
                      </a:pPr>
                      <a:r>
                        <a:rPr lang="en-US" sz="1700" b="0" i="0" u="none" strike="noStrike">
                          <a:solidFill>
                            <a:srgbClr val="000000"/>
                          </a:solidFill>
                          <a:effectLst/>
                          <a:latin typeface="Arial"/>
                          <a:cs typeface="Arial"/>
                        </a:rPr>
                        <a:t>PMO</a:t>
                      </a:r>
                    </a:p>
                  </a:txBody>
                  <a:tcPr marL="11430" marR="11430" marT="11430" marB="0" anchor="ctr">
                    <a:lnL w="0">
                      <a:noFill/>
                    </a:lnL>
                    <a:lnR w="0">
                      <a:noFill/>
                    </a:lnR>
                    <a:lnT w="12700">
                      <a:solidFill>
                        <a:schemeClr val="tx1"/>
                      </a:solidFill>
                    </a:lnT>
                    <a:lnB w="12700">
                      <a:solidFill>
                        <a:schemeClr val="tx1"/>
                      </a:solidFill>
                    </a:lnB>
                    <a:lnTlToBr w="0">
                      <a:noFill/>
                    </a:lnTlToBr>
                    <a:lnBlToTr w="0">
                      <a:noFill/>
                    </a:lnBlToTr>
                    <a:noFill/>
                  </a:tcPr>
                </a:tc>
                <a:extLst>
                  <a:ext uri="{0D108BD9-81ED-4DB2-BD59-A6C34878D82A}">
                    <a16:rowId xmlns:a16="http://schemas.microsoft.com/office/drawing/2014/main" val="2196245703"/>
                  </a:ext>
                </a:extLst>
              </a:tr>
              <a:tr h="653721">
                <a:tc>
                  <a:txBody>
                    <a:bodyPr/>
                    <a:lstStyle/>
                    <a:p>
                      <a:pPr algn="ctr" fontAlgn="ctr"/>
                      <a:r>
                        <a:rPr lang="en-US" sz="1700" b="0" i="0" u="none" strike="noStrike">
                          <a:solidFill>
                            <a:srgbClr val="000000"/>
                          </a:solidFill>
                          <a:effectLst/>
                          <a:latin typeface="Aptos Narrow"/>
                        </a:rPr>
                        <a:t>6</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buNone/>
                      </a:pPr>
                      <a:r>
                        <a:rPr lang="en-US" sz="1700" b="0" i="0" u="none" strike="noStrike" baseline="0" noProof="0">
                          <a:solidFill>
                            <a:srgbClr val="000000"/>
                          </a:solidFill>
                          <a:effectLst/>
                          <a:latin typeface="Arial"/>
                        </a:rPr>
                        <a:t>Go-Live &amp; Stabilization</a:t>
                      </a:r>
                      <a:endParaRPr lang="en-US" sz="1700" b="0" i="0" u="none" strike="noStrike">
                        <a:solidFill>
                          <a:srgbClr val="000000"/>
                        </a:solidFill>
                        <a:effectLst/>
                        <a:latin typeface="Arial"/>
                        <a:cs typeface="Arial"/>
                      </a:endParaRP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a:lnSpc>
                          <a:spcPct val="100000"/>
                        </a:lnSpc>
                        <a:spcBef>
                          <a:spcPts val="0"/>
                        </a:spcBef>
                        <a:spcAft>
                          <a:spcPts val="0"/>
                        </a:spcAft>
                        <a:buNone/>
                      </a:pPr>
                      <a:r>
                        <a:rPr lang="en-US" sz="1700" b="0" i="0" u="none" strike="noStrike">
                          <a:solidFill>
                            <a:srgbClr val="000000"/>
                          </a:solidFill>
                          <a:effectLst/>
                          <a:latin typeface="Arial"/>
                          <a:cs typeface="Arial"/>
                        </a:rPr>
                        <a:t>Completed</a:t>
                      </a:r>
                    </a:p>
                    <a:p>
                      <a:pPr algn="ctr" fontAlgn="ctr"/>
                      <a:endParaRPr lang="en-US" sz="1700" b="0" i="0" u="none" strike="noStrike">
                        <a:solidFill>
                          <a:srgbClr val="000000"/>
                        </a:solidFill>
                        <a:effectLst/>
                        <a:latin typeface="Arial" panose="020B0604020202020204" pitchFamily="34" charset="0"/>
                        <a:cs typeface="Arial" panose="020B0604020202020204" pitchFamily="34" charset="0"/>
                      </a:endParaRP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700" b="0" i="0" u="none" strike="sngStrike" baseline="0">
                          <a:solidFill>
                            <a:srgbClr val="000000"/>
                          </a:solidFill>
                          <a:effectLst/>
                          <a:latin typeface="Arial"/>
                          <a:cs typeface="Arial"/>
                        </a:rPr>
                        <a:t>1.3.2026</a:t>
                      </a:r>
                    </a:p>
                    <a:p>
                      <a:pPr marL="0" marR="0" lvl="0" indent="0" algn="ctr">
                        <a:lnSpc>
                          <a:spcPct val="100000"/>
                        </a:lnSpc>
                        <a:spcBef>
                          <a:spcPts val="0"/>
                        </a:spcBef>
                        <a:spcAft>
                          <a:spcPts val="0"/>
                        </a:spcAft>
                        <a:buClrTx/>
                        <a:buSzTx/>
                        <a:buFontTx/>
                        <a:buNone/>
                      </a:pPr>
                      <a:r>
                        <a:rPr lang="en-US" sz="1700" b="0" i="0" u="none" strike="sngStrike" baseline="0">
                          <a:solidFill>
                            <a:srgbClr val="000000"/>
                          </a:solidFill>
                          <a:effectLst/>
                          <a:latin typeface="Arial"/>
                          <a:cs typeface="Arial"/>
                        </a:rPr>
                        <a:t>10.3.2026</a:t>
                      </a:r>
                    </a:p>
                    <a:p>
                      <a:pPr marL="0" marR="0" lvl="0" indent="0" algn="ctr">
                        <a:lnSpc>
                          <a:spcPct val="100000"/>
                        </a:lnSpc>
                        <a:spcBef>
                          <a:spcPts val="0"/>
                        </a:spcBef>
                        <a:spcAft>
                          <a:spcPts val="0"/>
                        </a:spcAft>
                        <a:buClrTx/>
                        <a:buSzTx/>
                        <a:buFontTx/>
                        <a:buNone/>
                      </a:pPr>
                      <a:r>
                        <a:rPr lang="en-US" sz="1700" b="0" i="0" u="none" strike="sngStrike" baseline="0">
                          <a:solidFill>
                            <a:srgbClr val="000000"/>
                          </a:solidFill>
                          <a:effectLst/>
                          <a:latin typeface="Arial"/>
                          <a:cs typeface="Arial"/>
                        </a:rPr>
                        <a:t>20.3.2026</a:t>
                      </a:r>
                    </a:p>
                    <a:p>
                      <a:pPr marL="0" marR="0" lvl="0" indent="0" algn="ctr">
                        <a:lnSpc>
                          <a:spcPct val="100000"/>
                        </a:lnSpc>
                        <a:spcBef>
                          <a:spcPts val="0"/>
                        </a:spcBef>
                        <a:spcAft>
                          <a:spcPts val="0"/>
                        </a:spcAft>
                        <a:buClrTx/>
                        <a:buSzTx/>
                        <a:buFontTx/>
                        <a:buNone/>
                      </a:pPr>
                      <a:r>
                        <a:rPr lang="en-US" sz="1700" b="0" i="0" u="none" strike="sngStrike" baseline="0">
                          <a:solidFill>
                            <a:srgbClr val="000000"/>
                          </a:solidFill>
                          <a:effectLst/>
                          <a:latin typeface="Arial"/>
                          <a:cs typeface="Arial"/>
                        </a:rPr>
                        <a:t>31.3.2026</a:t>
                      </a:r>
                    </a:p>
                    <a:p>
                      <a:pPr marL="0" marR="0" lvl="0" indent="0" algn="ctr">
                        <a:lnSpc>
                          <a:spcPct val="100000"/>
                        </a:lnSpc>
                        <a:spcBef>
                          <a:spcPts val="0"/>
                        </a:spcBef>
                        <a:spcAft>
                          <a:spcPts val="0"/>
                        </a:spcAft>
                        <a:buClrTx/>
                        <a:buSzTx/>
                        <a:buFontTx/>
                        <a:buNone/>
                      </a:pPr>
                      <a:r>
                        <a:rPr lang="en-US" sz="1700" b="0" i="0" u="none" strike="sngStrike" baseline="0">
                          <a:solidFill>
                            <a:srgbClr val="000000"/>
                          </a:solidFill>
                          <a:effectLst/>
                          <a:latin typeface="Arial"/>
                          <a:cs typeface="Arial"/>
                        </a:rPr>
                        <a:t>10.4.2026</a:t>
                      </a:r>
                    </a:p>
                    <a:p>
                      <a:pPr marL="0" marR="0" lvl="0" indent="0" algn="ctr">
                        <a:lnSpc>
                          <a:spcPct val="100000"/>
                        </a:lnSpc>
                        <a:spcBef>
                          <a:spcPts val="0"/>
                        </a:spcBef>
                        <a:spcAft>
                          <a:spcPts val="0"/>
                        </a:spcAft>
                        <a:buClrTx/>
                        <a:buSzTx/>
                        <a:buFontTx/>
                        <a:buNone/>
                      </a:pPr>
                      <a:r>
                        <a:rPr lang="en-US" sz="1700" b="0" i="0" u="none" strike="sngStrike" baseline="0">
                          <a:solidFill>
                            <a:srgbClr val="000000"/>
                          </a:solidFill>
                          <a:effectLst/>
                          <a:latin typeface="Arial"/>
                          <a:cs typeface="Arial"/>
                        </a:rPr>
                        <a:t>21.4.2026</a:t>
                      </a:r>
                    </a:p>
                    <a:p>
                      <a:pPr marL="0" marR="0" lvl="0" indent="0" algn="ctr">
                        <a:lnSpc>
                          <a:spcPct val="100000"/>
                        </a:lnSpc>
                        <a:spcBef>
                          <a:spcPts val="0"/>
                        </a:spcBef>
                        <a:spcAft>
                          <a:spcPts val="0"/>
                        </a:spcAft>
                        <a:buClrTx/>
                        <a:buSzTx/>
                        <a:buFontTx/>
                        <a:buNone/>
                      </a:pPr>
                      <a:r>
                        <a:rPr lang="en-US" sz="1700" b="0" i="0" u="none" strike="noStrike" baseline="0">
                          <a:solidFill>
                            <a:srgbClr val="000000"/>
                          </a:solidFill>
                          <a:effectLst/>
                          <a:latin typeface="Arial"/>
                          <a:cs typeface="Arial"/>
                        </a:rPr>
                        <a:t>30.6.2026</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PMO, Payments, Cards</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6763877"/>
                  </a:ext>
                </a:extLst>
              </a:tr>
            </a:tbl>
          </a:graphicData>
        </a:graphic>
      </p:graphicFrame>
    </p:spTree>
    <p:extLst>
      <p:ext uri="{BB962C8B-B14F-4D97-AF65-F5344CB8AC3E}">
        <p14:creationId xmlns:p14="http://schemas.microsoft.com/office/powerpoint/2010/main" val="11365233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0A2F0-619C-F55A-4EC1-ECE331D4AF89}"/>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11AC4731-89A5-CE16-9283-6C488A0FF387}"/>
              </a:ext>
            </a:extLst>
          </p:cNvPr>
          <p:cNvSpPr txBox="1"/>
          <p:nvPr/>
        </p:nvSpPr>
        <p:spPr>
          <a:xfrm>
            <a:off x="1028700" y="857250"/>
            <a:ext cx="12063444" cy="1387393"/>
          </a:xfrm>
          <a:prstGeom prst="rect">
            <a:avLst/>
          </a:prstGeom>
        </p:spPr>
        <p:txBody>
          <a:bodyPr lIns="0" tIns="0" rIns="0" bIns="0" rtlCol="0" anchor="t">
            <a:spAutoFit/>
          </a:bodyPr>
          <a:lstStyle/>
          <a:p>
            <a:pPr>
              <a:lnSpc>
                <a:spcPts val="11200"/>
              </a:lnSpc>
              <a:spcBef>
                <a:spcPct val="0"/>
              </a:spcBef>
            </a:pPr>
            <a:r>
              <a:rPr lang="en-US" sz="8000" b="1">
                <a:solidFill>
                  <a:srgbClr val="03A39D"/>
                </a:solidFill>
                <a:latin typeface="Inter Bold"/>
                <a:ea typeface="Inter Bold"/>
                <a:sym typeface="Inter Bold"/>
              </a:rPr>
              <a:t>PEPs EY – Assessment </a:t>
            </a:r>
            <a:endParaRPr lang="en-US"/>
          </a:p>
        </p:txBody>
      </p:sp>
      <p:sp>
        <p:nvSpPr>
          <p:cNvPr id="3" name="Freeform 3">
            <a:extLst>
              <a:ext uri="{FF2B5EF4-FFF2-40B4-BE49-F238E27FC236}">
                <a16:creationId xmlns:a16="http://schemas.microsoft.com/office/drawing/2014/main" id="{11EB6428-444B-0147-F9D2-F0C456ACF4D0}"/>
              </a:ext>
            </a:extLst>
          </p:cNvPr>
          <p:cNvSpPr/>
          <p:nvPr/>
        </p:nvSpPr>
        <p:spPr>
          <a:xfrm>
            <a:off x="0" y="0"/>
            <a:ext cx="1028700" cy="1028700"/>
          </a:xfrm>
          <a:custGeom>
            <a:avLst/>
            <a:gdLst/>
            <a:ahLst/>
            <a:cxnLst/>
            <a:rect l="l" t="t" r="r" b="b"/>
            <a:pathLst>
              <a:path w="1028700" h="1028700">
                <a:moveTo>
                  <a:pt x="0" y="0"/>
                </a:moveTo>
                <a:lnTo>
                  <a:pt x="1028700" y="0"/>
                </a:lnTo>
                <a:lnTo>
                  <a:pt x="1028700" y="1028700"/>
                </a:lnTo>
                <a:lnTo>
                  <a:pt x="0" y="10287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10" name="Group 10">
            <a:extLst>
              <a:ext uri="{FF2B5EF4-FFF2-40B4-BE49-F238E27FC236}">
                <a16:creationId xmlns:a16="http://schemas.microsoft.com/office/drawing/2014/main" id="{A4C9FC8A-6345-0FFA-7274-7697D10174AA}"/>
              </a:ext>
            </a:extLst>
          </p:cNvPr>
          <p:cNvGrpSpPr/>
          <p:nvPr/>
        </p:nvGrpSpPr>
        <p:grpSpPr>
          <a:xfrm>
            <a:off x="514350" y="8877758"/>
            <a:ext cx="295243" cy="295243"/>
            <a:chOff x="0" y="0"/>
            <a:chExt cx="812800" cy="812800"/>
          </a:xfrm>
        </p:grpSpPr>
        <p:sp>
          <p:nvSpPr>
            <p:cNvPr id="11" name="Freeform 11">
              <a:extLst>
                <a:ext uri="{FF2B5EF4-FFF2-40B4-BE49-F238E27FC236}">
                  <a16:creationId xmlns:a16="http://schemas.microsoft.com/office/drawing/2014/main" id="{B23FBDF6-9A1A-048B-9863-FF99E5FED08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A09A"/>
            </a:solidFill>
          </p:spPr>
          <p:txBody>
            <a:bodyPr/>
            <a:lstStyle/>
            <a:p>
              <a:endParaRPr lang="en-US"/>
            </a:p>
          </p:txBody>
        </p:sp>
        <p:sp>
          <p:nvSpPr>
            <p:cNvPr id="12" name="TextBox 12">
              <a:extLst>
                <a:ext uri="{FF2B5EF4-FFF2-40B4-BE49-F238E27FC236}">
                  <a16:creationId xmlns:a16="http://schemas.microsoft.com/office/drawing/2014/main" id="{7D5A3417-B888-86EA-4166-30AB9004F617}"/>
                </a:ext>
              </a:extLst>
            </p:cNvPr>
            <p:cNvSpPr txBox="1"/>
            <p:nvPr/>
          </p:nvSpPr>
          <p:spPr>
            <a:xfrm>
              <a:off x="76200" y="-47625"/>
              <a:ext cx="660400" cy="784225"/>
            </a:xfrm>
            <a:prstGeom prst="rect">
              <a:avLst/>
            </a:prstGeom>
          </p:spPr>
          <p:txBody>
            <a:bodyPr lIns="50800" tIns="50800" rIns="50800" bIns="50800" rtlCol="0" anchor="ctr"/>
            <a:lstStyle/>
            <a:p>
              <a:pPr algn="ctr">
                <a:lnSpc>
                  <a:spcPts val="3910"/>
                </a:lnSpc>
              </a:pPr>
              <a:endParaRPr/>
            </a:p>
          </p:txBody>
        </p:sp>
      </p:grpSp>
      <p:grpSp>
        <p:nvGrpSpPr>
          <p:cNvPr id="14" name="Group 14">
            <a:extLst>
              <a:ext uri="{FF2B5EF4-FFF2-40B4-BE49-F238E27FC236}">
                <a16:creationId xmlns:a16="http://schemas.microsoft.com/office/drawing/2014/main" id="{794413A1-DC96-18FC-70B7-94D041A2DF56}"/>
              </a:ext>
            </a:extLst>
          </p:cNvPr>
          <p:cNvGrpSpPr/>
          <p:nvPr/>
        </p:nvGrpSpPr>
        <p:grpSpPr>
          <a:xfrm>
            <a:off x="9864276" y="7543183"/>
            <a:ext cx="7124195" cy="1419873"/>
            <a:chOff x="0" y="0"/>
            <a:chExt cx="9498926" cy="1893165"/>
          </a:xfrm>
        </p:grpSpPr>
        <p:sp>
          <p:nvSpPr>
            <p:cNvPr id="15" name="Freeform 15">
              <a:extLst>
                <a:ext uri="{FF2B5EF4-FFF2-40B4-BE49-F238E27FC236}">
                  <a16:creationId xmlns:a16="http://schemas.microsoft.com/office/drawing/2014/main" id="{280612E9-6F88-39D0-0EA4-25F981F27FBD}"/>
                </a:ext>
              </a:extLst>
            </p:cNvPr>
            <p:cNvSpPr/>
            <p:nvPr/>
          </p:nvSpPr>
          <p:spPr>
            <a:xfrm>
              <a:off x="0" y="19403"/>
              <a:ext cx="1738820" cy="1738820"/>
            </a:xfrm>
            <a:custGeom>
              <a:avLst/>
              <a:gdLst/>
              <a:ahLst/>
              <a:cxnLst/>
              <a:rect l="l" t="t" r="r" b="b"/>
              <a:pathLst>
                <a:path w="1738820" h="1738820">
                  <a:moveTo>
                    <a:pt x="0" y="0"/>
                  </a:moveTo>
                  <a:lnTo>
                    <a:pt x="1738820" y="0"/>
                  </a:lnTo>
                  <a:lnTo>
                    <a:pt x="1738820" y="1738821"/>
                  </a:lnTo>
                  <a:lnTo>
                    <a:pt x="0" y="17388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Freeform 16">
              <a:extLst>
                <a:ext uri="{FF2B5EF4-FFF2-40B4-BE49-F238E27FC236}">
                  <a16:creationId xmlns:a16="http://schemas.microsoft.com/office/drawing/2014/main" id="{F2825D51-C5FA-2DDE-F486-5D8D1363C03D}"/>
                </a:ext>
              </a:extLst>
            </p:cNvPr>
            <p:cNvSpPr/>
            <p:nvPr/>
          </p:nvSpPr>
          <p:spPr>
            <a:xfrm>
              <a:off x="2603399" y="0"/>
              <a:ext cx="1713314" cy="1893165"/>
            </a:xfrm>
            <a:custGeom>
              <a:avLst/>
              <a:gdLst/>
              <a:ahLst/>
              <a:cxnLst/>
              <a:rect l="l" t="t" r="r" b="b"/>
              <a:pathLst>
                <a:path w="1713314" h="1893165">
                  <a:moveTo>
                    <a:pt x="0" y="0"/>
                  </a:moveTo>
                  <a:lnTo>
                    <a:pt x="1713314" y="0"/>
                  </a:lnTo>
                  <a:lnTo>
                    <a:pt x="1713314" y="1893165"/>
                  </a:lnTo>
                  <a:lnTo>
                    <a:pt x="0" y="189316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7" name="Freeform 17">
              <a:extLst>
                <a:ext uri="{FF2B5EF4-FFF2-40B4-BE49-F238E27FC236}">
                  <a16:creationId xmlns:a16="http://schemas.microsoft.com/office/drawing/2014/main" id="{6F145F33-FB76-711E-1884-7DE24129343D}"/>
                </a:ext>
              </a:extLst>
            </p:cNvPr>
            <p:cNvSpPr/>
            <p:nvPr/>
          </p:nvSpPr>
          <p:spPr>
            <a:xfrm>
              <a:off x="5180313" y="20296"/>
              <a:ext cx="1737928" cy="1737928"/>
            </a:xfrm>
            <a:custGeom>
              <a:avLst/>
              <a:gdLst/>
              <a:ahLst/>
              <a:cxnLst/>
              <a:rect l="l" t="t" r="r" b="b"/>
              <a:pathLst>
                <a:path w="1737928" h="1737928">
                  <a:moveTo>
                    <a:pt x="0" y="0"/>
                  </a:moveTo>
                  <a:lnTo>
                    <a:pt x="1737928" y="0"/>
                  </a:lnTo>
                  <a:lnTo>
                    <a:pt x="1737928" y="1737928"/>
                  </a:lnTo>
                  <a:lnTo>
                    <a:pt x="0" y="173792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8" name="Freeform 18">
              <a:extLst>
                <a:ext uri="{FF2B5EF4-FFF2-40B4-BE49-F238E27FC236}">
                  <a16:creationId xmlns:a16="http://schemas.microsoft.com/office/drawing/2014/main" id="{5409903B-5FD2-7489-9DBA-C439DD59976E}"/>
                </a:ext>
              </a:extLst>
            </p:cNvPr>
            <p:cNvSpPr/>
            <p:nvPr/>
          </p:nvSpPr>
          <p:spPr>
            <a:xfrm>
              <a:off x="7781841" y="19403"/>
              <a:ext cx="1717085" cy="1738820"/>
            </a:xfrm>
            <a:custGeom>
              <a:avLst/>
              <a:gdLst/>
              <a:ahLst/>
              <a:cxnLst/>
              <a:rect l="l" t="t" r="r" b="b"/>
              <a:pathLst>
                <a:path w="1717085" h="1738820">
                  <a:moveTo>
                    <a:pt x="0" y="0"/>
                  </a:moveTo>
                  <a:lnTo>
                    <a:pt x="1717085" y="0"/>
                  </a:lnTo>
                  <a:lnTo>
                    <a:pt x="1717085" y="1738821"/>
                  </a:lnTo>
                  <a:lnTo>
                    <a:pt x="0" y="173882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sp>
        <p:nvSpPr>
          <p:cNvPr id="19" name="TextBox 19">
            <a:extLst>
              <a:ext uri="{FF2B5EF4-FFF2-40B4-BE49-F238E27FC236}">
                <a16:creationId xmlns:a16="http://schemas.microsoft.com/office/drawing/2014/main" id="{2A6F52CB-2EA0-1198-E041-643CD8B489C9}"/>
              </a:ext>
            </a:extLst>
          </p:cNvPr>
          <p:cNvSpPr txBox="1"/>
          <p:nvPr/>
        </p:nvSpPr>
        <p:spPr>
          <a:xfrm>
            <a:off x="1028700" y="2187559"/>
            <a:ext cx="5364956" cy="339324"/>
          </a:xfrm>
          <a:prstGeom prst="rect">
            <a:avLst/>
          </a:prstGeom>
        </p:spPr>
        <p:txBody>
          <a:bodyPr lIns="0" tIns="0" rIns="0" bIns="0" rtlCol="0" anchor="t">
            <a:spAutoFit/>
          </a:bodyPr>
          <a:lstStyle/>
          <a:p>
            <a:pPr algn="just">
              <a:lnSpc>
                <a:spcPts val="2799"/>
              </a:lnSpc>
              <a:spcBef>
                <a:spcPct val="0"/>
              </a:spcBef>
            </a:pPr>
            <a:r>
              <a:rPr lang="en-US" sz="1950">
                <a:solidFill>
                  <a:srgbClr val="000000"/>
                </a:solidFill>
                <a:latin typeface="Poppins"/>
                <a:ea typeface="Poppins"/>
                <a:cs typeface="Poppins"/>
                <a:sym typeface="Poppins"/>
              </a:rPr>
              <a:t>Project Manager : Ezzat </a:t>
            </a:r>
            <a:r>
              <a:rPr lang="en-US" sz="1950" err="1">
                <a:solidFill>
                  <a:srgbClr val="000000"/>
                </a:solidFill>
                <a:latin typeface="Poppins"/>
                <a:ea typeface="Poppins"/>
                <a:cs typeface="Poppins"/>
                <a:sym typeface="Poppins"/>
              </a:rPr>
              <a:t>Zalzala</a:t>
            </a:r>
            <a:endParaRPr lang="en-US" sz="1999" err="1">
              <a:solidFill>
                <a:srgbClr val="000000"/>
              </a:solidFill>
              <a:latin typeface="Poppins"/>
              <a:ea typeface="Poppins"/>
              <a:cs typeface="Poppins"/>
              <a:sym typeface="Poppins"/>
            </a:endParaRPr>
          </a:p>
        </p:txBody>
      </p:sp>
      <p:sp>
        <p:nvSpPr>
          <p:cNvPr id="5" name="Freeform 13" descr="A blue and black logo&#10;&#10;AI-generated content may be incorrect.">
            <a:extLst>
              <a:ext uri="{FF2B5EF4-FFF2-40B4-BE49-F238E27FC236}">
                <a16:creationId xmlns:a16="http://schemas.microsoft.com/office/drawing/2014/main" id="{E71BDA7D-0417-9BD1-5A2F-BA9844304F40}"/>
              </a:ext>
            </a:extLst>
          </p:cNvPr>
          <p:cNvSpPr/>
          <p:nvPr/>
        </p:nvSpPr>
        <p:spPr>
          <a:xfrm>
            <a:off x="16062518" y="309634"/>
            <a:ext cx="1851905" cy="870481"/>
          </a:xfrm>
          <a:custGeom>
            <a:avLst/>
            <a:gdLst/>
            <a:ahLst/>
            <a:cxnLst/>
            <a:rect l="l" t="t" r="r" b="b"/>
            <a:pathLst>
              <a:path w="1851905" h="870481">
                <a:moveTo>
                  <a:pt x="0" y="0"/>
                </a:moveTo>
                <a:lnTo>
                  <a:pt x="1851905" y="0"/>
                </a:lnTo>
                <a:lnTo>
                  <a:pt x="1851905" y="870481"/>
                </a:lnTo>
                <a:lnTo>
                  <a:pt x="0" y="870481"/>
                </a:lnTo>
                <a:lnTo>
                  <a:pt x="0" y="0"/>
                </a:lnTo>
                <a:close/>
              </a:path>
            </a:pathLst>
          </a:custGeom>
          <a:blipFill>
            <a:blip r:embed="rId7"/>
            <a:stretch>
              <a:fillRect/>
            </a:stretch>
          </a:blipFill>
        </p:spPr>
        <p:txBody>
          <a:bodyPr/>
          <a:lstStyle/>
          <a:p>
            <a:endParaRPr lang="en-US"/>
          </a:p>
        </p:txBody>
      </p:sp>
      <p:sp>
        <p:nvSpPr>
          <p:cNvPr id="6" name="TextBox 20">
            <a:extLst>
              <a:ext uri="{FF2B5EF4-FFF2-40B4-BE49-F238E27FC236}">
                <a16:creationId xmlns:a16="http://schemas.microsoft.com/office/drawing/2014/main" id="{8B335DAE-DEE8-8B2F-FDB0-BD9C7E22B81C}"/>
              </a:ext>
            </a:extLst>
          </p:cNvPr>
          <p:cNvSpPr txBox="1"/>
          <p:nvPr/>
        </p:nvSpPr>
        <p:spPr>
          <a:xfrm>
            <a:off x="1028700" y="8795945"/>
            <a:ext cx="3192084" cy="341119"/>
          </a:xfrm>
          <a:prstGeom prst="rect">
            <a:avLst/>
          </a:prstGeom>
        </p:spPr>
        <p:txBody>
          <a:bodyPr wrap="square" lIns="0" tIns="0" rIns="0" bIns="0" rtlCol="0" anchor="t">
            <a:spAutoFit/>
          </a:bodyPr>
          <a:lstStyle/>
          <a:p>
            <a:pPr algn="just">
              <a:lnSpc>
                <a:spcPts val="2799"/>
              </a:lnSpc>
              <a:spcBef>
                <a:spcPct val="0"/>
              </a:spcBef>
            </a:pPr>
            <a:r>
              <a:rPr lang="en-US" sz="1950">
                <a:solidFill>
                  <a:srgbClr val="000000"/>
                </a:solidFill>
                <a:latin typeface="Poppins"/>
                <a:ea typeface="Poppins"/>
                <a:cs typeface="Poppins"/>
                <a:sym typeface="Poppins"/>
              </a:rPr>
              <a:t>9</a:t>
            </a:r>
            <a:r>
              <a:rPr lang="en-US" sz="1950" baseline="30000">
                <a:solidFill>
                  <a:srgbClr val="000000"/>
                </a:solidFill>
                <a:latin typeface="Poppins"/>
                <a:ea typeface="Poppins"/>
                <a:cs typeface="Poppins"/>
                <a:sym typeface="Poppins"/>
              </a:rPr>
              <a:t>th</a:t>
            </a:r>
            <a:r>
              <a:rPr lang="en-US" sz="1950">
                <a:solidFill>
                  <a:srgbClr val="000000"/>
                </a:solidFill>
                <a:latin typeface="Poppins"/>
                <a:ea typeface="Poppins"/>
                <a:cs typeface="Poppins"/>
                <a:sym typeface="Poppins"/>
              </a:rPr>
              <a:t>June 2026</a:t>
            </a:r>
            <a:endParaRPr lang="en-US"/>
          </a:p>
        </p:txBody>
      </p:sp>
    </p:spTree>
    <p:extLst>
      <p:ext uri="{BB962C8B-B14F-4D97-AF65-F5344CB8AC3E}">
        <p14:creationId xmlns:p14="http://schemas.microsoft.com/office/powerpoint/2010/main" val="2810150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0EC8E-B6A5-5A49-632D-B8E0B1A319E8}"/>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F83BE953-A3A0-23FC-91F4-3E026C0BEC61}"/>
              </a:ext>
            </a:extLst>
          </p:cNvPr>
          <p:cNvSpPr/>
          <p:nvPr/>
        </p:nvSpPr>
        <p:spPr>
          <a:xfrm>
            <a:off x="6043058" y="2057869"/>
            <a:ext cx="8072952" cy="2002610"/>
          </a:xfrm>
          <a:prstGeom prst="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just"/>
            <a:r>
              <a:rPr lang="en-US" sz="1600" b="1" i="0" u="none" strike="noStrike" baseline="0">
                <a:solidFill>
                  <a:srgbClr val="000000"/>
                </a:solidFill>
                <a:latin typeface="Calibri"/>
                <a:ea typeface="Segoe UI"/>
                <a:cs typeface="Segoe UI"/>
              </a:rPr>
              <a:t>Project Status Update:</a:t>
            </a:r>
            <a:r>
              <a:rPr lang="en-US" sz="1600" b="1">
                <a:solidFill>
                  <a:srgbClr val="000000"/>
                </a:solidFill>
                <a:latin typeface="Calibri"/>
                <a:ea typeface="Segoe UI"/>
                <a:cs typeface="Segoe UI"/>
              </a:rPr>
              <a:t>  </a:t>
            </a:r>
            <a:r>
              <a:rPr lang="en-US" sz="1600">
                <a:solidFill>
                  <a:srgbClr val="000000"/>
                </a:solidFill>
                <a:latin typeface="Calibri"/>
                <a:ea typeface="Segoe UI"/>
                <a:cs typeface="Segoe UI"/>
              </a:rPr>
              <a:t> Following to our meeting on 8th of June 2026, the Risk Rating Mechanism, API integration, KYC updates and customer PEP self-update functionality remain outstanding and are expected to exceed their current target dates. The original development deadline was set for 15 June; however, due to dependencies on external vendors, a definitive timeline cannot yet be confirmed. While the Development team continues to prioritize these initiatives and is actively following up with the relevant vendors, the delivery schedule remains subject to external factors beyond the team's direct control.</a:t>
            </a:r>
            <a:endParaRPr lang="en-US" sz="1600">
              <a:latin typeface="Calibri"/>
              <a:ea typeface="Calibri"/>
              <a:cs typeface="Segoe UI"/>
            </a:endParaRPr>
          </a:p>
        </p:txBody>
      </p:sp>
      <p:sp>
        <p:nvSpPr>
          <p:cNvPr id="84" name="Rectangle 83">
            <a:extLst>
              <a:ext uri="{FF2B5EF4-FFF2-40B4-BE49-F238E27FC236}">
                <a16:creationId xmlns:a16="http://schemas.microsoft.com/office/drawing/2014/main" id="{0217AD87-26AE-752C-5FA8-0C68DE68EC72}"/>
              </a:ext>
            </a:extLst>
          </p:cNvPr>
          <p:cNvSpPr/>
          <p:nvPr/>
        </p:nvSpPr>
        <p:spPr bwMode="gray">
          <a:xfrm>
            <a:off x="1135789" y="4408952"/>
            <a:ext cx="16643170" cy="2003913"/>
          </a:xfrm>
          <a:prstGeom prst="rect">
            <a:avLst/>
          </a:prstGeom>
          <a:solidFill>
            <a:schemeClr val="bg1">
              <a:lumMod val="95000"/>
            </a:schemeClr>
          </a:solidFill>
          <a:ln w="19050" algn="ctr">
            <a:no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IN"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 name="Rectangle 3">
            <a:extLst>
              <a:ext uri="{FF2B5EF4-FFF2-40B4-BE49-F238E27FC236}">
                <a16:creationId xmlns:a16="http://schemas.microsoft.com/office/drawing/2014/main" id="{BBDAE272-2D1E-058D-70D5-491068BD6006}"/>
              </a:ext>
            </a:extLst>
          </p:cNvPr>
          <p:cNvSpPr/>
          <p:nvPr/>
        </p:nvSpPr>
        <p:spPr>
          <a:xfrm>
            <a:off x="821533" y="1462082"/>
            <a:ext cx="16626842" cy="452903"/>
          </a:xfrm>
          <a:prstGeom prst="rect">
            <a:avLst/>
          </a:prstGeom>
          <a:solidFill>
            <a:srgbClr val="00A69C"/>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mj-lt"/>
                <a:ea typeface="+mn-ea"/>
                <a:cs typeface="+mn-cs"/>
              </a:rPr>
              <a:t>Project Highlights </a:t>
            </a:r>
          </a:p>
        </p:txBody>
      </p:sp>
      <p:sp>
        <p:nvSpPr>
          <p:cNvPr id="5" name="Title 1">
            <a:extLst>
              <a:ext uri="{FF2B5EF4-FFF2-40B4-BE49-F238E27FC236}">
                <a16:creationId xmlns:a16="http://schemas.microsoft.com/office/drawing/2014/main" id="{CB2CA2A9-6565-C2F5-E2D3-0BA471782138}"/>
              </a:ext>
            </a:extLst>
          </p:cNvPr>
          <p:cNvSpPr txBox="1">
            <a:spLocks/>
          </p:cNvSpPr>
          <p:nvPr/>
        </p:nvSpPr>
        <p:spPr>
          <a:xfrm>
            <a:off x="832104" y="940100"/>
            <a:ext cx="13441680" cy="415499"/>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spcBef>
                <a:spcPct val="0"/>
              </a:spcBef>
              <a:defRPr/>
            </a:pPr>
            <a:r>
              <a:rPr lang="en-US">
                <a:solidFill>
                  <a:srgbClr val="000000"/>
                </a:solidFill>
              </a:rPr>
              <a:t>PEPs EY- Assessment</a:t>
            </a:r>
            <a:endParaRPr lang="en-US" err="1"/>
          </a:p>
        </p:txBody>
      </p:sp>
      <p:sp>
        <p:nvSpPr>
          <p:cNvPr id="6" name="Rectangle 5">
            <a:extLst>
              <a:ext uri="{FF2B5EF4-FFF2-40B4-BE49-F238E27FC236}">
                <a16:creationId xmlns:a16="http://schemas.microsoft.com/office/drawing/2014/main" id="{14DDF692-AE8D-D806-0541-C458AE711A99}"/>
              </a:ext>
            </a:extLst>
          </p:cNvPr>
          <p:cNvSpPr/>
          <p:nvPr/>
        </p:nvSpPr>
        <p:spPr bwMode="auto">
          <a:xfrm>
            <a:off x="15836117" y="2117372"/>
            <a:ext cx="1612257" cy="405768"/>
          </a:xfrm>
          <a:prstGeom prst="rect">
            <a:avLst/>
          </a:prstGeom>
          <a:solidFill>
            <a:srgbClr val="00A69C"/>
          </a:solid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anose="020B0604020202020204" pitchFamily="34" charset="0"/>
              </a:rPr>
              <a:t>Current Period</a:t>
            </a:r>
          </a:p>
        </p:txBody>
      </p:sp>
      <p:sp>
        <p:nvSpPr>
          <p:cNvPr id="7" name="Rectangle 6">
            <a:extLst>
              <a:ext uri="{FF2B5EF4-FFF2-40B4-BE49-F238E27FC236}">
                <a16:creationId xmlns:a16="http://schemas.microsoft.com/office/drawing/2014/main" id="{D13D2E27-86B7-D500-2DD2-437A464125C0}"/>
              </a:ext>
            </a:extLst>
          </p:cNvPr>
          <p:cNvSpPr/>
          <p:nvPr/>
        </p:nvSpPr>
        <p:spPr bwMode="auto">
          <a:xfrm>
            <a:off x="14111579" y="2117372"/>
            <a:ext cx="1620000" cy="405768"/>
          </a:xfrm>
          <a:prstGeom prst="rect">
            <a:avLst/>
          </a:prstGeom>
          <a:solidFill>
            <a:srgbClr val="00A69C"/>
          </a:solid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anose="020B0604020202020204" pitchFamily="34" charset="0"/>
              </a:rPr>
              <a:t>Previous Period</a:t>
            </a:r>
          </a:p>
        </p:txBody>
      </p:sp>
      <p:sp>
        <p:nvSpPr>
          <p:cNvPr id="8" name="Rectangle 7">
            <a:extLst>
              <a:ext uri="{FF2B5EF4-FFF2-40B4-BE49-F238E27FC236}">
                <a16:creationId xmlns:a16="http://schemas.microsoft.com/office/drawing/2014/main" id="{B04F8438-CA89-7F13-8975-AC43F993BDBC}"/>
              </a:ext>
            </a:extLst>
          </p:cNvPr>
          <p:cNvSpPr/>
          <p:nvPr/>
        </p:nvSpPr>
        <p:spPr bwMode="auto">
          <a:xfrm>
            <a:off x="14108566" y="2521505"/>
            <a:ext cx="1612256" cy="533700"/>
          </a:xfrm>
          <a:prstGeom prst="rect">
            <a:avLst/>
          </a:prstGeom>
          <a:solidFill>
            <a:srgbClr val="E2F0D9"/>
          </a:solidFill>
          <a:ln w="9525" cap="flat" cmpd="sng" algn="ctr">
            <a:solidFill>
              <a:srgbClr val="FFCCCC"/>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defTabSz="1564584">
              <a:defRPr/>
            </a:pPr>
            <a:r>
              <a:rPr lang="en-US" sz="1500" b="1" kern="0">
                <a:solidFill>
                  <a:prstClr val="black"/>
                </a:solidFill>
                <a:latin typeface="+mj-lt"/>
                <a:cs typeface="Arial"/>
              </a:rPr>
              <a:t>On Track</a:t>
            </a:r>
            <a:endParaRPr lang="en-US"/>
          </a:p>
        </p:txBody>
      </p:sp>
      <p:sp>
        <p:nvSpPr>
          <p:cNvPr id="10" name="Rectangle 9">
            <a:extLst>
              <a:ext uri="{FF2B5EF4-FFF2-40B4-BE49-F238E27FC236}">
                <a16:creationId xmlns:a16="http://schemas.microsoft.com/office/drawing/2014/main" id="{415C414D-E1F0-B37D-0011-780B81339538}"/>
              </a:ext>
            </a:extLst>
          </p:cNvPr>
          <p:cNvSpPr/>
          <p:nvPr/>
        </p:nvSpPr>
        <p:spPr>
          <a:xfrm>
            <a:off x="794309" y="6930248"/>
            <a:ext cx="16626842" cy="452903"/>
          </a:xfrm>
          <a:prstGeom prst="rect">
            <a:avLst/>
          </a:prstGeom>
          <a:solidFill>
            <a:srgbClr val="00A69C"/>
          </a:solidFill>
          <a:ln w="952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mj-lt"/>
                <a:ea typeface="+mn-ea"/>
                <a:cs typeface="+mn-cs"/>
              </a:rPr>
              <a:t>Key Risks, Issues &amp; Decisions</a:t>
            </a:r>
          </a:p>
        </p:txBody>
      </p:sp>
      <p:grpSp>
        <p:nvGrpSpPr>
          <p:cNvPr id="12" name="Group 11">
            <a:extLst>
              <a:ext uri="{FF2B5EF4-FFF2-40B4-BE49-F238E27FC236}">
                <a16:creationId xmlns:a16="http://schemas.microsoft.com/office/drawing/2014/main" id="{E9D67CE2-4C02-2CB1-38B9-336405ED312A}"/>
              </a:ext>
            </a:extLst>
          </p:cNvPr>
          <p:cNvGrpSpPr/>
          <p:nvPr/>
        </p:nvGrpSpPr>
        <p:grpSpPr>
          <a:xfrm>
            <a:off x="860944" y="2053329"/>
            <a:ext cx="5041568" cy="1202997"/>
            <a:chOff x="567987" y="1398301"/>
            <a:chExt cx="3361045" cy="801998"/>
          </a:xfrm>
          <a:solidFill>
            <a:srgbClr val="00A69C"/>
          </a:solidFill>
        </p:grpSpPr>
        <p:sp>
          <p:nvSpPr>
            <p:cNvPr id="13" name="Rectangle 12">
              <a:extLst>
                <a:ext uri="{FF2B5EF4-FFF2-40B4-BE49-F238E27FC236}">
                  <a16:creationId xmlns:a16="http://schemas.microsoft.com/office/drawing/2014/main" id="{9A12586F-7B30-4334-13FF-021053B6C238}"/>
                </a:ext>
              </a:extLst>
            </p:cNvPr>
            <p:cNvSpPr/>
            <p:nvPr/>
          </p:nvSpPr>
          <p:spPr bwMode="auto">
            <a:xfrm>
              <a:off x="567987" y="1398301"/>
              <a:ext cx="1440000" cy="256198"/>
            </a:xfrm>
            <a:prstGeom prst="rect">
              <a:avLst/>
            </a:prstGeom>
            <a:grp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a:rPr>
                <a:t>Reporting Period</a:t>
              </a:r>
              <a:endParaRPr lang="en-GB" sz="1500" b="1" i="0" u="none" strike="noStrike" kern="0" cap="none" spc="0" normalizeH="0" baseline="0" noProof="0">
                <a:ln>
                  <a:noFill/>
                </a:ln>
                <a:solidFill>
                  <a:schemeClr val="bg1"/>
                </a:solidFill>
                <a:effectLst/>
                <a:uLnTx/>
                <a:uFillTx/>
                <a:latin typeface="+mj-lt"/>
                <a:ea typeface="Calibri"/>
                <a:cs typeface="Arial"/>
              </a:endParaRPr>
            </a:p>
          </p:txBody>
        </p:sp>
        <p:sp>
          <p:nvSpPr>
            <p:cNvPr id="14" name="Rectangle 13">
              <a:extLst>
                <a:ext uri="{FF2B5EF4-FFF2-40B4-BE49-F238E27FC236}">
                  <a16:creationId xmlns:a16="http://schemas.microsoft.com/office/drawing/2014/main" id="{B1AD4410-6C03-8BBB-F590-45D7E0EB3C59}"/>
                </a:ext>
              </a:extLst>
            </p:cNvPr>
            <p:cNvSpPr/>
            <p:nvPr/>
          </p:nvSpPr>
          <p:spPr bwMode="auto">
            <a:xfrm>
              <a:off x="2127836" y="1398301"/>
              <a:ext cx="1800000" cy="256198"/>
            </a:xfrm>
            <a:prstGeom prst="rect">
              <a:avLst/>
            </a:prstGeom>
            <a:grp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GB" sz="1600" b="1" kern="0">
                  <a:solidFill>
                    <a:schemeClr val="bg1"/>
                  </a:solidFill>
                  <a:latin typeface="+mj-lt"/>
                  <a:cs typeface="Arial"/>
                </a:rPr>
                <a:t>2</a:t>
              </a:r>
              <a:r>
                <a:rPr lang="en-GB" sz="1600" b="1" kern="0" baseline="30000">
                  <a:solidFill>
                    <a:schemeClr val="bg1"/>
                  </a:solidFill>
                  <a:latin typeface="+mj-lt"/>
                  <a:cs typeface="Arial"/>
                </a:rPr>
                <a:t>nd</a:t>
              </a:r>
              <a:r>
                <a:rPr lang="en-GB" sz="1600" b="1" kern="0">
                  <a:solidFill>
                    <a:schemeClr val="bg1"/>
                  </a:solidFill>
                  <a:latin typeface="+mj-lt"/>
                  <a:cs typeface="Arial"/>
                </a:rPr>
                <a:t> June. 2026 –9</a:t>
              </a:r>
              <a:r>
                <a:rPr lang="en-GB" sz="1600" b="1" kern="0" baseline="30000">
                  <a:solidFill>
                    <a:schemeClr val="bg1"/>
                  </a:solidFill>
                  <a:latin typeface="+mj-lt"/>
                  <a:cs typeface="Arial"/>
                </a:rPr>
                <a:t>th</a:t>
              </a:r>
              <a:r>
                <a:rPr lang="en-GB" sz="1600" b="1" kern="0">
                  <a:solidFill>
                    <a:schemeClr val="bg1"/>
                  </a:solidFill>
                  <a:latin typeface="+mj-lt"/>
                  <a:cs typeface="Arial"/>
                </a:rPr>
                <a:t> June </a:t>
              </a:r>
              <a:r>
                <a:rPr lang="en-GB" sz="1600" b="1" kern="0">
                  <a:solidFill>
                    <a:schemeClr val="bg1"/>
                  </a:solidFill>
                  <a:latin typeface="+mj-lt"/>
                  <a:cs typeface="Calibri"/>
                </a:rPr>
                <a:t>2026</a:t>
              </a:r>
              <a:endParaRPr lang="en-US" sz="1600">
                <a:solidFill>
                  <a:schemeClr val="bg1"/>
                </a:solidFill>
                <a:ea typeface="Calibri"/>
                <a:cs typeface="Calibri"/>
              </a:endParaRPr>
            </a:p>
          </p:txBody>
        </p:sp>
        <p:sp>
          <p:nvSpPr>
            <p:cNvPr id="16" name="Rectangle 15">
              <a:extLst>
                <a:ext uri="{FF2B5EF4-FFF2-40B4-BE49-F238E27FC236}">
                  <a16:creationId xmlns:a16="http://schemas.microsoft.com/office/drawing/2014/main" id="{4668BDD0-753F-EC4E-63F6-ACB2338CF801}"/>
                </a:ext>
              </a:extLst>
            </p:cNvPr>
            <p:cNvSpPr/>
            <p:nvPr/>
          </p:nvSpPr>
          <p:spPr bwMode="auto">
            <a:xfrm>
              <a:off x="570971" y="1682431"/>
              <a:ext cx="1440000" cy="238706"/>
            </a:xfrm>
            <a:prstGeom prst="rect">
              <a:avLst/>
            </a:prstGeom>
            <a:grp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defTabSz="1564584" eaLnBrk="1" fontAlgn="auto" latinLnBrk="0" hangingPunct="1">
                <a:lnSpc>
                  <a:spcPct val="100000"/>
                </a:lnSpc>
                <a:spcBef>
                  <a:spcPts val="0"/>
                </a:spcBef>
                <a:spcAft>
                  <a:spcPts val="0"/>
                </a:spcAft>
                <a:buClrTx/>
                <a:buSzTx/>
                <a:buFontTx/>
                <a:buNone/>
                <a:tabLst/>
                <a:defRPr/>
              </a:pPr>
              <a:r>
                <a:rPr lang="en-GB" sz="1500" b="1" kern="0">
                  <a:solidFill>
                    <a:schemeClr val="bg1"/>
                  </a:solidFill>
                  <a:latin typeface="+mj-lt"/>
                  <a:cs typeface="Arial"/>
                </a:rPr>
                <a:t>Business</a:t>
              </a:r>
              <a:r>
                <a:rPr kumimoji="0" lang="en-GB" sz="1500" b="1" i="0" u="none" strike="noStrike" kern="0" cap="none" spc="0" normalizeH="0" baseline="0" noProof="0">
                  <a:ln>
                    <a:noFill/>
                  </a:ln>
                  <a:solidFill>
                    <a:schemeClr val="bg1"/>
                  </a:solidFill>
                  <a:effectLst/>
                  <a:uLnTx/>
                  <a:uFillTx/>
                  <a:latin typeface="+mj-lt"/>
                  <a:cs typeface="Arial"/>
                </a:rPr>
                <a:t> Owner</a:t>
              </a:r>
              <a:endParaRPr lang="en-GB" sz="1500" b="1" i="0" u="none" strike="noStrike" kern="0" cap="none" spc="0" normalizeH="0" baseline="0" noProof="0">
                <a:ln>
                  <a:noFill/>
                </a:ln>
                <a:solidFill>
                  <a:schemeClr val="bg1"/>
                </a:solidFill>
                <a:effectLst/>
                <a:uLnTx/>
                <a:uFillTx/>
                <a:latin typeface="+mj-lt"/>
                <a:ea typeface="Calibri"/>
                <a:cs typeface="Arial"/>
              </a:endParaRPr>
            </a:p>
          </p:txBody>
        </p:sp>
        <p:sp>
          <p:nvSpPr>
            <p:cNvPr id="17" name="Rectangle 16">
              <a:extLst>
                <a:ext uri="{FF2B5EF4-FFF2-40B4-BE49-F238E27FC236}">
                  <a16:creationId xmlns:a16="http://schemas.microsoft.com/office/drawing/2014/main" id="{85EA8DA4-8D29-0FC9-4BD1-C2CC55875261}"/>
                </a:ext>
              </a:extLst>
            </p:cNvPr>
            <p:cNvSpPr/>
            <p:nvPr/>
          </p:nvSpPr>
          <p:spPr bwMode="auto">
            <a:xfrm>
              <a:off x="2130820" y="1682431"/>
              <a:ext cx="1798212" cy="214907"/>
            </a:xfrm>
            <a:prstGeom prst="rect">
              <a:avLst/>
            </a:prstGeom>
            <a:grp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US" sz="1500" b="1" kern="0">
                  <a:solidFill>
                    <a:schemeClr val="bg1"/>
                  </a:solidFill>
                  <a:latin typeface="+mj-lt"/>
                  <a:cs typeface="Arial"/>
                </a:rPr>
                <a:t>Saher Abdelhadi</a:t>
              </a:r>
              <a:endParaRPr lang="en-US"/>
            </a:p>
          </p:txBody>
        </p:sp>
        <p:sp>
          <p:nvSpPr>
            <p:cNvPr id="18" name="Rectangle 17">
              <a:extLst>
                <a:ext uri="{FF2B5EF4-FFF2-40B4-BE49-F238E27FC236}">
                  <a16:creationId xmlns:a16="http://schemas.microsoft.com/office/drawing/2014/main" id="{C56D64F6-504B-94FF-2DE0-82809CE36085}"/>
                </a:ext>
              </a:extLst>
            </p:cNvPr>
            <p:cNvSpPr/>
            <p:nvPr/>
          </p:nvSpPr>
          <p:spPr bwMode="auto">
            <a:xfrm>
              <a:off x="567987" y="1944101"/>
              <a:ext cx="1440000" cy="256198"/>
            </a:xfrm>
            <a:prstGeom prst="rect">
              <a:avLst/>
            </a:prstGeom>
            <a:grp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a:rPr>
                <a:t>Project Manager</a:t>
              </a:r>
              <a:endParaRPr lang="en-GB" sz="1500" b="1" i="0" u="none" strike="noStrike" kern="0" cap="none" spc="0" normalizeH="0" baseline="0" noProof="0">
                <a:ln>
                  <a:noFill/>
                </a:ln>
                <a:solidFill>
                  <a:schemeClr val="bg1"/>
                </a:solidFill>
                <a:effectLst/>
                <a:uLnTx/>
                <a:uFillTx/>
                <a:latin typeface="+mj-lt"/>
                <a:ea typeface="Calibri"/>
                <a:cs typeface="Arial"/>
              </a:endParaRPr>
            </a:p>
          </p:txBody>
        </p:sp>
        <p:sp>
          <p:nvSpPr>
            <p:cNvPr id="19" name="Rectangle 18">
              <a:extLst>
                <a:ext uri="{FF2B5EF4-FFF2-40B4-BE49-F238E27FC236}">
                  <a16:creationId xmlns:a16="http://schemas.microsoft.com/office/drawing/2014/main" id="{5F968EFB-B925-B5CF-B13E-BE1D6D6263AE}"/>
                </a:ext>
              </a:extLst>
            </p:cNvPr>
            <p:cNvSpPr/>
            <p:nvPr/>
          </p:nvSpPr>
          <p:spPr bwMode="auto">
            <a:xfrm>
              <a:off x="2127836" y="1944101"/>
              <a:ext cx="1800000" cy="256198"/>
            </a:xfrm>
            <a:prstGeom prst="rect">
              <a:avLst/>
            </a:prstGeom>
            <a:grp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GB" sz="1500" b="1" kern="0">
                  <a:solidFill>
                    <a:schemeClr val="bg1"/>
                  </a:solidFill>
                  <a:latin typeface="+mj-lt"/>
                  <a:cs typeface="Arial"/>
                </a:rPr>
                <a:t>Ezzat </a:t>
              </a:r>
              <a:r>
                <a:rPr lang="en-GB" sz="1500" b="1" kern="0" err="1">
                  <a:solidFill>
                    <a:schemeClr val="bg1"/>
                  </a:solidFill>
                  <a:latin typeface="+mj-lt"/>
                  <a:cs typeface="Arial"/>
                </a:rPr>
                <a:t>Zalzala</a:t>
              </a:r>
              <a:endParaRPr lang="en-GB" sz="1500" b="1" kern="0" err="1">
                <a:solidFill>
                  <a:schemeClr val="bg1"/>
                </a:solidFill>
                <a:latin typeface="+mj-lt"/>
                <a:ea typeface="Calibri"/>
                <a:cs typeface="Arial"/>
              </a:endParaRPr>
            </a:p>
          </p:txBody>
        </p:sp>
      </p:grpSp>
      <p:grpSp>
        <p:nvGrpSpPr>
          <p:cNvPr id="20" name="Group 19">
            <a:extLst>
              <a:ext uri="{FF2B5EF4-FFF2-40B4-BE49-F238E27FC236}">
                <a16:creationId xmlns:a16="http://schemas.microsoft.com/office/drawing/2014/main" id="{13C9E36D-9BE9-3341-BC60-BE9382787796}"/>
              </a:ext>
            </a:extLst>
          </p:cNvPr>
          <p:cNvGrpSpPr/>
          <p:nvPr/>
        </p:nvGrpSpPr>
        <p:grpSpPr>
          <a:xfrm>
            <a:off x="1136878" y="4417467"/>
            <a:ext cx="16263916" cy="1978241"/>
            <a:chOff x="540573" y="2219457"/>
            <a:chExt cx="8462472" cy="1342373"/>
          </a:xfrm>
        </p:grpSpPr>
        <p:sp>
          <p:nvSpPr>
            <p:cNvPr id="21" name="Rectangle 20">
              <a:extLst>
                <a:ext uri="{FF2B5EF4-FFF2-40B4-BE49-F238E27FC236}">
                  <a16:creationId xmlns:a16="http://schemas.microsoft.com/office/drawing/2014/main" id="{DA741697-6F62-2BF1-5741-CBC62D6B46AC}"/>
                </a:ext>
              </a:extLst>
            </p:cNvPr>
            <p:cNvSpPr/>
            <p:nvPr/>
          </p:nvSpPr>
          <p:spPr bwMode="auto">
            <a:xfrm>
              <a:off x="554704" y="2954084"/>
              <a:ext cx="8425558" cy="277524"/>
            </a:xfrm>
            <a:prstGeom prst="rect">
              <a:avLst/>
            </a:prstGeom>
            <a:solidFill>
              <a:srgbClr val="002060"/>
            </a:solid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GB" sz="1650" b="1" kern="0">
                  <a:solidFill>
                    <a:schemeClr val="bg1"/>
                  </a:solidFill>
                  <a:latin typeface="+mj-lt"/>
                  <a:cs typeface="Arial" panose="020B0604020202020204" pitchFamily="34" charset="0"/>
                </a:rPr>
                <a:t>Key Risks, Issues, &amp; Decisions </a:t>
              </a:r>
            </a:p>
          </p:txBody>
        </p:sp>
        <p:sp>
          <p:nvSpPr>
            <p:cNvPr id="22" name="Rectangle 21">
              <a:extLst>
                <a:ext uri="{FF2B5EF4-FFF2-40B4-BE49-F238E27FC236}">
                  <a16:creationId xmlns:a16="http://schemas.microsoft.com/office/drawing/2014/main" id="{A161A4A5-4A1B-2577-C3EA-7C106D748284}"/>
                </a:ext>
              </a:extLst>
            </p:cNvPr>
            <p:cNvSpPr/>
            <p:nvPr/>
          </p:nvSpPr>
          <p:spPr bwMode="gray">
            <a:xfrm>
              <a:off x="554704" y="2249977"/>
              <a:ext cx="8448341" cy="1263745"/>
            </a:xfrm>
            <a:prstGeom prst="rect">
              <a:avLst/>
            </a:prstGeom>
            <a:solidFill>
              <a:schemeClr val="bg1">
                <a:lumMod val="95000"/>
              </a:schemeClr>
            </a:solidFill>
            <a:ln w="19050" algn="ctr">
              <a:no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IN"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3" name="Rectangle 22">
              <a:extLst>
                <a:ext uri="{FF2B5EF4-FFF2-40B4-BE49-F238E27FC236}">
                  <a16:creationId xmlns:a16="http://schemas.microsoft.com/office/drawing/2014/main" id="{226C0769-97CE-F40A-792B-2A307E70DD7C}"/>
                </a:ext>
              </a:extLst>
            </p:cNvPr>
            <p:cNvSpPr/>
            <p:nvPr/>
          </p:nvSpPr>
          <p:spPr bwMode="gray">
            <a:xfrm>
              <a:off x="540573" y="2219457"/>
              <a:ext cx="4457393" cy="1342373"/>
            </a:xfrm>
            <a:prstGeom prst="rect">
              <a:avLst/>
            </a:prstGeom>
            <a:solidFill>
              <a:srgbClr val="00B0F0">
                <a:alpha val="13000"/>
              </a:srgbClr>
            </a:solidFill>
            <a:ln w="19050" algn="ctr">
              <a:no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24" name="Straight Connector 23">
              <a:extLst>
                <a:ext uri="{FF2B5EF4-FFF2-40B4-BE49-F238E27FC236}">
                  <a16:creationId xmlns:a16="http://schemas.microsoft.com/office/drawing/2014/main" id="{81A0DCAB-C98A-0399-81D5-13976E4A843C}"/>
                </a:ext>
              </a:extLst>
            </p:cNvPr>
            <p:cNvCxnSpPr>
              <a:cxnSpLocks/>
            </p:cNvCxnSpPr>
            <p:nvPr/>
          </p:nvCxnSpPr>
          <p:spPr>
            <a:xfrm>
              <a:off x="1435071" y="2975869"/>
              <a:ext cx="7541790" cy="10557"/>
            </a:xfrm>
            <a:prstGeom prst="line">
              <a:avLst/>
            </a:prstGeom>
            <a:ln w="22225">
              <a:solidFill>
                <a:schemeClr val="tx1">
                  <a:lumMod val="75000"/>
                  <a:lumOff val="2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6385DFD8-B5CA-ECFC-8B87-6DCD5CB98600}"/>
                </a:ext>
              </a:extLst>
            </p:cNvPr>
            <p:cNvSpPr txBox="1"/>
            <p:nvPr/>
          </p:nvSpPr>
          <p:spPr>
            <a:xfrm>
              <a:off x="886407" y="3291214"/>
              <a:ext cx="1096955" cy="167078"/>
            </a:xfrm>
            <a:prstGeom prst="rect">
              <a:avLst/>
            </a:prstGeom>
            <a:noFill/>
          </p:spPr>
          <p:txBody>
            <a:bodyPr wrap="square" lIns="0" tIns="0" rIns="0" bIns="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defRPr/>
              </a:pPr>
              <a:r>
                <a:rPr lang="en-US" altLang="ko-KR" sz="1600" b="1">
                  <a:solidFill>
                    <a:prstClr val="black"/>
                  </a:solidFill>
                  <a:latin typeface="Calibri"/>
                  <a:ea typeface="Calibri"/>
                  <a:cs typeface="Calibri"/>
                </a:rPr>
                <a:t>April (2026)</a:t>
              </a:r>
              <a:endParaRPr lang="en-US" altLang="ko-KR" sz="1600">
                <a:solidFill>
                  <a:prstClr val="black"/>
                </a:solidFill>
                <a:latin typeface="Calibri"/>
                <a:ea typeface="Calibri"/>
                <a:cs typeface="Calibri"/>
              </a:endParaRPr>
            </a:p>
          </p:txBody>
        </p:sp>
      </p:grpSp>
      <p:pic>
        <p:nvPicPr>
          <p:cNvPr id="53" name="Picture 52">
            <a:extLst>
              <a:ext uri="{FF2B5EF4-FFF2-40B4-BE49-F238E27FC236}">
                <a16:creationId xmlns:a16="http://schemas.microsoft.com/office/drawing/2014/main" id="{F1DF5B35-7F7A-A571-D686-F178340C7A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19415" y="60344"/>
            <a:ext cx="2308638" cy="1251719"/>
          </a:xfrm>
          <a:prstGeom prst="rect">
            <a:avLst/>
          </a:prstGeom>
        </p:spPr>
      </p:pic>
      <p:sp>
        <p:nvSpPr>
          <p:cNvPr id="30" name="Rectangle 29">
            <a:extLst>
              <a:ext uri="{FF2B5EF4-FFF2-40B4-BE49-F238E27FC236}">
                <a16:creationId xmlns:a16="http://schemas.microsoft.com/office/drawing/2014/main" id="{A326B05B-90AE-84CD-0393-33103C5A78E2}"/>
              </a:ext>
            </a:extLst>
          </p:cNvPr>
          <p:cNvSpPr/>
          <p:nvPr/>
        </p:nvSpPr>
        <p:spPr bwMode="auto">
          <a:xfrm>
            <a:off x="15847604" y="2530028"/>
            <a:ext cx="1574978" cy="533700"/>
          </a:xfrm>
          <a:prstGeom prst="rect">
            <a:avLst/>
          </a:prstGeom>
          <a:solidFill>
            <a:schemeClr val="tx2"/>
          </a:solidFill>
          <a:ln w="9525" cap="flat" cmpd="sng" algn="ctr">
            <a:solidFill>
              <a:schemeClr val="tx2"/>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defTabSz="1564584">
              <a:defRPr/>
            </a:pPr>
            <a:r>
              <a:rPr lang="en-US" sz="1500" b="1" kern="0">
                <a:solidFill>
                  <a:schemeClr val="bg1"/>
                </a:solidFill>
                <a:latin typeface="+mj-lt"/>
                <a:cs typeface="Arial"/>
              </a:rPr>
              <a:t>Completed</a:t>
            </a:r>
            <a:endParaRPr lang="en-US">
              <a:solidFill>
                <a:schemeClr val="bg1"/>
              </a:solidFill>
            </a:endParaRPr>
          </a:p>
        </p:txBody>
      </p:sp>
      <p:grpSp>
        <p:nvGrpSpPr>
          <p:cNvPr id="29" name="Group 28">
            <a:extLst>
              <a:ext uri="{FF2B5EF4-FFF2-40B4-BE49-F238E27FC236}">
                <a16:creationId xmlns:a16="http://schemas.microsoft.com/office/drawing/2014/main" id="{674E2AD4-930F-B15D-E18D-2C151CBDEDD2}"/>
              </a:ext>
            </a:extLst>
          </p:cNvPr>
          <p:cNvGrpSpPr/>
          <p:nvPr/>
        </p:nvGrpSpPr>
        <p:grpSpPr>
          <a:xfrm>
            <a:off x="10114954" y="9781137"/>
            <a:ext cx="10450035" cy="505786"/>
            <a:chOff x="6081980" y="6443049"/>
            <a:chExt cx="6966685" cy="357913"/>
          </a:xfrm>
        </p:grpSpPr>
        <p:grpSp>
          <p:nvGrpSpPr>
            <p:cNvPr id="52" name="Group 51">
              <a:extLst>
                <a:ext uri="{FF2B5EF4-FFF2-40B4-BE49-F238E27FC236}">
                  <a16:creationId xmlns:a16="http://schemas.microsoft.com/office/drawing/2014/main" id="{E829463D-20B7-3EC7-3B10-12AD4A0A93E7}"/>
                </a:ext>
              </a:extLst>
            </p:cNvPr>
            <p:cNvGrpSpPr/>
            <p:nvPr/>
          </p:nvGrpSpPr>
          <p:grpSpPr>
            <a:xfrm>
              <a:off x="6081980" y="6443049"/>
              <a:ext cx="6966685" cy="357913"/>
              <a:chOff x="6091745" y="6485413"/>
              <a:chExt cx="6966685" cy="357913"/>
            </a:xfrm>
          </p:grpSpPr>
          <p:sp>
            <p:nvSpPr>
              <p:cNvPr id="62" name="Oval 61">
                <a:extLst>
                  <a:ext uri="{FF2B5EF4-FFF2-40B4-BE49-F238E27FC236}">
                    <a16:creationId xmlns:a16="http://schemas.microsoft.com/office/drawing/2014/main" id="{9224CE87-0705-F538-D3FC-8FB11C1E4E83}"/>
                  </a:ext>
                </a:extLst>
              </p:cNvPr>
              <p:cNvSpPr/>
              <p:nvPr/>
            </p:nvSpPr>
            <p:spPr>
              <a:xfrm>
                <a:off x="6950322" y="6494495"/>
                <a:ext cx="133346" cy="126401"/>
              </a:xfrm>
              <a:prstGeom prst="ellipse">
                <a:avLst/>
              </a:prstGeom>
              <a:solidFill>
                <a:srgbClr val="E2F0D9"/>
              </a:solidFill>
              <a:ln w="9525">
                <a:solidFill>
                  <a:srgbClr val="E2F0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63" name="Oval 62">
                <a:extLst>
                  <a:ext uri="{FF2B5EF4-FFF2-40B4-BE49-F238E27FC236}">
                    <a16:creationId xmlns:a16="http://schemas.microsoft.com/office/drawing/2014/main" id="{EBBAF2A8-C56F-8AC8-2F1E-FC1E6FEAF1CB}"/>
                  </a:ext>
                </a:extLst>
              </p:cNvPr>
              <p:cNvSpPr/>
              <p:nvPr/>
            </p:nvSpPr>
            <p:spPr>
              <a:xfrm>
                <a:off x="7594167" y="6503611"/>
                <a:ext cx="135071" cy="126401"/>
              </a:xfrm>
              <a:prstGeom prst="ellipse">
                <a:avLst/>
              </a:prstGeom>
              <a:solidFill>
                <a:srgbClr val="FF0000"/>
              </a:solid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64" name="Oval 63">
                <a:extLst>
                  <a:ext uri="{FF2B5EF4-FFF2-40B4-BE49-F238E27FC236}">
                    <a16:creationId xmlns:a16="http://schemas.microsoft.com/office/drawing/2014/main" id="{A8149164-8AEF-4ECC-5A4B-472EE9BCF918}"/>
                  </a:ext>
                </a:extLst>
              </p:cNvPr>
              <p:cNvSpPr/>
              <p:nvPr/>
            </p:nvSpPr>
            <p:spPr>
              <a:xfrm>
                <a:off x="8149931" y="6505195"/>
                <a:ext cx="131200" cy="126401"/>
              </a:xfrm>
              <a:prstGeom prst="ellipse">
                <a:avLst/>
              </a:prstGeom>
              <a:solidFill>
                <a:srgbClr val="FFC000"/>
              </a:solidFill>
              <a:ln w="95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65" name="TextBox 64">
                <a:extLst>
                  <a:ext uri="{FF2B5EF4-FFF2-40B4-BE49-F238E27FC236}">
                    <a16:creationId xmlns:a16="http://schemas.microsoft.com/office/drawing/2014/main" id="{4B17F1FF-7AEF-2BB1-B872-7C81C0DB8056}"/>
                  </a:ext>
                </a:extLst>
              </p:cNvPr>
              <p:cNvSpPr txBox="1"/>
              <p:nvPr/>
            </p:nvSpPr>
            <p:spPr>
              <a:xfrm>
                <a:off x="6734909" y="6611779"/>
                <a:ext cx="717687"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On track </a:t>
                </a:r>
              </a:p>
            </p:txBody>
          </p:sp>
          <p:sp>
            <p:nvSpPr>
              <p:cNvPr id="66" name="TextBox 65">
                <a:extLst>
                  <a:ext uri="{FF2B5EF4-FFF2-40B4-BE49-F238E27FC236}">
                    <a16:creationId xmlns:a16="http://schemas.microsoft.com/office/drawing/2014/main" id="{EC458A9D-7F9F-1DEB-96A8-BAD52A3CE770}"/>
                  </a:ext>
                </a:extLst>
              </p:cNvPr>
              <p:cNvSpPr txBox="1"/>
              <p:nvPr/>
            </p:nvSpPr>
            <p:spPr>
              <a:xfrm>
                <a:off x="7360310" y="6621931"/>
                <a:ext cx="664200"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Delayed</a:t>
                </a:r>
              </a:p>
            </p:txBody>
          </p:sp>
          <p:sp>
            <p:nvSpPr>
              <p:cNvPr id="67" name="TextBox 66">
                <a:extLst>
                  <a:ext uri="{FF2B5EF4-FFF2-40B4-BE49-F238E27FC236}">
                    <a16:creationId xmlns:a16="http://schemas.microsoft.com/office/drawing/2014/main" id="{7BF927EF-9BA8-AA04-DB15-7A3F36D3A1BA}"/>
                  </a:ext>
                </a:extLst>
              </p:cNvPr>
              <p:cNvSpPr txBox="1"/>
              <p:nvPr/>
            </p:nvSpPr>
            <p:spPr>
              <a:xfrm>
                <a:off x="7962993" y="6624764"/>
                <a:ext cx="664200"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At Risk</a:t>
                </a:r>
              </a:p>
            </p:txBody>
          </p:sp>
          <p:sp>
            <p:nvSpPr>
              <p:cNvPr id="68" name="TextBox 67">
                <a:extLst>
                  <a:ext uri="{FF2B5EF4-FFF2-40B4-BE49-F238E27FC236}">
                    <a16:creationId xmlns:a16="http://schemas.microsoft.com/office/drawing/2014/main" id="{E2F19BA3-BB49-12BA-AF1A-83DA98C09B47}"/>
                  </a:ext>
                </a:extLst>
              </p:cNvPr>
              <p:cNvSpPr txBox="1"/>
              <p:nvPr/>
            </p:nvSpPr>
            <p:spPr>
              <a:xfrm>
                <a:off x="9357110" y="6627882"/>
                <a:ext cx="970136"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Implemented</a:t>
                </a:r>
              </a:p>
            </p:txBody>
          </p:sp>
          <p:sp>
            <p:nvSpPr>
              <p:cNvPr id="69" name="Oval 68">
                <a:extLst>
                  <a:ext uri="{FF2B5EF4-FFF2-40B4-BE49-F238E27FC236}">
                    <a16:creationId xmlns:a16="http://schemas.microsoft.com/office/drawing/2014/main" id="{87C96B11-302C-55B3-9ADA-AD5C538631A7}"/>
                  </a:ext>
                </a:extLst>
              </p:cNvPr>
              <p:cNvSpPr/>
              <p:nvPr/>
            </p:nvSpPr>
            <p:spPr>
              <a:xfrm>
                <a:off x="10428038" y="6512756"/>
                <a:ext cx="137031" cy="126401"/>
              </a:xfrm>
              <a:prstGeom prst="ellipse">
                <a:avLst/>
              </a:prstGeom>
              <a:solidFill>
                <a:srgbClr val="00B0F0"/>
              </a:solid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517BE042-BDA0-964C-E136-3A1B5FC08661}"/>
                  </a:ext>
                </a:extLst>
              </p:cNvPr>
              <p:cNvSpPr txBox="1"/>
              <p:nvPr/>
            </p:nvSpPr>
            <p:spPr>
              <a:xfrm>
                <a:off x="10194922" y="6621646"/>
                <a:ext cx="2311615"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US" sz="1200">
                    <a:latin typeface="Arial" panose="020B0604020202020204" pitchFamily="34" charset="0"/>
                    <a:cs typeface="Arial" panose="020B0604020202020204" pitchFamily="34" charset="0"/>
                  </a:rPr>
                  <a:t>On Hold</a:t>
                </a:r>
                <a:endParaRPr kumimoji="0" lang="en-US" sz="120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71" name="Oval 70">
                <a:extLst>
                  <a:ext uri="{FF2B5EF4-FFF2-40B4-BE49-F238E27FC236}">
                    <a16:creationId xmlns:a16="http://schemas.microsoft.com/office/drawing/2014/main" id="{F55BAE74-14F4-7FA5-A031-F72F4EB5B097}"/>
                  </a:ext>
                </a:extLst>
              </p:cNvPr>
              <p:cNvSpPr/>
              <p:nvPr/>
            </p:nvSpPr>
            <p:spPr>
              <a:xfrm>
                <a:off x="11073431" y="6488248"/>
                <a:ext cx="137031" cy="126401"/>
              </a:xfrm>
              <a:prstGeom prst="ellipse">
                <a:avLst/>
              </a:prstGeom>
              <a:solidFill>
                <a:srgbClr val="FFFF00"/>
              </a:solidFill>
              <a:ln w="952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72" name="TextBox 71">
                <a:extLst>
                  <a:ext uri="{FF2B5EF4-FFF2-40B4-BE49-F238E27FC236}">
                    <a16:creationId xmlns:a16="http://schemas.microsoft.com/office/drawing/2014/main" id="{6C4312BF-F2CC-EEDB-55BA-8B35F30B8042}"/>
                  </a:ext>
                </a:extLst>
              </p:cNvPr>
              <p:cNvSpPr txBox="1"/>
              <p:nvPr/>
            </p:nvSpPr>
            <p:spPr>
              <a:xfrm>
                <a:off x="10746815" y="6611779"/>
                <a:ext cx="2311615"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Terminated</a:t>
                </a:r>
              </a:p>
            </p:txBody>
          </p:sp>
          <p:sp>
            <p:nvSpPr>
              <p:cNvPr id="76" name="Oval 75">
                <a:extLst>
                  <a:ext uri="{FF2B5EF4-FFF2-40B4-BE49-F238E27FC236}">
                    <a16:creationId xmlns:a16="http://schemas.microsoft.com/office/drawing/2014/main" id="{201EC6CC-2588-EF9D-3FE6-A116F97A1CF4}"/>
                  </a:ext>
                </a:extLst>
              </p:cNvPr>
              <p:cNvSpPr/>
              <p:nvPr/>
            </p:nvSpPr>
            <p:spPr>
              <a:xfrm>
                <a:off x="8836849" y="6505195"/>
                <a:ext cx="131200" cy="126401"/>
              </a:xfrm>
              <a:prstGeom prst="ellipse">
                <a:avLst/>
              </a:prstGeom>
              <a:solidFill>
                <a:srgbClr val="00B050"/>
              </a:solid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78" name="TextBox 77">
                <a:extLst>
                  <a:ext uri="{FF2B5EF4-FFF2-40B4-BE49-F238E27FC236}">
                    <a16:creationId xmlns:a16="http://schemas.microsoft.com/office/drawing/2014/main" id="{58DE6424-4409-E1A0-7DFF-EBBFAEA9F821}"/>
                  </a:ext>
                </a:extLst>
              </p:cNvPr>
              <p:cNvSpPr txBox="1"/>
              <p:nvPr/>
            </p:nvSpPr>
            <p:spPr>
              <a:xfrm>
                <a:off x="8555682" y="6620896"/>
                <a:ext cx="815094"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InProgress</a:t>
                </a:r>
              </a:p>
            </p:txBody>
          </p:sp>
          <p:sp>
            <p:nvSpPr>
              <p:cNvPr id="79" name="Oval 78">
                <a:extLst>
                  <a:ext uri="{FF2B5EF4-FFF2-40B4-BE49-F238E27FC236}">
                    <a16:creationId xmlns:a16="http://schemas.microsoft.com/office/drawing/2014/main" id="{AB0A301D-2B00-00AC-336A-F7C4F02491F4}"/>
                  </a:ext>
                </a:extLst>
              </p:cNvPr>
              <p:cNvSpPr/>
              <p:nvPr/>
            </p:nvSpPr>
            <p:spPr>
              <a:xfrm>
                <a:off x="6328246" y="6485413"/>
                <a:ext cx="133346" cy="126401"/>
              </a:xfrm>
              <a:prstGeom prst="ellipse">
                <a:avLst/>
              </a:prstGeom>
              <a:solidFill>
                <a:srgbClr val="BFBFBF"/>
              </a:solidFill>
              <a:ln w="9525">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80" name="TextBox 79">
                <a:extLst>
                  <a:ext uri="{FF2B5EF4-FFF2-40B4-BE49-F238E27FC236}">
                    <a16:creationId xmlns:a16="http://schemas.microsoft.com/office/drawing/2014/main" id="{F17EA075-F49A-3178-C1CD-3622F17B6BAC}"/>
                  </a:ext>
                </a:extLst>
              </p:cNvPr>
              <p:cNvSpPr txBox="1"/>
              <p:nvPr/>
            </p:nvSpPr>
            <p:spPr>
              <a:xfrm>
                <a:off x="6091745" y="6623787"/>
                <a:ext cx="858416"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Not Started</a:t>
                </a:r>
              </a:p>
            </p:txBody>
          </p:sp>
        </p:grpSp>
        <p:sp>
          <p:nvSpPr>
            <p:cNvPr id="61" name="Oval 60">
              <a:extLst>
                <a:ext uri="{FF2B5EF4-FFF2-40B4-BE49-F238E27FC236}">
                  <a16:creationId xmlns:a16="http://schemas.microsoft.com/office/drawing/2014/main" id="{51BDDC5E-60DC-54A8-E41E-53A6010E67ED}"/>
                </a:ext>
              </a:extLst>
            </p:cNvPr>
            <p:cNvSpPr/>
            <p:nvPr/>
          </p:nvSpPr>
          <p:spPr>
            <a:xfrm>
              <a:off x="9702904" y="6470392"/>
              <a:ext cx="131200" cy="126401"/>
            </a:xfrm>
            <a:prstGeom prst="ellipse">
              <a:avLst/>
            </a:prstGeom>
            <a:solidFill>
              <a:srgbClr val="003373"/>
            </a:solidFill>
            <a:ln w="9525">
              <a:solidFill>
                <a:srgbClr val="0033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grpSp>
      <p:graphicFrame>
        <p:nvGraphicFramePr>
          <p:cNvPr id="83" name="Table 82">
            <a:extLst>
              <a:ext uri="{FF2B5EF4-FFF2-40B4-BE49-F238E27FC236}">
                <a16:creationId xmlns:a16="http://schemas.microsoft.com/office/drawing/2014/main" id="{85490C9B-FB46-950D-0937-0D5D173FC61C}"/>
              </a:ext>
            </a:extLst>
          </p:cNvPr>
          <p:cNvGraphicFramePr>
            <a:graphicFrameLocks noGrp="1"/>
          </p:cNvGraphicFramePr>
          <p:nvPr>
            <p:extLst>
              <p:ext uri="{D42A27DB-BD31-4B8C-83A1-F6EECF244321}">
                <p14:modId xmlns:p14="http://schemas.microsoft.com/office/powerpoint/2010/main" val="3583320381"/>
              </p:ext>
            </p:extLst>
          </p:nvPr>
        </p:nvGraphicFramePr>
        <p:xfrm>
          <a:off x="774428" y="7385940"/>
          <a:ext cx="16612647" cy="2134977"/>
        </p:xfrm>
        <a:graphic>
          <a:graphicData uri="http://schemas.openxmlformats.org/drawingml/2006/table">
            <a:tbl>
              <a:tblPr firstRow="1" bandRow="1">
                <a:tableStyleId>{3B4B98B0-60AC-42C2-AFA5-B58CD77FA1E5}</a:tableStyleId>
              </a:tblPr>
              <a:tblGrid>
                <a:gridCol w="1600449">
                  <a:extLst>
                    <a:ext uri="{9D8B030D-6E8A-4147-A177-3AD203B41FA5}">
                      <a16:colId xmlns:a16="http://schemas.microsoft.com/office/drawing/2014/main" val="500621086"/>
                    </a:ext>
                  </a:extLst>
                </a:gridCol>
                <a:gridCol w="8394104">
                  <a:extLst>
                    <a:ext uri="{9D8B030D-6E8A-4147-A177-3AD203B41FA5}">
                      <a16:colId xmlns:a16="http://schemas.microsoft.com/office/drawing/2014/main" val="2523077405"/>
                    </a:ext>
                  </a:extLst>
                </a:gridCol>
                <a:gridCol w="1921184">
                  <a:extLst>
                    <a:ext uri="{9D8B030D-6E8A-4147-A177-3AD203B41FA5}">
                      <a16:colId xmlns:a16="http://schemas.microsoft.com/office/drawing/2014/main" val="93284136"/>
                    </a:ext>
                  </a:extLst>
                </a:gridCol>
                <a:gridCol w="2098526">
                  <a:extLst>
                    <a:ext uri="{9D8B030D-6E8A-4147-A177-3AD203B41FA5}">
                      <a16:colId xmlns:a16="http://schemas.microsoft.com/office/drawing/2014/main" val="885857888"/>
                    </a:ext>
                  </a:extLst>
                </a:gridCol>
                <a:gridCol w="2598384">
                  <a:extLst>
                    <a:ext uri="{9D8B030D-6E8A-4147-A177-3AD203B41FA5}">
                      <a16:colId xmlns:a16="http://schemas.microsoft.com/office/drawing/2014/main" val="3402767439"/>
                    </a:ext>
                  </a:extLst>
                </a:gridCol>
              </a:tblGrid>
              <a:tr h="285348">
                <a:tc>
                  <a:txBody>
                    <a:bodyPr/>
                    <a:lstStyle/>
                    <a:p>
                      <a:pPr algn="ctr" fontAlgn="ctr"/>
                      <a:r>
                        <a:rPr lang="en-US" sz="1500" b="1" u="none" strike="noStrike">
                          <a:solidFill>
                            <a:srgbClr val="000000"/>
                          </a:solidFill>
                          <a:effectLst/>
                        </a:rPr>
                        <a:t>Area</a:t>
                      </a:r>
                      <a:endParaRPr lang="en-US" sz="1500" b="1" i="0" u="none" strike="noStrike">
                        <a:solidFill>
                          <a:srgbClr val="000000"/>
                        </a:solidFill>
                        <a:effectLst/>
                        <a:latin typeface="+mj-lt"/>
                        <a:cs typeface="Times New Roman" panose="02020603050405020304" pitchFamily="18" charset="0"/>
                      </a:endParaRPr>
                    </a:p>
                  </a:txBody>
                  <a:tcPr marL="11430" marR="11430" marT="11430" marB="0" anchor="ctr"/>
                </a:tc>
                <a:tc>
                  <a:txBody>
                    <a:bodyPr/>
                    <a:lstStyle/>
                    <a:p>
                      <a:pPr algn="ctr" fontAlgn="ctr"/>
                      <a:r>
                        <a:rPr lang="en-US" sz="1500" b="1" u="none" strike="noStrike">
                          <a:solidFill>
                            <a:srgbClr val="000000"/>
                          </a:solidFill>
                          <a:effectLst/>
                        </a:rPr>
                        <a:t>Item</a:t>
                      </a:r>
                      <a:endParaRPr lang="en-US" sz="1500" b="1" i="0" u="none" strike="noStrike">
                        <a:solidFill>
                          <a:srgbClr val="000000"/>
                        </a:solidFill>
                        <a:effectLst/>
                        <a:latin typeface="+mj-lt"/>
                        <a:cs typeface="Times New Roman" panose="02020603050405020304" pitchFamily="18" charset="0"/>
                      </a:endParaRPr>
                    </a:p>
                  </a:txBody>
                  <a:tcPr marL="11430" marR="11430" marT="11430" marB="0" anchor="ctr"/>
                </a:tc>
                <a:tc>
                  <a:txBody>
                    <a:bodyPr/>
                    <a:lstStyle/>
                    <a:p>
                      <a:pPr algn="ctr" fontAlgn="ctr"/>
                      <a:r>
                        <a:rPr lang="en-US" sz="1500" b="1" u="none" strike="noStrike">
                          <a:solidFill>
                            <a:srgbClr val="000000"/>
                          </a:solidFill>
                          <a:effectLst/>
                        </a:rPr>
                        <a:t>Status</a:t>
                      </a:r>
                      <a:endParaRPr lang="en-US" sz="1500" b="1" i="0" u="none" strike="noStrike">
                        <a:solidFill>
                          <a:srgbClr val="000000"/>
                        </a:solidFill>
                        <a:effectLst/>
                        <a:latin typeface="+mj-lt"/>
                        <a:cs typeface="Times New Roman"/>
                      </a:endParaRPr>
                    </a:p>
                  </a:txBody>
                  <a:tcPr marL="11430" marR="11430" marT="11430" marB="0" anchor="ctr"/>
                </a:tc>
                <a:tc>
                  <a:txBody>
                    <a:bodyPr/>
                    <a:lstStyle/>
                    <a:p>
                      <a:pPr algn="ctr" fontAlgn="ctr"/>
                      <a:r>
                        <a:rPr lang="en-US" sz="1500" b="1" u="none" strike="noStrike">
                          <a:solidFill>
                            <a:srgbClr val="000000"/>
                          </a:solidFill>
                          <a:effectLst/>
                        </a:rPr>
                        <a:t>Due Date</a:t>
                      </a:r>
                      <a:endParaRPr lang="en-US" sz="1500" b="1" i="0" u="none" strike="noStrike">
                        <a:solidFill>
                          <a:srgbClr val="000000"/>
                        </a:solidFill>
                        <a:effectLst/>
                        <a:latin typeface="+mj-lt"/>
                        <a:cs typeface="Times New Roman"/>
                      </a:endParaRPr>
                    </a:p>
                  </a:txBody>
                  <a:tcPr marL="11430" marR="11430" marT="11430" marB="0" anchor="ctr"/>
                </a:tc>
                <a:tc>
                  <a:txBody>
                    <a:bodyPr/>
                    <a:lstStyle/>
                    <a:p>
                      <a:pPr algn="ctr" fontAlgn="ctr"/>
                      <a:r>
                        <a:rPr lang="en-US" sz="1500" b="1" u="none" strike="noStrike">
                          <a:solidFill>
                            <a:srgbClr val="000000"/>
                          </a:solidFill>
                          <a:effectLst/>
                        </a:rPr>
                        <a:t>Owner</a:t>
                      </a:r>
                      <a:endParaRPr lang="en-US" sz="1500" b="1" i="0" u="none" strike="noStrike">
                        <a:solidFill>
                          <a:srgbClr val="000000"/>
                        </a:solidFill>
                        <a:effectLst/>
                        <a:latin typeface="+mj-lt"/>
                        <a:cs typeface="Times New Roman"/>
                      </a:endParaRPr>
                    </a:p>
                  </a:txBody>
                  <a:tcPr marL="11430" marR="11430" marT="11430" marB="0" anchor="ctr"/>
                </a:tc>
                <a:extLst>
                  <a:ext uri="{0D108BD9-81ED-4DB2-BD59-A6C34878D82A}">
                    <a16:rowId xmlns:a16="http://schemas.microsoft.com/office/drawing/2014/main" val="3746560476"/>
                  </a:ext>
                </a:extLst>
              </a:tr>
              <a:tr h="697230">
                <a:tc>
                  <a:txBody>
                    <a:bodyPr/>
                    <a:lstStyle/>
                    <a:p>
                      <a:pPr algn="ctr" fontAlgn="ctr"/>
                      <a:r>
                        <a:rPr lang="en-US" sz="1500" b="1" u="none" strike="noStrike">
                          <a:solidFill>
                            <a:srgbClr val="000000"/>
                          </a:solidFill>
                          <a:effectLst/>
                        </a:rPr>
                        <a:t>Risks</a:t>
                      </a:r>
                      <a:endParaRPr lang="en-US" sz="1500" b="1" i="0" u="none" strike="noStrike">
                        <a:solidFill>
                          <a:srgbClr val="000000"/>
                        </a:solidFill>
                        <a:effectLst/>
                        <a:latin typeface="+mj-lt"/>
                        <a:cs typeface="Times New Roman"/>
                      </a:endParaRPr>
                    </a:p>
                  </a:txBody>
                  <a:tcPr marL="11430" marR="11430" marT="11430" marB="0" anchor="ctr"/>
                </a:tc>
                <a:tc>
                  <a:txBody>
                    <a:bodyPr/>
                    <a:lstStyle/>
                    <a:p>
                      <a:pPr marL="0" indent="0" algn="ctr" fontAlgn="ctr">
                        <a:buNone/>
                      </a:pPr>
                      <a:endParaRPr lang="en-US" sz="1500" b="0" u="none" strike="noStrike" baseline="0">
                        <a:solidFill>
                          <a:srgbClr val="000000"/>
                        </a:solidFill>
                        <a:effectLst/>
                      </a:endParaRPr>
                    </a:p>
                    <a:p>
                      <a:pPr marL="0" indent="0" algn="ctr" fontAlgn="ctr">
                        <a:buNone/>
                      </a:pPr>
                      <a:r>
                        <a:rPr lang="en-US" sz="1500" b="0" u="none" strike="noStrike" baseline="0">
                          <a:solidFill>
                            <a:srgbClr val="000000"/>
                          </a:solidFill>
                          <a:effectLst/>
                        </a:rPr>
                        <a:t>Kaka Khalid </a:t>
                      </a:r>
                      <a:r>
                        <a:rPr lang="en-US" sz="1500" b="0" u="none" strike="noStrike" baseline="0" err="1">
                          <a:solidFill>
                            <a:srgbClr val="000000"/>
                          </a:solidFill>
                          <a:effectLst/>
                        </a:rPr>
                        <a:t>los</a:t>
                      </a:r>
                      <a:r>
                        <a:rPr lang="en-US" sz="1500" b="0" u="none" strike="noStrike" baseline="0">
                          <a:solidFill>
                            <a:srgbClr val="000000"/>
                          </a:solidFill>
                          <a:effectLst/>
                        </a:rPr>
                        <a:t>t his son and we had to postpone the meeting for 1 week which added delay to the project</a:t>
                      </a:r>
                    </a:p>
                    <a:p>
                      <a:pPr marL="228600" indent="-228600" algn="ctr" fontAlgn="ctr">
                        <a:buAutoNum type="arabicPeriod"/>
                      </a:pPr>
                      <a:endParaRPr lang="en-US" sz="1500" b="0" i="0" u="none" strike="noStrike" baseline="0">
                        <a:solidFill>
                          <a:srgbClr val="000000"/>
                        </a:solidFill>
                        <a:effectLst/>
                        <a:latin typeface="+mj-lt"/>
                        <a:cs typeface="Times New Roman"/>
                      </a:endParaRPr>
                    </a:p>
                  </a:txBody>
                  <a:tcPr marL="11430" marR="11430" marT="11430" marB="0" anchor="ctr"/>
                </a:tc>
                <a:tc>
                  <a:txBody>
                    <a:bodyPr/>
                    <a:lstStyle/>
                    <a:p>
                      <a:pPr algn="ctr" fontAlgn="ctr"/>
                      <a:r>
                        <a:rPr lang="en-US" sz="1500" b="0" i="0" u="none" strike="noStrike">
                          <a:solidFill>
                            <a:schemeClr val="tx1"/>
                          </a:solidFill>
                          <a:effectLst/>
                          <a:latin typeface="+mj-lt"/>
                          <a:cs typeface="Times New Roman"/>
                        </a:rPr>
                        <a:t>Resolved</a:t>
                      </a:r>
                    </a:p>
                  </a:txBody>
                  <a:tcPr marL="11430" marR="11430" marT="11430" marB="0" anchor="ctr"/>
                </a:tc>
                <a:tc>
                  <a:txBody>
                    <a:bodyPr/>
                    <a:lstStyle/>
                    <a:p>
                      <a:pPr algn="ctr" fontAlgn="ctr"/>
                      <a:endParaRPr lang="en-US" sz="1500" b="0" i="0" u="none" strike="noStrike" baseline="0">
                        <a:solidFill>
                          <a:srgbClr val="000000"/>
                        </a:solidFill>
                        <a:effectLst/>
                        <a:latin typeface="+mj-lt"/>
                        <a:cs typeface="Times New Roman"/>
                      </a:endParaRPr>
                    </a:p>
                  </a:txBody>
                  <a:tcPr marL="11430" marR="11430" marT="11430" marB="0" anchor="ctr"/>
                </a:tc>
                <a:tc>
                  <a:txBody>
                    <a:bodyPr/>
                    <a:lstStyle/>
                    <a:p>
                      <a:pPr algn="ctr" fontAlgn="ctr"/>
                      <a:r>
                        <a:rPr lang="en-US" sz="1500" b="0" i="0" u="none" strike="noStrike" kern="1200">
                          <a:solidFill>
                            <a:srgbClr val="000000"/>
                          </a:solidFill>
                          <a:effectLst/>
                          <a:latin typeface="+mn-lt"/>
                          <a:ea typeface="+mn-ea"/>
                          <a:cs typeface="Times New Roman"/>
                        </a:rPr>
                        <a:t>Khalid Tawfeeq</a:t>
                      </a:r>
                    </a:p>
                  </a:txBody>
                  <a:tcPr marL="11430" marR="11430" marT="11430" marB="0" anchor="ctr"/>
                </a:tc>
                <a:extLst>
                  <a:ext uri="{0D108BD9-81ED-4DB2-BD59-A6C34878D82A}">
                    <a16:rowId xmlns:a16="http://schemas.microsoft.com/office/drawing/2014/main" val="161483975"/>
                  </a:ext>
                </a:extLst>
              </a:tr>
              <a:tr h="69723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1" u="none" strike="noStrike" kern="1200" cap="none" spc="0" normalizeH="0" baseline="0" noProof="0">
                          <a:ln>
                            <a:noFill/>
                          </a:ln>
                          <a:solidFill>
                            <a:srgbClr val="000000"/>
                          </a:solidFill>
                          <a:effectLst/>
                          <a:uLnTx/>
                          <a:uFillTx/>
                        </a:rPr>
                        <a:t>Issues</a:t>
                      </a:r>
                      <a:endParaRPr kumimoji="0" lang="en-US" sz="1500" b="1" i="0" u="none" strike="noStrike" kern="1200" cap="none" spc="0" normalizeH="0" baseline="0" noProof="0">
                        <a:ln>
                          <a:noFill/>
                        </a:ln>
                        <a:solidFill>
                          <a:srgbClr val="000000"/>
                        </a:solidFill>
                        <a:effectLst/>
                        <a:uLnTx/>
                        <a:uFillTx/>
                        <a:latin typeface="Aptos Display" panose="02110004020202020204"/>
                        <a:ea typeface="+mn-ea"/>
                        <a:cs typeface="Times New Roman" panose="02020603050405020304" pitchFamily="18" charset="0"/>
                      </a:endParaRPr>
                    </a:p>
                  </a:txBody>
                  <a:tcPr marL="137160" marR="137160" marT="68580" marB="68580" anchor="ctr"/>
                </a:tc>
                <a:tc>
                  <a:txBody>
                    <a:bodyPr/>
                    <a:lstStyle/>
                    <a:p>
                      <a:pPr marL="457200" marR="0" lvl="1" indent="0" algn="ctr" defTabSz="914400" rtl="0" eaLnBrk="1" fontAlgn="auto" latinLnBrk="0" hangingPunct="1">
                        <a:lnSpc>
                          <a:spcPct val="100000"/>
                        </a:lnSpc>
                        <a:spcBef>
                          <a:spcPts val="0"/>
                        </a:spcBef>
                        <a:spcAft>
                          <a:spcPts val="0"/>
                        </a:spcAft>
                        <a:buClrTx/>
                        <a:buSzTx/>
                        <a:buFont typeface="+mj-lt"/>
                        <a:buNone/>
                        <a:tabLst/>
                        <a:defRPr/>
                      </a:pPr>
                      <a:endParaRPr lang="en-US" sz="1500" strike="noStrike"/>
                    </a:p>
                    <a:p>
                      <a:pPr marL="0" marR="0" lvl="0" indent="0" algn="ctr" defTabSz="914400" rtl="0" eaLnBrk="1" fontAlgn="auto" latinLnBrk="0" hangingPunct="1">
                        <a:lnSpc>
                          <a:spcPct val="100000"/>
                        </a:lnSpc>
                        <a:spcBef>
                          <a:spcPts val="0"/>
                        </a:spcBef>
                        <a:spcAft>
                          <a:spcPts val="0"/>
                        </a:spcAft>
                        <a:buClrTx/>
                        <a:buSzTx/>
                        <a:buFont typeface="+mj-lt"/>
                        <a:buNone/>
                        <a:tabLst/>
                        <a:defRPr/>
                      </a:pPr>
                      <a:r>
                        <a:rPr lang="en-US" sz="1500" strike="noStrike"/>
                        <a:t>  No issues identified- currently</a:t>
                      </a:r>
                      <a:endParaRPr lang="en-US" sz="1500"/>
                    </a:p>
                  </a:txBody>
                  <a:tcPr marL="11430" marR="11430" marT="11430" marB="0"/>
                </a:tc>
                <a:tc>
                  <a:txBody>
                    <a:bodyPr/>
                    <a:lstStyle/>
                    <a:p>
                      <a:pPr algn="ctr" fontAlgn="ctr"/>
                      <a:endParaRPr lang="en-US" sz="1500" b="0" u="none" strike="noStrike" kern="1200">
                        <a:solidFill>
                          <a:srgbClr val="000000"/>
                        </a:solidFill>
                        <a:effectLst/>
                      </a:endParaRPr>
                    </a:p>
                    <a:p>
                      <a:pPr algn="ctr" fontAlgn="ctr"/>
                      <a:br>
                        <a:rPr lang="en-US" sz="1500" b="0" u="none" strike="noStrike" kern="1200">
                          <a:solidFill>
                            <a:srgbClr val="000000"/>
                          </a:solidFill>
                          <a:effectLst/>
                        </a:rPr>
                      </a:br>
                      <a:endParaRPr lang="en-US" sz="1500" b="0" i="0" u="none" strike="noStrike" kern="1200">
                        <a:solidFill>
                          <a:srgbClr val="000000"/>
                        </a:solidFill>
                        <a:effectLst/>
                        <a:latin typeface="+mn-lt"/>
                        <a:ea typeface="+mn-ea"/>
                        <a:cs typeface="Times New Roman"/>
                      </a:endParaRPr>
                    </a:p>
                  </a:txBody>
                  <a:tcPr marL="11430" marR="11430" marT="11430" marB="0"/>
                </a:tc>
                <a:tc>
                  <a:txBody>
                    <a:bodyPr/>
                    <a:lstStyle/>
                    <a:p>
                      <a:pPr marL="0" marR="0" lvl="0" indent="0" algn="ctr">
                        <a:lnSpc>
                          <a:spcPct val="100000"/>
                        </a:lnSpc>
                        <a:spcBef>
                          <a:spcPts val="0"/>
                        </a:spcBef>
                        <a:spcAft>
                          <a:spcPts val="0"/>
                        </a:spcAft>
                        <a:buNone/>
                      </a:pPr>
                      <a:endParaRPr lang="en-US" sz="1500" b="0" u="none" strike="noStrike" baseline="0" noProof="0">
                        <a:solidFill>
                          <a:srgbClr val="000000"/>
                        </a:solidFill>
                        <a:effectLst/>
                      </a:endParaRPr>
                    </a:p>
                  </a:txBody>
                  <a:tcPr marL="11430" marR="11430" marT="11430" marB="0"/>
                </a:tc>
                <a:tc>
                  <a:txBody>
                    <a:bodyPr/>
                    <a:lstStyle/>
                    <a:p>
                      <a:pPr lvl="0" algn="ctr">
                        <a:lnSpc>
                          <a:spcPct val="100000"/>
                        </a:lnSpc>
                        <a:spcBef>
                          <a:spcPts val="0"/>
                        </a:spcBef>
                        <a:spcAft>
                          <a:spcPts val="0"/>
                        </a:spcAft>
                        <a:buNone/>
                      </a:pPr>
                      <a:endParaRPr lang="en-US" sz="1500" b="0" u="none" strike="noStrike" noProof="0">
                        <a:solidFill>
                          <a:srgbClr val="000000"/>
                        </a:solidFill>
                        <a:effectLst/>
                      </a:endParaRPr>
                    </a:p>
                  </a:txBody>
                  <a:tcPr marL="11430" marR="11430" marT="11430" marB="0"/>
                </a:tc>
                <a:extLst>
                  <a:ext uri="{0D108BD9-81ED-4DB2-BD59-A6C34878D82A}">
                    <a16:rowId xmlns:a16="http://schemas.microsoft.com/office/drawing/2014/main" val="2752322571"/>
                  </a:ext>
                </a:extLst>
              </a:tr>
              <a:tr h="455169">
                <a:tc>
                  <a:txBody>
                    <a:bodyPr/>
                    <a:lstStyle/>
                    <a:p>
                      <a:pPr algn="ctr" fontAlgn="ctr"/>
                      <a:r>
                        <a:rPr lang="en-US" sz="1500" b="1" u="none" strike="noStrike">
                          <a:solidFill>
                            <a:srgbClr val="000000"/>
                          </a:solidFill>
                          <a:effectLst/>
                        </a:rPr>
                        <a:t>Decisions</a:t>
                      </a:r>
                    </a:p>
                  </a:txBody>
                  <a:tcPr marL="11430" marR="11430" marT="11430" marB="0" anchor="ctr"/>
                </a:tc>
                <a:tc>
                  <a:txBody>
                    <a:bodyPr/>
                    <a:lstStyle/>
                    <a:p>
                      <a:pPr marL="457200" marR="0" lvl="1" indent="0" algn="ctr" defTabSz="914400" rtl="0" eaLnBrk="1" fontAlgn="auto" latinLnBrk="0" hangingPunct="1">
                        <a:lnSpc>
                          <a:spcPct val="100000"/>
                        </a:lnSpc>
                        <a:spcBef>
                          <a:spcPts val="0"/>
                        </a:spcBef>
                        <a:spcAft>
                          <a:spcPts val="0"/>
                        </a:spcAft>
                        <a:buClrTx/>
                        <a:buSzTx/>
                        <a:buFontTx/>
                        <a:buNone/>
                        <a:tabLst/>
                        <a:defRPr/>
                      </a:pPr>
                      <a:endParaRPr kumimoji="0" lang="en-US" sz="1500" b="0" u="none" strike="noStrike" kern="1200" cap="none" spc="0" normalizeH="0" baseline="0" noProof="0">
                        <a:ln>
                          <a:noFill/>
                        </a:ln>
                        <a:solidFill>
                          <a:srgbClr val="000000"/>
                        </a:solidFill>
                        <a:effectLst/>
                        <a:uLnTx/>
                        <a:uFillTx/>
                      </a:endParaRPr>
                    </a:p>
                  </a:txBody>
                  <a:tcPr marL="11430" marR="11430" marT="11430" marB="0" anchor="ctr"/>
                </a:tc>
                <a:tc>
                  <a:txBody>
                    <a:bodyPr/>
                    <a:lstStyle/>
                    <a:p>
                      <a:pPr algn="ctr" fontAlgn="ctr"/>
                      <a:endParaRPr lang="en-US" sz="1500" b="0" u="none" strike="noStrike">
                        <a:solidFill>
                          <a:srgbClr val="000000"/>
                        </a:solidFill>
                        <a:effectLst/>
                      </a:endParaRPr>
                    </a:p>
                  </a:txBody>
                  <a:tcPr marL="11430" marR="11430" marT="1143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500" strike="noStrike">
                        <a:effectLst/>
                        <a:latin typeface="+mj-lt"/>
                        <a:cs typeface="Times New Roman" panose="02020603050405020304" pitchFamily="18" charset="0"/>
                      </a:endParaRPr>
                    </a:p>
                  </a:txBody>
                  <a:tcPr marL="11430" marR="11430" marT="11430" marB="0" anchor="ctr"/>
                </a:tc>
                <a:tc>
                  <a:txBody>
                    <a:bodyPr/>
                    <a:lstStyle/>
                    <a:p>
                      <a:pPr algn="ctr" fontAlgn="ctr"/>
                      <a:endParaRPr lang="en-US" sz="1500" b="0" u="none" strike="noStrike">
                        <a:solidFill>
                          <a:srgbClr val="000000"/>
                        </a:solidFill>
                        <a:effectLst/>
                      </a:endParaRPr>
                    </a:p>
                  </a:txBody>
                  <a:tcPr marL="11430" marR="11430" marT="11430" marB="0" anchor="ctr"/>
                </a:tc>
                <a:extLst>
                  <a:ext uri="{0D108BD9-81ED-4DB2-BD59-A6C34878D82A}">
                    <a16:rowId xmlns:a16="http://schemas.microsoft.com/office/drawing/2014/main" val="2986965557"/>
                  </a:ext>
                </a:extLst>
              </a:tr>
            </a:tbl>
          </a:graphicData>
        </a:graphic>
      </p:graphicFrame>
      <p:sp>
        <p:nvSpPr>
          <p:cNvPr id="3" name="Oval 2">
            <a:extLst>
              <a:ext uri="{FF2B5EF4-FFF2-40B4-BE49-F238E27FC236}">
                <a16:creationId xmlns:a16="http://schemas.microsoft.com/office/drawing/2014/main" id="{F759BB7F-0CC2-1A5E-C7E1-2AF4C7AF22D2}"/>
              </a:ext>
            </a:extLst>
          </p:cNvPr>
          <p:cNvSpPr/>
          <p:nvPr/>
        </p:nvSpPr>
        <p:spPr>
          <a:xfrm>
            <a:off x="2631594" y="5553215"/>
            <a:ext cx="435546" cy="405236"/>
          </a:xfrm>
          <a:prstGeom prst="ellipse">
            <a:avLst/>
          </a:prstGeom>
          <a:solidFill>
            <a:srgbClr val="003373"/>
          </a:solidFill>
          <a:ln w="9525">
            <a:solidFill>
              <a:srgbClr val="0033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pic>
        <p:nvPicPr>
          <p:cNvPr id="28" name="Picture 27">
            <a:extLst>
              <a:ext uri="{FF2B5EF4-FFF2-40B4-BE49-F238E27FC236}">
                <a16:creationId xmlns:a16="http://schemas.microsoft.com/office/drawing/2014/main" id="{05551153-BA2B-2A43-CC01-8CEF9F3C8E63}"/>
              </a:ext>
            </a:extLst>
          </p:cNvPr>
          <p:cNvPicPr>
            <a:picLocks noChangeAspect="1"/>
          </p:cNvPicPr>
          <p:nvPr/>
        </p:nvPicPr>
        <p:blipFill>
          <a:blip r:embed="rId3"/>
          <a:stretch>
            <a:fillRect/>
          </a:stretch>
        </p:blipFill>
        <p:spPr>
          <a:xfrm>
            <a:off x="2811917" y="5259161"/>
            <a:ext cx="123825" cy="323850"/>
          </a:xfrm>
          <a:prstGeom prst="rect">
            <a:avLst/>
          </a:prstGeom>
        </p:spPr>
      </p:pic>
      <p:sp>
        <p:nvSpPr>
          <p:cNvPr id="33" name="TextBox 32">
            <a:extLst>
              <a:ext uri="{FF2B5EF4-FFF2-40B4-BE49-F238E27FC236}">
                <a16:creationId xmlns:a16="http://schemas.microsoft.com/office/drawing/2014/main" id="{AC0A89EC-2E34-58C4-556A-DE7AD8F58A87}"/>
              </a:ext>
            </a:extLst>
          </p:cNvPr>
          <p:cNvSpPr txBox="1"/>
          <p:nvPr/>
        </p:nvSpPr>
        <p:spPr>
          <a:xfrm>
            <a:off x="1444519" y="4653720"/>
            <a:ext cx="2871529" cy="330860"/>
          </a:xfrm>
          <a:prstGeom prst="rect">
            <a:avLst/>
          </a:prstGeom>
          <a:noFill/>
        </p:spPr>
        <p:txBody>
          <a:bodyPr wrap="square" lIns="0" tIns="45720" rIns="0" bIns="4572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defRPr/>
            </a:pPr>
            <a:r>
              <a:rPr lang="en-US" altLang="ko-KR" sz="1550" b="1">
                <a:solidFill>
                  <a:prstClr val="black"/>
                </a:solidFill>
                <a:latin typeface="Arial"/>
                <a:ea typeface="맑은 고딕"/>
                <a:cs typeface="Arial"/>
              </a:rPr>
              <a:t>Project Kick-off</a:t>
            </a:r>
          </a:p>
        </p:txBody>
      </p:sp>
      <p:sp>
        <p:nvSpPr>
          <p:cNvPr id="37" name="TextBox 36">
            <a:extLst>
              <a:ext uri="{FF2B5EF4-FFF2-40B4-BE49-F238E27FC236}">
                <a16:creationId xmlns:a16="http://schemas.microsoft.com/office/drawing/2014/main" id="{D9341BA3-C1C8-1631-6E08-A864DD208DC5}"/>
              </a:ext>
            </a:extLst>
          </p:cNvPr>
          <p:cNvSpPr txBox="1"/>
          <p:nvPr/>
        </p:nvSpPr>
        <p:spPr>
          <a:xfrm>
            <a:off x="4325505" y="4653719"/>
            <a:ext cx="2871529" cy="330860"/>
          </a:xfrm>
          <a:prstGeom prst="rect">
            <a:avLst/>
          </a:prstGeom>
          <a:noFill/>
        </p:spPr>
        <p:txBody>
          <a:bodyPr wrap="square" lIns="0" tIns="45720" rIns="0" bIns="4572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defRPr/>
            </a:pPr>
            <a:r>
              <a:rPr lang="en-US" altLang="ko-KR" sz="1550" b="1">
                <a:solidFill>
                  <a:prstClr val="black"/>
                </a:solidFill>
                <a:latin typeface="Arial"/>
                <a:ea typeface="맑은 고딕"/>
                <a:cs typeface="Arial"/>
              </a:rPr>
              <a:t>Compliance Controls</a:t>
            </a:r>
            <a:endParaRPr lang="en-US">
              <a:solidFill>
                <a:prstClr val="black"/>
              </a:solidFill>
            </a:endParaRPr>
          </a:p>
        </p:txBody>
      </p:sp>
      <p:sp>
        <p:nvSpPr>
          <p:cNvPr id="38" name="TextBox 37">
            <a:extLst>
              <a:ext uri="{FF2B5EF4-FFF2-40B4-BE49-F238E27FC236}">
                <a16:creationId xmlns:a16="http://schemas.microsoft.com/office/drawing/2014/main" id="{33106BD3-91F0-4BE3-1F80-471E201758D5}"/>
              </a:ext>
            </a:extLst>
          </p:cNvPr>
          <p:cNvSpPr txBox="1"/>
          <p:nvPr/>
        </p:nvSpPr>
        <p:spPr>
          <a:xfrm>
            <a:off x="7206490" y="4653718"/>
            <a:ext cx="2871529" cy="330860"/>
          </a:xfrm>
          <a:prstGeom prst="rect">
            <a:avLst/>
          </a:prstGeom>
          <a:noFill/>
        </p:spPr>
        <p:txBody>
          <a:bodyPr wrap="square" lIns="0" tIns="45720" rIns="0" bIns="45720" rtlCol="0"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defRPr/>
            </a:pPr>
            <a:r>
              <a:rPr lang="en-US" altLang="ko-KR" sz="1550" b="1">
                <a:solidFill>
                  <a:prstClr val="black"/>
                </a:solidFill>
                <a:latin typeface="Arial"/>
                <a:ea typeface="맑은 고딕"/>
                <a:cs typeface="Arial"/>
              </a:rPr>
              <a:t>Development Controls</a:t>
            </a:r>
            <a:endParaRPr lang="en-US"/>
          </a:p>
        </p:txBody>
      </p:sp>
      <p:sp>
        <p:nvSpPr>
          <p:cNvPr id="27" name="TextBox 26">
            <a:extLst>
              <a:ext uri="{FF2B5EF4-FFF2-40B4-BE49-F238E27FC236}">
                <a16:creationId xmlns:a16="http://schemas.microsoft.com/office/drawing/2014/main" id="{D32A1B1A-4205-BF41-293E-2C481876FA2F}"/>
              </a:ext>
            </a:extLst>
          </p:cNvPr>
          <p:cNvSpPr txBox="1"/>
          <p:nvPr/>
        </p:nvSpPr>
        <p:spPr>
          <a:xfrm>
            <a:off x="5184687" y="5966427"/>
            <a:ext cx="143516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b="1">
                <a:ea typeface="Calibri"/>
                <a:cs typeface="Calibri"/>
              </a:rPr>
              <a:t>May (2026) </a:t>
            </a:r>
            <a:endParaRPr lang="en-GB" sz="1600" b="1"/>
          </a:p>
        </p:txBody>
      </p:sp>
      <p:sp>
        <p:nvSpPr>
          <p:cNvPr id="32" name="TextBox 31">
            <a:extLst>
              <a:ext uri="{FF2B5EF4-FFF2-40B4-BE49-F238E27FC236}">
                <a16:creationId xmlns:a16="http://schemas.microsoft.com/office/drawing/2014/main" id="{C0DA73F5-3B86-F2DF-BEA0-9F689D9FA84D}"/>
              </a:ext>
            </a:extLst>
          </p:cNvPr>
          <p:cNvSpPr txBox="1"/>
          <p:nvPr/>
        </p:nvSpPr>
        <p:spPr>
          <a:xfrm>
            <a:off x="8151518" y="5979564"/>
            <a:ext cx="1395751"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b="1">
                <a:ea typeface="Calibri"/>
                <a:cs typeface="Calibri"/>
              </a:rPr>
              <a:t>June (2026)</a:t>
            </a:r>
            <a:endParaRPr lang="en-GB" sz="1600" b="1"/>
          </a:p>
        </p:txBody>
      </p:sp>
      <p:pic>
        <p:nvPicPr>
          <p:cNvPr id="26" name="Picture 25">
            <a:extLst>
              <a:ext uri="{FF2B5EF4-FFF2-40B4-BE49-F238E27FC236}">
                <a16:creationId xmlns:a16="http://schemas.microsoft.com/office/drawing/2014/main" id="{C99D27F1-C501-8667-B30D-28CA327D0995}"/>
              </a:ext>
            </a:extLst>
          </p:cNvPr>
          <p:cNvPicPr>
            <a:picLocks noChangeAspect="1"/>
          </p:cNvPicPr>
          <p:nvPr/>
        </p:nvPicPr>
        <p:blipFill>
          <a:blip r:embed="rId3"/>
          <a:stretch>
            <a:fillRect/>
          </a:stretch>
        </p:blipFill>
        <p:spPr>
          <a:xfrm>
            <a:off x="5661587" y="5227845"/>
            <a:ext cx="123825" cy="323850"/>
          </a:xfrm>
          <a:prstGeom prst="rect">
            <a:avLst/>
          </a:prstGeom>
        </p:spPr>
      </p:pic>
      <p:sp>
        <p:nvSpPr>
          <p:cNvPr id="42" name="Oval 41">
            <a:extLst>
              <a:ext uri="{FF2B5EF4-FFF2-40B4-BE49-F238E27FC236}">
                <a16:creationId xmlns:a16="http://schemas.microsoft.com/office/drawing/2014/main" id="{A1504A26-4F40-3532-AD2B-E0B89D6E5983}"/>
              </a:ext>
            </a:extLst>
          </p:cNvPr>
          <p:cNvSpPr/>
          <p:nvPr/>
        </p:nvSpPr>
        <p:spPr>
          <a:xfrm>
            <a:off x="5496922" y="5553214"/>
            <a:ext cx="435546" cy="405236"/>
          </a:xfrm>
          <a:prstGeom prst="ellipse">
            <a:avLst/>
          </a:prstGeom>
          <a:solidFill>
            <a:srgbClr val="003373"/>
          </a:solidFill>
          <a:ln w="9525">
            <a:solidFill>
              <a:srgbClr val="0033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5" name="Oval 34">
            <a:extLst>
              <a:ext uri="{FF2B5EF4-FFF2-40B4-BE49-F238E27FC236}">
                <a16:creationId xmlns:a16="http://schemas.microsoft.com/office/drawing/2014/main" id="{4D704525-03FD-70AB-2FCD-E0E5D8B59AED}"/>
              </a:ext>
            </a:extLst>
          </p:cNvPr>
          <p:cNvSpPr/>
          <p:nvPr/>
        </p:nvSpPr>
        <p:spPr>
          <a:xfrm>
            <a:off x="8509655" y="5553214"/>
            <a:ext cx="435546" cy="405236"/>
          </a:xfrm>
          <a:prstGeom prst="ellipse">
            <a:avLst/>
          </a:prstGeom>
          <a:solidFill>
            <a:srgbClr val="00B05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pic>
        <p:nvPicPr>
          <p:cNvPr id="39" name="Picture 38">
            <a:extLst>
              <a:ext uri="{FF2B5EF4-FFF2-40B4-BE49-F238E27FC236}">
                <a16:creationId xmlns:a16="http://schemas.microsoft.com/office/drawing/2014/main" id="{0934D191-E2EA-95CA-DBA2-DBB2701AECCF}"/>
              </a:ext>
            </a:extLst>
          </p:cNvPr>
          <p:cNvPicPr>
            <a:picLocks noChangeAspect="1"/>
          </p:cNvPicPr>
          <p:nvPr/>
        </p:nvPicPr>
        <p:blipFill>
          <a:blip r:embed="rId4"/>
          <a:stretch>
            <a:fillRect/>
          </a:stretch>
        </p:blipFill>
        <p:spPr>
          <a:xfrm>
            <a:off x="8668431" y="5192708"/>
            <a:ext cx="123825" cy="352425"/>
          </a:xfrm>
          <a:prstGeom prst="rect">
            <a:avLst/>
          </a:prstGeom>
        </p:spPr>
      </p:pic>
    </p:spTree>
    <p:extLst>
      <p:ext uri="{BB962C8B-B14F-4D97-AF65-F5344CB8AC3E}">
        <p14:creationId xmlns:p14="http://schemas.microsoft.com/office/powerpoint/2010/main" val="19283309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11B2E-00FE-703B-DE8B-69482B6786C9}"/>
            </a:ext>
          </a:extLst>
        </p:cNvPr>
        <p:cNvGrpSpPr/>
        <p:nvPr/>
      </p:nvGrpSpPr>
      <p:grpSpPr>
        <a:xfrm>
          <a:off x="0" y="0"/>
          <a:ext cx="0" cy="0"/>
          <a:chOff x="0" y="0"/>
          <a:chExt cx="0" cy="0"/>
        </a:xfrm>
      </p:grpSpPr>
      <p:pic>
        <p:nvPicPr>
          <p:cNvPr id="53" name="Picture 52">
            <a:extLst>
              <a:ext uri="{FF2B5EF4-FFF2-40B4-BE49-F238E27FC236}">
                <a16:creationId xmlns:a16="http://schemas.microsoft.com/office/drawing/2014/main" id="{DEC5CE65-1F45-094E-1399-FACCEA0862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19415" y="60344"/>
            <a:ext cx="2308638" cy="1251719"/>
          </a:xfrm>
          <a:prstGeom prst="rect">
            <a:avLst/>
          </a:prstGeom>
        </p:spPr>
      </p:pic>
      <p:sp>
        <p:nvSpPr>
          <p:cNvPr id="3" name="Rectangle 2">
            <a:extLst>
              <a:ext uri="{FF2B5EF4-FFF2-40B4-BE49-F238E27FC236}">
                <a16:creationId xmlns:a16="http://schemas.microsoft.com/office/drawing/2014/main" id="{6A27143A-657F-5624-A590-1C3103161998}"/>
              </a:ext>
            </a:extLst>
          </p:cNvPr>
          <p:cNvSpPr/>
          <p:nvPr/>
        </p:nvSpPr>
        <p:spPr>
          <a:xfrm>
            <a:off x="831653" y="1660601"/>
            <a:ext cx="16583688" cy="452903"/>
          </a:xfrm>
          <a:prstGeom prst="rect">
            <a:avLst/>
          </a:prstGeom>
          <a:solidFill>
            <a:srgbClr val="00A69C"/>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Key Action Items</a:t>
            </a:r>
          </a:p>
        </p:txBody>
      </p:sp>
      <p:sp>
        <p:nvSpPr>
          <p:cNvPr id="6" name="Title 1">
            <a:extLst>
              <a:ext uri="{FF2B5EF4-FFF2-40B4-BE49-F238E27FC236}">
                <a16:creationId xmlns:a16="http://schemas.microsoft.com/office/drawing/2014/main" id="{2C429C0F-7EED-4F23-78FB-DBA18A5970C1}"/>
              </a:ext>
            </a:extLst>
          </p:cNvPr>
          <p:cNvSpPr txBox="1">
            <a:spLocks/>
          </p:cNvSpPr>
          <p:nvPr/>
        </p:nvSpPr>
        <p:spPr>
          <a:xfrm>
            <a:off x="831653" y="1059248"/>
            <a:ext cx="13441680" cy="415499"/>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spcBef>
                <a:spcPct val="0"/>
              </a:spcBef>
              <a:defRPr/>
            </a:pPr>
            <a:r>
              <a:rPr lang="en-US">
                <a:solidFill>
                  <a:srgbClr val="000000"/>
                </a:solidFill>
              </a:rPr>
              <a:t>Gas Station</a:t>
            </a:r>
            <a:endParaRPr lang="en-US"/>
          </a:p>
        </p:txBody>
      </p:sp>
      <p:graphicFrame>
        <p:nvGraphicFramePr>
          <p:cNvPr id="7" name="Table 6">
            <a:extLst>
              <a:ext uri="{FF2B5EF4-FFF2-40B4-BE49-F238E27FC236}">
                <a16:creationId xmlns:a16="http://schemas.microsoft.com/office/drawing/2014/main" id="{773D7A59-0B11-91E1-1C3A-6277C1AA766C}"/>
              </a:ext>
            </a:extLst>
          </p:cNvPr>
          <p:cNvGraphicFramePr>
            <a:graphicFrameLocks noGrp="1"/>
          </p:cNvGraphicFramePr>
          <p:nvPr>
            <p:extLst>
              <p:ext uri="{D42A27DB-BD31-4B8C-83A1-F6EECF244321}">
                <p14:modId xmlns:p14="http://schemas.microsoft.com/office/powerpoint/2010/main" val="3026177685"/>
              </p:ext>
            </p:extLst>
          </p:nvPr>
        </p:nvGraphicFramePr>
        <p:xfrm>
          <a:off x="804790" y="2299358"/>
          <a:ext cx="16637414" cy="3229893"/>
        </p:xfrm>
        <a:graphic>
          <a:graphicData uri="http://schemas.openxmlformats.org/drawingml/2006/table">
            <a:tbl>
              <a:tblPr>
                <a:tableStyleId>{5C22544A-7EE6-4342-B048-85BDC9FD1C3A}</a:tableStyleId>
              </a:tblPr>
              <a:tblGrid>
                <a:gridCol w="781283">
                  <a:extLst>
                    <a:ext uri="{9D8B030D-6E8A-4147-A177-3AD203B41FA5}">
                      <a16:colId xmlns:a16="http://schemas.microsoft.com/office/drawing/2014/main" val="1957147653"/>
                    </a:ext>
                  </a:extLst>
                </a:gridCol>
                <a:gridCol w="5873682">
                  <a:extLst>
                    <a:ext uri="{9D8B030D-6E8A-4147-A177-3AD203B41FA5}">
                      <a16:colId xmlns:a16="http://schemas.microsoft.com/office/drawing/2014/main" val="2952343754"/>
                    </a:ext>
                  </a:extLst>
                </a:gridCol>
                <a:gridCol w="3327483">
                  <a:extLst>
                    <a:ext uri="{9D8B030D-6E8A-4147-A177-3AD203B41FA5}">
                      <a16:colId xmlns:a16="http://schemas.microsoft.com/office/drawing/2014/main" val="899017330"/>
                    </a:ext>
                  </a:extLst>
                </a:gridCol>
                <a:gridCol w="3327483">
                  <a:extLst>
                    <a:ext uri="{9D8B030D-6E8A-4147-A177-3AD203B41FA5}">
                      <a16:colId xmlns:a16="http://schemas.microsoft.com/office/drawing/2014/main" val="3463251137"/>
                    </a:ext>
                  </a:extLst>
                </a:gridCol>
                <a:gridCol w="3327483">
                  <a:extLst>
                    <a:ext uri="{9D8B030D-6E8A-4147-A177-3AD203B41FA5}">
                      <a16:colId xmlns:a16="http://schemas.microsoft.com/office/drawing/2014/main" val="1499313505"/>
                    </a:ext>
                  </a:extLst>
                </a:gridCol>
              </a:tblGrid>
              <a:tr h="653721">
                <a:tc>
                  <a:txBody>
                    <a:bodyPr/>
                    <a:lstStyle/>
                    <a:p>
                      <a:pPr algn="ctr" fontAlgn="ctr"/>
                      <a:r>
                        <a:rPr lang="en-US" sz="1700" b="1" i="0" u="none" strike="noStrike">
                          <a:solidFill>
                            <a:schemeClr val="bg1"/>
                          </a:solidFill>
                          <a:effectLst/>
                          <a:latin typeface="Aptos Narrow"/>
                        </a:rPr>
                        <a:t>#</a:t>
                      </a:r>
                    </a:p>
                  </a:txBody>
                  <a:tcPr marL="11430" marR="11430" marT="11430" marB="0" anchor="ctr">
                    <a:lnB w="12700" cap="flat" cmpd="sng" algn="ctr">
                      <a:noFill/>
                      <a:prstDash val="solid"/>
                      <a:round/>
                      <a:headEnd type="none" w="med" len="med"/>
                      <a:tailEnd type="none" w="med" len="med"/>
                    </a:lnB>
                    <a:solidFill>
                      <a:srgbClr val="00A69C"/>
                    </a:solidFill>
                  </a:tcPr>
                </a:tc>
                <a:tc>
                  <a:txBody>
                    <a:bodyPr/>
                    <a:lstStyle/>
                    <a:p>
                      <a:pPr algn="ctr" fontAlgn="ctr"/>
                      <a:r>
                        <a:rPr lang="en-US" sz="1700" b="1" i="0" u="none" strike="noStrike">
                          <a:solidFill>
                            <a:schemeClr val="bg1"/>
                          </a:solidFill>
                          <a:effectLst/>
                          <a:latin typeface="Aptos Narrow"/>
                        </a:rPr>
                        <a:t>Action Item</a:t>
                      </a:r>
                    </a:p>
                  </a:txBody>
                  <a:tcPr marL="11430" marR="11430" marT="11430" marB="0" anchor="ctr">
                    <a:lnB w="12700" cap="flat" cmpd="sng" algn="ctr">
                      <a:noFill/>
                      <a:prstDash val="solid"/>
                      <a:round/>
                      <a:headEnd type="none" w="med" len="med"/>
                      <a:tailEnd type="none" w="med" len="med"/>
                    </a:lnB>
                    <a:solidFill>
                      <a:srgbClr val="00A69C"/>
                    </a:solidFill>
                  </a:tcPr>
                </a:tc>
                <a:tc>
                  <a:txBody>
                    <a:bodyPr/>
                    <a:lstStyle/>
                    <a:p>
                      <a:pPr algn="ctr" fontAlgn="ctr"/>
                      <a:r>
                        <a:rPr lang="en-US" sz="1700" b="1" i="0" u="none" strike="noStrike">
                          <a:solidFill>
                            <a:schemeClr val="bg1"/>
                          </a:solidFill>
                          <a:effectLst/>
                          <a:latin typeface="Aptos Narrow"/>
                        </a:rPr>
                        <a:t>Status</a:t>
                      </a:r>
                    </a:p>
                  </a:txBody>
                  <a:tcPr marL="11430" marR="11430" marT="11430" marB="0" anchor="ctr">
                    <a:lnB w="12700" cap="flat" cmpd="sng" algn="ctr">
                      <a:noFill/>
                      <a:prstDash val="solid"/>
                      <a:round/>
                      <a:headEnd type="none" w="med" len="med"/>
                      <a:tailEnd type="none" w="med" len="med"/>
                    </a:lnB>
                    <a:solidFill>
                      <a:srgbClr val="00A69C"/>
                    </a:solidFill>
                  </a:tcPr>
                </a:tc>
                <a:tc>
                  <a:txBody>
                    <a:bodyPr/>
                    <a:lstStyle/>
                    <a:p>
                      <a:pPr algn="ctr" fontAlgn="ctr"/>
                      <a:r>
                        <a:rPr lang="en-US" sz="1700" b="1" i="0" u="none" strike="noStrike">
                          <a:solidFill>
                            <a:schemeClr val="bg1"/>
                          </a:solidFill>
                          <a:effectLst/>
                          <a:latin typeface="Aptos Narrow"/>
                        </a:rPr>
                        <a:t>Due Date</a:t>
                      </a:r>
                    </a:p>
                  </a:txBody>
                  <a:tcPr marL="11430" marR="11430" marT="11430" marB="0" anchor="ctr">
                    <a:lnB w="12700" cap="flat" cmpd="sng" algn="ctr">
                      <a:noFill/>
                      <a:prstDash val="solid"/>
                      <a:round/>
                      <a:headEnd type="none" w="med" len="med"/>
                      <a:tailEnd type="none" w="med" len="med"/>
                    </a:lnB>
                    <a:solidFill>
                      <a:srgbClr val="00A69C"/>
                    </a:solidFill>
                  </a:tcPr>
                </a:tc>
                <a:tc>
                  <a:txBody>
                    <a:bodyPr/>
                    <a:lstStyle/>
                    <a:p>
                      <a:pPr algn="ctr" fontAlgn="ctr"/>
                      <a:r>
                        <a:rPr lang="en-US" sz="1700" b="1" i="0" u="none" strike="noStrike">
                          <a:solidFill>
                            <a:schemeClr val="bg1"/>
                          </a:solidFill>
                          <a:effectLst/>
                          <a:latin typeface="Aptos Narrow"/>
                        </a:rPr>
                        <a:t>Owner</a:t>
                      </a:r>
                    </a:p>
                  </a:txBody>
                  <a:tcPr marL="11430" marR="11430" marT="11430" marB="0" anchor="ctr">
                    <a:lnB w="12700" cap="flat" cmpd="sng" algn="ctr">
                      <a:noFill/>
                      <a:prstDash val="solid"/>
                      <a:round/>
                      <a:headEnd type="none" w="med" len="med"/>
                      <a:tailEnd type="none" w="med" len="med"/>
                    </a:lnB>
                    <a:solidFill>
                      <a:srgbClr val="00A69C"/>
                    </a:solidFill>
                  </a:tcPr>
                </a:tc>
                <a:extLst>
                  <a:ext uri="{0D108BD9-81ED-4DB2-BD59-A6C34878D82A}">
                    <a16:rowId xmlns:a16="http://schemas.microsoft.com/office/drawing/2014/main" val="3393840757"/>
                  </a:ext>
                </a:extLst>
              </a:tr>
              <a:tr h="653721">
                <a:tc>
                  <a:txBody>
                    <a:bodyPr/>
                    <a:lstStyle/>
                    <a:p>
                      <a:pPr algn="ctr" fontAlgn="ctr"/>
                      <a:r>
                        <a:rPr lang="en-US" sz="1700" b="0" i="0" u="none" strike="noStrike">
                          <a:solidFill>
                            <a:srgbClr val="000000"/>
                          </a:solidFill>
                          <a:effectLst/>
                          <a:latin typeface="Aptos Narrow"/>
                        </a:rPr>
                        <a:t>1</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700" b="0" i="0" u="none" strike="noStrike">
                          <a:solidFill>
                            <a:srgbClr val="000000"/>
                          </a:solidFill>
                          <a:effectLst/>
                          <a:latin typeface="Arial"/>
                          <a:cs typeface="Arial"/>
                        </a:rPr>
                        <a:t>Project Kick-off</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Completed</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en-US" sz="1700" b="0" i="0" u="none" strike="noStrike" baseline="0" noProof="0">
                          <a:solidFill>
                            <a:srgbClr val="000000"/>
                          </a:solidFill>
                          <a:effectLst/>
                          <a:latin typeface="Arial"/>
                        </a:rPr>
                        <a:t>15.4.2026</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700" b="0" i="0" u="none" strike="noStrike">
                          <a:solidFill>
                            <a:srgbClr val="000000"/>
                          </a:solidFill>
                          <a:effectLst/>
                          <a:latin typeface="Arial"/>
                          <a:cs typeface="Arial"/>
                        </a:rPr>
                        <a:t>Compliance, PMO</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3816635"/>
                  </a:ext>
                </a:extLst>
              </a:tr>
              <a:tr h="1268730">
                <a:tc>
                  <a:txBody>
                    <a:bodyPr/>
                    <a:lstStyle/>
                    <a:p>
                      <a:pPr algn="ctr" fontAlgn="ctr"/>
                      <a:r>
                        <a:rPr lang="en-US" sz="1700" b="0" i="0" u="none" strike="noStrike">
                          <a:solidFill>
                            <a:srgbClr val="000000"/>
                          </a:solidFill>
                          <a:effectLst/>
                          <a:latin typeface="Aptos Narrow"/>
                        </a:rPr>
                        <a:t>2</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buNone/>
                      </a:pPr>
                      <a:r>
                        <a:rPr lang="en-US" sz="1700" b="0" i="0" u="none" strike="noStrike" baseline="0" noProof="0">
                          <a:solidFill>
                            <a:srgbClr val="000000"/>
                          </a:solidFill>
                          <a:effectLst/>
                          <a:latin typeface="Arial"/>
                        </a:rPr>
                        <a:t>Compliance Requirements to cover the gaps within the PEPS EY Report</a:t>
                      </a:r>
                      <a:endParaRPr lang="en-US"/>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Completed</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a:lnSpc>
                          <a:spcPct val="100000"/>
                        </a:lnSpc>
                        <a:spcBef>
                          <a:spcPts val="0"/>
                        </a:spcBef>
                        <a:spcAft>
                          <a:spcPts val="0"/>
                        </a:spcAft>
                        <a:buNone/>
                        <a:tabLst/>
                        <a:defRPr/>
                      </a:pPr>
                      <a:r>
                        <a:rPr lang="en-US" sz="1700" b="0" i="0" u="none" strike="noStrike" baseline="0" noProof="0">
                          <a:solidFill>
                            <a:srgbClr val="000000"/>
                          </a:solidFill>
                          <a:effectLst/>
                          <a:latin typeface="Arial"/>
                        </a:rPr>
                        <a:t>25.4.2026</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700" b="0" i="0" u="none" strike="noStrike">
                          <a:solidFill>
                            <a:srgbClr val="000000"/>
                          </a:solidFill>
                          <a:effectLst/>
                          <a:latin typeface="Arial"/>
                          <a:cs typeface="Arial"/>
                        </a:rPr>
                        <a:t>Compliance</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4845869"/>
                  </a:ext>
                </a:extLst>
              </a:tr>
              <a:tr h="653721">
                <a:tc>
                  <a:txBody>
                    <a:bodyPr/>
                    <a:lstStyle/>
                    <a:p>
                      <a:pPr algn="ctr" fontAlgn="ctr"/>
                      <a:r>
                        <a:rPr lang="en-US" sz="1700" b="0" i="0" u="none" strike="noStrike">
                          <a:solidFill>
                            <a:srgbClr val="000000"/>
                          </a:solidFill>
                          <a:effectLst/>
                          <a:latin typeface="Aptos Narrow"/>
                        </a:rPr>
                        <a:t>3</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buNone/>
                      </a:pPr>
                      <a:r>
                        <a:rPr lang="en-US" sz="1700" b="0" i="0" u="none" strike="noStrike" baseline="0" noProof="0">
                          <a:solidFill>
                            <a:srgbClr val="000000"/>
                          </a:solidFill>
                          <a:effectLst/>
                          <a:latin typeface="Arial"/>
                        </a:rPr>
                        <a:t>Development controls on the app for the gaps defined within the PEPs EY report.</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700" b="0" i="0" u="none" strike="noStrike">
                          <a:solidFill>
                            <a:srgbClr val="000000"/>
                          </a:solidFill>
                          <a:effectLst/>
                          <a:latin typeface="Arial"/>
                          <a:cs typeface="Arial"/>
                        </a:rPr>
                        <a:t>In Progress</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700" b="0" i="0" u="none" strike="noStrike" baseline="0">
                          <a:solidFill>
                            <a:srgbClr val="000000"/>
                          </a:solidFill>
                          <a:effectLst/>
                          <a:latin typeface="Arial"/>
                          <a:cs typeface="Arial"/>
                        </a:rPr>
                        <a:t>15.6.2026</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700" b="0" i="0" u="none" strike="noStrike">
                          <a:solidFill>
                            <a:srgbClr val="000000"/>
                          </a:solidFill>
                          <a:effectLst/>
                          <a:latin typeface="Arial"/>
                          <a:cs typeface="Arial"/>
                        </a:rPr>
                        <a:t>Development</a:t>
                      </a:r>
                    </a:p>
                  </a:txBody>
                  <a:tcPr marL="11430" marR="11430" marT="1143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2546927"/>
                  </a:ext>
                </a:extLst>
              </a:tr>
            </a:tbl>
          </a:graphicData>
        </a:graphic>
      </p:graphicFrame>
    </p:spTree>
    <p:extLst>
      <p:ext uri="{BB962C8B-B14F-4D97-AF65-F5344CB8AC3E}">
        <p14:creationId xmlns:p14="http://schemas.microsoft.com/office/powerpoint/2010/main" val="26041855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2"/>
          <p:cNvSpPr txBox="1"/>
          <p:nvPr/>
        </p:nvSpPr>
        <p:spPr>
          <a:xfrm>
            <a:off x="3402404" y="4054634"/>
            <a:ext cx="11483192" cy="2880307"/>
          </a:xfrm>
          <a:prstGeom prst="rect">
            <a:avLst/>
          </a:prstGeom>
        </p:spPr>
        <p:txBody>
          <a:bodyPr lIns="0" tIns="0" rIns="0" bIns="0" rtlCol="0" anchor="t">
            <a:spAutoFit/>
          </a:bodyPr>
          <a:lstStyle/>
          <a:p>
            <a:pPr algn="ctr">
              <a:lnSpc>
                <a:spcPts val="10618"/>
              </a:lnSpc>
            </a:pPr>
            <a:r>
              <a:rPr lang="en-US" sz="11060" b="1">
                <a:solidFill>
                  <a:srgbClr val="00A09A"/>
                </a:solidFill>
                <a:latin typeface="Poppins Bold"/>
                <a:ea typeface="Poppins Bold"/>
                <a:cs typeface="Poppins Bold"/>
                <a:sym typeface="Poppins Bold"/>
              </a:rPr>
              <a:t>THANK YOU</a:t>
            </a:r>
          </a:p>
          <a:p>
            <a:pPr algn="ctr">
              <a:lnSpc>
                <a:spcPts val="10618"/>
              </a:lnSpc>
            </a:pPr>
            <a:r>
              <a:rPr lang="en-US" sz="11060" b="1">
                <a:solidFill>
                  <a:srgbClr val="00A09A"/>
                </a:solidFill>
                <a:latin typeface="Poppins Bold"/>
                <a:ea typeface="Poppins Bold"/>
                <a:cs typeface="Poppins Bold"/>
                <a:sym typeface="Poppins Bold"/>
              </a:rPr>
              <a:t>FOR ATTENTION</a:t>
            </a:r>
          </a:p>
        </p:txBody>
      </p:sp>
      <p:sp>
        <p:nvSpPr>
          <p:cNvPr id="13" name="TextBox 13"/>
          <p:cNvSpPr txBox="1"/>
          <p:nvPr/>
        </p:nvSpPr>
        <p:spPr>
          <a:xfrm>
            <a:off x="14360152" y="1122903"/>
            <a:ext cx="2377893" cy="358775"/>
          </a:xfrm>
          <a:prstGeom prst="rect">
            <a:avLst/>
          </a:prstGeom>
        </p:spPr>
        <p:txBody>
          <a:bodyPr lIns="0" tIns="0" rIns="0" bIns="0" rtlCol="0" anchor="t">
            <a:spAutoFit/>
          </a:bodyPr>
          <a:lstStyle/>
          <a:p>
            <a:pPr algn="r">
              <a:lnSpc>
                <a:spcPts val="2799"/>
              </a:lnSpc>
              <a:spcBef>
                <a:spcPct val="0"/>
              </a:spcBef>
            </a:pPr>
            <a:r>
              <a:rPr lang="en-US" sz="1999">
                <a:solidFill>
                  <a:srgbClr val="FFFFFF"/>
                </a:solidFill>
                <a:latin typeface="Poppins"/>
                <a:ea typeface="Poppins"/>
                <a:cs typeface="Poppins"/>
                <a:sym typeface="Poppins"/>
              </a:rPr>
              <a:t>11 January 2025</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38269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24538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43063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C654A-6D3F-3221-177B-98DA83E2A875}"/>
            </a:ext>
          </a:extLst>
        </p:cNvPr>
        <p:cNvGrpSpPr/>
        <p:nvPr/>
      </p:nvGrpSpPr>
      <p:grpSpPr>
        <a:xfrm>
          <a:off x="0" y="0"/>
          <a:ext cx="0" cy="0"/>
          <a:chOff x="0" y="0"/>
          <a:chExt cx="0" cy="0"/>
        </a:xfrm>
      </p:grpSpPr>
    </p:spTree>
    <p:extLst>
      <p:ext uri="{BB962C8B-B14F-4D97-AF65-F5344CB8AC3E}">
        <p14:creationId xmlns:p14="http://schemas.microsoft.com/office/powerpoint/2010/main" val="22229009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E63DF-61DF-D7B1-FFF8-F99A90B5DAC8}"/>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0F80EC87-88FE-36F8-1580-3DF7104482DC}"/>
              </a:ext>
            </a:extLst>
          </p:cNvPr>
          <p:cNvSpPr txBox="1"/>
          <p:nvPr/>
        </p:nvSpPr>
        <p:spPr>
          <a:xfrm>
            <a:off x="1028700" y="857250"/>
            <a:ext cx="12063444" cy="1318502"/>
          </a:xfrm>
          <a:prstGeom prst="rect">
            <a:avLst/>
          </a:prstGeom>
        </p:spPr>
        <p:txBody>
          <a:bodyPr lIns="0" tIns="0" rIns="0" bIns="0" rtlCol="0" anchor="t">
            <a:spAutoFit/>
          </a:bodyPr>
          <a:lstStyle/>
          <a:p>
            <a:pPr>
              <a:lnSpc>
                <a:spcPts val="11200"/>
              </a:lnSpc>
              <a:spcBef>
                <a:spcPct val="0"/>
              </a:spcBef>
            </a:pPr>
            <a:r>
              <a:rPr lang="en-US" sz="8000" b="1">
                <a:solidFill>
                  <a:srgbClr val="03A39D"/>
                </a:solidFill>
                <a:latin typeface="Inter Bold"/>
                <a:ea typeface="Inter Bold"/>
                <a:cs typeface="Inter Bold"/>
                <a:sym typeface="Inter Bold"/>
              </a:rPr>
              <a:t>GPI PRO </a:t>
            </a:r>
            <a:r>
              <a:rPr lang="en-US" sz="8000" b="1">
                <a:solidFill>
                  <a:srgbClr val="1C1818"/>
                </a:solidFill>
                <a:latin typeface="Inter Bold"/>
                <a:ea typeface="Inter Bold"/>
                <a:cs typeface="Inter Bold"/>
                <a:sym typeface="Inter Bold"/>
              </a:rPr>
              <a:t>PROJECT</a:t>
            </a:r>
          </a:p>
        </p:txBody>
      </p:sp>
      <p:sp>
        <p:nvSpPr>
          <p:cNvPr id="3" name="Freeform 3">
            <a:extLst>
              <a:ext uri="{FF2B5EF4-FFF2-40B4-BE49-F238E27FC236}">
                <a16:creationId xmlns:a16="http://schemas.microsoft.com/office/drawing/2014/main" id="{E925CF91-25C5-7E43-4B4B-A77E5CBE7E93}"/>
              </a:ext>
            </a:extLst>
          </p:cNvPr>
          <p:cNvSpPr/>
          <p:nvPr/>
        </p:nvSpPr>
        <p:spPr>
          <a:xfrm>
            <a:off x="0" y="0"/>
            <a:ext cx="1028700" cy="1028700"/>
          </a:xfrm>
          <a:custGeom>
            <a:avLst/>
            <a:gdLst/>
            <a:ahLst/>
            <a:cxnLst/>
            <a:rect l="l" t="t" r="r" b="b"/>
            <a:pathLst>
              <a:path w="1028700" h="1028700">
                <a:moveTo>
                  <a:pt x="0" y="0"/>
                </a:moveTo>
                <a:lnTo>
                  <a:pt x="1028700" y="0"/>
                </a:lnTo>
                <a:lnTo>
                  <a:pt x="1028700" y="1028700"/>
                </a:lnTo>
                <a:lnTo>
                  <a:pt x="0" y="10287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10" name="Group 10">
            <a:extLst>
              <a:ext uri="{FF2B5EF4-FFF2-40B4-BE49-F238E27FC236}">
                <a16:creationId xmlns:a16="http://schemas.microsoft.com/office/drawing/2014/main" id="{8CDFE609-5F09-7027-8AB2-262A26FB5E2B}"/>
              </a:ext>
            </a:extLst>
          </p:cNvPr>
          <p:cNvGrpSpPr/>
          <p:nvPr/>
        </p:nvGrpSpPr>
        <p:grpSpPr>
          <a:xfrm>
            <a:off x="514350" y="8877758"/>
            <a:ext cx="295243" cy="295243"/>
            <a:chOff x="0" y="0"/>
            <a:chExt cx="812800" cy="812800"/>
          </a:xfrm>
        </p:grpSpPr>
        <p:sp>
          <p:nvSpPr>
            <p:cNvPr id="11" name="Freeform 11">
              <a:extLst>
                <a:ext uri="{FF2B5EF4-FFF2-40B4-BE49-F238E27FC236}">
                  <a16:creationId xmlns:a16="http://schemas.microsoft.com/office/drawing/2014/main" id="{FD320610-CA6F-09FC-FE5B-FECBD619302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A09A"/>
            </a:solidFill>
          </p:spPr>
          <p:txBody>
            <a:bodyPr/>
            <a:lstStyle/>
            <a:p>
              <a:endParaRPr lang="en-US"/>
            </a:p>
          </p:txBody>
        </p:sp>
        <p:sp>
          <p:nvSpPr>
            <p:cNvPr id="12" name="TextBox 12">
              <a:extLst>
                <a:ext uri="{FF2B5EF4-FFF2-40B4-BE49-F238E27FC236}">
                  <a16:creationId xmlns:a16="http://schemas.microsoft.com/office/drawing/2014/main" id="{0706B35E-9461-F5C9-B788-49CAFEA45E5C}"/>
                </a:ext>
              </a:extLst>
            </p:cNvPr>
            <p:cNvSpPr txBox="1"/>
            <p:nvPr/>
          </p:nvSpPr>
          <p:spPr>
            <a:xfrm>
              <a:off x="76200" y="-47625"/>
              <a:ext cx="660400" cy="784225"/>
            </a:xfrm>
            <a:prstGeom prst="rect">
              <a:avLst/>
            </a:prstGeom>
          </p:spPr>
          <p:txBody>
            <a:bodyPr lIns="50800" tIns="50800" rIns="50800" bIns="50800" rtlCol="0" anchor="ctr"/>
            <a:lstStyle/>
            <a:p>
              <a:pPr algn="ctr">
                <a:lnSpc>
                  <a:spcPts val="3910"/>
                </a:lnSpc>
              </a:pPr>
              <a:endParaRPr/>
            </a:p>
          </p:txBody>
        </p:sp>
      </p:grpSp>
      <p:grpSp>
        <p:nvGrpSpPr>
          <p:cNvPr id="14" name="Group 14">
            <a:extLst>
              <a:ext uri="{FF2B5EF4-FFF2-40B4-BE49-F238E27FC236}">
                <a16:creationId xmlns:a16="http://schemas.microsoft.com/office/drawing/2014/main" id="{AE2EA77D-2CED-D29E-13BE-3D30411306E8}"/>
              </a:ext>
            </a:extLst>
          </p:cNvPr>
          <p:cNvGrpSpPr/>
          <p:nvPr/>
        </p:nvGrpSpPr>
        <p:grpSpPr>
          <a:xfrm>
            <a:off x="9864276" y="7543183"/>
            <a:ext cx="7124195" cy="1419873"/>
            <a:chOff x="0" y="0"/>
            <a:chExt cx="9498926" cy="1893165"/>
          </a:xfrm>
        </p:grpSpPr>
        <p:sp>
          <p:nvSpPr>
            <p:cNvPr id="15" name="Freeform 15">
              <a:extLst>
                <a:ext uri="{FF2B5EF4-FFF2-40B4-BE49-F238E27FC236}">
                  <a16:creationId xmlns:a16="http://schemas.microsoft.com/office/drawing/2014/main" id="{9E3B08B7-409A-EB6A-9132-88B51AC44755}"/>
                </a:ext>
              </a:extLst>
            </p:cNvPr>
            <p:cNvSpPr/>
            <p:nvPr/>
          </p:nvSpPr>
          <p:spPr>
            <a:xfrm>
              <a:off x="0" y="19403"/>
              <a:ext cx="1738820" cy="1738820"/>
            </a:xfrm>
            <a:custGeom>
              <a:avLst/>
              <a:gdLst/>
              <a:ahLst/>
              <a:cxnLst/>
              <a:rect l="l" t="t" r="r" b="b"/>
              <a:pathLst>
                <a:path w="1738820" h="1738820">
                  <a:moveTo>
                    <a:pt x="0" y="0"/>
                  </a:moveTo>
                  <a:lnTo>
                    <a:pt x="1738820" y="0"/>
                  </a:lnTo>
                  <a:lnTo>
                    <a:pt x="1738820" y="1738821"/>
                  </a:lnTo>
                  <a:lnTo>
                    <a:pt x="0" y="17388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Freeform 16">
              <a:extLst>
                <a:ext uri="{FF2B5EF4-FFF2-40B4-BE49-F238E27FC236}">
                  <a16:creationId xmlns:a16="http://schemas.microsoft.com/office/drawing/2014/main" id="{AFF12AE8-157D-B931-2828-23F2826953C4}"/>
                </a:ext>
              </a:extLst>
            </p:cNvPr>
            <p:cNvSpPr/>
            <p:nvPr/>
          </p:nvSpPr>
          <p:spPr>
            <a:xfrm>
              <a:off x="2603399" y="0"/>
              <a:ext cx="1713314" cy="1893165"/>
            </a:xfrm>
            <a:custGeom>
              <a:avLst/>
              <a:gdLst/>
              <a:ahLst/>
              <a:cxnLst/>
              <a:rect l="l" t="t" r="r" b="b"/>
              <a:pathLst>
                <a:path w="1713314" h="1893165">
                  <a:moveTo>
                    <a:pt x="0" y="0"/>
                  </a:moveTo>
                  <a:lnTo>
                    <a:pt x="1713314" y="0"/>
                  </a:lnTo>
                  <a:lnTo>
                    <a:pt x="1713314" y="1893165"/>
                  </a:lnTo>
                  <a:lnTo>
                    <a:pt x="0" y="189316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7" name="Freeform 17">
              <a:extLst>
                <a:ext uri="{FF2B5EF4-FFF2-40B4-BE49-F238E27FC236}">
                  <a16:creationId xmlns:a16="http://schemas.microsoft.com/office/drawing/2014/main" id="{B93ED42F-EE95-2BFB-178E-32B4E2F98B10}"/>
                </a:ext>
              </a:extLst>
            </p:cNvPr>
            <p:cNvSpPr/>
            <p:nvPr/>
          </p:nvSpPr>
          <p:spPr>
            <a:xfrm>
              <a:off x="5180313" y="20296"/>
              <a:ext cx="1737928" cy="1737928"/>
            </a:xfrm>
            <a:custGeom>
              <a:avLst/>
              <a:gdLst/>
              <a:ahLst/>
              <a:cxnLst/>
              <a:rect l="l" t="t" r="r" b="b"/>
              <a:pathLst>
                <a:path w="1737928" h="1737928">
                  <a:moveTo>
                    <a:pt x="0" y="0"/>
                  </a:moveTo>
                  <a:lnTo>
                    <a:pt x="1737928" y="0"/>
                  </a:lnTo>
                  <a:lnTo>
                    <a:pt x="1737928" y="1737928"/>
                  </a:lnTo>
                  <a:lnTo>
                    <a:pt x="0" y="173792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8" name="Freeform 18">
              <a:extLst>
                <a:ext uri="{FF2B5EF4-FFF2-40B4-BE49-F238E27FC236}">
                  <a16:creationId xmlns:a16="http://schemas.microsoft.com/office/drawing/2014/main" id="{A74A120C-187F-31D1-1B22-DC8CB5C800DE}"/>
                </a:ext>
              </a:extLst>
            </p:cNvPr>
            <p:cNvSpPr/>
            <p:nvPr/>
          </p:nvSpPr>
          <p:spPr>
            <a:xfrm>
              <a:off x="7781841" y="19403"/>
              <a:ext cx="1717085" cy="1738820"/>
            </a:xfrm>
            <a:custGeom>
              <a:avLst/>
              <a:gdLst/>
              <a:ahLst/>
              <a:cxnLst/>
              <a:rect l="l" t="t" r="r" b="b"/>
              <a:pathLst>
                <a:path w="1717085" h="1738820">
                  <a:moveTo>
                    <a:pt x="0" y="0"/>
                  </a:moveTo>
                  <a:lnTo>
                    <a:pt x="1717085" y="0"/>
                  </a:lnTo>
                  <a:lnTo>
                    <a:pt x="1717085" y="1738821"/>
                  </a:lnTo>
                  <a:lnTo>
                    <a:pt x="0" y="173882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sp>
        <p:nvSpPr>
          <p:cNvPr id="19" name="TextBox 19">
            <a:extLst>
              <a:ext uri="{FF2B5EF4-FFF2-40B4-BE49-F238E27FC236}">
                <a16:creationId xmlns:a16="http://schemas.microsoft.com/office/drawing/2014/main" id="{BFA4ACB9-7DEF-91AB-29E7-3BB791CA5B3E}"/>
              </a:ext>
            </a:extLst>
          </p:cNvPr>
          <p:cNvSpPr txBox="1"/>
          <p:nvPr/>
        </p:nvSpPr>
        <p:spPr>
          <a:xfrm>
            <a:off x="1028700" y="2187559"/>
            <a:ext cx="5364956" cy="339324"/>
          </a:xfrm>
          <a:prstGeom prst="rect">
            <a:avLst/>
          </a:prstGeom>
        </p:spPr>
        <p:txBody>
          <a:bodyPr lIns="0" tIns="0" rIns="0" bIns="0" rtlCol="0" anchor="t">
            <a:spAutoFit/>
          </a:bodyPr>
          <a:lstStyle/>
          <a:p>
            <a:pPr algn="just">
              <a:lnSpc>
                <a:spcPts val="2799"/>
              </a:lnSpc>
              <a:spcBef>
                <a:spcPct val="0"/>
              </a:spcBef>
            </a:pPr>
            <a:r>
              <a:rPr lang="en-US" sz="1950">
                <a:solidFill>
                  <a:srgbClr val="000000"/>
                </a:solidFill>
                <a:latin typeface="Poppins"/>
                <a:ea typeface="Poppins"/>
                <a:cs typeface="Poppins"/>
                <a:sym typeface="Poppins"/>
              </a:rPr>
              <a:t>Project Manager : ALAA AL-SMADI</a:t>
            </a:r>
            <a:endParaRPr lang="en-US" sz="1999" err="1">
              <a:solidFill>
                <a:srgbClr val="000000"/>
              </a:solidFill>
              <a:latin typeface="Poppins"/>
              <a:ea typeface="Poppins"/>
              <a:cs typeface="Poppins"/>
              <a:sym typeface="Poppins"/>
            </a:endParaRPr>
          </a:p>
        </p:txBody>
      </p:sp>
      <p:sp>
        <p:nvSpPr>
          <p:cNvPr id="20" name="TextBox 20">
            <a:extLst>
              <a:ext uri="{FF2B5EF4-FFF2-40B4-BE49-F238E27FC236}">
                <a16:creationId xmlns:a16="http://schemas.microsoft.com/office/drawing/2014/main" id="{76B82E62-1400-B26B-D520-59FC64415FC5}"/>
              </a:ext>
            </a:extLst>
          </p:cNvPr>
          <p:cNvSpPr txBox="1"/>
          <p:nvPr/>
        </p:nvSpPr>
        <p:spPr>
          <a:xfrm>
            <a:off x="1028700" y="8899525"/>
            <a:ext cx="2377893" cy="1006173"/>
          </a:xfrm>
          <a:prstGeom prst="rect">
            <a:avLst/>
          </a:prstGeom>
        </p:spPr>
        <p:txBody>
          <a:bodyPr lIns="0" tIns="0" rIns="0" bIns="0" rtlCol="0" anchor="t">
            <a:spAutoFit/>
          </a:bodyPr>
          <a:lstStyle/>
          <a:p>
            <a:pPr algn="just"/>
            <a:r>
              <a:rPr lang="en-US" sz="2000">
                <a:solidFill>
                  <a:srgbClr val="000000"/>
                </a:solidFill>
                <a:latin typeface="Poppins"/>
                <a:ea typeface="Poppins"/>
                <a:cs typeface="Poppins"/>
                <a:sym typeface="Poppins"/>
              </a:rPr>
              <a:t>06 January 2025</a:t>
            </a:r>
          </a:p>
          <a:p>
            <a:pPr algn="just">
              <a:lnSpc>
                <a:spcPts val="2799"/>
              </a:lnSpc>
              <a:spcBef>
                <a:spcPct val="0"/>
              </a:spcBef>
            </a:pPr>
            <a:endParaRPr lang="en-US" sz="2000">
              <a:solidFill>
                <a:srgbClr val="000000"/>
              </a:solidFill>
              <a:latin typeface="Poppins"/>
              <a:ea typeface="Poppins"/>
              <a:cs typeface="Poppins"/>
              <a:sym typeface="Poppins"/>
            </a:endParaRPr>
          </a:p>
          <a:p>
            <a:pPr algn="just">
              <a:lnSpc>
                <a:spcPts val="2799"/>
              </a:lnSpc>
              <a:spcBef>
                <a:spcPct val="0"/>
              </a:spcBef>
            </a:pPr>
            <a:endParaRPr lang="en-US" sz="1950">
              <a:solidFill>
                <a:srgbClr val="000000"/>
              </a:solidFill>
              <a:latin typeface="Poppins"/>
              <a:ea typeface="Poppins"/>
              <a:cs typeface="Poppins"/>
            </a:endParaRPr>
          </a:p>
        </p:txBody>
      </p:sp>
      <p:sp>
        <p:nvSpPr>
          <p:cNvPr id="5" name="Freeform 13" descr="A blue and black logo&#10;&#10;AI-generated content may be incorrect.">
            <a:extLst>
              <a:ext uri="{FF2B5EF4-FFF2-40B4-BE49-F238E27FC236}">
                <a16:creationId xmlns:a16="http://schemas.microsoft.com/office/drawing/2014/main" id="{C682AFE7-18BC-524E-3FE1-EF184BC1AB93}"/>
              </a:ext>
            </a:extLst>
          </p:cNvPr>
          <p:cNvSpPr/>
          <p:nvPr/>
        </p:nvSpPr>
        <p:spPr>
          <a:xfrm>
            <a:off x="16062518" y="309634"/>
            <a:ext cx="1851905" cy="870481"/>
          </a:xfrm>
          <a:custGeom>
            <a:avLst/>
            <a:gdLst/>
            <a:ahLst/>
            <a:cxnLst/>
            <a:rect l="l" t="t" r="r" b="b"/>
            <a:pathLst>
              <a:path w="1851905" h="870481">
                <a:moveTo>
                  <a:pt x="0" y="0"/>
                </a:moveTo>
                <a:lnTo>
                  <a:pt x="1851905" y="0"/>
                </a:lnTo>
                <a:lnTo>
                  <a:pt x="1851905" y="870481"/>
                </a:lnTo>
                <a:lnTo>
                  <a:pt x="0" y="870481"/>
                </a:lnTo>
                <a:lnTo>
                  <a:pt x="0" y="0"/>
                </a:lnTo>
                <a:close/>
              </a:path>
            </a:pathLst>
          </a:custGeom>
          <a:blipFill>
            <a:blip r:embed="rId7"/>
            <a:stretch>
              <a:fillRect/>
            </a:stretch>
          </a:blipFill>
        </p:spPr>
        <p:txBody>
          <a:bodyPr/>
          <a:lstStyle/>
          <a:p>
            <a:endParaRPr lang="en-US"/>
          </a:p>
        </p:txBody>
      </p:sp>
    </p:spTree>
    <p:extLst>
      <p:ext uri="{BB962C8B-B14F-4D97-AF65-F5344CB8AC3E}">
        <p14:creationId xmlns:p14="http://schemas.microsoft.com/office/powerpoint/2010/main" val="27486455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92DDD-FA49-ACC8-CD31-E6B38C4F27A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AFA3A58-1A44-D2F1-946A-09D9A62BA8F1}"/>
              </a:ext>
            </a:extLst>
          </p:cNvPr>
          <p:cNvSpPr/>
          <p:nvPr/>
        </p:nvSpPr>
        <p:spPr>
          <a:xfrm>
            <a:off x="821533" y="1462082"/>
            <a:ext cx="16626842" cy="452903"/>
          </a:xfrm>
          <a:prstGeom prst="rect">
            <a:avLst/>
          </a:prstGeom>
          <a:solidFill>
            <a:srgbClr val="00A69C"/>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mj-lt"/>
                <a:ea typeface="+mn-ea"/>
                <a:cs typeface="+mn-cs"/>
              </a:rPr>
              <a:t>Project Highlights </a:t>
            </a:r>
          </a:p>
        </p:txBody>
      </p:sp>
      <p:sp>
        <p:nvSpPr>
          <p:cNvPr id="6" name="Rectangle 5">
            <a:extLst>
              <a:ext uri="{FF2B5EF4-FFF2-40B4-BE49-F238E27FC236}">
                <a16:creationId xmlns:a16="http://schemas.microsoft.com/office/drawing/2014/main" id="{4E24AFEF-2E1E-D346-EA58-A0DD38D247CD}"/>
              </a:ext>
            </a:extLst>
          </p:cNvPr>
          <p:cNvSpPr/>
          <p:nvPr/>
        </p:nvSpPr>
        <p:spPr bwMode="auto">
          <a:xfrm>
            <a:off x="15836117" y="2117372"/>
            <a:ext cx="1612257" cy="405768"/>
          </a:xfrm>
          <a:prstGeom prst="rect">
            <a:avLst/>
          </a:prstGeom>
          <a:solidFill>
            <a:srgbClr val="00A69C"/>
          </a:solid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anose="020B0604020202020204" pitchFamily="34" charset="0"/>
              </a:rPr>
              <a:t>Current Period</a:t>
            </a:r>
          </a:p>
        </p:txBody>
      </p:sp>
      <p:sp>
        <p:nvSpPr>
          <p:cNvPr id="7" name="Rectangle 6">
            <a:extLst>
              <a:ext uri="{FF2B5EF4-FFF2-40B4-BE49-F238E27FC236}">
                <a16:creationId xmlns:a16="http://schemas.microsoft.com/office/drawing/2014/main" id="{DCD4CB88-4FB2-7DC2-8BDB-F31D244EBC6A}"/>
              </a:ext>
            </a:extLst>
          </p:cNvPr>
          <p:cNvSpPr/>
          <p:nvPr/>
        </p:nvSpPr>
        <p:spPr bwMode="auto">
          <a:xfrm>
            <a:off x="14111579" y="2117372"/>
            <a:ext cx="1620000" cy="405768"/>
          </a:xfrm>
          <a:prstGeom prst="rect">
            <a:avLst/>
          </a:prstGeom>
          <a:solidFill>
            <a:srgbClr val="00A69C"/>
          </a:solid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anose="020B0604020202020204" pitchFamily="34" charset="0"/>
              </a:rPr>
              <a:t>Previous Period</a:t>
            </a:r>
          </a:p>
        </p:txBody>
      </p:sp>
      <p:sp>
        <p:nvSpPr>
          <p:cNvPr id="8" name="Rectangle 7">
            <a:extLst>
              <a:ext uri="{FF2B5EF4-FFF2-40B4-BE49-F238E27FC236}">
                <a16:creationId xmlns:a16="http://schemas.microsoft.com/office/drawing/2014/main" id="{50D6FD03-3EA1-67AD-935C-964B1067BA5A}"/>
              </a:ext>
            </a:extLst>
          </p:cNvPr>
          <p:cNvSpPr/>
          <p:nvPr/>
        </p:nvSpPr>
        <p:spPr bwMode="auto">
          <a:xfrm>
            <a:off x="14108566" y="2521505"/>
            <a:ext cx="1612256" cy="533700"/>
          </a:xfrm>
          <a:prstGeom prst="rect">
            <a:avLst/>
          </a:prstGeom>
          <a:solidFill>
            <a:srgbClr val="E2F0D9"/>
          </a:solidFill>
          <a:ln w="9525" cap="flat" cmpd="sng" algn="ctr">
            <a:solidFill>
              <a:srgbClr val="FFCCCC"/>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defTabSz="1564584">
              <a:defRPr/>
            </a:pPr>
            <a:r>
              <a:rPr lang="en-US" sz="1500" b="1" kern="0">
                <a:solidFill>
                  <a:prstClr val="black"/>
                </a:solidFill>
                <a:latin typeface="+mj-lt"/>
                <a:cs typeface="Arial"/>
              </a:rPr>
              <a:t>On Track</a:t>
            </a:r>
            <a:endParaRPr lang="en-GB" sz="1500" b="1" kern="0">
              <a:solidFill>
                <a:prstClr val="black"/>
              </a:solidFill>
              <a:latin typeface="+mj-lt"/>
              <a:cs typeface="Arial" panose="020B0604020202020204" pitchFamily="34" charset="0"/>
            </a:endParaRPr>
          </a:p>
        </p:txBody>
      </p:sp>
      <p:sp>
        <p:nvSpPr>
          <p:cNvPr id="9" name="Rectangle 8">
            <a:extLst>
              <a:ext uri="{FF2B5EF4-FFF2-40B4-BE49-F238E27FC236}">
                <a16:creationId xmlns:a16="http://schemas.microsoft.com/office/drawing/2014/main" id="{A15A4C1F-5208-6505-024C-2DA317F0C1C9}"/>
              </a:ext>
            </a:extLst>
          </p:cNvPr>
          <p:cNvSpPr/>
          <p:nvPr/>
        </p:nvSpPr>
        <p:spPr bwMode="auto">
          <a:xfrm>
            <a:off x="6120438" y="2062010"/>
            <a:ext cx="7765395" cy="1194316"/>
          </a:xfrm>
          <a:prstGeom prst="rect">
            <a:avLst/>
          </a:prstGeom>
          <a:no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lang="en-US" sz="1350" b="1"/>
              <a:t>Project Status Update: </a:t>
            </a:r>
            <a:r>
              <a:rPr lang="en-US" sz="1200">
                <a:latin typeface="Aptos Narrow"/>
                <a:ea typeface="+mn-lt"/>
                <a:cs typeface="+mn-lt"/>
              </a:rPr>
              <a:t>We have moved the GPI to live production and now we are testing the GPI observer with SWIFT team</a:t>
            </a:r>
            <a:r>
              <a:rPr lang="en-US" sz="1100">
                <a:latin typeface="Aptos Narrow"/>
                <a:ea typeface="+mn-lt"/>
                <a:cs typeface="+mn-lt"/>
              </a:rPr>
              <a:t> </a:t>
            </a:r>
            <a:endParaRPr lang="en-US" sz="1350">
              <a:latin typeface="Aptos Narrow"/>
              <a:ea typeface="Calibri"/>
              <a:cs typeface="Calibri"/>
            </a:endParaRPr>
          </a:p>
        </p:txBody>
      </p:sp>
      <p:sp>
        <p:nvSpPr>
          <p:cNvPr id="10" name="Rectangle 9">
            <a:extLst>
              <a:ext uri="{FF2B5EF4-FFF2-40B4-BE49-F238E27FC236}">
                <a16:creationId xmlns:a16="http://schemas.microsoft.com/office/drawing/2014/main" id="{88006AED-51A2-005C-DF9F-6F7C7739272D}"/>
              </a:ext>
            </a:extLst>
          </p:cNvPr>
          <p:cNvSpPr/>
          <p:nvPr/>
        </p:nvSpPr>
        <p:spPr>
          <a:xfrm>
            <a:off x="821533" y="5756321"/>
            <a:ext cx="16626842" cy="452903"/>
          </a:xfrm>
          <a:prstGeom prst="rect">
            <a:avLst/>
          </a:prstGeom>
          <a:solidFill>
            <a:srgbClr val="00A69C"/>
          </a:solidFill>
          <a:ln w="952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mj-lt"/>
                <a:ea typeface="+mn-ea"/>
                <a:cs typeface="+mn-cs"/>
              </a:rPr>
              <a:t>Key Risks, Issues &amp; Decisions</a:t>
            </a:r>
          </a:p>
        </p:txBody>
      </p:sp>
      <p:graphicFrame>
        <p:nvGraphicFramePr>
          <p:cNvPr id="11" name="Table 6">
            <a:extLst>
              <a:ext uri="{FF2B5EF4-FFF2-40B4-BE49-F238E27FC236}">
                <a16:creationId xmlns:a16="http://schemas.microsoft.com/office/drawing/2014/main" id="{74F46389-E621-EB57-56F2-6368541BF996}"/>
              </a:ext>
            </a:extLst>
          </p:cNvPr>
          <p:cNvGraphicFramePr>
            <a:graphicFrameLocks noGrp="1"/>
          </p:cNvGraphicFramePr>
          <p:nvPr>
            <p:extLst>
              <p:ext uri="{D42A27DB-BD31-4B8C-83A1-F6EECF244321}">
                <p14:modId xmlns:p14="http://schemas.microsoft.com/office/powerpoint/2010/main" val="4022951648"/>
              </p:ext>
            </p:extLst>
          </p:nvPr>
        </p:nvGraphicFramePr>
        <p:xfrm>
          <a:off x="832104" y="6238427"/>
          <a:ext cx="16626847" cy="3355123"/>
        </p:xfrm>
        <a:graphic>
          <a:graphicData uri="http://schemas.openxmlformats.org/drawingml/2006/table">
            <a:tbl>
              <a:tblPr firstRow="1" bandRow="1">
                <a:tableStyleId>{5C22544A-7EE6-4342-B048-85BDC9FD1C3A}</a:tableStyleId>
              </a:tblPr>
              <a:tblGrid>
                <a:gridCol w="1978329">
                  <a:extLst>
                    <a:ext uri="{9D8B030D-6E8A-4147-A177-3AD203B41FA5}">
                      <a16:colId xmlns:a16="http://schemas.microsoft.com/office/drawing/2014/main" val="1940594143"/>
                    </a:ext>
                  </a:extLst>
                </a:gridCol>
                <a:gridCol w="6785486">
                  <a:extLst>
                    <a:ext uri="{9D8B030D-6E8A-4147-A177-3AD203B41FA5}">
                      <a16:colId xmlns:a16="http://schemas.microsoft.com/office/drawing/2014/main" val="273235595"/>
                    </a:ext>
                  </a:extLst>
                </a:gridCol>
                <a:gridCol w="2301858">
                  <a:extLst>
                    <a:ext uri="{9D8B030D-6E8A-4147-A177-3AD203B41FA5}">
                      <a16:colId xmlns:a16="http://schemas.microsoft.com/office/drawing/2014/main" val="1034871609"/>
                    </a:ext>
                  </a:extLst>
                </a:gridCol>
                <a:gridCol w="2237015">
                  <a:extLst>
                    <a:ext uri="{9D8B030D-6E8A-4147-A177-3AD203B41FA5}">
                      <a16:colId xmlns:a16="http://schemas.microsoft.com/office/drawing/2014/main" val="1556653191"/>
                    </a:ext>
                  </a:extLst>
                </a:gridCol>
                <a:gridCol w="3324159">
                  <a:extLst>
                    <a:ext uri="{9D8B030D-6E8A-4147-A177-3AD203B41FA5}">
                      <a16:colId xmlns:a16="http://schemas.microsoft.com/office/drawing/2014/main" val="666502604"/>
                    </a:ext>
                  </a:extLst>
                </a:gridCol>
              </a:tblGrid>
              <a:tr h="411480">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a:rPr>
                        <a:t>Area</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kumimoji="0" lang="en-US" sz="1800" b="1" i="0" u="none" strike="noStrike" kern="1200" cap="none" spc="0" normalizeH="0" baseline="0">
                          <a:ln>
                            <a:noFill/>
                          </a:ln>
                          <a:solidFill>
                            <a:srgbClr val="000000"/>
                          </a:solidFill>
                          <a:effectLst/>
                          <a:uLnTx/>
                          <a:uFillTx/>
                          <a:latin typeface="Arial"/>
                          <a:ea typeface="+mn-ea"/>
                          <a:cs typeface="Arial"/>
                        </a:rPr>
                        <a:t>Item</a:t>
                      </a:r>
                      <a:endParaRPr kumimoji="0" lang="en-US"/>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a:rPr>
                        <a:t>Status</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a:rPr>
                        <a:t>Due Date</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a:rPr>
                        <a:t>Owner</a:t>
                      </a:r>
                    </a:p>
                  </a:txBody>
                  <a:tcPr marL="137160" marR="137160" marT="68580" marB="6858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9013299"/>
                  </a:ext>
                </a:extLst>
              </a:tr>
              <a:tr h="1965960">
                <a:tc>
                  <a:txBody>
                    <a:bodyPr/>
                    <a:lstStyle/>
                    <a:p>
                      <a:pPr algn="ctr"/>
                      <a:r>
                        <a:rPr kumimoji="0" lang="en-US" sz="1600" b="1" i="0" u="none" strike="noStrike" kern="1200" cap="none" spc="0" normalizeH="0" baseline="0">
                          <a:ln>
                            <a:noFill/>
                          </a:ln>
                          <a:solidFill>
                            <a:srgbClr val="000000"/>
                          </a:solidFill>
                          <a:effectLst/>
                          <a:uLnTx/>
                          <a:uFillTx/>
                          <a:latin typeface="+mn-lt"/>
                          <a:ea typeface="+mn-ea"/>
                          <a:cs typeface="Arial"/>
                        </a:rPr>
                        <a:t>Risks</a:t>
                      </a:r>
                    </a:p>
                  </a:txBody>
                  <a:tcPr marL="137160" marR="137160" marT="68580" marB="6858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74320" indent="0" algn="l" rtl="0" eaLnBrk="1" latinLnBrk="0" hangingPunct="1">
                        <a:buClr>
                          <a:srgbClr val="002060"/>
                        </a:buClr>
                        <a:buSzPct val="150000"/>
                        <a:buNone/>
                      </a:pPr>
                      <a:endParaRPr lang="en-US"/>
                    </a:p>
                    <a:p>
                      <a:pPr lvl="0" algn="l">
                        <a:lnSpc>
                          <a:spcPct val="100000"/>
                        </a:lnSpc>
                        <a:spcBef>
                          <a:spcPts val="0"/>
                        </a:spcBef>
                        <a:spcAft>
                          <a:spcPts val="0"/>
                        </a:spcAft>
                        <a:buNone/>
                      </a:pPr>
                      <a:endParaRPr lang="en-US"/>
                    </a:p>
                    <a:p>
                      <a:pPr lvl="0" algn="ctr">
                        <a:lnSpc>
                          <a:spcPct val="100000"/>
                        </a:lnSpc>
                        <a:spcBef>
                          <a:spcPts val="0"/>
                        </a:spcBef>
                        <a:spcAft>
                          <a:spcPts val="0"/>
                        </a:spcAft>
                        <a:buNone/>
                      </a:pPr>
                      <a:r>
                        <a:rPr lang="en-US" sz="1500" b="0" i="0" u="none" strike="noStrike" noProof="0">
                          <a:solidFill>
                            <a:srgbClr val="000000"/>
                          </a:solidFill>
                          <a:latin typeface="Calibri"/>
                        </a:rPr>
                        <a:t>No risks identified- currently</a:t>
                      </a:r>
                      <a:endParaRPr lang="en-US"/>
                    </a:p>
                    <a:p>
                      <a:pPr marL="274320" lvl="0" indent="0" algn="l">
                        <a:buNone/>
                      </a:pPr>
                      <a:endParaRPr lang="en-US"/>
                    </a:p>
                    <a:p>
                      <a:pPr marL="617220" lvl="0" indent="-342900" algn="l">
                        <a:buClr>
                          <a:srgbClr val="002060"/>
                        </a:buClr>
                        <a:buSzPct val="150000"/>
                        <a:buFontTx/>
                        <a:buAutoNum type="arabicPeriod"/>
                      </a:pPr>
                      <a:endParaRPr lang="en-US" sz="1500"/>
                    </a:p>
                  </a:txBody>
                  <a:tcPr marL="137160" marR="137160" marT="68580" marB="68580">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2060"/>
                        </a:buClr>
                        <a:buSzPct val="150000"/>
                        <a:buFontTx/>
                        <a:buNone/>
                        <a:tabLst/>
                        <a:defRPr/>
                      </a:pPr>
                      <a:endParaRPr lang="en-US" sz="1500" b="0" kern="1200">
                        <a:solidFill>
                          <a:srgbClr val="000000"/>
                        </a:solidFill>
                        <a:latin typeface="Arial"/>
                        <a:ea typeface="+mn-ea"/>
                        <a:cs typeface="Arial"/>
                      </a:endParaRPr>
                    </a:p>
                    <a:p>
                      <a:pPr marL="0" marR="0" lvl="0" indent="0" algn="ctr" rtl="0">
                        <a:lnSpc>
                          <a:spcPct val="100000"/>
                        </a:lnSpc>
                        <a:spcBef>
                          <a:spcPts val="0"/>
                        </a:spcBef>
                        <a:spcAft>
                          <a:spcPts val="0"/>
                        </a:spcAft>
                        <a:buFontTx/>
                        <a:buNone/>
                      </a:pPr>
                      <a:endParaRPr lang="en-US" sz="1500" b="0" kern="1200">
                        <a:solidFill>
                          <a:srgbClr val="000000"/>
                        </a:solidFill>
                        <a:latin typeface="Arial"/>
                        <a:ea typeface="+mn-ea"/>
                        <a:cs typeface="Arial"/>
                      </a:endParaRPr>
                    </a:p>
                    <a:p>
                      <a:pPr marL="0" marR="0" lvl="0" indent="0" algn="ctr" rtl="0">
                        <a:lnSpc>
                          <a:spcPct val="100000"/>
                        </a:lnSpc>
                        <a:spcBef>
                          <a:spcPts val="0"/>
                        </a:spcBef>
                        <a:spcAft>
                          <a:spcPts val="0"/>
                        </a:spcAft>
                        <a:buFontTx/>
                        <a:buNone/>
                      </a:pPr>
                      <a:endParaRPr lang="en-US" sz="1500" b="0" kern="1200">
                        <a:solidFill>
                          <a:srgbClr val="000000"/>
                        </a:solidFill>
                        <a:latin typeface="Arial"/>
                        <a:ea typeface="+mn-ea"/>
                        <a:cs typeface="Arial"/>
                      </a:endParaRPr>
                    </a:p>
                    <a:p>
                      <a:pPr marL="0" marR="0" lvl="0" indent="0" algn="ctr" rtl="0">
                        <a:lnSpc>
                          <a:spcPct val="100000"/>
                        </a:lnSpc>
                        <a:spcBef>
                          <a:spcPts val="0"/>
                        </a:spcBef>
                        <a:spcAft>
                          <a:spcPts val="0"/>
                        </a:spcAft>
                        <a:buFontTx/>
                        <a:buNone/>
                      </a:pPr>
                      <a:endParaRPr lang="en-US" sz="1500" b="0" kern="1200">
                        <a:solidFill>
                          <a:srgbClr val="000000"/>
                        </a:solidFill>
                        <a:latin typeface="Arial"/>
                        <a:ea typeface="+mn-ea"/>
                        <a:cs typeface="Arial"/>
                      </a:endParaRPr>
                    </a:p>
                    <a:p>
                      <a:pPr marL="0" marR="0" lvl="0" indent="0" algn="ctr" rtl="0">
                        <a:lnSpc>
                          <a:spcPct val="100000"/>
                        </a:lnSpc>
                        <a:spcBef>
                          <a:spcPts val="0"/>
                        </a:spcBef>
                        <a:spcAft>
                          <a:spcPts val="0"/>
                        </a:spcAft>
                        <a:buFontTx/>
                        <a:buNone/>
                      </a:pPr>
                      <a:endParaRPr lang="en-US" sz="1500" b="0" kern="1200">
                        <a:solidFill>
                          <a:srgbClr val="000000"/>
                        </a:solidFill>
                        <a:latin typeface="Arial"/>
                        <a:ea typeface="+mn-ea"/>
                        <a:cs typeface="Arial"/>
                      </a:endParaRPr>
                    </a:p>
                    <a:p>
                      <a:pPr marL="0" marR="0" lvl="0" indent="0" algn="ctr" rtl="0">
                        <a:lnSpc>
                          <a:spcPct val="100000"/>
                        </a:lnSpc>
                        <a:spcBef>
                          <a:spcPts val="0"/>
                        </a:spcBef>
                        <a:spcAft>
                          <a:spcPts val="0"/>
                        </a:spcAft>
                        <a:buFontTx/>
                        <a:buNone/>
                      </a:pPr>
                      <a:endParaRPr lang="en-US" sz="1500" b="0" kern="1200">
                        <a:solidFill>
                          <a:srgbClr val="000000"/>
                        </a:solidFill>
                        <a:latin typeface="Arial"/>
                        <a:ea typeface="+mn-ea"/>
                        <a:cs typeface="Arial"/>
                      </a:endParaRPr>
                    </a:p>
                    <a:p>
                      <a:pPr marL="0" marR="0" lvl="0" indent="0" algn="ctr" rtl="0">
                        <a:lnSpc>
                          <a:spcPct val="100000"/>
                        </a:lnSpc>
                        <a:spcBef>
                          <a:spcPts val="0"/>
                        </a:spcBef>
                        <a:spcAft>
                          <a:spcPts val="0"/>
                        </a:spcAft>
                        <a:buFontTx/>
                        <a:buNone/>
                      </a:pPr>
                      <a:endParaRPr lang="en-US" sz="1500" b="0" kern="1200">
                        <a:solidFill>
                          <a:srgbClr val="000000"/>
                        </a:solidFill>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500" b="0" strike="sngStrike" kern="1200">
                        <a:solidFill>
                          <a:srgbClr val="000000"/>
                        </a:solidFill>
                        <a:latin typeface="Arial"/>
                        <a:ea typeface="+mn-ea"/>
                        <a:cs typeface="Arial"/>
                      </a:endParaRPr>
                    </a:p>
                    <a:p>
                      <a:pPr marL="0" marR="0" lvl="0" indent="0" algn="ctr" rtl="0">
                        <a:lnSpc>
                          <a:spcPct val="100000"/>
                        </a:lnSpc>
                        <a:spcBef>
                          <a:spcPts val="0"/>
                        </a:spcBef>
                        <a:spcAft>
                          <a:spcPts val="0"/>
                        </a:spcAft>
                        <a:buClrTx/>
                        <a:buSzTx/>
                        <a:buFontTx/>
                        <a:buNone/>
                      </a:pPr>
                      <a:endParaRPr lang="en-US" sz="1500" b="0" strike="noStrike" kern="1200">
                        <a:solidFill>
                          <a:srgbClr val="000000"/>
                        </a:solidFill>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500" b="0" kern="1200">
                        <a:solidFill>
                          <a:srgbClr val="000000"/>
                        </a:solidFill>
                        <a:latin typeface="Arial"/>
                        <a:ea typeface="+mn-ea"/>
                        <a:cs typeface="Arial"/>
                      </a:endParaRPr>
                    </a:p>
                    <a:p>
                      <a:pPr lvl="0" algn="ctr">
                        <a:buNone/>
                      </a:pPr>
                      <a:endParaRPr lang="en-US" sz="1500" b="0" kern="1200">
                        <a:solidFill>
                          <a:srgbClr val="000000"/>
                        </a:solidFill>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7621933"/>
                  </a:ext>
                </a:extLst>
              </a:tr>
              <a:tr h="594360">
                <a:tc>
                  <a:txBody>
                    <a:bodyPr/>
                    <a:lstStyle/>
                    <a:p>
                      <a:pPr algn="ctr"/>
                      <a:r>
                        <a:rPr kumimoji="0" lang="en-US" sz="1600" b="1" i="0" u="none" strike="noStrike" kern="1200" cap="none" spc="0" normalizeH="0" baseline="0">
                          <a:ln>
                            <a:noFill/>
                          </a:ln>
                          <a:solidFill>
                            <a:srgbClr val="000000"/>
                          </a:solidFill>
                          <a:effectLst/>
                          <a:uLnTx/>
                          <a:uFillTx/>
                          <a:latin typeface="+mn-lt"/>
                          <a:ea typeface="+mn-ea"/>
                          <a:cs typeface="Arial"/>
                        </a:rPr>
                        <a:t>Issues</a:t>
                      </a:r>
                    </a:p>
                  </a:txBody>
                  <a:tcPr marL="137160" marR="137160" marT="68580" marB="6858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1500" b="0" i="0" u="none" strike="noStrike" noProof="0">
                          <a:solidFill>
                            <a:srgbClr val="000000"/>
                          </a:solidFill>
                          <a:latin typeface="Calibri"/>
                        </a:rPr>
                        <a:t>No issues identified- currently</a:t>
                      </a:r>
                    </a:p>
                    <a:p>
                      <a:pPr marL="0" lvl="0" indent="0" algn="ctr">
                        <a:buFont typeface="Arial" panose="020B0604020202020204" pitchFamily="34" charset="0"/>
                        <a:buNone/>
                      </a:pPr>
                      <a:endParaRPr lang="en-US" sz="1500" strike="noStrike"/>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2060"/>
                        </a:buClr>
                        <a:buSzPct val="150000"/>
                        <a:buFontTx/>
                        <a:buNone/>
                        <a:tabLst/>
                        <a:defRPr/>
                      </a:pPr>
                      <a:endParaRPr lang="en-US" sz="1500" b="0" strike="noStrike" kern="1200">
                        <a:solidFill>
                          <a:srgbClr val="000000"/>
                        </a:solidFill>
                        <a:latin typeface="+mn-lt"/>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500" b="0" strike="sngStrike" kern="1200">
                        <a:solidFill>
                          <a:srgbClr val="000000"/>
                        </a:solidFill>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500" b="0" strike="noStrike" kern="1200">
                        <a:solidFill>
                          <a:srgbClr val="000000"/>
                        </a:solidFill>
                        <a:latin typeface="+mn-lt"/>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74165115"/>
                  </a:ext>
                </a:extLst>
              </a:tr>
              <a:tr h="383323">
                <a:tc>
                  <a:txBody>
                    <a:bodyPr/>
                    <a:lstStyle/>
                    <a:p>
                      <a:pPr marL="0" indent="0" algn="ctr">
                        <a:buClr>
                          <a:srgbClr val="002060"/>
                        </a:buClr>
                        <a:buSzPct val="150000"/>
                        <a:buFontTx/>
                        <a:buNone/>
                      </a:pPr>
                      <a:r>
                        <a:rPr kumimoji="0" lang="en-US" sz="1600" b="1" i="0" u="none" strike="noStrike" kern="1200" cap="none" spc="0" normalizeH="0" baseline="0">
                          <a:ln>
                            <a:noFill/>
                          </a:ln>
                          <a:solidFill>
                            <a:srgbClr val="000000"/>
                          </a:solidFill>
                          <a:effectLst/>
                          <a:uLnTx/>
                          <a:uFillTx/>
                          <a:latin typeface="+mn-lt"/>
                          <a:ea typeface="+mn-ea"/>
                          <a:cs typeface="Arial"/>
                        </a:rPr>
                        <a:t>Decisions</a:t>
                      </a:r>
                      <a:endParaRPr kumimoji="0" lang="en-US" sz="1600" b="1" i="0" u="none" strike="noStrike" kern="1200" cap="none" spc="0" normalizeH="0" baseline="0">
                        <a:ln>
                          <a:noFill/>
                        </a:ln>
                        <a:solidFill>
                          <a:srgbClr val="000000"/>
                        </a:solidFill>
                        <a:effectLst/>
                        <a:uLnTx/>
                        <a:uFillTx/>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74320" marR="0" lvl="0" indent="0" algn="l" rtl="0" eaLnBrk="1" fontAlgn="auto" latinLnBrk="0" hangingPunct="1">
                        <a:lnSpc>
                          <a:spcPct val="100000"/>
                        </a:lnSpc>
                        <a:spcBef>
                          <a:spcPts val="0"/>
                        </a:spcBef>
                        <a:spcAft>
                          <a:spcPts val="0"/>
                        </a:spcAft>
                        <a:buClr>
                          <a:srgbClr val="002060"/>
                        </a:buClr>
                        <a:buSzPct val="150000"/>
                        <a:buFontTx/>
                        <a:buNone/>
                      </a:pPr>
                      <a:endParaRPr lang="en-US" sz="1500" b="0" strike="noStrike" kern="1200">
                        <a:solidFill>
                          <a:srgbClr val="000000"/>
                        </a:solidFill>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2060"/>
                        </a:buClr>
                        <a:buSzPct val="150000"/>
                        <a:buFontTx/>
                        <a:buNone/>
                        <a:tabLst/>
                        <a:defRPr/>
                      </a:pPr>
                      <a:endParaRPr lang="en-US" sz="1500" b="0" kern="1200">
                        <a:solidFill>
                          <a:srgbClr val="000000"/>
                        </a:solidFill>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500" b="0" strike="noStrike" kern="1200">
                        <a:solidFill>
                          <a:srgbClr val="000000"/>
                        </a:solidFill>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500" b="0" kern="1200">
                        <a:solidFill>
                          <a:srgbClr val="000000"/>
                        </a:solidFill>
                        <a:latin typeface="+mn-lt"/>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8196877"/>
                  </a:ext>
                </a:extLst>
              </a:tr>
            </a:tbl>
          </a:graphicData>
        </a:graphic>
      </p:graphicFrame>
      <p:grpSp>
        <p:nvGrpSpPr>
          <p:cNvPr id="12" name="Group 11">
            <a:extLst>
              <a:ext uri="{FF2B5EF4-FFF2-40B4-BE49-F238E27FC236}">
                <a16:creationId xmlns:a16="http://schemas.microsoft.com/office/drawing/2014/main" id="{F432FDF3-70D3-03F6-7C7F-601AC9F5A9E5}"/>
              </a:ext>
            </a:extLst>
          </p:cNvPr>
          <p:cNvGrpSpPr/>
          <p:nvPr/>
        </p:nvGrpSpPr>
        <p:grpSpPr>
          <a:xfrm>
            <a:off x="860944" y="2053329"/>
            <a:ext cx="5041568" cy="1202997"/>
            <a:chOff x="567987" y="1398301"/>
            <a:chExt cx="3361045" cy="801998"/>
          </a:xfrm>
          <a:solidFill>
            <a:srgbClr val="00A69C"/>
          </a:solidFill>
        </p:grpSpPr>
        <p:sp>
          <p:nvSpPr>
            <p:cNvPr id="13" name="Rectangle 12">
              <a:extLst>
                <a:ext uri="{FF2B5EF4-FFF2-40B4-BE49-F238E27FC236}">
                  <a16:creationId xmlns:a16="http://schemas.microsoft.com/office/drawing/2014/main" id="{54478844-1BB4-DCE1-E7C0-F3F8A16EDCB3}"/>
                </a:ext>
              </a:extLst>
            </p:cNvPr>
            <p:cNvSpPr/>
            <p:nvPr/>
          </p:nvSpPr>
          <p:spPr bwMode="auto">
            <a:xfrm>
              <a:off x="567987" y="1398301"/>
              <a:ext cx="1440000" cy="256198"/>
            </a:xfrm>
            <a:prstGeom prst="rect">
              <a:avLst/>
            </a:prstGeom>
            <a:grp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itchFamily="34" charset="0"/>
                </a:rPr>
                <a:t>Reporting Period</a:t>
              </a:r>
            </a:p>
          </p:txBody>
        </p:sp>
        <p:sp>
          <p:nvSpPr>
            <p:cNvPr id="14" name="Rectangle 13">
              <a:extLst>
                <a:ext uri="{FF2B5EF4-FFF2-40B4-BE49-F238E27FC236}">
                  <a16:creationId xmlns:a16="http://schemas.microsoft.com/office/drawing/2014/main" id="{7C4137A3-CC04-F835-DD31-FBC0245E8DD7}"/>
                </a:ext>
              </a:extLst>
            </p:cNvPr>
            <p:cNvSpPr/>
            <p:nvPr/>
          </p:nvSpPr>
          <p:spPr bwMode="auto">
            <a:xfrm>
              <a:off x="2127836" y="1398301"/>
              <a:ext cx="1800000" cy="256198"/>
            </a:xfrm>
            <a:prstGeom prst="rect">
              <a:avLst/>
            </a:prstGeom>
            <a:grp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GB" sz="1500" b="1" kern="0">
                  <a:solidFill>
                    <a:schemeClr val="bg1"/>
                  </a:solidFill>
                  <a:latin typeface="+mj-lt"/>
                  <a:cs typeface="Calibri"/>
                </a:rPr>
                <a:t>05 April 2026– 09 April 2026</a:t>
              </a:r>
              <a:endParaRPr lang="en-GB" sz="1500" kern="0">
                <a:solidFill>
                  <a:schemeClr val="bg1"/>
                </a:solidFill>
                <a:latin typeface="+mj-lt"/>
                <a:cs typeface="Calibri"/>
              </a:endParaRPr>
            </a:p>
          </p:txBody>
        </p:sp>
        <p:sp>
          <p:nvSpPr>
            <p:cNvPr id="16" name="Rectangle 15">
              <a:extLst>
                <a:ext uri="{FF2B5EF4-FFF2-40B4-BE49-F238E27FC236}">
                  <a16:creationId xmlns:a16="http://schemas.microsoft.com/office/drawing/2014/main" id="{50E42AB2-DA44-9D2D-5A7E-B2ABEF9EB102}"/>
                </a:ext>
              </a:extLst>
            </p:cNvPr>
            <p:cNvSpPr/>
            <p:nvPr/>
          </p:nvSpPr>
          <p:spPr bwMode="auto">
            <a:xfrm>
              <a:off x="570971" y="1682431"/>
              <a:ext cx="1440000" cy="238706"/>
            </a:xfrm>
            <a:prstGeom prst="rect">
              <a:avLst/>
            </a:prstGeom>
            <a:grp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defTabSz="1564584" eaLnBrk="1" fontAlgn="auto" latinLnBrk="0" hangingPunct="1">
                <a:lnSpc>
                  <a:spcPct val="100000"/>
                </a:lnSpc>
                <a:spcBef>
                  <a:spcPts val="0"/>
                </a:spcBef>
                <a:spcAft>
                  <a:spcPts val="0"/>
                </a:spcAft>
                <a:buClrTx/>
                <a:buSzTx/>
                <a:buFontTx/>
                <a:buNone/>
                <a:tabLst/>
                <a:defRPr/>
              </a:pPr>
              <a:r>
                <a:rPr lang="en-GB" sz="1500" b="1" kern="0">
                  <a:solidFill>
                    <a:schemeClr val="bg1"/>
                  </a:solidFill>
                  <a:latin typeface="+mj-lt"/>
                  <a:cs typeface="Arial" pitchFamily="34" charset="0"/>
                </a:rPr>
                <a:t>Business</a:t>
              </a:r>
              <a:r>
                <a:rPr kumimoji="0" lang="en-GB" sz="1500" b="1" i="0" u="none" strike="noStrike" kern="0" cap="none" spc="0" normalizeH="0" baseline="0" noProof="0">
                  <a:ln>
                    <a:noFill/>
                  </a:ln>
                  <a:solidFill>
                    <a:schemeClr val="bg1"/>
                  </a:solidFill>
                  <a:effectLst/>
                  <a:uLnTx/>
                  <a:uFillTx/>
                  <a:latin typeface="+mj-lt"/>
                  <a:cs typeface="Arial" pitchFamily="34" charset="0"/>
                </a:rPr>
                <a:t> Owner</a:t>
              </a:r>
            </a:p>
          </p:txBody>
        </p:sp>
        <p:sp>
          <p:nvSpPr>
            <p:cNvPr id="17" name="Rectangle 16">
              <a:extLst>
                <a:ext uri="{FF2B5EF4-FFF2-40B4-BE49-F238E27FC236}">
                  <a16:creationId xmlns:a16="http://schemas.microsoft.com/office/drawing/2014/main" id="{E13A0290-51D2-7158-0446-84FC81EB6BEF}"/>
                </a:ext>
              </a:extLst>
            </p:cNvPr>
            <p:cNvSpPr/>
            <p:nvPr/>
          </p:nvSpPr>
          <p:spPr bwMode="auto">
            <a:xfrm>
              <a:off x="2130820" y="1682431"/>
              <a:ext cx="1798212" cy="214907"/>
            </a:xfrm>
            <a:prstGeom prst="rect">
              <a:avLst/>
            </a:prstGeom>
            <a:grp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US" sz="1500" b="1" kern="0">
                  <a:solidFill>
                    <a:schemeClr val="bg1"/>
                  </a:solidFill>
                  <a:ea typeface="Calibri"/>
                  <a:cs typeface="Arial"/>
                </a:rPr>
                <a:t>Adnan Zakaria</a:t>
              </a:r>
            </a:p>
          </p:txBody>
        </p:sp>
        <p:sp>
          <p:nvSpPr>
            <p:cNvPr id="18" name="Rectangle 17">
              <a:extLst>
                <a:ext uri="{FF2B5EF4-FFF2-40B4-BE49-F238E27FC236}">
                  <a16:creationId xmlns:a16="http://schemas.microsoft.com/office/drawing/2014/main" id="{E312B48A-F752-7805-D21A-996C65BD256A}"/>
                </a:ext>
              </a:extLst>
            </p:cNvPr>
            <p:cNvSpPr/>
            <p:nvPr/>
          </p:nvSpPr>
          <p:spPr bwMode="auto">
            <a:xfrm>
              <a:off x="567987" y="1944101"/>
              <a:ext cx="1440000" cy="256198"/>
            </a:xfrm>
            <a:prstGeom prst="rect">
              <a:avLst/>
            </a:prstGeom>
            <a:grp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itchFamily="34" charset="0"/>
                </a:rPr>
                <a:t>Project Manager</a:t>
              </a:r>
            </a:p>
          </p:txBody>
        </p:sp>
        <p:sp>
          <p:nvSpPr>
            <p:cNvPr id="19" name="Rectangle 18">
              <a:extLst>
                <a:ext uri="{FF2B5EF4-FFF2-40B4-BE49-F238E27FC236}">
                  <a16:creationId xmlns:a16="http://schemas.microsoft.com/office/drawing/2014/main" id="{B424803F-D84B-445D-B379-59544EA631C4}"/>
                </a:ext>
              </a:extLst>
            </p:cNvPr>
            <p:cNvSpPr/>
            <p:nvPr/>
          </p:nvSpPr>
          <p:spPr bwMode="auto">
            <a:xfrm>
              <a:off x="2127836" y="1944101"/>
              <a:ext cx="1800000" cy="256198"/>
            </a:xfrm>
            <a:prstGeom prst="rect">
              <a:avLst/>
            </a:prstGeom>
            <a:grp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GB" sz="1500" b="1" kern="0">
                  <a:solidFill>
                    <a:schemeClr val="bg1"/>
                  </a:solidFill>
                  <a:latin typeface="+mj-lt"/>
                  <a:cs typeface="Arial"/>
                </a:rPr>
                <a:t>Alaa Al-Smadi</a:t>
              </a:r>
              <a:endParaRPr lang="en-US"/>
            </a:p>
          </p:txBody>
        </p:sp>
      </p:grpSp>
      <p:sp>
        <p:nvSpPr>
          <p:cNvPr id="30" name="Rectangle 29">
            <a:extLst>
              <a:ext uri="{FF2B5EF4-FFF2-40B4-BE49-F238E27FC236}">
                <a16:creationId xmlns:a16="http://schemas.microsoft.com/office/drawing/2014/main" id="{A5C4AA84-90F3-45FC-3690-4BAD68E62C8F}"/>
              </a:ext>
            </a:extLst>
          </p:cNvPr>
          <p:cNvSpPr/>
          <p:nvPr/>
        </p:nvSpPr>
        <p:spPr bwMode="auto">
          <a:xfrm>
            <a:off x="15847604" y="2530028"/>
            <a:ext cx="1574978" cy="533700"/>
          </a:xfrm>
          <a:prstGeom prst="rect">
            <a:avLst/>
          </a:prstGeom>
          <a:solidFill>
            <a:srgbClr val="E2F0D9"/>
          </a:solidFill>
          <a:ln w="9525" cap="flat" cmpd="sng" algn="ctr">
            <a:solidFill>
              <a:srgbClr val="FFCCCC"/>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defTabSz="1564584">
              <a:defRPr/>
            </a:pPr>
            <a:r>
              <a:rPr lang="en-US" sz="1500" b="1" kern="0">
                <a:solidFill>
                  <a:prstClr val="black"/>
                </a:solidFill>
                <a:latin typeface="+mj-lt"/>
                <a:cs typeface="Calibri"/>
              </a:rPr>
              <a:t>On Track</a:t>
            </a:r>
            <a:endParaRPr lang="en-US" sz="1500" kern="0">
              <a:solidFill>
                <a:prstClr val="black"/>
              </a:solidFill>
              <a:latin typeface="+mj-lt"/>
              <a:ea typeface="Calibri"/>
              <a:cs typeface="Calibri"/>
            </a:endParaRPr>
          </a:p>
        </p:txBody>
      </p:sp>
      <p:grpSp>
        <p:nvGrpSpPr>
          <p:cNvPr id="29" name="Group 28">
            <a:extLst>
              <a:ext uri="{FF2B5EF4-FFF2-40B4-BE49-F238E27FC236}">
                <a16:creationId xmlns:a16="http://schemas.microsoft.com/office/drawing/2014/main" id="{31144361-2700-283C-69BE-58390FA2E430}"/>
              </a:ext>
            </a:extLst>
          </p:cNvPr>
          <p:cNvGrpSpPr/>
          <p:nvPr/>
        </p:nvGrpSpPr>
        <p:grpSpPr>
          <a:xfrm>
            <a:off x="9805720" y="9593550"/>
            <a:ext cx="10637918" cy="505790"/>
            <a:chOff x="5956720" y="6443049"/>
            <a:chExt cx="7091945" cy="357913"/>
          </a:xfrm>
        </p:grpSpPr>
        <p:grpSp>
          <p:nvGrpSpPr>
            <p:cNvPr id="52" name="Group 51">
              <a:extLst>
                <a:ext uri="{FF2B5EF4-FFF2-40B4-BE49-F238E27FC236}">
                  <a16:creationId xmlns:a16="http://schemas.microsoft.com/office/drawing/2014/main" id="{7981E767-B92B-6E45-13A3-A779906158ED}"/>
                </a:ext>
              </a:extLst>
            </p:cNvPr>
            <p:cNvGrpSpPr/>
            <p:nvPr/>
          </p:nvGrpSpPr>
          <p:grpSpPr>
            <a:xfrm>
              <a:off x="5956720" y="6443049"/>
              <a:ext cx="7091945" cy="357913"/>
              <a:chOff x="5966485" y="6485413"/>
              <a:chExt cx="7091945" cy="357913"/>
            </a:xfrm>
          </p:grpSpPr>
          <p:sp>
            <p:nvSpPr>
              <p:cNvPr id="62" name="Oval 61">
                <a:extLst>
                  <a:ext uri="{FF2B5EF4-FFF2-40B4-BE49-F238E27FC236}">
                    <a16:creationId xmlns:a16="http://schemas.microsoft.com/office/drawing/2014/main" id="{C5388D35-AABD-B488-1EFE-25E09D4AE145}"/>
                  </a:ext>
                </a:extLst>
              </p:cNvPr>
              <p:cNvSpPr/>
              <p:nvPr/>
            </p:nvSpPr>
            <p:spPr>
              <a:xfrm>
                <a:off x="6950322" y="6494495"/>
                <a:ext cx="133346" cy="126401"/>
              </a:xfrm>
              <a:prstGeom prst="ellipse">
                <a:avLst/>
              </a:prstGeom>
              <a:solidFill>
                <a:srgbClr val="E2F0D9"/>
              </a:solidFill>
              <a:ln w="9525">
                <a:solidFill>
                  <a:srgbClr val="E2F0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63" name="Oval 62">
                <a:extLst>
                  <a:ext uri="{FF2B5EF4-FFF2-40B4-BE49-F238E27FC236}">
                    <a16:creationId xmlns:a16="http://schemas.microsoft.com/office/drawing/2014/main" id="{AA69C492-8C6D-DAAA-4F63-A6198B70210A}"/>
                  </a:ext>
                </a:extLst>
              </p:cNvPr>
              <p:cNvSpPr/>
              <p:nvPr/>
            </p:nvSpPr>
            <p:spPr>
              <a:xfrm>
                <a:off x="7594167" y="6503611"/>
                <a:ext cx="135071" cy="126401"/>
              </a:xfrm>
              <a:prstGeom prst="ellipse">
                <a:avLst/>
              </a:prstGeom>
              <a:solidFill>
                <a:srgbClr val="FF0000"/>
              </a:solid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64" name="Oval 63">
                <a:extLst>
                  <a:ext uri="{FF2B5EF4-FFF2-40B4-BE49-F238E27FC236}">
                    <a16:creationId xmlns:a16="http://schemas.microsoft.com/office/drawing/2014/main" id="{25E0ACB2-84BC-77C0-DA29-E33400AC80BB}"/>
                  </a:ext>
                </a:extLst>
              </p:cNvPr>
              <p:cNvSpPr/>
              <p:nvPr/>
            </p:nvSpPr>
            <p:spPr>
              <a:xfrm>
                <a:off x="8149931" y="6505195"/>
                <a:ext cx="131200" cy="126401"/>
              </a:xfrm>
              <a:prstGeom prst="ellipse">
                <a:avLst/>
              </a:prstGeom>
              <a:solidFill>
                <a:srgbClr val="FFC000"/>
              </a:solidFill>
              <a:ln w="95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65" name="TextBox 64">
                <a:extLst>
                  <a:ext uri="{FF2B5EF4-FFF2-40B4-BE49-F238E27FC236}">
                    <a16:creationId xmlns:a16="http://schemas.microsoft.com/office/drawing/2014/main" id="{4A869194-C67E-8E3C-DE14-47DAD865EFB9}"/>
                  </a:ext>
                </a:extLst>
              </p:cNvPr>
              <p:cNvSpPr txBox="1"/>
              <p:nvPr/>
            </p:nvSpPr>
            <p:spPr>
              <a:xfrm>
                <a:off x="6734909" y="6611779"/>
                <a:ext cx="717687"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On track </a:t>
                </a:r>
              </a:p>
            </p:txBody>
          </p:sp>
          <p:sp>
            <p:nvSpPr>
              <p:cNvPr id="66" name="TextBox 65">
                <a:extLst>
                  <a:ext uri="{FF2B5EF4-FFF2-40B4-BE49-F238E27FC236}">
                    <a16:creationId xmlns:a16="http://schemas.microsoft.com/office/drawing/2014/main" id="{04FA8D7A-1E7B-6143-A92D-42D62866185C}"/>
                  </a:ext>
                </a:extLst>
              </p:cNvPr>
              <p:cNvSpPr txBox="1"/>
              <p:nvPr/>
            </p:nvSpPr>
            <p:spPr>
              <a:xfrm>
                <a:off x="7360310" y="6621931"/>
                <a:ext cx="664200"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Delayed</a:t>
                </a:r>
              </a:p>
            </p:txBody>
          </p:sp>
          <p:sp>
            <p:nvSpPr>
              <p:cNvPr id="67" name="TextBox 66">
                <a:extLst>
                  <a:ext uri="{FF2B5EF4-FFF2-40B4-BE49-F238E27FC236}">
                    <a16:creationId xmlns:a16="http://schemas.microsoft.com/office/drawing/2014/main" id="{2FF66A41-2047-435A-A8A8-E913F201A879}"/>
                  </a:ext>
                </a:extLst>
              </p:cNvPr>
              <p:cNvSpPr txBox="1"/>
              <p:nvPr/>
            </p:nvSpPr>
            <p:spPr>
              <a:xfrm>
                <a:off x="7962993" y="6624764"/>
                <a:ext cx="664200"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At Risk</a:t>
                </a:r>
              </a:p>
            </p:txBody>
          </p:sp>
          <p:sp>
            <p:nvSpPr>
              <p:cNvPr id="68" name="TextBox 67">
                <a:extLst>
                  <a:ext uri="{FF2B5EF4-FFF2-40B4-BE49-F238E27FC236}">
                    <a16:creationId xmlns:a16="http://schemas.microsoft.com/office/drawing/2014/main" id="{132D0794-3E6D-DCA7-D0EE-62C75EBB9BFC}"/>
                  </a:ext>
                </a:extLst>
              </p:cNvPr>
              <p:cNvSpPr txBox="1"/>
              <p:nvPr/>
            </p:nvSpPr>
            <p:spPr>
              <a:xfrm>
                <a:off x="9357110" y="6627882"/>
                <a:ext cx="970136"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Implemented</a:t>
                </a:r>
              </a:p>
            </p:txBody>
          </p:sp>
          <p:sp>
            <p:nvSpPr>
              <p:cNvPr id="69" name="Oval 68">
                <a:extLst>
                  <a:ext uri="{FF2B5EF4-FFF2-40B4-BE49-F238E27FC236}">
                    <a16:creationId xmlns:a16="http://schemas.microsoft.com/office/drawing/2014/main" id="{DA562CF8-076C-12A9-5B14-35D68034E4C5}"/>
                  </a:ext>
                </a:extLst>
              </p:cNvPr>
              <p:cNvSpPr/>
              <p:nvPr/>
            </p:nvSpPr>
            <p:spPr>
              <a:xfrm>
                <a:off x="10428038" y="6512756"/>
                <a:ext cx="137031" cy="126401"/>
              </a:xfrm>
              <a:prstGeom prst="ellipse">
                <a:avLst/>
              </a:prstGeom>
              <a:solidFill>
                <a:srgbClr val="00B0F0"/>
              </a:solid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67828AB0-2343-2A8B-212B-B59CBA03FE85}"/>
                  </a:ext>
                </a:extLst>
              </p:cNvPr>
              <p:cNvSpPr txBox="1"/>
              <p:nvPr/>
            </p:nvSpPr>
            <p:spPr>
              <a:xfrm>
                <a:off x="10194922" y="6621646"/>
                <a:ext cx="2311615"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US" sz="1200">
                    <a:latin typeface="Arial" panose="020B0604020202020204" pitchFamily="34" charset="0"/>
                    <a:cs typeface="Arial" panose="020B0604020202020204" pitchFamily="34" charset="0"/>
                  </a:rPr>
                  <a:t>On Hold</a:t>
                </a:r>
                <a:endParaRPr kumimoji="0" lang="en-US" sz="120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71" name="Oval 70">
                <a:extLst>
                  <a:ext uri="{FF2B5EF4-FFF2-40B4-BE49-F238E27FC236}">
                    <a16:creationId xmlns:a16="http://schemas.microsoft.com/office/drawing/2014/main" id="{DF40493D-C5F3-C1BF-B9F9-EA4D96B9F7EE}"/>
                  </a:ext>
                </a:extLst>
              </p:cNvPr>
              <p:cNvSpPr/>
              <p:nvPr/>
            </p:nvSpPr>
            <p:spPr>
              <a:xfrm>
                <a:off x="11073431" y="6488248"/>
                <a:ext cx="137031" cy="126401"/>
              </a:xfrm>
              <a:prstGeom prst="ellipse">
                <a:avLst/>
              </a:prstGeom>
              <a:solidFill>
                <a:srgbClr val="FFFF00"/>
              </a:solidFill>
              <a:ln w="952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72" name="TextBox 71">
                <a:extLst>
                  <a:ext uri="{FF2B5EF4-FFF2-40B4-BE49-F238E27FC236}">
                    <a16:creationId xmlns:a16="http://schemas.microsoft.com/office/drawing/2014/main" id="{C4998A39-0294-F09E-67BC-364BD5531956}"/>
                  </a:ext>
                </a:extLst>
              </p:cNvPr>
              <p:cNvSpPr txBox="1"/>
              <p:nvPr/>
            </p:nvSpPr>
            <p:spPr>
              <a:xfrm>
                <a:off x="10746815" y="6611779"/>
                <a:ext cx="2311615"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Terminated</a:t>
                </a:r>
              </a:p>
            </p:txBody>
          </p:sp>
          <p:sp>
            <p:nvSpPr>
              <p:cNvPr id="76" name="Oval 75">
                <a:extLst>
                  <a:ext uri="{FF2B5EF4-FFF2-40B4-BE49-F238E27FC236}">
                    <a16:creationId xmlns:a16="http://schemas.microsoft.com/office/drawing/2014/main" id="{0631A30D-F9DC-5CE7-5C22-D3664019BEF8}"/>
                  </a:ext>
                </a:extLst>
              </p:cNvPr>
              <p:cNvSpPr/>
              <p:nvPr/>
            </p:nvSpPr>
            <p:spPr>
              <a:xfrm>
                <a:off x="8836849" y="6505195"/>
                <a:ext cx="131200" cy="126401"/>
              </a:xfrm>
              <a:prstGeom prst="ellipse">
                <a:avLst/>
              </a:prstGeom>
              <a:solidFill>
                <a:srgbClr val="00B050"/>
              </a:solid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78" name="TextBox 77">
                <a:extLst>
                  <a:ext uri="{FF2B5EF4-FFF2-40B4-BE49-F238E27FC236}">
                    <a16:creationId xmlns:a16="http://schemas.microsoft.com/office/drawing/2014/main" id="{00C296AD-0648-8DCE-8E06-2F8262750F30}"/>
                  </a:ext>
                </a:extLst>
              </p:cNvPr>
              <p:cNvSpPr txBox="1"/>
              <p:nvPr/>
            </p:nvSpPr>
            <p:spPr>
              <a:xfrm>
                <a:off x="8555682" y="6620896"/>
                <a:ext cx="815094"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InProgress</a:t>
                </a:r>
              </a:p>
            </p:txBody>
          </p:sp>
          <p:sp>
            <p:nvSpPr>
              <p:cNvPr id="79" name="Oval 78">
                <a:extLst>
                  <a:ext uri="{FF2B5EF4-FFF2-40B4-BE49-F238E27FC236}">
                    <a16:creationId xmlns:a16="http://schemas.microsoft.com/office/drawing/2014/main" id="{8DBE485A-C58A-CA38-B8EA-94EF50FAD7CD}"/>
                  </a:ext>
                </a:extLst>
              </p:cNvPr>
              <p:cNvSpPr/>
              <p:nvPr/>
            </p:nvSpPr>
            <p:spPr>
              <a:xfrm>
                <a:off x="6328246" y="6485413"/>
                <a:ext cx="133346" cy="126401"/>
              </a:xfrm>
              <a:prstGeom prst="ellipse">
                <a:avLst/>
              </a:prstGeom>
              <a:solidFill>
                <a:srgbClr val="BFBFBF"/>
              </a:solidFill>
              <a:ln w="9525">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80" name="TextBox 79">
                <a:extLst>
                  <a:ext uri="{FF2B5EF4-FFF2-40B4-BE49-F238E27FC236}">
                    <a16:creationId xmlns:a16="http://schemas.microsoft.com/office/drawing/2014/main" id="{E7AD5AD6-67A9-FEA2-2258-ACFE6980134C}"/>
                  </a:ext>
                </a:extLst>
              </p:cNvPr>
              <p:cNvSpPr txBox="1"/>
              <p:nvPr/>
            </p:nvSpPr>
            <p:spPr>
              <a:xfrm>
                <a:off x="5966485" y="6601627"/>
                <a:ext cx="858416"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Not Started</a:t>
                </a:r>
              </a:p>
            </p:txBody>
          </p:sp>
        </p:grpSp>
        <p:sp>
          <p:nvSpPr>
            <p:cNvPr id="61" name="Oval 60">
              <a:extLst>
                <a:ext uri="{FF2B5EF4-FFF2-40B4-BE49-F238E27FC236}">
                  <a16:creationId xmlns:a16="http://schemas.microsoft.com/office/drawing/2014/main" id="{1851DE65-FDE1-3682-D43A-986C38B25EFF}"/>
                </a:ext>
              </a:extLst>
            </p:cNvPr>
            <p:cNvSpPr/>
            <p:nvPr/>
          </p:nvSpPr>
          <p:spPr>
            <a:xfrm>
              <a:off x="9702904" y="6470392"/>
              <a:ext cx="131200" cy="126401"/>
            </a:xfrm>
            <a:prstGeom prst="ellipse">
              <a:avLst/>
            </a:prstGeom>
            <a:solidFill>
              <a:srgbClr val="003373"/>
            </a:solidFill>
            <a:ln w="9525">
              <a:solidFill>
                <a:srgbClr val="0033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grpSp>
      <p:sp>
        <p:nvSpPr>
          <p:cNvPr id="50" name="Freeform 13">
            <a:extLst>
              <a:ext uri="{FF2B5EF4-FFF2-40B4-BE49-F238E27FC236}">
                <a16:creationId xmlns:a16="http://schemas.microsoft.com/office/drawing/2014/main" id="{9BCDF5CB-0A65-2923-4EAD-E63D0F8BC169}"/>
              </a:ext>
            </a:extLst>
          </p:cNvPr>
          <p:cNvSpPr/>
          <p:nvPr/>
        </p:nvSpPr>
        <p:spPr>
          <a:xfrm>
            <a:off x="16062518" y="309634"/>
            <a:ext cx="1851905" cy="870481"/>
          </a:xfrm>
          <a:custGeom>
            <a:avLst/>
            <a:gdLst/>
            <a:ahLst/>
            <a:cxnLst/>
            <a:rect l="l" t="t" r="r" b="b"/>
            <a:pathLst>
              <a:path w="1851905" h="870481">
                <a:moveTo>
                  <a:pt x="0" y="0"/>
                </a:moveTo>
                <a:lnTo>
                  <a:pt x="1851905" y="0"/>
                </a:lnTo>
                <a:lnTo>
                  <a:pt x="1851905" y="870481"/>
                </a:lnTo>
                <a:lnTo>
                  <a:pt x="0" y="870481"/>
                </a:lnTo>
                <a:lnTo>
                  <a:pt x="0" y="0"/>
                </a:lnTo>
                <a:close/>
              </a:path>
            </a:pathLst>
          </a:custGeom>
          <a:blipFill>
            <a:blip r:embed="rId2"/>
            <a:stretch>
              <a:fillRect/>
            </a:stretch>
          </a:blipFill>
        </p:spPr>
        <p:txBody>
          <a:bodyPr/>
          <a:lstStyle/>
          <a:p>
            <a:endParaRPr lang="en-US"/>
          </a:p>
        </p:txBody>
      </p:sp>
      <p:sp>
        <p:nvSpPr>
          <p:cNvPr id="44" name="TextBox 2">
            <a:extLst>
              <a:ext uri="{FF2B5EF4-FFF2-40B4-BE49-F238E27FC236}">
                <a16:creationId xmlns:a16="http://schemas.microsoft.com/office/drawing/2014/main" id="{E7F3E539-677F-2224-2356-8D5E103B9A85}"/>
              </a:ext>
            </a:extLst>
          </p:cNvPr>
          <p:cNvSpPr txBox="1"/>
          <p:nvPr/>
        </p:nvSpPr>
        <p:spPr>
          <a:xfrm>
            <a:off x="816049" y="86390"/>
            <a:ext cx="12063444" cy="1318502"/>
          </a:xfrm>
          <a:prstGeom prst="rect">
            <a:avLst/>
          </a:prstGeom>
        </p:spPr>
        <p:txBody>
          <a:bodyPr lIns="0" tIns="0" rIns="0" bIns="0" rtlCol="0" anchor="t">
            <a:spAutoFit/>
          </a:bodyPr>
          <a:lstStyle/>
          <a:p>
            <a:pPr>
              <a:lnSpc>
                <a:spcPts val="11200"/>
              </a:lnSpc>
              <a:spcBef>
                <a:spcPct val="0"/>
              </a:spcBef>
            </a:pPr>
            <a:r>
              <a:rPr lang="en-US" sz="8000" b="1">
                <a:solidFill>
                  <a:srgbClr val="03A39D"/>
                </a:solidFill>
                <a:latin typeface="Inter Bold"/>
                <a:ea typeface="Inter Bold"/>
                <a:cs typeface="Inter Bold"/>
                <a:sym typeface="Inter Bold"/>
              </a:rPr>
              <a:t>GPI PRO </a:t>
            </a:r>
            <a:r>
              <a:rPr lang="en-US" sz="8000" b="1">
                <a:solidFill>
                  <a:srgbClr val="1C1818"/>
                </a:solidFill>
                <a:latin typeface="Inter Bold"/>
                <a:ea typeface="Inter Bold"/>
                <a:cs typeface="Inter Bold"/>
                <a:sym typeface="Inter Bold"/>
              </a:rPr>
              <a:t>PROJECT</a:t>
            </a:r>
          </a:p>
        </p:txBody>
      </p:sp>
      <p:grpSp>
        <p:nvGrpSpPr>
          <p:cNvPr id="3" name="Group 2">
            <a:extLst>
              <a:ext uri="{FF2B5EF4-FFF2-40B4-BE49-F238E27FC236}">
                <a16:creationId xmlns:a16="http://schemas.microsoft.com/office/drawing/2014/main" id="{56699AC1-8DFC-735A-131E-D57EF45EF9C9}"/>
              </a:ext>
            </a:extLst>
          </p:cNvPr>
          <p:cNvGrpSpPr/>
          <p:nvPr/>
        </p:nvGrpSpPr>
        <p:grpSpPr>
          <a:xfrm>
            <a:off x="830456" y="4136645"/>
            <a:ext cx="16627087" cy="1396406"/>
            <a:chOff x="0" y="0"/>
            <a:chExt cx="22169450" cy="1861874"/>
          </a:xfrm>
          <a:solidFill>
            <a:schemeClr val="bg1"/>
          </a:solidFill>
        </p:grpSpPr>
        <p:sp>
          <p:nvSpPr>
            <p:cNvPr id="5" name="Freeform 3">
              <a:extLst>
                <a:ext uri="{FF2B5EF4-FFF2-40B4-BE49-F238E27FC236}">
                  <a16:creationId xmlns:a16="http://schemas.microsoft.com/office/drawing/2014/main" id="{CFCA205B-0655-B22E-E85B-C7D8C13ACAAD}"/>
                </a:ext>
              </a:extLst>
            </p:cNvPr>
            <p:cNvSpPr/>
            <p:nvPr/>
          </p:nvSpPr>
          <p:spPr>
            <a:xfrm>
              <a:off x="0" y="0"/>
              <a:ext cx="22169501" cy="1861820"/>
            </a:xfrm>
            <a:custGeom>
              <a:avLst/>
              <a:gdLst/>
              <a:ahLst/>
              <a:cxnLst/>
              <a:rect l="l" t="t" r="r" b="b"/>
              <a:pathLst>
                <a:path w="22169501" h="1861820">
                  <a:moveTo>
                    <a:pt x="0" y="0"/>
                  </a:moveTo>
                  <a:lnTo>
                    <a:pt x="22169501" y="0"/>
                  </a:lnTo>
                  <a:lnTo>
                    <a:pt x="22169501" y="1861820"/>
                  </a:lnTo>
                  <a:lnTo>
                    <a:pt x="0" y="1861820"/>
                  </a:lnTo>
                  <a:close/>
                </a:path>
              </a:pathLst>
            </a:custGeom>
            <a:grpFill/>
            <a:ln w="12700">
              <a:solidFill>
                <a:srgbClr val="000000"/>
              </a:solidFill>
            </a:ln>
          </p:spPr>
          <p:txBody>
            <a:bodyPr/>
            <a:lstStyle/>
            <a:p>
              <a:endParaRPr lang="en-US"/>
            </a:p>
          </p:txBody>
        </p:sp>
      </p:grpSp>
      <p:sp>
        <p:nvSpPr>
          <p:cNvPr id="81" name="AutoShape 4">
            <a:extLst>
              <a:ext uri="{FF2B5EF4-FFF2-40B4-BE49-F238E27FC236}">
                <a16:creationId xmlns:a16="http://schemas.microsoft.com/office/drawing/2014/main" id="{BA00DA4E-CB82-9827-D057-93C5939F3D69}"/>
              </a:ext>
            </a:extLst>
          </p:cNvPr>
          <p:cNvSpPr/>
          <p:nvPr/>
        </p:nvSpPr>
        <p:spPr>
          <a:xfrm>
            <a:off x="1496609" y="4938702"/>
            <a:ext cx="15513385" cy="0"/>
          </a:xfrm>
          <a:prstGeom prst="line">
            <a:avLst/>
          </a:prstGeom>
          <a:ln w="19050" cap="rnd">
            <a:solidFill>
              <a:srgbClr val="000000"/>
            </a:solidFill>
            <a:prstDash val="solid"/>
            <a:headEnd type="none" w="sm" len="sm"/>
            <a:tailEnd type="triangle" w="lg" len="med"/>
          </a:ln>
        </p:spPr>
        <p:txBody>
          <a:bodyPr/>
          <a:lstStyle/>
          <a:p>
            <a:endParaRPr lang="en-US"/>
          </a:p>
        </p:txBody>
      </p:sp>
      <p:sp>
        <p:nvSpPr>
          <p:cNvPr id="82" name="TextBox 5">
            <a:extLst>
              <a:ext uri="{FF2B5EF4-FFF2-40B4-BE49-F238E27FC236}">
                <a16:creationId xmlns:a16="http://schemas.microsoft.com/office/drawing/2014/main" id="{37A1A977-7A1C-8747-2E6E-533B498A6203}"/>
              </a:ext>
            </a:extLst>
          </p:cNvPr>
          <p:cNvSpPr txBox="1"/>
          <p:nvPr/>
        </p:nvSpPr>
        <p:spPr>
          <a:xfrm>
            <a:off x="15307241" y="4219247"/>
            <a:ext cx="734027" cy="485775"/>
          </a:xfrm>
          <a:prstGeom prst="rect">
            <a:avLst/>
          </a:prstGeom>
        </p:spPr>
        <p:txBody>
          <a:bodyPr lIns="0" tIns="0" rIns="0" bIns="0" rtlCol="0" anchor="t">
            <a:spAutoFit/>
          </a:bodyPr>
          <a:lstStyle/>
          <a:p>
            <a:pPr algn="ctr">
              <a:lnSpc>
                <a:spcPts val="1889"/>
              </a:lnSpc>
            </a:pPr>
            <a:r>
              <a:rPr lang="en-US" sz="1575" b="1">
                <a:solidFill>
                  <a:srgbClr val="000000"/>
                </a:solidFill>
                <a:latin typeface="Arial Bold"/>
                <a:ea typeface="Arial Bold"/>
                <a:cs typeface="Arial Bold"/>
                <a:sym typeface="Arial Bold"/>
              </a:rPr>
              <a:t>Go-live</a:t>
            </a:r>
          </a:p>
          <a:p>
            <a:pPr algn="ctr">
              <a:lnSpc>
                <a:spcPts val="1889"/>
              </a:lnSpc>
            </a:pPr>
            <a:r>
              <a:rPr lang="en-US" sz="1575" b="1">
                <a:solidFill>
                  <a:srgbClr val="000000"/>
                </a:solidFill>
                <a:latin typeface="Arial Bold"/>
                <a:ea typeface="Arial Bold"/>
                <a:cs typeface="Arial Bold"/>
                <a:sym typeface="Arial Bold"/>
              </a:rPr>
              <a:t>Phase</a:t>
            </a:r>
          </a:p>
        </p:txBody>
      </p:sp>
      <p:sp>
        <p:nvSpPr>
          <p:cNvPr id="87" name="TextBox 9">
            <a:extLst>
              <a:ext uri="{FF2B5EF4-FFF2-40B4-BE49-F238E27FC236}">
                <a16:creationId xmlns:a16="http://schemas.microsoft.com/office/drawing/2014/main" id="{477D3AA8-7AD1-7B1A-473F-A601F04C0080}"/>
              </a:ext>
            </a:extLst>
          </p:cNvPr>
          <p:cNvSpPr txBox="1"/>
          <p:nvPr/>
        </p:nvSpPr>
        <p:spPr>
          <a:xfrm>
            <a:off x="4892532" y="4238189"/>
            <a:ext cx="1093887" cy="466833"/>
          </a:xfrm>
          <a:prstGeom prst="rect">
            <a:avLst/>
          </a:prstGeom>
        </p:spPr>
        <p:txBody>
          <a:bodyPr lIns="0" tIns="0" rIns="0" bIns="0" rtlCol="0" anchor="t">
            <a:spAutoFit/>
          </a:bodyPr>
          <a:lstStyle/>
          <a:p>
            <a:pPr algn="ctr">
              <a:lnSpc>
                <a:spcPts val="1860"/>
              </a:lnSpc>
            </a:pPr>
            <a:r>
              <a:rPr lang="en-US" sz="1550" b="1">
                <a:solidFill>
                  <a:srgbClr val="000000"/>
                </a:solidFill>
                <a:latin typeface="Arial Bold"/>
                <a:ea typeface="Arial Bold"/>
                <a:cs typeface="Arial Bold"/>
                <a:sym typeface="Arial Bold"/>
              </a:rPr>
              <a:t>Preparation</a:t>
            </a:r>
          </a:p>
          <a:p>
            <a:pPr algn="ctr">
              <a:lnSpc>
                <a:spcPts val="1860"/>
              </a:lnSpc>
            </a:pPr>
            <a:r>
              <a:rPr lang="en-US" sz="1550" b="1">
                <a:solidFill>
                  <a:srgbClr val="000000"/>
                </a:solidFill>
                <a:latin typeface="Arial Bold"/>
                <a:ea typeface="Arial Bold"/>
                <a:cs typeface="Arial Bold"/>
                <a:sym typeface="Arial Bold"/>
              </a:rPr>
              <a:t>Phase</a:t>
            </a:r>
          </a:p>
        </p:txBody>
      </p:sp>
      <p:grpSp>
        <p:nvGrpSpPr>
          <p:cNvPr id="88" name="Group 10">
            <a:extLst>
              <a:ext uri="{FF2B5EF4-FFF2-40B4-BE49-F238E27FC236}">
                <a16:creationId xmlns:a16="http://schemas.microsoft.com/office/drawing/2014/main" id="{E2E0D226-3928-D307-2382-798A6EE106F5}"/>
              </a:ext>
            </a:extLst>
          </p:cNvPr>
          <p:cNvGrpSpPr/>
          <p:nvPr/>
        </p:nvGrpSpPr>
        <p:grpSpPr>
          <a:xfrm>
            <a:off x="5243544" y="4742771"/>
            <a:ext cx="391862" cy="391862"/>
            <a:chOff x="0" y="0"/>
            <a:chExt cx="812800" cy="812800"/>
          </a:xfrm>
        </p:grpSpPr>
        <p:sp>
          <p:nvSpPr>
            <p:cNvPr id="89" name="Freeform 11">
              <a:extLst>
                <a:ext uri="{FF2B5EF4-FFF2-40B4-BE49-F238E27FC236}">
                  <a16:creationId xmlns:a16="http://schemas.microsoft.com/office/drawing/2014/main" id="{2DC8737D-3D9F-C678-F19B-74785BE4F07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383"/>
            </a:solidFill>
          </p:spPr>
          <p:txBody>
            <a:bodyPr/>
            <a:lstStyle/>
            <a:p>
              <a:endParaRPr lang="en-US"/>
            </a:p>
          </p:txBody>
        </p:sp>
        <p:sp>
          <p:nvSpPr>
            <p:cNvPr id="90" name="TextBox 12">
              <a:extLst>
                <a:ext uri="{FF2B5EF4-FFF2-40B4-BE49-F238E27FC236}">
                  <a16:creationId xmlns:a16="http://schemas.microsoft.com/office/drawing/2014/main" id="{56099851-55A8-8860-824B-ABA2CD86EEBE}"/>
                </a:ext>
              </a:extLst>
            </p:cNvPr>
            <p:cNvSpPr txBox="1"/>
            <p:nvPr/>
          </p:nvSpPr>
          <p:spPr>
            <a:xfrm>
              <a:off x="76200" y="38100"/>
              <a:ext cx="660400" cy="698500"/>
            </a:xfrm>
            <a:prstGeom prst="rect">
              <a:avLst/>
            </a:prstGeom>
          </p:spPr>
          <p:txBody>
            <a:bodyPr lIns="50800" tIns="50800" rIns="50800" bIns="50800" rtlCol="0" anchor="ctr"/>
            <a:lstStyle/>
            <a:p>
              <a:pPr algn="ctr">
                <a:lnSpc>
                  <a:spcPts val="1800"/>
                </a:lnSpc>
              </a:pPr>
              <a:endParaRPr/>
            </a:p>
          </p:txBody>
        </p:sp>
      </p:grpSp>
      <p:sp>
        <p:nvSpPr>
          <p:cNvPr id="91" name="TextBox 13">
            <a:extLst>
              <a:ext uri="{FF2B5EF4-FFF2-40B4-BE49-F238E27FC236}">
                <a16:creationId xmlns:a16="http://schemas.microsoft.com/office/drawing/2014/main" id="{24251E26-6979-8F31-96C9-24D921E6479C}"/>
              </a:ext>
            </a:extLst>
          </p:cNvPr>
          <p:cNvSpPr txBox="1"/>
          <p:nvPr/>
        </p:nvSpPr>
        <p:spPr>
          <a:xfrm>
            <a:off x="1215990" y="4238189"/>
            <a:ext cx="895950" cy="485775"/>
          </a:xfrm>
          <a:prstGeom prst="rect">
            <a:avLst/>
          </a:prstGeom>
        </p:spPr>
        <p:txBody>
          <a:bodyPr lIns="0" tIns="0" rIns="0" bIns="0" rtlCol="0" anchor="t">
            <a:spAutoFit/>
          </a:bodyPr>
          <a:lstStyle/>
          <a:p>
            <a:pPr algn="ctr">
              <a:lnSpc>
                <a:spcPts val="1889"/>
              </a:lnSpc>
            </a:pPr>
            <a:r>
              <a:rPr lang="en-US" sz="1575" b="1">
                <a:solidFill>
                  <a:srgbClr val="000000"/>
                </a:solidFill>
                <a:latin typeface="Arial Bold"/>
                <a:ea typeface="Arial Bold"/>
                <a:cs typeface="Arial Bold"/>
                <a:sym typeface="Arial Bold"/>
              </a:rPr>
              <a:t>Initiation</a:t>
            </a:r>
          </a:p>
          <a:p>
            <a:pPr algn="ctr">
              <a:lnSpc>
                <a:spcPts val="1889"/>
              </a:lnSpc>
            </a:pPr>
            <a:r>
              <a:rPr lang="en-US" sz="1575" b="1">
                <a:solidFill>
                  <a:srgbClr val="000000"/>
                </a:solidFill>
                <a:latin typeface="Arial Bold"/>
                <a:ea typeface="Arial Bold"/>
                <a:cs typeface="Arial Bold"/>
                <a:sym typeface="Arial Bold"/>
              </a:rPr>
              <a:t>Phase</a:t>
            </a:r>
          </a:p>
        </p:txBody>
      </p:sp>
      <p:grpSp>
        <p:nvGrpSpPr>
          <p:cNvPr id="92" name="Group 14">
            <a:extLst>
              <a:ext uri="{FF2B5EF4-FFF2-40B4-BE49-F238E27FC236}">
                <a16:creationId xmlns:a16="http://schemas.microsoft.com/office/drawing/2014/main" id="{B92C6717-F526-1A29-32E2-D99D5504CC6B}"/>
              </a:ext>
            </a:extLst>
          </p:cNvPr>
          <p:cNvGrpSpPr/>
          <p:nvPr/>
        </p:nvGrpSpPr>
        <p:grpSpPr>
          <a:xfrm>
            <a:off x="1468034" y="4723964"/>
            <a:ext cx="391862" cy="391862"/>
            <a:chOff x="0" y="0"/>
            <a:chExt cx="812800" cy="812800"/>
          </a:xfrm>
        </p:grpSpPr>
        <p:sp>
          <p:nvSpPr>
            <p:cNvPr id="93" name="Freeform 15">
              <a:extLst>
                <a:ext uri="{FF2B5EF4-FFF2-40B4-BE49-F238E27FC236}">
                  <a16:creationId xmlns:a16="http://schemas.microsoft.com/office/drawing/2014/main" id="{EB074A7E-C6A9-17B3-45E2-2EE834810EF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383"/>
            </a:solidFill>
          </p:spPr>
          <p:txBody>
            <a:bodyPr/>
            <a:lstStyle/>
            <a:p>
              <a:endParaRPr lang="en-US"/>
            </a:p>
          </p:txBody>
        </p:sp>
        <p:sp>
          <p:nvSpPr>
            <p:cNvPr id="94" name="TextBox 16">
              <a:extLst>
                <a:ext uri="{FF2B5EF4-FFF2-40B4-BE49-F238E27FC236}">
                  <a16:creationId xmlns:a16="http://schemas.microsoft.com/office/drawing/2014/main" id="{3C5FB9D8-BFAC-67B0-7668-35D975222050}"/>
                </a:ext>
              </a:extLst>
            </p:cNvPr>
            <p:cNvSpPr txBox="1"/>
            <p:nvPr/>
          </p:nvSpPr>
          <p:spPr>
            <a:xfrm>
              <a:off x="76200" y="38100"/>
              <a:ext cx="660400" cy="698500"/>
            </a:xfrm>
            <a:prstGeom prst="rect">
              <a:avLst/>
            </a:prstGeom>
          </p:spPr>
          <p:txBody>
            <a:bodyPr lIns="50800" tIns="50800" rIns="50800" bIns="50800" rtlCol="0" anchor="ctr"/>
            <a:lstStyle/>
            <a:p>
              <a:pPr algn="ctr">
                <a:lnSpc>
                  <a:spcPts val="1800"/>
                </a:lnSpc>
              </a:pPr>
              <a:endParaRPr/>
            </a:p>
          </p:txBody>
        </p:sp>
      </p:grpSp>
      <p:sp>
        <p:nvSpPr>
          <p:cNvPr id="95" name="TextBox 17">
            <a:extLst>
              <a:ext uri="{FF2B5EF4-FFF2-40B4-BE49-F238E27FC236}">
                <a16:creationId xmlns:a16="http://schemas.microsoft.com/office/drawing/2014/main" id="{BE7ADA4C-BF26-FFC8-C074-ECBE296CF074}"/>
              </a:ext>
            </a:extLst>
          </p:cNvPr>
          <p:cNvSpPr txBox="1"/>
          <p:nvPr/>
        </p:nvSpPr>
        <p:spPr>
          <a:xfrm>
            <a:off x="8670291" y="4228785"/>
            <a:ext cx="737987" cy="471668"/>
          </a:xfrm>
          <a:prstGeom prst="rect">
            <a:avLst/>
          </a:prstGeom>
        </p:spPr>
        <p:txBody>
          <a:bodyPr wrap="square" lIns="0" tIns="0" rIns="0" bIns="0" rtlCol="0" anchor="t">
            <a:spAutoFit/>
          </a:bodyPr>
          <a:lstStyle/>
          <a:p>
            <a:pPr algn="ctr">
              <a:lnSpc>
                <a:spcPts val="1860"/>
              </a:lnSpc>
            </a:pPr>
            <a:r>
              <a:rPr lang="en-US" sz="1550" b="1">
                <a:solidFill>
                  <a:srgbClr val="000000"/>
                </a:solidFill>
                <a:latin typeface="Arial Bold"/>
                <a:ea typeface="Arial Bold"/>
                <a:cs typeface="Arial Bold"/>
                <a:sym typeface="Arial Bold"/>
              </a:rPr>
              <a:t>UAT</a:t>
            </a:r>
          </a:p>
          <a:p>
            <a:pPr algn="ctr">
              <a:lnSpc>
                <a:spcPts val="1859"/>
              </a:lnSpc>
            </a:pPr>
            <a:r>
              <a:rPr lang="en-US" sz="1549" b="1">
                <a:solidFill>
                  <a:srgbClr val="000000"/>
                </a:solidFill>
                <a:latin typeface="Arial Bold"/>
                <a:ea typeface="Arial Bold"/>
                <a:cs typeface="Arial Bold"/>
                <a:sym typeface="Arial Bold"/>
              </a:rPr>
              <a:t>Phase</a:t>
            </a:r>
          </a:p>
        </p:txBody>
      </p:sp>
      <p:grpSp>
        <p:nvGrpSpPr>
          <p:cNvPr id="96" name="Group 18">
            <a:extLst>
              <a:ext uri="{FF2B5EF4-FFF2-40B4-BE49-F238E27FC236}">
                <a16:creationId xmlns:a16="http://schemas.microsoft.com/office/drawing/2014/main" id="{5641CDD8-C0DB-F68E-9BC7-8B9BEAC048FA}"/>
              </a:ext>
            </a:extLst>
          </p:cNvPr>
          <p:cNvGrpSpPr/>
          <p:nvPr/>
        </p:nvGrpSpPr>
        <p:grpSpPr>
          <a:xfrm>
            <a:off x="8861091" y="4733368"/>
            <a:ext cx="391862" cy="391862"/>
            <a:chOff x="0" y="0"/>
            <a:chExt cx="812800" cy="812800"/>
          </a:xfrm>
        </p:grpSpPr>
        <p:sp>
          <p:nvSpPr>
            <p:cNvPr id="97" name="Freeform 19">
              <a:extLst>
                <a:ext uri="{FF2B5EF4-FFF2-40B4-BE49-F238E27FC236}">
                  <a16:creationId xmlns:a16="http://schemas.microsoft.com/office/drawing/2014/main" id="{9C4A8D9D-F881-76D9-0E7F-DCC423549A8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383"/>
            </a:solidFill>
          </p:spPr>
          <p:txBody>
            <a:bodyPr/>
            <a:lstStyle/>
            <a:p>
              <a:endParaRPr lang="en-US"/>
            </a:p>
          </p:txBody>
        </p:sp>
        <p:sp>
          <p:nvSpPr>
            <p:cNvPr id="98" name="TextBox 20">
              <a:extLst>
                <a:ext uri="{FF2B5EF4-FFF2-40B4-BE49-F238E27FC236}">
                  <a16:creationId xmlns:a16="http://schemas.microsoft.com/office/drawing/2014/main" id="{6995BE87-CE59-78FE-53A5-C117407EDB8C}"/>
                </a:ext>
              </a:extLst>
            </p:cNvPr>
            <p:cNvSpPr txBox="1"/>
            <p:nvPr/>
          </p:nvSpPr>
          <p:spPr>
            <a:xfrm>
              <a:off x="76200" y="38100"/>
              <a:ext cx="660400" cy="698500"/>
            </a:xfrm>
            <a:prstGeom prst="rect">
              <a:avLst/>
            </a:prstGeom>
          </p:spPr>
          <p:txBody>
            <a:bodyPr lIns="50800" tIns="50800" rIns="50800" bIns="50800" rtlCol="0" anchor="ctr"/>
            <a:lstStyle/>
            <a:p>
              <a:pPr algn="ctr">
                <a:lnSpc>
                  <a:spcPts val="1800"/>
                </a:lnSpc>
              </a:pPr>
              <a:endParaRPr/>
            </a:p>
          </p:txBody>
        </p:sp>
      </p:grpSp>
      <p:sp>
        <p:nvSpPr>
          <p:cNvPr id="99" name="TextBox 21">
            <a:extLst>
              <a:ext uri="{FF2B5EF4-FFF2-40B4-BE49-F238E27FC236}">
                <a16:creationId xmlns:a16="http://schemas.microsoft.com/office/drawing/2014/main" id="{AD3BFD8D-C109-7161-7684-462F2BF58A69}"/>
              </a:ext>
            </a:extLst>
          </p:cNvPr>
          <p:cNvSpPr txBox="1"/>
          <p:nvPr/>
        </p:nvSpPr>
        <p:spPr>
          <a:xfrm>
            <a:off x="11894831" y="4209722"/>
            <a:ext cx="864613" cy="495300"/>
          </a:xfrm>
          <a:prstGeom prst="rect">
            <a:avLst/>
          </a:prstGeom>
        </p:spPr>
        <p:txBody>
          <a:bodyPr lIns="0" tIns="0" rIns="0" bIns="0" rtlCol="0" anchor="t">
            <a:spAutoFit/>
          </a:bodyPr>
          <a:lstStyle/>
          <a:p>
            <a:pPr algn="ctr">
              <a:lnSpc>
                <a:spcPts val="1919"/>
              </a:lnSpc>
            </a:pPr>
            <a:r>
              <a:rPr lang="en-US" sz="1599" b="1">
                <a:solidFill>
                  <a:srgbClr val="000000"/>
                </a:solidFill>
                <a:latin typeface="Arial Bold"/>
                <a:ea typeface="Arial Bold"/>
                <a:cs typeface="Arial Bold"/>
                <a:sym typeface="Arial Bold"/>
              </a:rPr>
              <a:t>Training</a:t>
            </a:r>
          </a:p>
          <a:p>
            <a:pPr algn="ctr">
              <a:lnSpc>
                <a:spcPts val="1920"/>
              </a:lnSpc>
            </a:pPr>
            <a:r>
              <a:rPr lang="en-US" sz="1600" b="1">
                <a:solidFill>
                  <a:srgbClr val="000000"/>
                </a:solidFill>
                <a:latin typeface="Arial Bold"/>
                <a:ea typeface="Arial Bold"/>
                <a:cs typeface="Arial Bold"/>
                <a:sym typeface="Arial Bold"/>
              </a:rPr>
              <a:t>Phase</a:t>
            </a:r>
          </a:p>
        </p:txBody>
      </p:sp>
      <p:grpSp>
        <p:nvGrpSpPr>
          <p:cNvPr id="100" name="Group 22">
            <a:extLst>
              <a:ext uri="{FF2B5EF4-FFF2-40B4-BE49-F238E27FC236}">
                <a16:creationId xmlns:a16="http://schemas.microsoft.com/office/drawing/2014/main" id="{D628CC8E-7ADD-6E91-055A-A35695B4AA39}"/>
              </a:ext>
            </a:extLst>
          </p:cNvPr>
          <p:cNvGrpSpPr/>
          <p:nvPr/>
        </p:nvGrpSpPr>
        <p:grpSpPr>
          <a:xfrm>
            <a:off x="12131207" y="4742771"/>
            <a:ext cx="391862" cy="391862"/>
            <a:chOff x="0" y="0"/>
            <a:chExt cx="812800" cy="812800"/>
          </a:xfrm>
        </p:grpSpPr>
        <p:sp>
          <p:nvSpPr>
            <p:cNvPr id="101" name="Freeform 23">
              <a:extLst>
                <a:ext uri="{FF2B5EF4-FFF2-40B4-BE49-F238E27FC236}">
                  <a16:creationId xmlns:a16="http://schemas.microsoft.com/office/drawing/2014/main" id="{326F6AB1-E6EC-7E86-CE48-A39A2D03AD3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383"/>
            </a:solidFill>
          </p:spPr>
          <p:txBody>
            <a:bodyPr/>
            <a:lstStyle/>
            <a:p>
              <a:endParaRPr lang="en-US"/>
            </a:p>
          </p:txBody>
        </p:sp>
        <p:sp>
          <p:nvSpPr>
            <p:cNvPr id="102" name="TextBox 24">
              <a:extLst>
                <a:ext uri="{FF2B5EF4-FFF2-40B4-BE49-F238E27FC236}">
                  <a16:creationId xmlns:a16="http://schemas.microsoft.com/office/drawing/2014/main" id="{7EBC8821-349B-62BD-43C4-DA8E8521F3FD}"/>
                </a:ext>
              </a:extLst>
            </p:cNvPr>
            <p:cNvSpPr txBox="1"/>
            <p:nvPr/>
          </p:nvSpPr>
          <p:spPr>
            <a:xfrm>
              <a:off x="76200" y="38100"/>
              <a:ext cx="660400" cy="698500"/>
            </a:xfrm>
            <a:prstGeom prst="rect">
              <a:avLst/>
            </a:prstGeom>
          </p:spPr>
          <p:txBody>
            <a:bodyPr lIns="50800" tIns="50800" rIns="50800" bIns="50800" rtlCol="0" anchor="ctr"/>
            <a:lstStyle/>
            <a:p>
              <a:pPr algn="ctr">
                <a:lnSpc>
                  <a:spcPts val="1800"/>
                </a:lnSpc>
              </a:pPr>
              <a:endParaRPr/>
            </a:p>
          </p:txBody>
        </p:sp>
      </p:grpSp>
      <p:sp>
        <p:nvSpPr>
          <p:cNvPr id="103" name="TextBox 25">
            <a:extLst>
              <a:ext uri="{FF2B5EF4-FFF2-40B4-BE49-F238E27FC236}">
                <a16:creationId xmlns:a16="http://schemas.microsoft.com/office/drawing/2014/main" id="{272E8770-6AD6-8AE7-34DD-191850F55F65}"/>
              </a:ext>
            </a:extLst>
          </p:cNvPr>
          <p:cNvSpPr txBox="1"/>
          <p:nvPr/>
        </p:nvSpPr>
        <p:spPr>
          <a:xfrm>
            <a:off x="1215990" y="5216957"/>
            <a:ext cx="895950" cy="228717"/>
          </a:xfrm>
          <a:prstGeom prst="rect">
            <a:avLst/>
          </a:prstGeom>
        </p:spPr>
        <p:txBody>
          <a:bodyPr lIns="0" tIns="0" rIns="0" bIns="0" rtlCol="0" anchor="t">
            <a:spAutoFit/>
          </a:bodyPr>
          <a:lstStyle/>
          <a:p>
            <a:pPr algn="ctr">
              <a:lnSpc>
                <a:spcPts val="1889"/>
              </a:lnSpc>
            </a:pPr>
            <a:r>
              <a:rPr lang="en-US" sz="1575" b="1">
                <a:solidFill>
                  <a:srgbClr val="000000"/>
                </a:solidFill>
                <a:latin typeface="Arial Bold"/>
                <a:ea typeface="Arial Bold"/>
                <a:cs typeface="Arial Bold"/>
                <a:sym typeface="Arial Bold"/>
              </a:rPr>
              <a:t>February</a:t>
            </a:r>
          </a:p>
        </p:txBody>
      </p:sp>
      <p:sp>
        <p:nvSpPr>
          <p:cNvPr id="104" name="TextBox 26">
            <a:extLst>
              <a:ext uri="{FF2B5EF4-FFF2-40B4-BE49-F238E27FC236}">
                <a16:creationId xmlns:a16="http://schemas.microsoft.com/office/drawing/2014/main" id="{1413A488-CBCF-1636-6A65-D05A094819B7}"/>
              </a:ext>
            </a:extLst>
          </p:cNvPr>
          <p:cNvSpPr txBox="1"/>
          <p:nvPr/>
        </p:nvSpPr>
        <p:spPr>
          <a:xfrm>
            <a:off x="4991500" y="5216957"/>
            <a:ext cx="895950" cy="228717"/>
          </a:xfrm>
          <a:prstGeom prst="rect">
            <a:avLst/>
          </a:prstGeom>
        </p:spPr>
        <p:txBody>
          <a:bodyPr lIns="0" tIns="0" rIns="0" bIns="0" rtlCol="0" anchor="t">
            <a:spAutoFit/>
          </a:bodyPr>
          <a:lstStyle/>
          <a:p>
            <a:pPr algn="ctr">
              <a:lnSpc>
                <a:spcPts val="1889"/>
              </a:lnSpc>
            </a:pPr>
            <a:r>
              <a:rPr lang="en-US" sz="1575" b="1">
                <a:solidFill>
                  <a:srgbClr val="000000"/>
                </a:solidFill>
                <a:latin typeface="Arial Bold"/>
                <a:ea typeface="Arial Bold"/>
                <a:cs typeface="Arial Bold"/>
                <a:sym typeface="Arial Bold"/>
              </a:rPr>
              <a:t>April</a:t>
            </a:r>
          </a:p>
        </p:txBody>
      </p:sp>
      <p:sp>
        <p:nvSpPr>
          <p:cNvPr id="105" name="TextBox 27">
            <a:extLst>
              <a:ext uri="{FF2B5EF4-FFF2-40B4-BE49-F238E27FC236}">
                <a16:creationId xmlns:a16="http://schemas.microsoft.com/office/drawing/2014/main" id="{23ADD918-ED13-F19D-6E0E-5A179EDC6223}"/>
              </a:ext>
            </a:extLst>
          </p:cNvPr>
          <p:cNvSpPr txBox="1"/>
          <p:nvPr/>
        </p:nvSpPr>
        <p:spPr>
          <a:xfrm>
            <a:off x="8482047" y="5216957"/>
            <a:ext cx="1130584" cy="228717"/>
          </a:xfrm>
          <a:prstGeom prst="rect">
            <a:avLst/>
          </a:prstGeom>
        </p:spPr>
        <p:txBody>
          <a:bodyPr wrap="square" lIns="0" tIns="0" rIns="0" bIns="0" rtlCol="0" anchor="t">
            <a:spAutoFit/>
          </a:bodyPr>
          <a:lstStyle/>
          <a:p>
            <a:pPr algn="ctr">
              <a:lnSpc>
                <a:spcPts val="1889"/>
              </a:lnSpc>
            </a:pPr>
            <a:r>
              <a:rPr lang="en-US" sz="1575" b="1">
                <a:solidFill>
                  <a:srgbClr val="000000"/>
                </a:solidFill>
                <a:latin typeface="Arial Bold"/>
                <a:ea typeface="Arial Bold"/>
                <a:cs typeface="Arial Bold"/>
                <a:sym typeface="Arial Bold"/>
              </a:rPr>
              <a:t>September</a:t>
            </a:r>
          </a:p>
        </p:txBody>
      </p:sp>
      <p:sp>
        <p:nvSpPr>
          <p:cNvPr id="106" name="TextBox 28">
            <a:extLst>
              <a:ext uri="{FF2B5EF4-FFF2-40B4-BE49-F238E27FC236}">
                <a16:creationId xmlns:a16="http://schemas.microsoft.com/office/drawing/2014/main" id="{436CAF9C-9705-A6F9-822E-7A8B3E0C3EF7}"/>
              </a:ext>
            </a:extLst>
          </p:cNvPr>
          <p:cNvSpPr txBox="1"/>
          <p:nvPr/>
        </p:nvSpPr>
        <p:spPr>
          <a:xfrm>
            <a:off x="11879163" y="5216957"/>
            <a:ext cx="895950" cy="228717"/>
          </a:xfrm>
          <a:prstGeom prst="rect">
            <a:avLst/>
          </a:prstGeom>
        </p:spPr>
        <p:txBody>
          <a:bodyPr lIns="0" tIns="0" rIns="0" bIns="0" rtlCol="0" anchor="t">
            <a:spAutoFit/>
          </a:bodyPr>
          <a:lstStyle/>
          <a:p>
            <a:pPr algn="ctr">
              <a:lnSpc>
                <a:spcPts val="1889"/>
              </a:lnSpc>
            </a:pPr>
            <a:r>
              <a:rPr lang="en-US" sz="1575" b="1">
                <a:solidFill>
                  <a:srgbClr val="000000"/>
                </a:solidFill>
                <a:latin typeface="Arial Bold"/>
                <a:ea typeface="Arial Bold"/>
                <a:cs typeface="Arial Bold"/>
                <a:sym typeface="Arial Bold"/>
              </a:rPr>
              <a:t>October</a:t>
            </a:r>
          </a:p>
        </p:txBody>
      </p:sp>
      <p:sp>
        <p:nvSpPr>
          <p:cNvPr id="107" name="TextBox 29">
            <a:extLst>
              <a:ext uri="{FF2B5EF4-FFF2-40B4-BE49-F238E27FC236}">
                <a16:creationId xmlns:a16="http://schemas.microsoft.com/office/drawing/2014/main" id="{E1DBF67C-4EBD-DAF6-D27B-AF17E4B750FF}"/>
              </a:ext>
            </a:extLst>
          </p:cNvPr>
          <p:cNvSpPr txBox="1"/>
          <p:nvPr/>
        </p:nvSpPr>
        <p:spPr>
          <a:xfrm>
            <a:off x="15124679" y="5216957"/>
            <a:ext cx="1130585" cy="228717"/>
          </a:xfrm>
          <a:prstGeom prst="rect">
            <a:avLst/>
          </a:prstGeom>
        </p:spPr>
        <p:txBody>
          <a:bodyPr wrap="square" lIns="0" tIns="0" rIns="0" bIns="0" rtlCol="0" anchor="t">
            <a:spAutoFit/>
          </a:bodyPr>
          <a:lstStyle/>
          <a:p>
            <a:pPr algn="ctr">
              <a:lnSpc>
                <a:spcPts val="1889"/>
              </a:lnSpc>
            </a:pPr>
            <a:r>
              <a:rPr lang="en-US" sz="1575" b="1">
                <a:solidFill>
                  <a:srgbClr val="000000"/>
                </a:solidFill>
                <a:latin typeface="Arial Bold"/>
                <a:ea typeface="Arial Bold"/>
                <a:cs typeface="Arial Bold"/>
                <a:sym typeface="Arial Bold"/>
              </a:rPr>
              <a:t>December</a:t>
            </a:r>
          </a:p>
        </p:txBody>
      </p:sp>
      <p:sp>
        <p:nvSpPr>
          <p:cNvPr id="108" name="Rectangle 107">
            <a:extLst>
              <a:ext uri="{FF2B5EF4-FFF2-40B4-BE49-F238E27FC236}">
                <a16:creationId xmlns:a16="http://schemas.microsoft.com/office/drawing/2014/main" id="{C8F77542-0B27-0AA1-0E33-78DD5BA79C2B}"/>
              </a:ext>
            </a:extLst>
          </p:cNvPr>
          <p:cNvSpPr/>
          <p:nvPr/>
        </p:nvSpPr>
        <p:spPr bwMode="gray">
          <a:xfrm>
            <a:off x="836364" y="4138916"/>
            <a:ext cx="16621465" cy="1396406"/>
          </a:xfrm>
          <a:prstGeom prst="rect">
            <a:avLst/>
          </a:prstGeom>
          <a:solidFill>
            <a:srgbClr val="00B0F0">
              <a:alpha val="13000"/>
            </a:srgbClr>
          </a:solidFill>
          <a:ln w="19050" algn="ctr">
            <a:no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12" name="Oval 111">
            <a:extLst>
              <a:ext uri="{FF2B5EF4-FFF2-40B4-BE49-F238E27FC236}">
                <a16:creationId xmlns:a16="http://schemas.microsoft.com/office/drawing/2014/main" id="{0C47DFEB-D0EE-2F07-FA7D-F16C3414DDBB}"/>
              </a:ext>
            </a:extLst>
          </p:cNvPr>
          <p:cNvSpPr/>
          <p:nvPr/>
        </p:nvSpPr>
        <p:spPr>
          <a:xfrm>
            <a:off x="15478322" y="4726223"/>
            <a:ext cx="391863" cy="389603"/>
          </a:xfrm>
          <a:prstGeom prst="ellipse">
            <a:avLst/>
          </a:prstGeom>
          <a:solidFill>
            <a:srgbClr val="005191"/>
          </a:solidFill>
          <a:ln>
            <a:solidFill>
              <a:srgbClr val="00519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337595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61A62-1BAC-BD20-2FAC-D9F9D2874AF7}"/>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1B972787-4A19-D147-6CDF-C65F45163D94}"/>
              </a:ext>
            </a:extLst>
          </p:cNvPr>
          <p:cNvSpPr txBox="1"/>
          <p:nvPr/>
        </p:nvSpPr>
        <p:spPr>
          <a:xfrm>
            <a:off x="1028700" y="857250"/>
            <a:ext cx="12063444" cy="1318502"/>
          </a:xfrm>
          <a:prstGeom prst="rect">
            <a:avLst/>
          </a:prstGeom>
        </p:spPr>
        <p:txBody>
          <a:bodyPr lIns="0" tIns="0" rIns="0" bIns="0" rtlCol="0" anchor="t">
            <a:spAutoFit/>
          </a:bodyPr>
          <a:lstStyle/>
          <a:p>
            <a:pPr>
              <a:lnSpc>
                <a:spcPts val="11200"/>
              </a:lnSpc>
              <a:spcBef>
                <a:spcPct val="0"/>
              </a:spcBef>
            </a:pPr>
            <a:r>
              <a:rPr lang="en-US" sz="8000" b="1">
                <a:solidFill>
                  <a:srgbClr val="03A39D"/>
                </a:solidFill>
                <a:latin typeface="Inter Bold"/>
                <a:ea typeface="Inter Bold"/>
                <a:cs typeface="Inter Bold"/>
                <a:sym typeface="Inter Bold"/>
              </a:rPr>
              <a:t>CLIENT RISK </a:t>
            </a:r>
            <a:r>
              <a:rPr lang="en-US" sz="8000" b="1">
                <a:solidFill>
                  <a:srgbClr val="1C1818"/>
                </a:solidFill>
                <a:latin typeface="Inter Bold"/>
                <a:ea typeface="Inter Bold"/>
                <a:cs typeface="Inter Bold"/>
                <a:sym typeface="Inter Bold"/>
              </a:rPr>
              <a:t>PROJECT</a:t>
            </a:r>
          </a:p>
        </p:txBody>
      </p:sp>
      <p:sp>
        <p:nvSpPr>
          <p:cNvPr id="3" name="Freeform 3">
            <a:extLst>
              <a:ext uri="{FF2B5EF4-FFF2-40B4-BE49-F238E27FC236}">
                <a16:creationId xmlns:a16="http://schemas.microsoft.com/office/drawing/2014/main" id="{CC23F05F-2BE5-23F0-DE6E-7D8040DB3436}"/>
              </a:ext>
            </a:extLst>
          </p:cNvPr>
          <p:cNvSpPr/>
          <p:nvPr/>
        </p:nvSpPr>
        <p:spPr>
          <a:xfrm>
            <a:off x="0" y="0"/>
            <a:ext cx="1028700" cy="1028700"/>
          </a:xfrm>
          <a:custGeom>
            <a:avLst/>
            <a:gdLst/>
            <a:ahLst/>
            <a:cxnLst/>
            <a:rect l="l" t="t" r="r" b="b"/>
            <a:pathLst>
              <a:path w="1028700" h="1028700">
                <a:moveTo>
                  <a:pt x="0" y="0"/>
                </a:moveTo>
                <a:lnTo>
                  <a:pt x="1028700" y="0"/>
                </a:lnTo>
                <a:lnTo>
                  <a:pt x="1028700" y="1028700"/>
                </a:lnTo>
                <a:lnTo>
                  <a:pt x="0" y="10287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10" name="Group 10">
            <a:extLst>
              <a:ext uri="{FF2B5EF4-FFF2-40B4-BE49-F238E27FC236}">
                <a16:creationId xmlns:a16="http://schemas.microsoft.com/office/drawing/2014/main" id="{0272E2FB-07B4-4B06-30E5-9481689F95EE}"/>
              </a:ext>
            </a:extLst>
          </p:cNvPr>
          <p:cNvGrpSpPr/>
          <p:nvPr/>
        </p:nvGrpSpPr>
        <p:grpSpPr>
          <a:xfrm>
            <a:off x="514350" y="8877758"/>
            <a:ext cx="295243" cy="295243"/>
            <a:chOff x="0" y="0"/>
            <a:chExt cx="812800" cy="812800"/>
          </a:xfrm>
        </p:grpSpPr>
        <p:sp>
          <p:nvSpPr>
            <p:cNvPr id="11" name="Freeform 11">
              <a:extLst>
                <a:ext uri="{FF2B5EF4-FFF2-40B4-BE49-F238E27FC236}">
                  <a16:creationId xmlns:a16="http://schemas.microsoft.com/office/drawing/2014/main" id="{03F82B5E-2F0D-FB0D-E872-33B7150E44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A09A"/>
            </a:solidFill>
          </p:spPr>
          <p:txBody>
            <a:bodyPr/>
            <a:lstStyle/>
            <a:p>
              <a:endParaRPr lang="en-US"/>
            </a:p>
          </p:txBody>
        </p:sp>
        <p:sp>
          <p:nvSpPr>
            <p:cNvPr id="12" name="TextBox 12">
              <a:extLst>
                <a:ext uri="{FF2B5EF4-FFF2-40B4-BE49-F238E27FC236}">
                  <a16:creationId xmlns:a16="http://schemas.microsoft.com/office/drawing/2014/main" id="{2428FAF1-0B67-8860-C8B6-E2267B621F6F}"/>
                </a:ext>
              </a:extLst>
            </p:cNvPr>
            <p:cNvSpPr txBox="1"/>
            <p:nvPr/>
          </p:nvSpPr>
          <p:spPr>
            <a:xfrm>
              <a:off x="76200" y="-47625"/>
              <a:ext cx="660400" cy="784225"/>
            </a:xfrm>
            <a:prstGeom prst="rect">
              <a:avLst/>
            </a:prstGeom>
          </p:spPr>
          <p:txBody>
            <a:bodyPr lIns="50800" tIns="50800" rIns="50800" bIns="50800" rtlCol="0" anchor="ctr"/>
            <a:lstStyle/>
            <a:p>
              <a:pPr algn="ctr">
                <a:lnSpc>
                  <a:spcPts val="3910"/>
                </a:lnSpc>
              </a:pPr>
              <a:endParaRPr/>
            </a:p>
          </p:txBody>
        </p:sp>
      </p:grpSp>
      <p:grpSp>
        <p:nvGrpSpPr>
          <p:cNvPr id="14" name="Group 14">
            <a:extLst>
              <a:ext uri="{FF2B5EF4-FFF2-40B4-BE49-F238E27FC236}">
                <a16:creationId xmlns:a16="http://schemas.microsoft.com/office/drawing/2014/main" id="{A18EBC86-EB88-EB26-6424-53E5DD141AB3}"/>
              </a:ext>
            </a:extLst>
          </p:cNvPr>
          <p:cNvGrpSpPr/>
          <p:nvPr/>
        </p:nvGrpSpPr>
        <p:grpSpPr>
          <a:xfrm>
            <a:off x="9864276" y="7543183"/>
            <a:ext cx="7124195" cy="1419873"/>
            <a:chOff x="0" y="0"/>
            <a:chExt cx="9498926" cy="1893165"/>
          </a:xfrm>
        </p:grpSpPr>
        <p:sp>
          <p:nvSpPr>
            <p:cNvPr id="15" name="Freeform 15">
              <a:extLst>
                <a:ext uri="{FF2B5EF4-FFF2-40B4-BE49-F238E27FC236}">
                  <a16:creationId xmlns:a16="http://schemas.microsoft.com/office/drawing/2014/main" id="{0BD615A2-8A34-09B8-BD2E-82845611085D}"/>
                </a:ext>
              </a:extLst>
            </p:cNvPr>
            <p:cNvSpPr/>
            <p:nvPr/>
          </p:nvSpPr>
          <p:spPr>
            <a:xfrm>
              <a:off x="0" y="19403"/>
              <a:ext cx="1738820" cy="1738820"/>
            </a:xfrm>
            <a:custGeom>
              <a:avLst/>
              <a:gdLst/>
              <a:ahLst/>
              <a:cxnLst/>
              <a:rect l="l" t="t" r="r" b="b"/>
              <a:pathLst>
                <a:path w="1738820" h="1738820">
                  <a:moveTo>
                    <a:pt x="0" y="0"/>
                  </a:moveTo>
                  <a:lnTo>
                    <a:pt x="1738820" y="0"/>
                  </a:lnTo>
                  <a:lnTo>
                    <a:pt x="1738820" y="1738821"/>
                  </a:lnTo>
                  <a:lnTo>
                    <a:pt x="0" y="17388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Freeform 16">
              <a:extLst>
                <a:ext uri="{FF2B5EF4-FFF2-40B4-BE49-F238E27FC236}">
                  <a16:creationId xmlns:a16="http://schemas.microsoft.com/office/drawing/2014/main" id="{9C6DE552-CB25-EF09-4985-716316D6DAE9}"/>
                </a:ext>
              </a:extLst>
            </p:cNvPr>
            <p:cNvSpPr/>
            <p:nvPr/>
          </p:nvSpPr>
          <p:spPr>
            <a:xfrm>
              <a:off x="2603399" y="0"/>
              <a:ext cx="1713314" cy="1893165"/>
            </a:xfrm>
            <a:custGeom>
              <a:avLst/>
              <a:gdLst/>
              <a:ahLst/>
              <a:cxnLst/>
              <a:rect l="l" t="t" r="r" b="b"/>
              <a:pathLst>
                <a:path w="1713314" h="1893165">
                  <a:moveTo>
                    <a:pt x="0" y="0"/>
                  </a:moveTo>
                  <a:lnTo>
                    <a:pt x="1713314" y="0"/>
                  </a:lnTo>
                  <a:lnTo>
                    <a:pt x="1713314" y="1893165"/>
                  </a:lnTo>
                  <a:lnTo>
                    <a:pt x="0" y="189316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7" name="Freeform 17">
              <a:extLst>
                <a:ext uri="{FF2B5EF4-FFF2-40B4-BE49-F238E27FC236}">
                  <a16:creationId xmlns:a16="http://schemas.microsoft.com/office/drawing/2014/main" id="{DFE07E9C-52A1-B31A-8A53-DD7D6AE9FAF8}"/>
                </a:ext>
              </a:extLst>
            </p:cNvPr>
            <p:cNvSpPr/>
            <p:nvPr/>
          </p:nvSpPr>
          <p:spPr>
            <a:xfrm>
              <a:off x="5180313" y="20296"/>
              <a:ext cx="1737928" cy="1737928"/>
            </a:xfrm>
            <a:custGeom>
              <a:avLst/>
              <a:gdLst/>
              <a:ahLst/>
              <a:cxnLst/>
              <a:rect l="l" t="t" r="r" b="b"/>
              <a:pathLst>
                <a:path w="1737928" h="1737928">
                  <a:moveTo>
                    <a:pt x="0" y="0"/>
                  </a:moveTo>
                  <a:lnTo>
                    <a:pt x="1737928" y="0"/>
                  </a:lnTo>
                  <a:lnTo>
                    <a:pt x="1737928" y="1737928"/>
                  </a:lnTo>
                  <a:lnTo>
                    <a:pt x="0" y="173792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8" name="Freeform 18">
              <a:extLst>
                <a:ext uri="{FF2B5EF4-FFF2-40B4-BE49-F238E27FC236}">
                  <a16:creationId xmlns:a16="http://schemas.microsoft.com/office/drawing/2014/main" id="{E816CAB2-5E4B-8065-7786-5C640E686A3B}"/>
                </a:ext>
              </a:extLst>
            </p:cNvPr>
            <p:cNvSpPr/>
            <p:nvPr/>
          </p:nvSpPr>
          <p:spPr>
            <a:xfrm>
              <a:off x="7781841" y="19403"/>
              <a:ext cx="1717085" cy="1738820"/>
            </a:xfrm>
            <a:custGeom>
              <a:avLst/>
              <a:gdLst/>
              <a:ahLst/>
              <a:cxnLst/>
              <a:rect l="l" t="t" r="r" b="b"/>
              <a:pathLst>
                <a:path w="1717085" h="1738820">
                  <a:moveTo>
                    <a:pt x="0" y="0"/>
                  </a:moveTo>
                  <a:lnTo>
                    <a:pt x="1717085" y="0"/>
                  </a:lnTo>
                  <a:lnTo>
                    <a:pt x="1717085" y="1738821"/>
                  </a:lnTo>
                  <a:lnTo>
                    <a:pt x="0" y="173882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sp>
        <p:nvSpPr>
          <p:cNvPr id="19" name="TextBox 19">
            <a:extLst>
              <a:ext uri="{FF2B5EF4-FFF2-40B4-BE49-F238E27FC236}">
                <a16:creationId xmlns:a16="http://schemas.microsoft.com/office/drawing/2014/main" id="{910D4570-9670-206D-DA34-AD5C458997EF}"/>
              </a:ext>
            </a:extLst>
          </p:cNvPr>
          <p:cNvSpPr txBox="1"/>
          <p:nvPr/>
        </p:nvSpPr>
        <p:spPr>
          <a:xfrm>
            <a:off x="1028700" y="2187559"/>
            <a:ext cx="5364956" cy="339324"/>
          </a:xfrm>
          <a:prstGeom prst="rect">
            <a:avLst/>
          </a:prstGeom>
        </p:spPr>
        <p:txBody>
          <a:bodyPr lIns="0" tIns="0" rIns="0" bIns="0" rtlCol="0" anchor="t">
            <a:spAutoFit/>
          </a:bodyPr>
          <a:lstStyle/>
          <a:p>
            <a:pPr algn="just">
              <a:lnSpc>
                <a:spcPts val="2799"/>
              </a:lnSpc>
              <a:spcBef>
                <a:spcPct val="0"/>
              </a:spcBef>
            </a:pPr>
            <a:r>
              <a:rPr lang="en-US" sz="1950">
                <a:solidFill>
                  <a:srgbClr val="000000"/>
                </a:solidFill>
                <a:latin typeface="Poppins"/>
                <a:ea typeface="Poppins"/>
                <a:cs typeface="Poppins"/>
                <a:sym typeface="Poppins"/>
              </a:rPr>
              <a:t>Project Manager : ALAA AL-SMADI</a:t>
            </a:r>
            <a:endParaRPr lang="en-US" sz="1999" err="1">
              <a:solidFill>
                <a:srgbClr val="000000"/>
              </a:solidFill>
              <a:latin typeface="Poppins"/>
              <a:ea typeface="Poppins"/>
              <a:cs typeface="Poppins"/>
              <a:sym typeface="Poppins"/>
            </a:endParaRPr>
          </a:p>
        </p:txBody>
      </p:sp>
      <p:sp>
        <p:nvSpPr>
          <p:cNvPr id="20" name="TextBox 20">
            <a:extLst>
              <a:ext uri="{FF2B5EF4-FFF2-40B4-BE49-F238E27FC236}">
                <a16:creationId xmlns:a16="http://schemas.microsoft.com/office/drawing/2014/main" id="{58E3D3BC-6883-BD1C-3329-23334864BE7C}"/>
              </a:ext>
            </a:extLst>
          </p:cNvPr>
          <p:cNvSpPr txBox="1"/>
          <p:nvPr/>
        </p:nvSpPr>
        <p:spPr>
          <a:xfrm>
            <a:off x="1028700" y="8899525"/>
            <a:ext cx="2377893" cy="974626"/>
          </a:xfrm>
          <a:prstGeom prst="rect">
            <a:avLst/>
          </a:prstGeom>
        </p:spPr>
        <p:txBody>
          <a:bodyPr lIns="0" tIns="0" rIns="0" bIns="0" rtlCol="0" anchor="t">
            <a:spAutoFit/>
          </a:bodyPr>
          <a:lstStyle/>
          <a:p>
            <a:pPr algn="just"/>
            <a:r>
              <a:rPr lang="en-US" sz="2000">
                <a:solidFill>
                  <a:srgbClr val="000000"/>
                </a:solidFill>
                <a:latin typeface="Poppins"/>
                <a:ea typeface="Poppins"/>
                <a:cs typeface="Poppins"/>
                <a:sym typeface="Poppins"/>
              </a:rPr>
              <a:t>06 January 2025</a:t>
            </a:r>
          </a:p>
          <a:p>
            <a:pPr algn="just">
              <a:lnSpc>
                <a:spcPts val="2799"/>
              </a:lnSpc>
              <a:spcBef>
                <a:spcPct val="0"/>
              </a:spcBef>
            </a:pPr>
            <a:endParaRPr lang="en-US" sz="2000">
              <a:solidFill>
                <a:srgbClr val="000000"/>
              </a:solidFill>
              <a:latin typeface="Poppins"/>
              <a:ea typeface="Poppins"/>
              <a:cs typeface="Poppins"/>
              <a:sym typeface="Poppins"/>
            </a:endParaRPr>
          </a:p>
          <a:p>
            <a:pPr algn="just"/>
            <a:endParaRPr lang="en-US" sz="2000">
              <a:latin typeface="Poppins"/>
              <a:cs typeface="Poppins"/>
            </a:endParaRPr>
          </a:p>
        </p:txBody>
      </p:sp>
      <p:sp>
        <p:nvSpPr>
          <p:cNvPr id="5" name="Freeform 13" descr="A blue and black logo&#10;&#10;AI-generated content may be incorrect.">
            <a:extLst>
              <a:ext uri="{FF2B5EF4-FFF2-40B4-BE49-F238E27FC236}">
                <a16:creationId xmlns:a16="http://schemas.microsoft.com/office/drawing/2014/main" id="{DB422652-B302-9E4C-FED0-9FBC1386B76E}"/>
              </a:ext>
            </a:extLst>
          </p:cNvPr>
          <p:cNvSpPr/>
          <p:nvPr/>
        </p:nvSpPr>
        <p:spPr>
          <a:xfrm>
            <a:off x="16062518" y="309634"/>
            <a:ext cx="1851905" cy="870481"/>
          </a:xfrm>
          <a:custGeom>
            <a:avLst/>
            <a:gdLst/>
            <a:ahLst/>
            <a:cxnLst/>
            <a:rect l="l" t="t" r="r" b="b"/>
            <a:pathLst>
              <a:path w="1851905" h="870481">
                <a:moveTo>
                  <a:pt x="0" y="0"/>
                </a:moveTo>
                <a:lnTo>
                  <a:pt x="1851905" y="0"/>
                </a:lnTo>
                <a:lnTo>
                  <a:pt x="1851905" y="870481"/>
                </a:lnTo>
                <a:lnTo>
                  <a:pt x="0" y="870481"/>
                </a:lnTo>
                <a:lnTo>
                  <a:pt x="0" y="0"/>
                </a:lnTo>
                <a:close/>
              </a:path>
            </a:pathLst>
          </a:custGeom>
          <a:blipFill>
            <a:blip r:embed="rId7"/>
            <a:stretch>
              <a:fillRect/>
            </a:stretch>
          </a:blipFill>
        </p:spPr>
        <p:txBody>
          <a:bodyPr/>
          <a:lstStyle/>
          <a:p>
            <a:endParaRPr lang="en-US"/>
          </a:p>
        </p:txBody>
      </p:sp>
    </p:spTree>
    <p:extLst>
      <p:ext uri="{BB962C8B-B14F-4D97-AF65-F5344CB8AC3E}">
        <p14:creationId xmlns:p14="http://schemas.microsoft.com/office/powerpoint/2010/main" val="37958356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9FD61-7A79-C6AE-A120-3293CE24153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A517661-ACF1-6E2B-A31F-B6E62E5929E9}"/>
              </a:ext>
            </a:extLst>
          </p:cNvPr>
          <p:cNvSpPr/>
          <p:nvPr/>
        </p:nvSpPr>
        <p:spPr>
          <a:xfrm>
            <a:off x="821533" y="1462082"/>
            <a:ext cx="16626842" cy="452903"/>
          </a:xfrm>
          <a:prstGeom prst="rect">
            <a:avLst/>
          </a:prstGeom>
          <a:solidFill>
            <a:srgbClr val="00A69C"/>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mj-lt"/>
                <a:ea typeface="+mn-ea"/>
                <a:cs typeface="+mn-cs"/>
              </a:rPr>
              <a:t>Project Highlights </a:t>
            </a:r>
          </a:p>
        </p:txBody>
      </p:sp>
      <p:sp>
        <p:nvSpPr>
          <p:cNvPr id="6" name="Rectangle 5">
            <a:extLst>
              <a:ext uri="{FF2B5EF4-FFF2-40B4-BE49-F238E27FC236}">
                <a16:creationId xmlns:a16="http://schemas.microsoft.com/office/drawing/2014/main" id="{C687D988-A0C8-6E26-5690-29883EC040C8}"/>
              </a:ext>
            </a:extLst>
          </p:cNvPr>
          <p:cNvSpPr/>
          <p:nvPr/>
        </p:nvSpPr>
        <p:spPr bwMode="auto">
          <a:xfrm>
            <a:off x="15836117" y="2117372"/>
            <a:ext cx="1612257" cy="405768"/>
          </a:xfrm>
          <a:prstGeom prst="rect">
            <a:avLst/>
          </a:prstGeom>
          <a:solidFill>
            <a:srgbClr val="00A69C"/>
          </a:solid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anose="020B0604020202020204" pitchFamily="34" charset="0"/>
              </a:rPr>
              <a:t>Current Period</a:t>
            </a:r>
          </a:p>
        </p:txBody>
      </p:sp>
      <p:sp>
        <p:nvSpPr>
          <p:cNvPr id="7" name="Rectangle 6">
            <a:extLst>
              <a:ext uri="{FF2B5EF4-FFF2-40B4-BE49-F238E27FC236}">
                <a16:creationId xmlns:a16="http://schemas.microsoft.com/office/drawing/2014/main" id="{6DFDEC81-214B-253A-B643-74BA4A625730}"/>
              </a:ext>
            </a:extLst>
          </p:cNvPr>
          <p:cNvSpPr/>
          <p:nvPr/>
        </p:nvSpPr>
        <p:spPr bwMode="auto">
          <a:xfrm>
            <a:off x="14111579" y="2117372"/>
            <a:ext cx="1620000" cy="405768"/>
          </a:xfrm>
          <a:prstGeom prst="rect">
            <a:avLst/>
          </a:prstGeom>
          <a:solidFill>
            <a:srgbClr val="00A69C"/>
          </a:solid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anose="020B0604020202020204" pitchFamily="34" charset="0"/>
              </a:rPr>
              <a:t>Previous Period</a:t>
            </a:r>
          </a:p>
        </p:txBody>
      </p:sp>
      <p:sp>
        <p:nvSpPr>
          <p:cNvPr id="8" name="Rectangle 7">
            <a:extLst>
              <a:ext uri="{FF2B5EF4-FFF2-40B4-BE49-F238E27FC236}">
                <a16:creationId xmlns:a16="http://schemas.microsoft.com/office/drawing/2014/main" id="{D06841B8-8E43-CD0F-340F-7683A2BFDCA0}"/>
              </a:ext>
            </a:extLst>
          </p:cNvPr>
          <p:cNvSpPr/>
          <p:nvPr/>
        </p:nvSpPr>
        <p:spPr bwMode="auto">
          <a:xfrm>
            <a:off x="14108566" y="2521505"/>
            <a:ext cx="1612256" cy="533700"/>
          </a:xfrm>
          <a:prstGeom prst="rect">
            <a:avLst/>
          </a:prstGeom>
          <a:solidFill>
            <a:srgbClr val="E2F0D9"/>
          </a:solidFill>
          <a:ln w="9525" cap="flat" cmpd="sng" algn="ctr">
            <a:solidFill>
              <a:srgbClr val="FFCCCC"/>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defTabSz="1564584">
              <a:defRPr/>
            </a:pPr>
            <a:r>
              <a:rPr lang="en-US" sz="1500" b="1" kern="0">
                <a:solidFill>
                  <a:prstClr val="black"/>
                </a:solidFill>
                <a:latin typeface="+mj-lt"/>
                <a:cs typeface="Arial"/>
              </a:rPr>
              <a:t>On Track</a:t>
            </a:r>
            <a:endParaRPr lang="en-GB" sz="1500" b="1" kern="0">
              <a:solidFill>
                <a:prstClr val="black"/>
              </a:solidFill>
              <a:latin typeface="+mj-lt"/>
              <a:cs typeface="Arial" panose="020B0604020202020204" pitchFamily="34" charset="0"/>
            </a:endParaRPr>
          </a:p>
        </p:txBody>
      </p:sp>
      <p:sp>
        <p:nvSpPr>
          <p:cNvPr id="9" name="Rectangle 8">
            <a:extLst>
              <a:ext uri="{FF2B5EF4-FFF2-40B4-BE49-F238E27FC236}">
                <a16:creationId xmlns:a16="http://schemas.microsoft.com/office/drawing/2014/main" id="{D3D75792-B1A4-87CF-E1E8-2577C7B59A00}"/>
              </a:ext>
            </a:extLst>
          </p:cNvPr>
          <p:cNvSpPr/>
          <p:nvPr/>
        </p:nvSpPr>
        <p:spPr bwMode="auto">
          <a:xfrm>
            <a:off x="6120438" y="2062010"/>
            <a:ext cx="7765395" cy="1194316"/>
          </a:xfrm>
          <a:prstGeom prst="rect">
            <a:avLst/>
          </a:prstGeom>
          <a:no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t"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1350" b="1"/>
          </a:p>
          <a:p>
            <a:r>
              <a:rPr lang="en-US" sz="1350" b="1"/>
              <a:t>Project Status Update: </a:t>
            </a:r>
            <a:r>
              <a:rPr lang="en-US" sz="1350">
                <a:latin typeface="Calibri"/>
                <a:ea typeface="+mn-lt"/>
                <a:cs typeface="+mn-lt"/>
              </a:rPr>
              <a:t>Waiting Mr. Abdulrahman Alhayek to provide the IT a sample domestic transfer</a:t>
            </a:r>
            <a:r>
              <a:rPr lang="en-US" sz="1350" b="1">
                <a:latin typeface="Calibri"/>
                <a:ea typeface="+mn-lt"/>
                <a:cs typeface="+mn-lt"/>
              </a:rPr>
              <a:t>.</a:t>
            </a:r>
            <a:endParaRPr lang="en-US" sz="1350">
              <a:latin typeface="Calibri"/>
              <a:ea typeface="Calibri"/>
              <a:cs typeface="Calibri"/>
            </a:endParaRPr>
          </a:p>
        </p:txBody>
      </p:sp>
      <p:sp>
        <p:nvSpPr>
          <p:cNvPr id="10" name="Rectangle 9">
            <a:extLst>
              <a:ext uri="{FF2B5EF4-FFF2-40B4-BE49-F238E27FC236}">
                <a16:creationId xmlns:a16="http://schemas.microsoft.com/office/drawing/2014/main" id="{79A26F4A-8A35-0191-CC6B-DC98430D912B}"/>
              </a:ext>
            </a:extLst>
          </p:cNvPr>
          <p:cNvSpPr/>
          <p:nvPr/>
        </p:nvSpPr>
        <p:spPr>
          <a:xfrm>
            <a:off x="821533" y="5756321"/>
            <a:ext cx="16626842" cy="452903"/>
          </a:xfrm>
          <a:prstGeom prst="rect">
            <a:avLst/>
          </a:prstGeom>
          <a:solidFill>
            <a:srgbClr val="00A69C"/>
          </a:solidFill>
          <a:ln w="952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mj-lt"/>
                <a:ea typeface="+mn-ea"/>
                <a:cs typeface="+mn-cs"/>
              </a:rPr>
              <a:t>Key Risks, Issues &amp; Decisions</a:t>
            </a:r>
          </a:p>
        </p:txBody>
      </p:sp>
      <p:graphicFrame>
        <p:nvGraphicFramePr>
          <p:cNvPr id="11" name="Table 6">
            <a:extLst>
              <a:ext uri="{FF2B5EF4-FFF2-40B4-BE49-F238E27FC236}">
                <a16:creationId xmlns:a16="http://schemas.microsoft.com/office/drawing/2014/main" id="{8A21CF4D-9A76-0449-6225-B1C0C6E069FF}"/>
              </a:ext>
            </a:extLst>
          </p:cNvPr>
          <p:cNvGraphicFramePr>
            <a:graphicFrameLocks noGrp="1"/>
          </p:cNvGraphicFramePr>
          <p:nvPr>
            <p:extLst>
              <p:ext uri="{D42A27DB-BD31-4B8C-83A1-F6EECF244321}">
                <p14:modId xmlns:p14="http://schemas.microsoft.com/office/powerpoint/2010/main" val="1650379820"/>
              </p:ext>
            </p:extLst>
          </p:nvPr>
        </p:nvGraphicFramePr>
        <p:xfrm>
          <a:off x="832104" y="6238427"/>
          <a:ext cx="16626847" cy="1587283"/>
        </p:xfrm>
        <a:graphic>
          <a:graphicData uri="http://schemas.openxmlformats.org/drawingml/2006/table">
            <a:tbl>
              <a:tblPr firstRow="1" bandRow="1">
                <a:tableStyleId>{5C22544A-7EE6-4342-B048-85BDC9FD1C3A}</a:tableStyleId>
              </a:tblPr>
              <a:tblGrid>
                <a:gridCol w="1978329">
                  <a:extLst>
                    <a:ext uri="{9D8B030D-6E8A-4147-A177-3AD203B41FA5}">
                      <a16:colId xmlns:a16="http://schemas.microsoft.com/office/drawing/2014/main" val="1940594143"/>
                    </a:ext>
                  </a:extLst>
                </a:gridCol>
                <a:gridCol w="6785486">
                  <a:extLst>
                    <a:ext uri="{9D8B030D-6E8A-4147-A177-3AD203B41FA5}">
                      <a16:colId xmlns:a16="http://schemas.microsoft.com/office/drawing/2014/main" val="273235595"/>
                    </a:ext>
                  </a:extLst>
                </a:gridCol>
                <a:gridCol w="2301858">
                  <a:extLst>
                    <a:ext uri="{9D8B030D-6E8A-4147-A177-3AD203B41FA5}">
                      <a16:colId xmlns:a16="http://schemas.microsoft.com/office/drawing/2014/main" val="1034871609"/>
                    </a:ext>
                  </a:extLst>
                </a:gridCol>
                <a:gridCol w="2237015">
                  <a:extLst>
                    <a:ext uri="{9D8B030D-6E8A-4147-A177-3AD203B41FA5}">
                      <a16:colId xmlns:a16="http://schemas.microsoft.com/office/drawing/2014/main" val="1556653191"/>
                    </a:ext>
                  </a:extLst>
                </a:gridCol>
                <a:gridCol w="3324159">
                  <a:extLst>
                    <a:ext uri="{9D8B030D-6E8A-4147-A177-3AD203B41FA5}">
                      <a16:colId xmlns:a16="http://schemas.microsoft.com/office/drawing/2014/main" val="666502604"/>
                    </a:ext>
                  </a:extLst>
                </a:gridCol>
              </a:tblGrid>
              <a:tr h="411480">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a:rPr>
                        <a:t>Area</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kumimoji="0" lang="en-US" sz="1800" b="1" i="0" u="none" strike="noStrike" kern="1200" cap="none" spc="0" normalizeH="0" baseline="0">
                          <a:ln>
                            <a:noFill/>
                          </a:ln>
                          <a:solidFill>
                            <a:srgbClr val="000000"/>
                          </a:solidFill>
                          <a:effectLst/>
                          <a:uLnTx/>
                          <a:uFillTx/>
                          <a:latin typeface="Arial"/>
                          <a:ea typeface="+mn-ea"/>
                          <a:cs typeface="Arial"/>
                        </a:rPr>
                        <a:t>Item</a:t>
                      </a:r>
                      <a:endParaRPr kumimoji="0" lang="en-US"/>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a:rPr>
                        <a:t>Status</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a:rPr>
                        <a:t>Due Date</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a:rPr>
                        <a:t>Owner</a:t>
                      </a:r>
                    </a:p>
                  </a:txBody>
                  <a:tcPr marL="137160" marR="137160" marT="68580" marB="6858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9013299"/>
                  </a:ext>
                </a:extLst>
              </a:tr>
              <a:tr h="363935">
                <a:tc>
                  <a:txBody>
                    <a:bodyPr/>
                    <a:lstStyle/>
                    <a:p>
                      <a:pPr algn="ctr"/>
                      <a:r>
                        <a:rPr kumimoji="0" lang="en-US" sz="1600" b="1" i="0" u="none" strike="noStrike" kern="1200" cap="none" spc="0" normalizeH="0" baseline="0">
                          <a:ln>
                            <a:noFill/>
                          </a:ln>
                          <a:solidFill>
                            <a:srgbClr val="000000"/>
                          </a:solidFill>
                          <a:effectLst/>
                          <a:uLnTx/>
                          <a:uFillTx/>
                          <a:latin typeface="+mn-lt"/>
                          <a:ea typeface="+mn-ea"/>
                          <a:cs typeface="Arial"/>
                        </a:rPr>
                        <a:t>Risks</a:t>
                      </a:r>
                    </a:p>
                  </a:txBody>
                  <a:tcPr marL="137160" marR="137160" marT="68580" marB="6858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74320" indent="0" algn="l" rtl="0" eaLnBrk="1" latinLnBrk="0" hangingPunct="1">
                        <a:buClr>
                          <a:srgbClr val="002060"/>
                        </a:buClr>
                        <a:buSzPct val="150000"/>
                        <a:buNone/>
                      </a:pPr>
                      <a:endParaRPr lang="en-US"/>
                    </a:p>
                  </a:txBody>
                  <a:tcPr marL="137160" marR="137160" marT="68580" marB="68580" anchor="ctr">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2060"/>
                        </a:buClr>
                        <a:buSzPct val="150000"/>
                        <a:buFontTx/>
                        <a:buNone/>
                        <a:tabLst/>
                        <a:defRPr/>
                      </a:pPr>
                      <a:endParaRPr lang="en-US" sz="1500" b="0" kern="1200">
                        <a:solidFill>
                          <a:srgbClr val="000000"/>
                        </a:solidFill>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500" b="0" strike="sngStrike" kern="1200">
                        <a:solidFill>
                          <a:srgbClr val="000000"/>
                        </a:solidFill>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500" b="0" kern="1200">
                        <a:solidFill>
                          <a:srgbClr val="000000"/>
                        </a:solidFill>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7621933"/>
                  </a:ext>
                </a:extLst>
              </a:tr>
              <a:tr h="356844">
                <a:tc>
                  <a:txBody>
                    <a:bodyPr/>
                    <a:lstStyle/>
                    <a:p>
                      <a:pPr algn="ctr"/>
                      <a:r>
                        <a:rPr kumimoji="0" lang="en-US" sz="1600" b="1" i="0" u="none" strike="noStrike" kern="1200" cap="none" spc="0" normalizeH="0" baseline="0">
                          <a:ln>
                            <a:noFill/>
                          </a:ln>
                          <a:solidFill>
                            <a:srgbClr val="000000"/>
                          </a:solidFill>
                          <a:effectLst/>
                          <a:uLnTx/>
                          <a:uFillTx/>
                          <a:latin typeface="+mn-lt"/>
                          <a:ea typeface="+mn-ea"/>
                          <a:cs typeface="Arial"/>
                        </a:rPr>
                        <a:t>Issues</a:t>
                      </a:r>
                    </a:p>
                  </a:txBody>
                  <a:tcPr marL="137160" marR="137160" marT="68580" marB="6858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500" strike="noStrike"/>
                        <a:t>We are working on the business comments after the go live </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2060"/>
                        </a:buClr>
                        <a:buSzPct val="150000"/>
                        <a:buFontTx/>
                        <a:buNone/>
                        <a:tabLst/>
                        <a:defRPr/>
                      </a:pPr>
                      <a:endParaRPr lang="en-US" sz="1500" b="0" strike="noStrike" kern="1200">
                        <a:solidFill>
                          <a:srgbClr val="000000"/>
                        </a:solidFill>
                        <a:latin typeface="+mn-lt"/>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500" b="0" strike="sngStrike" kern="1200">
                        <a:solidFill>
                          <a:srgbClr val="000000"/>
                        </a:solidFill>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500" b="0" strike="noStrike" kern="1200">
                        <a:solidFill>
                          <a:srgbClr val="000000"/>
                        </a:solidFill>
                        <a:latin typeface="+mn-lt"/>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74165115"/>
                  </a:ext>
                </a:extLst>
              </a:tr>
              <a:tr h="383323">
                <a:tc>
                  <a:txBody>
                    <a:bodyPr/>
                    <a:lstStyle/>
                    <a:p>
                      <a:pPr marL="0" indent="0" algn="ctr">
                        <a:buClr>
                          <a:srgbClr val="002060"/>
                        </a:buClr>
                        <a:buSzPct val="150000"/>
                        <a:buFontTx/>
                        <a:buNone/>
                      </a:pPr>
                      <a:r>
                        <a:rPr kumimoji="0" lang="en-US" sz="1600" b="1" i="0" u="none" strike="noStrike" kern="1200" cap="none" spc="0" normalizeH="0" baseline="0">
                          <a:ln>
                            <a:noFill/>
                          </a:ln>
                          <a:solidFill>
                            <a:srgbClr val="000000"/>
                          </a:solidFill>
                          <a:effectLst/>
                          <a:uLnTx/>
                          <a:uFillTx/>
                          <a:latin typeface="+mn-lt"/>
                          <a:ea typeface="+mn-ea"/>
                          <a:cs typeface="Arial"/>
                        </a:rPr>
                        <a:t>Decisions</a:t>
                      </a:r>
                      <a:endParaRPr kumimoji="0" lang="en-US" sz="1600" b="1" i="0" u="none" strike="noStrike" kern="1200" cap="none" spc="0" normalizeH="0" baseline="0">
                        <a:ln>
                          <a:noFill/>
                        </a:ln>
                        <a:solidFill>
                          <a:srgbClr val="000000"/>
                        </a:solidFill>
                        <a:effectLst/>
                        <a:uLnTx/>
                        <a:uFillTx/>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74320" marR="0" lvl="0" indent="0" algn="l" rtl="0" eaLnBrk="1" fontAlgn="auto" latinLnBrk="0" hangingPunct="1">
                        <a:lnSpc>
                          <a:spcPct val="100000"/>
                        </a:lnSpc>
                        <a:spcBef>
                          <a:spcPts val="0"/>
                        </a:spcBef>
                        <a:spcAft>
                          <a:spcPts val="0"/>
                        </a:spcAft>
                        <a:buClr>
                          <a:srgbClr val="002060"/>
                        </a:buClr>
                        <a:buSzPct val="150000"/>
                        <a:buFontTx/>
                        <a:buNone/>
                      </a:pPr>
                      <a:endParaRPr lang="en-US" sz="1500" b="0" strike="noStrike" kern="1200">
                        <a:solidFill>
                          <a:srgbClr val="000000"/>
                        </a:solidFill>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2060"/>
                        </a:buClr>
                        <a:buSzPct val="150000"/>
                        <a:buFontTx/>
                        <a:buNone/>
                        <a:tabLst/>
                        <a:defRPr/>
                      </a:pPr>
                      <a:endParaRPr lang="en-US" sz="1500" b="0" kern="1200">
                        <a:solidFill>
                          <a:srgbClr val="000000"/>
                        </a:solidFill>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500" b="0" strike="noStrike" kern="1200">
                        <a:solidFill>
                          <a:srgbClr val="000000"/>
                        </a:solidFill>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500" b="0" kern="1200">
                        <a:solidFill>
                          <a:srgbClr val="000000"/>
                        </a:solidFill>
                        <a:latin typeface="+mn-lt"/>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8196877"/>
                  </a:ext>
                </a:extLst>
              </a:tr>
            </a:tbl>
          </a:graphicData>
        </a:graphic>
      </p:graphicFrame>
      <p:grpSp>
        <p:nvGrpSpPr>
          <p:cNvPr id="12" name="Group 11">
            <a:extLst>
              <a:ext uri="{FF2B5EF4-FFF2-40B4-BE49-F238E27FC236}">
                <a16:creationId xmlns:a16="http://schemas.microsoft.com/office/drawing/2014/main" id="{FFD39BCE-B4D4-5942-0926-2F91BBF84322}"/>
              </a:ext>
            </a:extLst>
          </p:cNvPr>
          <p:cNvGrpSpPr/>
          <p:nvPr/>
        </p:nvGrpSpPr>
        <p:grpSpPr>
          <a:xfrm>
            <a:off x="860944" y="2053329"/>
            <a:ext cx="5041568" cy="1202997"/>
            <a:chOff x="567987" y="1398301"/>
            <a:chExt cx="3361045" cy="801998"/>
          </a:xfrm>
          <a:solidFill>
            <a:srgbClr val="00A69C"/>
          </a:solidFill>
        </p:grpSpPr>
        <p:sp>
          <p:nvSpPr>
            <p:cNvPr id="13" name="Rectangle 12">
              <a:extLst>
                <a:ext uri="{FF2B5EF4-FFF2-40B4-BE49-F238E27FC236}">
                  <a16:creationId xmlns:a16="http://schemas.microsoft.com/office/drawing/2014/main" id="{CE804633-A917-0D23-5096-2C84FAC92560}"/>
                </a:ext>
              </a:extLst>
            </p:cNvPr>
            <p:cNvSpPr/>
            <p:nvPr/>
          </p:nvSpPr>
          <p:spPr bwMode="auto">
            <a:xfrm>
              <a:off x="567987" y="1398301"/>
              <a:ext cx="1440000" cy="256198"/>
            </a:xfrm>
            <a:prstGeom prst="rect">
              <a:avLst/>
            </a:prstGeom>
            <a:grp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itchFamily="34" charset="0"/>
                </a:rPr>
                <a:t>Reporting Period</a:t>
              </a:r>
            </a:p>
          </p:txBody>
        </p:sp>
        <p:sp>
          <p:nvSpPr>
            <p:cNvPr id="14" name="Rectangle 13">
              <a:extLst>
                <a:ext uri="{FF2B5EF4-FFF2-40B4-BE49-F238E27FC236}">
                  <a16:creationId xmlns:a16="http://schemas.microsoft.com/office/drawing/2014/main" id="{D745DAB9-3B8F-B272-F40A-86905A839338}"/>
                </a:ext>
              </a:extLst>
            </p:cNvPr>
            <p:cNvSpPr/>
            <p:nvPr/>
          </p:nvSpPr>
          <p:spPr bwMode="auto">
            <a:xfrm>
              <a:off x="2127836" y="1398301"/>
              <a:ext cx="1800000" cy="256198"/>
            </a:xfrm>
            <a:prstGeom prst="rect">
              <a:avLst/>
            </a:prstGeom>
            <a:grp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GB" sz="1500" b="1" kern="0">
                  <a:solidFill>
                    <a:schemeClr val="bg1"/>
                  </a:solidFill>
                  <a:cs typeface="Calibri"/>
                </a:rPr>
                <a:t>05 April 2026– 09 April 2026</a:t>
              </a:r>
              <a:endParaRPr lang="en-GB" sz="1500" kern="0">
                <a:solidFill>
                  <a:schemeClr val="bg1"/>
                </a:solidFill>
                <a:ea typeface="Calibri"/>
                <a:cs typeface="Calibri"/>
              </a:endParaRPr>
            </a:p>
          </p:txBody>
        </p:sp>
        <p:sp>
          <p:nvSpPr>
            <p:cNvPr id="16" name="Rectangle 15">
              <a:extLst>
                <a:ext uri="{FF2B5EF4-FFF2-40B4-BE49-F238E27FC236}">
                  <a16:creationId xmlns:a16="http://schemas.microsoft.com/office/drawing/2014/main" id="{BECB7E8B-AEC5-0D6F-C3E0-0DCD78667083}"/>
                </a:ext>
              </a:extLst>
            </p:cNvPr>
            <p:cNvSpPr/>
            <p:nvPr/>
          </p:nvSpPr>
          <p:spPr bwMode="auto">
            <a:xfrm>
              <a:off x="570971" y="1682431"/>
              <a:ext cx="1440000" cy="238706"/>
            </a:xfrm>
            <a:prstGeom prst="rect">
              <a:avLst/>
            </a:prstGeom>
            <a:grp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defTabSz="1564584" eaLnBrk="1" fontAlgn="auto" latinLnBrk="0" hangingPunct="1">
                <a:lnSpc>
                  <a:spcPct val="100000"/>
                </a:lnSpc>
                <a:spcBef>
                  <a:spcPts val="0"/>
                </a:spcBef>
                <a:spcAft>
                  <a:spcPts val="0"/>
                </a:spcAft>
                <a:buClrTx/>
                <a:buSzTx/>
                <a:buFontTx/>
                <a:buNone/>
                <a:tabLst/>
                <a:defRPr/>
              </a:pPr>
              <a:r>
                <a:rPr lang="en-GB" sz="1500" b="1" kern="0">
                  <a:solidFill>
                    <a:schemeClr val="bg1"/>
                  </a:solidFill>
                  <a:latin typeface="+mj-lt"/>
                  <a:cs typeface="Arial" pitchFamily="34" charset="0"/>
                </a:rPr>
                <a:t>Business</a:t>
              </a:r>
              <a:r>
                <a:rPr kumimoji="0" lang="en-GB" sz="1500" b="1" i="0" u="none" strike="noStrike" kern="0" cap="none" spc="0" normalizeH="0" baseline="0" noProof="0">
                  <a:ln>
                    <a:noFill/>
                  </a:ln>
                  <a:solidFill>
                    <a:schemeClr val="bg1"/>
                  </a:solidFill>
                  <a:effectLst/>
                  <a:uLnTx/>
                  <a:uFillTx/>
                  <a:latin typeface="+mj-lt"/>
                  <a:cs typeface="Arial" pitchFamily="34" charset="0"/>
                </a:rPr>
                <a:t> Owner</a:t>
              </a:r>
            </a:p>
          </p:txBody>
        </p:sp>
        <p:sp>
          <p:nvSpPr>
            <p:cNvPr id="17" name="Rectangle 16">
              <a:extLst>
                <a:ext uri="{FF2B5EF4-FFF2-40B4-BE49-F238E27FC236}">
                  <a16:creationId xmlns:a16="http://schemas.microsoft.com/office/drawing/2014/main" id="{9BD9562D-B0B0-DF51-81E2-CB98FACCD37A}"/>
                </a:ext>
              </a:extLst>
            </p:cNvPr>
            <p:cNvSpPr/>
            <p:nvPr/>
          </p:nvSpPr>
          <p:spPr bwMode="auto">
            <a:xfrm>
              <a:off x="2130820" y="1682431"/>
              <a:ext cx="1798212" cy="214907"/>
            </a:xfrm>
            <a:prstGeom prst="rect">
              <a:avLst/>
            </a:prstGeom>
            <a:grp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US" sz="1500" b="1" kern="0">
                  <a:solidFill>
                    <a:schemeClr val="bg1"/>
                  </a:solidFill>
                  <a:cs typeface="Arial"/>
                </a:rPr>
                <a:t>Saher Abdelhadi</a:t>
              </a:r>
              <a:endParaRPr lang="en-US" sz="1600"/>
            </a:p>
          </p:txBody>
        </p:sp>
        <p:sp>
          <p:nvSpPr>
            <p:cNvPr id="18" name="Rectangle 17">
              <a:extLst>
                <a:ext uri="{FF2B5EF4-FFF2-40B4-BE49-F238E27FC236}">
                  <a16:creationId xmlns:a16="http://schemas.microsoft.com/office/drawing/2014/main" id="{92596091-8549-83BB-7069-610EF779229D}"/>
                </a:ext>
              </a:extLst>
            </p:cNvPr>
            <p:cNvSpPr/>
            <p:nvPr/>
          </p:nvSpPr>
          <p:spPr bwMode="auto">
            <a:xfrm>
              <a:off x="567987" y="1944101"/>
              <a:ext cx="1440000" cy="256198"/>
            </a:xfrm>
            <a:prstGeom prst="rect">
              <a:avLst/>
            </a:prstGeom>
            <a:grp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itchFamily="34" charset="0"/>
                </a:rPr>
                <a:t>Project Manager</a:t>
              </a:r>
            </a:p>
          </p:txBody>
        </p:sp>
        <p:sp>
          <p:nvSpPr>
            <p:cNvPr id="19" name="Rectangle 18">
              <a:extLst>
                <a:ext uri="{FF2B5EF4-FFF2-40B4-BE49-F238E27FC236}">
                  <a16:creationId xmlns:a16="http://schemas.microsoft.com/office/drawing/2014/main" id="{46456999-9ADA-24E8-371B-F21F1F9057D1}"/>
                </a:ext>
              </a:extLst>
            </p:cNvPr>
            <p:cNvSpPr/>
            <p:nvPr/>
          </p:nvSpPr>
          <p:spPr bwMode="auto">
            <a:xfrm>
              <a:off x="2127836" y="1944101"/>
              <a:ext cx="1800000" cy="256198"/>
            </a:xfrm>
            <a:prstGeom prst="rect">
              <a:avLst/>
            </a:prstGeom>
            <a:grp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GB" sz="1500" b="1" kern="0">
                  <a:solidFill>
                    <a:schemeClr val="bg1"/>
                  </a:solidFill>
                  <a:latin typeface="+mj-lt"/>
                  <a:cs typeface="Arial"/>
                </a:rPr>
                <a:t>Alaa Al-Smadi</a:t>
              </a:r>
              <a:endParaRPr lang="en-US"/>
            </a:p>
          </p:txBody>
        </p:sp>
      </p:grpSp>
      <p:sp>
        <p:nvSpPr>
          <p:cNvPr id="30" name="Rectangle 29">
            <a:extLst>
              <a:ext uri="{FF2B5EF4-FFF2-40B4-BE49-F238E27FC236}">
                <a16:creationId xmlns:a16="http://schemas.microsoft.com/office/drawing/2014/main" id="{4FA227B0-B119-62EC-F073-B4065A876B28}"/>
              </a:ext>
            </a:extLst>
          </p:cNvPr>
          <p:cNvSpPr/>
          <p:nvPr/>
        </p:nvSpPr>
        <p:spPr bwMode="auto">
          <a:xfrm>
            <a:off x="15847604" y="2530028"/>
            <a:ext cx="1574978" cy="533700"/>
          </a:xfrm>
          <a:prstGeom prst="rect">
            <a:avLst/>
          </a:prstGeom>
          <a:solidFill>
            <a:srgbClr val="E2F0D9"/>
          </a:solidFill>
          <a:ln w="9525" cap="flat" cmpd="sng" algn="ctr">
            <a:solidFill>
              <a:srgbClr val="FFCCCC"/>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defTabSz="1564584">
              <a:defRPr/>
            </a:pPr>
            <a:r>
              <a:rPr lang="en-US" sz="1500" b="1" kern="0">
                <a:solidFill>
                  <a:prstClr val="black"/>
                </a:solidFill>
                <a:cs typeface="Arial"/>
              </a:rPr>
              <a:t>On Track</a:t>
            </a:r>
            <a:endParaRPr lang="en-GB" sz="1500" b="1" kern="0">
              <a:solidFill>
                <a:prstClr val="black"/>
              </a:solidFill>
              <a:cs typeface="Arial" panose="020B0604020202020204" pitchFamily="34" charset="0"/>
            </a:endParaRPr>
          </a:p>
        </p:txBody>
      </p:sp>
      <p:grpSp>
        <p:nvGrpSpPr>
          <p:cNvPr id="29" name="Group 28">
            <a:extLst>
              <a:ext uri="{FF2B5EF4-FFF2-40B4-BE49-F238E27FC236}">
                <a16:creationId xmlns:a16="http://schemas.microsoft.com/office/drawing/2014/main" id="{3C3CAEAD-A738-E911-4017-1887C93DE5E5}"/>
              </a:ext>
            </a:extLst>
          </p:cNvPr>
          <p:cNvGrpSpPr/>
          <p:nvPr/>
        </p:nvGrpSpPr>
        <p:grpSpPr>
          <a:xfrm>
            <a:off x="9800456" y="9674702"/>
            <a:ext cx="10637918" cy="505790"/>
            <a:chOff x="5956720" y="6443049"/>
            <a:chExt cx="7091945" cy="357913"/>
          </a:xfrm>
        </p:grpSpPr>
        <p:grpSp>
          <p:nvGrpSpPr>
            <p:cNvPr id="52" name="Group 51">
              <a:extLst>
                <a:ext uri="{FF2B5EF4-FFF2-40B4-BE49-F238E27FC236}">
                  <a16:creationId xmlns:a16="http://schemas.microsoft.com/office/drawing/2014/main" id="{06438344-F2AD-5BB7-17BB-2965B315E3BE}"/>
                </a:ext>
              </a:extLst>
            </p:cNvPr>
            <p:cNvGrpSpPr/>
            <p:nvPr/>
          </p:nvGrpSpPr>
          <p:grpSpPr>
            <a:xfrm>
              <a:off x="5956720" y="6443049"/>
              <a:ext cx="7091945" cy="357913"/>
              <a:chOff x="5966485" y="6485413"/>
              <a:chExt cx="7091945" cy="357913"/>
            </a:xfrm>
          </p:grpSpPr>
          <p:sp>
            <p:nvSpPr>
              <p:cNvPr id="62" name="Oval 61">
                <a:extLst>
                  <a:ext uri="{FF2B5EF4-FFF2-40B4-BE49-F238E27FC236}">
                    <a16:creationId xmlns:a16="http://schemas.microsoft.com/office/drawing/2014/main" id="{E4A98FF1-2376-902B-E5A8-CAA7CE5C3831}"/>
                  </a:ext>
                </a:extLst>
              </p:cNvPr>
              <p:cNvSpPr/>
              <p:nvPr/>
            </p:nvSpPr>
            <p:spPr>
              <a:xfrm>
                <a:off x="6950322" y="6494495"/>
                <a:ext cx="133346" cy="126401"/>
              </a:xfrm>
              <a:prstGeom prst="ellipse">
                <a:avLst/>
              </a:prstGeom>
              <a:solidFill>
                <a:srgbClr val="E2F0D9"/>
              </a:solidFill>
              <a:ln w="9525">
                <a:solidFill>
                  <a:srgbClr val="E2F0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63" name="Oval 62">
                <a:extLst>
                  <a:ext uri="{FF2B5EF4-FFF2-40B4-BE49-F238E27FC236}">
                    <a16:creationId xmlns:a16="http://schemas.microsoft.com/office/drawing/2014/main" id="{EACDA421-F41E-2E21-0B01-AB7637630FCB}"/>
                  </a:ext>
                </a:extLst>
              </p:cNvPr>
              <p:cNvSpPr/>
              <p:nvPr/>
            </p:nvSpPr>
            <p:spPr>
              <a:xfrm>
                <a:off x="7594167" y="6503611"/>
                <a:ext cx="135071" cy="126401"/>
              </a:xfrm>
              <a:prstGeom prst="ellipse">
                <a:avLst/>
              </a:prstGeom>
              <a:solidFill>
                <a:srgbClr val="FF0000"/>
              </a:solid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64" name="Oval 63">
                <a:extLst>
                  <a:ext uri="{FF2B5EF4-FFF2-40B4-BE49-F238E27FC236}">
                    <a16:creationId xmlns:a16="http://schemas.microsoft.com/office/drawing/2014/main" id="{5A8CE726-3B61-A1BF-477A-3318D7356927}"/>
                  </a:ext>
                </a:extLst>
              </p:cNvPr>
              <p:cNvSpPr/>
              <p:nvPr/>
            </p:nvSpPr>
            <p:spPr>
              <a:xfrm>
                <a:off x="8149931" y="6505195"/>
                <a:ext cx="131200" cy="126401"/>
              </a:xfrm>
              <a:prstGeom prst="ellipse">
                <a:avLst/>
              </a:prstGeom>
              <a:solidFill>
                <a:srgbClr val="FFC000"/>
              </a:solidFill>
              <a:ln w="95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65" name="TextBox 64">
                <a:extLst>
                  <a:ext uri="{FF2B5EF4-FFF2-40B4-BE49-F238E27FC236}">
                    <a16:creationId xmlns:a16="http://schemas.microsoft.com/office/drawing/2014/main" id="{E2BAF895-E407-B516-1C1C-423DD421854A}"/>
                  </a:ext>
                </a:extLst>
              </p:cNvPr>
              <p:cNvSpPr txBox="1"/>
              <p:nvPr/>
            </p:nvSpPr>
            <p:spPr>
              <a:xfrm>
                <a:off x="6734909" y="6611779"/>
                <a:ext cx="717687"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On track </a:t>
                </a:r>
              </a:p>
            </p:txBody>
          </p:sp>
          <p:sp>
            <p:nvSpPr>
              <p:cNvPr id="66" name="TextBox 65">
                <a:extLst>
                  <a:ext uri="{FF2B5EF4-FFF2-40B4-BE49-F238E27FC236}">
                    <a16:creationId xmlns:a16="http://schemas.microsoft.com/office/drawing/2014/main" id="{CC5BC27D-98DE-472A-57AA-B61715A0FCE4}"/>
                  </a:ext>
                </a:extLst>
              </p:cNvPr>
              <p:cNvSpPr txBox="1"/>
              <p:nvPr/>
            </p:nvSpPr>
            <p:spPr>
              <a:xfrm>
                <a:off x="7360310" y="6621931"/>
                <a:ext cx="664200"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Delayed</a:t>
                </a:r>
              </a:p>
            </p:txBody>
          </p:sp>
          <p:sp>
            <p:nvSpPr>
              <p:cNvPr id="67" name="TextBox 66">
                <a:extLst>
                  <a:ext uri="{FF2B5EF4-FFF2-40B4-BE49-F238E27FC236}">
                    <a16:creationId xmlns:a16="http://schemas.microsoft.com/office/drawing/2014/main" id="{86595B3C-F98F-B422-0999-7DB5F9D03626}"/>
                  </a:ext>
                </a:extLst>
              </p:cNvPr>
              <p:cNvSpPr txBox="1"/>
              <p:nvPr/>
            </p:nvSpPr>
            <p:spPr>
              <a:xfrm>
                <a:off x="7962993" y="6624764"/>
                <a:ext cx="664200"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At Risk</a:t>
                </a:r>
              </a:p>
            </p:txBody>
          </p:sp>
          <p:sp>
            <p:nvSpPr>
              <p:cNvPr id="68" name="TextBox 67">
                <a:extLst>
                  <a:ext uri="{FF2B5EF4-FFF2-40B4-BE49-F238E27FC236}">
                    <a16:creationId xmlns:a16="http://schemas.microsoft.com/office/drawing/2014/main" id="{0385E238-3ED8-478B-7CB4-7E61D0DA8510}"/>
                  </a:ext>
                </a:extLst>
              </p:cNvPr>
              <p:cNvSpPr txBox="1"/>
              <p:nvPr/>
            </p:nvSpPr>
            <p:spPr>
              <a:xfrm>
                <a:off x="9357110" y="6627882"/>
                <a:ext cx="970136"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Implemented</a:t>
                </a:r>
              </a:p>
            </p:txBody>
          </p:sp>
          <p:sp>
            <p:nvSpPr>
              <p:cNvPr id="69" name="Oval 68">
                <a:extLst>
                  <a:ext uri="{FF2B5EF4-FFF2-40B4-BE49-F238E27FC236}">
                    <a16:creationId xmlns:a16="http://schemas.microsoft.com/office/drawing/2014/main" id="{CBADDAD8-7A74-34E1-31FB-6E0971370F91}"/>
                  </a:ext>
                </a:extLst>
              </p:cNvPr>
              <p:cNvSpPr/>
              <p:nvPr/>
            </p:nvSpPr>
            <p:spPr>
              <a:xfrm>
                <a:off x="10428038" y="6512756"/>
                <a:ext cx="137031" cy="126401"/>
              </a:xfrm>
              <a:prstGeom prst="ellipse">
                <a:avLst/>
              </a:prstGeom>
              <a:solidFill>
                <a:srgbClr val="00B0F0"/>
              </a:solid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EE24FA50-A7E8-BAEA-8910-CD7C02DCFAFD}"/>
                  </a:ext>
                </a:extLst>
              </p:cNvPr>
              <p:cNvSpPr txBox="1"/>
              <p:nvPr/>
            </p:nvSpPr>
            <p:spPr>
              <a:xfrm>
                <a:off x="10194922" y="6621646"/>
                <a:ext cx="2311615"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US" sz="1200">
                    <a:latin typeface="Arial" panose="020B0604020202020204" pitchFamily="34" charset="0"/>
                    <a:cs typeface="Arial" panose="020B0604020202020204" pitchFamily="34" charset="0"/>
                  </a:rPr>
                  <a:t>On Hold</a:t>
                </a:r>
                <a:endParaRPr kumimoji="0" lang="en-US" sz="120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71" name="Oval 70">
                <a:extLst>
                  <a:ext uri="{FF2B5EF4-FFF2-40B4-BE49-F238E27FC236}">
                    <a16:creationId xmlns:a16="http://schemas.microsoft.com/office/drawing/2014/main" id="{38D892D8-7808-5250-0B44-B592107205D1}"/>
                  </a:ext>
                </a:extLst>
              </p:cNvPr>
              <p:cNvSpPr/>
              <p:nvPr/>
            </p:nvSpPr>
            <p:spPr>
              <a:xfrm>
                <a:off x="11073431" y="6488248"/>
                <a:ext cx="137031" cy="126401"/>
              </a:xfrm>
              <a:prstGeom prst="ellipse">
                <a:avLst/>
              </a:prstGeom>
              <a:solidFill>
                <a:srgbClr val="FFFF00"/>
              </a:solidFill>
              <a:ln w="952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72" name="TextBox 71">
                <a:extLst>
                  <a:ext uri="{FF2B5EF4-FFF2-40B4-BE49-F238E27FC236}">
                    <a16:creationId xmlns:a16="http://schemas.microsoft.com/office/drawing/2014/main" id="{A86C3C41-C9A5-BDF7-D091-C828BEF40A1F}"/>
                  </a:ext>
                </a:extLst>
              </p:cNvPr>
              <p:cNvSpPr txBox="1"/>
              <p:nvPr/>
            </p:nvSpPr>
            <p:spPr>
              <a:xfrm>
                <a:off x="10746815" y="6611779"/>
                <a:ext cx="2311615"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Terminated</a:t>
                </a:r>
              </a:p>
            </p:txBody>
          </p:sp>
          <p:sp>
            <p:nvSpPr>
              <p:cNvPr id="76" name="Oval 75">
                <a:extLst>
                  <a:ext uri="{FF2B5EF4-FFF2-40B4-BE49-F238E27FC236}">
                    <a16:creationId xmlns:a16="http://schemas.microsoft.com/office/drawing/2014/main" id="{6F862E06-8CF2-E3E0-3F7A-51CBBCC58194}"/>
                  </a:ext>
                </a:extLst>
              </p:cNvPr>
              <p:cNvSpPr/>
              <p:nvPr/>
            </p:nvSpPr>
            <p:spPr>
              <a:xfrm>
                <a:off x="8836849" y="6505195"/>
                <a:ext cx="131200" cy="126401"/>
              </a:xfrm>
              <a:prstGeom prst="ellipse">
                <a:avLst/>
              </a:prstGeom>
              <a:solidFill>
                <a:srgbClr val="00B050"/>
              </a:solid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78" name="TextBox 77">
                <a:extLst>
                  <a:ext uri="{FF2B5EF4-FFF2-40B4-BE49-F238E27FC236}">
                    <a16:creationId xmlns:a16="http://schemas.microsoft.com/office/drawing/2014/main" id="{6DC40BB1-AF26-D74F-5542-40FAB0A4AF9F}"/>
                  </a:ext>
                </a:extLst>
              </p:cNvPr>
              <p:cNvSpPr txBox="1"/>
              <p:nvPr/>
            </p:nvSpPr>
            <p:spPr>
              <a:xfrm>
                <a:off x="8555682" y="6620896"/>
                <a:ext cx="815094"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InProgress</a:t>
                </a:r>
              </a:p>
            </p:txBody>
          </p:sp>
          <p:sp>
            <p:nvSpPr>
              <p:cNvPr id="79" name="Oval 78">
                <a:extLst>
                  <a:ext uri="{FF2B5EF4-FFF2-40B4-BE49-F238E27FC236}">
                    <a16:creationId xmlns:a16="http://schemas.microsoft.com/office/drawing/2014/main" id="{73BFFAF2-026E-5035-58E0-47AE57B3B227}"/>
                  </a:ext>
                </a:extLst>
              </p:cNvPr>
              <p:cNvSpPr/>
              <p:nvPr/>
            </p:nvSpPr>
            <p:spPr>
              <a:xfrm>
                <a:off x="6328246" y="6485413"/>
                <a:ext cx="133346" cy="126401"/>
              </a:xfrm>
              <a:prstGeom prst="ellipse">
                <a:avLst/>
              </a:prstGeom>
              <a:solidFill>
                <a:srgbClr val="BFBFBF"/>
              </a:solidFill>
              <a:ln w="9525">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80" name="TextBox 79">
                <a:extLst>
                  <a:ext uri="{FF2B5EF4-FFF2-40B4-BE49-F238E27FC236}">
                    <a16:creationId xmlns:a16="http://schemas.microsoft.com/office/drawing/2014/main" id="{48F9C062-14F7-569E-9B19-D18A5D3E103F}"/>
                  </a:ext>
                </a:extLst>
              </p:cNvPr>
              <p:cNvSpPr txBox="1"/>
              <p:nvPr/>
            </p:nvSpPr>
            <p:spPr>
              <a:xfrm>
                <a:off x="5966485" y="6601627"/>
                <a:ext cx="858416"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Not Started</a:t>
                </a:r>
              </a:p>
            </p:txBody>
          </p:sp>
        </p:grpSp>
        <p:sp>
          <p:nvSpPr>
            <p:cNvPr id="61" name="Oval 60">
              <a:extLst>
                <a:ext uri="{FF2B5EF4-FFF2-40B4-BE49-F238E27FC236}">
                  <a16:creationId xmlns:a16="http://schemas.microsoft.com/office/drawing/2014/main" id="{0B79BEA8-C883-B84A-CAE5-1E8B888F4AC9}"/>
                </a:ext>
              </a:extLst>
            </p:cNvPr>
            <p:cNvSpPr/>
            <p:nvPr/>
          </p:nvSpPr>
          <p:spPr>
            <a:xfrm>
              <a:off x="9702904" y="6470392"/>
              <a:ext cx="131200" cy="126401"/>
            </a:xfrm>
            <a:prstGeom prst="ellipse">
              <a:avLst/>
            </a:prstGeom>
            <a:solidFill>
              <a:srgbClr val="003373"/>
            </a:solidFill>
            <a:ln w="9525">
              <a:solidFill>
                <a:srgbClr val="0033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grpSp>
      <p:sp>
        <p:nvSpPr>
          <p:cNvPr id="50" name="Freeform 13">
            <a:extLst>
              <a:ext uri="{FF2B5EF4-FFF2-40B4-BE49-F238E27FC236}">
                <a16:creationId xmlns:a16="http://schemas.microsoft.com/office/drawing/2014/main" id="{86D7CB96-9D12-F171-ED8C-71D33518C68B}"/>
              </a:ext>
            </a:extLst>
          </p:cNvPr>
          <p:cNvSpPr/>
          <p:nvPr/>
        </p:nvSpPr>
        <p:spPr>
          <a:xfrm>
            <a:off x="16062518" y="309634"/>
            <a:ext cx="1851905" cy="870481"/>
          </a:xfrm>
          <a:custGeom>
            <a:avLst/>
            <a:gdLst/>
            <a:ahLst/>
            <a:cxnLst/>
            <a:rect l="l" t="t" r="r" b="b"/>
            <a:pathLst>
              <a:path w="1851905" h="870481">
                <a:moveTo>
                  <a:pt x="0" y="0"/>
                </a:moveTo>
                <a:lnTo>
                  <a:pt x="1851905" y="0"/>
                </a:lnTo>
                <a:lnTo>
                  <a:pt x="1851905" y="870481"/>
                </a:lnTo>
                <a:lnTo>
                  <a:pt x="0" y="870481"/>
                </a:lnTo>
                <a:lnTo>
                  <a:pt x="0" y="0"/>
                </a:lnTo>
                <a:close/>
              </a:path>
            </a:pathLst>
          </a:custGeom>
          <a:blipFill>
            <a:blip r:embed="rId2"/>
            <a:stretch>
              <a:fillRect/>
            </a:stretch>
          </a:blipFill>
        </p:spPr>
        <p:txBody>
          <a:bodyPr/>
          <a:lstStyle/>
          <a:p>
            <a:endParaRPr lang="en-US"/>
          </a:p>
        </p:txBody>
      </p:sp>
      <p:sp>
        <p:nvSpPr>
          <p:cNvPr id="44" name="TextBox 2">
            <a:extLst>
              <a:ext uri="{FF2B5EF4-FFF2-40B4-BE49-F238E27FC236}">
                <a16:creationId xmlns:a16="http://schemas.microsoft.com/office/drawing/2014/main" id="{B008268F-181F-B238-5722-DEA58FFDF109}"/>
              </a:ext>
            </a:extLst>
          </p:cNvPr>
          <p:cNvSpPr txBox="1"/>
          <p:nvPr/>
        </p:nvSpPr>
        <p:spPr>
          <a:xfrm>
            <a:off x="816049" y="86390"/>
            <a:ext cx="14308630" cy="1318502"/>
          </a:xfrm>
          <a:prstGeom prst="rect">
            <a:avLst/>
          </a:prstGeom>
        </p:spPr>
        <p:txBody>
          <a:bodyPr wrap="square" lIns="0" tIns="0" rIns="0" bIns="0" rtlCol="0" anchor="t">
            <a:spAutoFit/>
          </a:bodyPr>
          <a:lstStyle/>
          <a:p>
            <a:pPr>
              <a:lnSpc>
                <a:spcPts val="11200"/>
              </a:lnSpc>
              <a:spcBef>
                <a:spcPct val="0"/>
              </a:spcBef>
            </a:pPr>
            <a:r>
              <a:rPr lang="en-US" sz="8000" b="1">
                <a:solidFill>
                  <a:srgbClr val="03A39D"/>
                </a:solidFill>
                <a:latin typeface="Inter Bold"/>
                <a:ea typeface="Inter Bold"/>
                <a:cs typeface="Inter Bold"/>
                <a:sym typeface="Inter Bold"/>
              </a:rPr>
              <a:t>Client Risk Rating </a:t>
            </a:r>
            <a:r>
              <a:rPr lang="en-US" sz="8000" b="1">
                <a:solidFill>
                  <a:srgbClr val="1C1818"/>
                </a:solidFill>
                <a:latin typeface="Inter Bold"/>
                <a:ea typeface="Inter Bold"/>
                <a:cs typeface="Inter Bold"/>
                <a:sym typeface="Inter Bold"/>
              </a:rPr>
              <a:t>PROJECT</a:t>
            </a:r>
          </a:p>
        </p:txBody>
      </p:sp>
      <p:grpSp>
        <p:nvGrpSpPr>
          <p:cNvPr id="3" name="Group 2">
            <a:extLst>
              <a:ext uri="{FF2B5EF4-FFF2-40B4-BE49-F238E27FC236}">
                <a16:creationId xmlns:a16="http://schemas.microsoft.com/office/drawing/2014/main" id="{137B9C43-49D2-A102-19FC-F3FD0C53D2AA}"/>
              </a:ext>
            </a:extLst>
          </p:cNvPr>
          <p:cNvGrpSpPr/>
          <p:nvPr/>
        </p:nvGrpSpPr>
        <p:grpSpPr>
          <a:xfrm>
            <a:off x="830456" y="4136645"/>
            <a:ext cx="16627087" cy="1396406"/>
            <a:chOff x="0" y="0"/>
            <a:chExt cx="22169450" cy="1861874"/>
          </a:xfrm>
          <a:solidFill>
            <a:schemeClr val="bg1"/>
          </a:solidFill>
        </p:grpSpPr>
        <p:sp>
          <p:nvSpPr>
            <p:cNvPr id="5" name="Freeform 3">
              <a:extLst>
                <a:ext uri="{FF2B5EF4-FFF2-40B4-BE49-F238E27FC236}">
                  <a16:creationId xmlns:a16="http://schemas.microsoft.com/office/drawing/2014/main" id="{FCAA610B-C8B3-2782-1A99-3C79A7EEB9CD}"/>
                </a:ext>
              </a:extLst>
            </p:cNvPr>
            <p:cNvSpPr/>
            <p:nvPr/>
          </p:nvSpPr>
          <p:spPr>
            <a:xfrm>
              <a:off x="0" y="0"/>
              <a:ext cx="22169501" cy="1861820"/>
            </a:xfrm>
            <a:custGeom>
              <a:avLst/>
              <a:gdLst/>
              <a:ahLst/>
              <a:cxnLst/>
              <a:rect l="l" t="t" r="r" b="b"/>
              <a:pathLst>
                <a:path w="22169501" h="1861820">
                  <a:moveTo>
                    <a:pt x="0" y="0"/>
                  </a:moveTo>
                  <a:lnTo>
                    <a:pt x="22169501" y="0"/>
                  </a:lnTo>
                  <a:lnTo>
                    <a:pt x="22169501" y="1861820"/>
                  </a:lnTo>
                  <a:lnTo>
                    <a:pt x="0" y="1861820"/>
                  </a:lnTo>
                  <a:close/>
                </a:path>
              </a:pathLst>
            </a:custGeom>
            <a:grpFill/>
            <a:ln w="12700">
              <a:solidFill>
                <a:srgbClr val="000000"/>
              </a:solidFill>
            </a:ln>
          </p:spPr>
          <p:txBody>
            <a:bodyPr/>
            <a:lstStyle/>
            <a:p>
              <a:endParaRPr lang="en-US"/>
            </a:p>
          </p:txBody>
        </p:sp>
      </p:grpSp>
      <p:sp>
        <p:nvSpPr>
          <p:cNvPr id="81" name="AutoShape 4">
            <a:extLst>
              <a:ext uri="{FF2B5EF4-FFF2-40B4-BE49-F238E27FC236}">
                <a16:creationId xmlns:a16="http://schemas.microsoft.com/office/drawing/2014/main" id="{B2DFC63B-296C-033D-AA9E-E4A8F99496DA}"/>
              </a:ext>
            </a:extLst>
          </p:cNvPr>
          <p:cNvSpPr/>
          <p:nvPr/>
        </p:nvSpPr>
        <p:spPr>
          <a:xfrm>
            <a:off x="1496609" y="4938702"/>
            <a:ext cx="15513385" cy="0"/>
          </a:xfrm>
          <a:prstGeom prst="line">
            <a:avLst/>
          </a:prstGeom>
          <a:ln w="19050" cap="rnd">
            <a:solidFill>
              <a:srgbClr val="000000"/>
            </a:solidFill>
            <a:prstDash val="solid"/>
            <a:headEnd type="none" w="sm" len="sm"/>
            <a:tailEnd type="triangle" w="lg" len="med"/>
          </a:ln>
        </p:spPr>
        <p:txBody>
          <a:bodyPr/>
          <a:lstStyle/>
          <a:p>
            <a:endParaRPr lang="en-US"/>
          </a:p>
        </p:txBody>
      </p:sp>
      <p:sp>
        <p:nvSpPr>
          <p:cNvPr id="82" name="TextBox 5">
            <a:extLst>
              <a:ext uri="{FF2B5EF4-FFF2-40B4-BE49-F238E27FC236}">
                <a16:creationId xmlns:a16="http://schemas.microsoft.com/office/drawing/2014/main" id="{AC22B788-DA4A-A279-BABB-CEB93B56ECD8}"/>
              </a:ext>
            </a:extLst>
          </p:cNvPr>
          <p:cNvSpPr txBox="1"/>
          <p:nvPr/>
        </p:nvSpPr>
        <p:spPr>
          <a:xfrm>
            <a:off x="15159015" y="4221185"/>
            <a:ext cx="948023" cy="472373"/>
          </a:xfrm>
          <a:prstGeom prst="rect">
            <a:avLst/>
          </a:prstGeom>
        </p:spPr>
        <p:txBody>
          <a:bodyPr wrap="square" lIns="0" tIns="0" rIns="0" bIns="0" rtlCol="0" anchor="t">
            <a:spAutoFit/>
          </a:bodyPr>
          <a:lstStyle/>
          <a:p>
            <a:pPr algn="ctr">
              <a:lnSpc>
                <a:spcPts val="1889"/>
              </a:lnSpc>
            </a:pPr>
            <a:r>
              <a:rPr lang="en-US" sz="1575" b="1">
                <a:solidFill>
                  <a:srgbClr val="000000"/>
                </a:solidFill>
                <a:latin typeface="Arial Bold"/>
                <a:ea typeface="Arial Bold"/>
                <a:cs typeface="Arial Bold"/>
                <a:sym typeface="Arial Bold"/>
              </a:rPr>
              <a:t>Sign-Off</a:t>
            </a:r>
          </a:p>
          <a:p>
            <a:pPr algn="ctr">
              <a:lnSpc>
                <a:spcPts val="1889"/>
              </a:lnSpc>
            </a:pPr>
            <a:r>
              <a:rPr lang="en-US" sz="1575" b="1">
                <a:solidFill>
                  <a:srgbClr val="000000"/>
                </a:solidFill>
                <a:latin typeface="Arial Bold"/>
                <a:ea typeface="Arial Bold"/>
                <a:cs typeface="Arial Bold"/>
                <a:sym typeface="Arial Bold"/>
              </a:rPr>
              <a:t>Phase</a:t>
            </a:r>
          </a:p>
        </p:txBody>
      </p:sp>
      <p:sp>
        <p:nvSpPr>
          <p:cNvPr id="87" name="TextBox 9">
            <a:extLst>
              <a:ext uri="{FF2B5EF4-FFF2-40B4-BE49-F238E27FC236}">
                <a16:creationId xmlns:a16="http://schemas.microsoft.com/office/drawing/2014/main" id="{F93916BE-9DC8-EC26-531F-25882A529834}"/>
              </a:ext>
            </a:extLst>
          </p:cNvPr>
          <p:cNvSpPr txBox="1"/>
          <p:nvPr/>
        </p:nvSpPr>
        <p:spPr>
          <a:xfrm>
            <a:off x="3654043" y="4238189"/>
            <a:ext cx="1093887" cy="466833"/>
          </a:xfrm>
          <a:prstGeom prst="rect">
            <a:avLst/>
          </a:prstGeom>
        </p:spPr>
        <p:txBody>
          <a:bodyPr lIns="0" tIns="0" rIns="0" bIns="0" rtlCol="0" anchor="t">
            <a:spAutoFit/>
          </a:bodyPr>
          <a:lstStyle/>
          <a:p>
            <a:pPr algn="ctr">
              <a:lnSpc>
                <a:spcPts val="1860"/>
              </a:lnSpc>
            </a:pPr>
            <a:r>
              <a:rPr lang="en-US" sz="1550" b="1">
                <a:solidFill>
                  <a:srgbClr val="000000"/>
                </a:solidFill>
                <a:latin typeface="Arial Bold"/>
                <a:ea typeface="Arial Bold"/>
                <a:cs typeface="Arial Bold"/>
                <a:sym typeface="Arial Bold"/>
              </a:rPr>
              <a:t>Preparation</a:t>
            </a:r>
          </a:p>
          <a:p>
            <a:pPr algn="ctr">
              <a:lnSpc>
                <a:spcPts val="1860"/>
              </a:lnSpc>
            </a:pPr>
            <a:r>
              <a:rPr lang="en-US" sz="1550" b="1">
                <a:solidFill>
                  <a:srgbClr val="000000"/>
                </a:solidFill>
                <a:latin typeface="Arial Bold"/>
                <a:ea typeface="Arial Bold"/>
                <a:cs typeface="Arial Bold"/>
                <a:sym typeface="Arial Bold"/>
              </a:rPr>
              <a:t>Phase</a:t>
            </a:r>
          </a:p>
        </p:txBody>
      </p:sp>
      <p:sp>
        <p:nvSpPr>
          <p:cNvPr id="91" name="TextBox 13">
            <a:extLst>
              <a:ext uri="{FF2B5EF4-FFF2-40B4-BE49-F238E27FC236}">
                <a16:creationId xmlns:a16="http://schemas.microsoft.com/office/drawing/2014/main" id="{2EF298E3-51A1-0D98-1950-9D75A94468D9}"/>
              </a:ext>
            </a:extLst>
          </p:cNvPr>
          <p:cNvSpPr txBox="1"/>
          <p:nvPr/>
        </p:nvSpPr>
        <p:spPr>
          <a:xfrm>
            <a:off x="1215990" y="4238189"/>
            <a:ext cx="895950" cy="485775"/>
          </a:xfrm>
          <a:prstGeom prst="rect">
            <a:avLst/>
          </a:prstGeom>
        </p:spPr>
        <p:txBody>
          <a:bodyPr lIns="0" tIns="0" rIns="0" bIns="0" rtlCol="0" anchor="t">
            <a:spAutoFit/>
          </a:bodyPr>
          <a:lstStyle/>
          <a:p>
            <a:pPr algn="ctr">
              <a:lnSpc>
                <a:spcPts val="1889"/>
              </a:lnSpc>
            </a:pPr>
            <a:r>
              <a:rPr lang="en-US" sz="1575" b="1">
                <a:solidFill>
                  <a:srgbClr val="000000"/>
                </a:solidFill>
                <a:latin typeface="Arial Bold"/>
                <a:ea typeface="Arial Bold"/>
                <a:cs typeface="Arial Bold"/>
                <a:sym typeface="Arial Bold"/>
              </a:rPr>
              <a:t>Initiation</a:t>
            </a:r>
          </a:p>
          <a:p>
            <a:pPr algn="ctr">
              <a:lnSpc>
                <a:spcPts val="1889"/>
              </a:lnSpc>
            </a:pPr>
            <a:r>
              <a:rPr lang="en-US" sz="1575" b="1">
                <a:solidFill>
                  <a:srgbClr val="000000"/>
                </a:solidFill>
                <a:latin typeface="Arial Bold"/>
                <a:ea typeface="Arial Bold"/>
                <a:cs typeface="Arial Bold"/>
                <a:sym typeface="Arial Bold"/>
              </a:rPr>
              <a:t>Phase</a:t>
            </a:r>
          </a:p>
        </p:txBody>
      </p:sp>
      <p:sp>
        <p:nvSpPr>
          <p:cNvPr id="95" name="TextBox 17">
            <a:extLst>
              <a:ext uri="{FF2B5EF4-FFF2-40B4-BE49-F238E27FC236}">
                <a16:creationId xmlns:a16="http://schemas.microsoft.com/office/drawing/2014/main" id="{C3819FA1-FA1D-5224-B4FD-2F204EEA457A}"/>
              </a:ext>
            </a:extLst>
          </p:cNvPr>
          <p:cNvSpPr txBox="1"/>
          <p:nvPr/>
        </p:nvSpPr>
        <p:spPr>
          <a:xfrm>
            <a:off x="6448778" y="4228785"/>
            <a:ext cx="1130165" cy="471668"/>
          </a:xfrm>
          <a:prstGeom prst="rect">
            <a:avLst/>
          </a:prstGeom>
        </p:spPr>
        <p:txBody>
          <a:bodyPr wrap="square" lIns="0" tIns="0" rIns="0" bIns="0" rtlCol="0" anchor="t">
            <a:spAutoFit/>
          </a:bodyPr>
          <a:lstStyle/>
          <a:p>
            <a:pPr algn="ctr">
              <a:lnSpc>
                <a:spcPts val="1860"/>
              </a:lnSpc>
            </a:pPr>
            <a:r>
              <a:rPr lang="en-US" sz="1550" b="1">
                <a:solidFill>
                  <a:srgbClr val="000000"/>
                </a:solidFill>
                <a:latin typeface="Arial Bold"/>
                <a:ea typeface="Arial Bold"/>
                <a:cs typeface="Arial Bold"/>
                <a:sym typeface="Arial Bold"/>
              </a:rPr>
              <a:t>UAT Onboarding</a:t>
            </a:r>
            <a:endParaRPr lang="en-US" sz="1549" b="1">
              <a:solidFill>
                <a:srgbClr val="000000"/>
              </a:solidFill>
              <a:latin typeface="Arial Bold"/>
              <a:ea typeface="Arial Bold"/>
              <a:cs typeface="Arial Bold"/>
              <a:sym typeface="Arial Bold"/>
            </a:endParaRPr>
          </a:p>
        </p:txBody>
      </p:sp>
      <p:sp>
        <p:nvSpPr>
          <p:cNvPr id="99" name="TextBox 21">
            <a:extLst>
              <a:ext uri="{FF2B5EF4-FFF2-40B4-BE49-F238E27FC236}">
                <a16:creationId xmlns:a16="http://schemas.microsoft.com/office/drawing/2014/main" id="{AF2D0091-52E5-D0B8-397B-6780C382B12D}"/>
              </a:ext>
            </a:extLst>
          </p:cNvPr>
          <p:cNvSpPr txBox="1"/>
          <p:nvPr/>
        </p:nvSpPr>
        <p:spPr>
          <a:xfrm>
            <a:off x="10066029" y="4209722"/>
            <a:ext cx="864613" cy="495300"/>
          </a:xfrm>
          <a:prstGeom prst="rect">
            <a:avLst/>
          </a:prstGeom>
        </p:spPr>
        <p:txBody>
          <a:bodyPr lIns="0" tIns="0" rIns="0" bIns="0" rtlCol="0" anchor="t">
            <a:spAutoFit/>
          </a:bodyPr>
          <a:lstStyle/>
          <a:p>
            <a:pPr algn="ctr">
              <a:lnSpc>
                <a:spcPts val="1919"/>
              </a:lnSpc>
            </a:pPr>
            <a:r>
              <a:rPr lang="en-US" sz="1599" b="1">
                <a:solidFill>
                  <a:srgbClr val="000000"/>
                </a:solidFill>
                <a:latin typeface="Arial Bold"/>
                <a:ea typeface="Arial Bold"/>
                <a:cs typeface="Arial Bold"/>
                <a:sym typeface="Arial Bold"/>
              </a:rPr>
              <a:t>UAT</a:t>
            </a:r>
          </a:p>
          <a:p>
            <a:pPr algn="ctr">
              <a:lnSpc>
                <a:spcPts val="1920"/>
              </a:lnSpc>
            </a:pPr>
            <a:r>
              <a:rPr lang="en-US" sz="1600" b="1">
                <a:solidFill>
                  <a:srgbClr val="000000"/>
                </a:solidFill>
                <a:latin typeface="Arial Bold"/>
                <a:ea typeface="Arial Bold"/>
                <a:cs typeface="Arial Bold"/>
                <a:sym typeface="Arial Bold"/>
              </a:rPr>
              <a:t>ongoing</a:t>
            </a:r>
          </a:p>
        </p:txBody>
      </p:sp>
      <p:sp>
        <p:nvSpPr>
          <p:cNvPr id="103" name="TextBox 25">
            <a:extLst>
              <a:ext uri="{FF2B5EF4-FFF2-40B4-BE49-F238E27FC236}">
                <a16:creationId xmlns:a16="http://schemas.microsoft.com/office/drawing/2014/main" id="{221FD08B-6430-10A8-A96C-B7E2EF64F1E6}"/>
              </a:ext>
            </a:extLst>
          </p:cNvPr>
          <p:cNvSpPr txBox="1"/>
          <p:nvPr/>
        </p:nvSpPr>
        <p:spPr>
          <a:xfrm>
            <a:off x="1151498" y="5216957"/>
            <a:ext cx="1024934" cy="228011"/>
          </a:xfrm>
          <a:prstGeom prst="rect">
            <a:avLst/>
          </a:prstGeom>
        </p:spPr>
        <p:txBody>
          <a:bodyPr wrap="square" lIns="0" tIns="0" rIns="0" bIns="0" rtlCol="0" anchor="t">
            <a:spAutoFit/>
          </a:bodyPr>
          <a:lstStyle/>
          <a:p>
            <a:pPr algn="ctr">
              <a:lnSpc>
                <a:spcPts val="1889"/>
              </a:lnSpc>
            </a:pPr>
            <a:r>
              <a:rPr lang="en-US" sz="1550" b="1">
                <a:solidFill>
                  <a:srgbClr val="000000"/>
                </a:solidFill>
                <a:latin typeface="Arial Bold"/>
                <a:ea typeface="Arial Bold"/>
                <a:cs typeface="Arial Bold"/>
                <a:sym typeface="Arial Bold"/>
              </a:rPr>
              <a:t>December</a:t>
            </a:r>
            <a:endParaRPr lang="en-US" sz="1575" b="1">
              <a:solidFill>
                <a:srgbClr val="000000"/>
              </a:solidFill>
              <a:latin typeface="Arial Bold"/>
              <a:ea typeface="Arial Bold"/>
              <a:cs typeface="Arial Bold"/>
              <a:sym typeface="Arial Bold"/>
            </a:endParaRPr>
          </a:p>
        </p:txBody>
      </p:sp>
      <p:sp>
        <p:nvSpPr>
          <p:cNvPr id="104" name="TextBox 26">
            <a:extLst>
              <a:ext uri="{FF2B5EF4-FFF2-40B4-BE49-F238E27FC236}">
                <a16:creationId xmlns:a16="http://schemas.microsoft.com/office/drawing/2014/main" id="{1D0C5342-A039-B71E-C3EF-B4DC6AC3188D}"/>
              </a:ext>
            </a:extLst>
          </p:cNvPr>
          <p:cNvSpPr txBox="1"/>
          <p:nvPr/>
        </p:nvSpPr>
        <p:spPr>
          <a:xfrm>
            <a:off x="3753005" y="5216957"/>
            <a:ext cx="895950" cy="228717"/>
          </a:xfrm>
          <a:prstGeom prst="rect">
            <a:avLst/>
          </a:prstGeom>
        </p:spPr>
        <p:txBody>
          <a:bodyPr lIns="0" tIns="0" rIns="0" bIns="0" rtlCol="0" anchor="t">
            <a:spAutoFit/>
          </a:bodyPr>
          <a:lstStyle/>
          <a:p>
            <a:pPr algn="ctr">
              <a:lnSpc>
                <a:spcPts val="1889"/>
              </a:lnSpc>
            </a:pPr>
            <a:r>
              <a:rPr lang="en-US" sz="1575" b="1">
                <a:solidFill>
                  <a:srgbClr val="000000"/>
                </a:solidFill>
                <a:latin typeface="Arial Bold"/>
                <a:ea typeface="Arial Bold"/>
                <a:cs typeface="Arial Bold"/>
                <a:sym typeface="Arial Bold"/>
              </a:rPr>
              <a:t>February</a:t>
            </a:r>
          </a:p>
        </p:txBody>
      </p:sp>
      <p:sp>
        <p:nvSpPr>
          <p:cNvPr id="105" name="TextBox 27">
            <a:extLst>
              <a:ext uri="{FF2B5EF4-FFF2-40B4-BE49-F238E27FC236}">
                <a16:creationId xmlns:a16="http://schemas.microsoft.com/office/drawing/2014/main" id="{11C90A5D-5112-550C-F704-56F28893349D}"/>
              </a:ext>
            </a:extLst>
          </p:cNvPr>
          <p:cNvSpPr txBox="1"/>
          <p:nvPr/>
        </p:nvSpPr>
        <p:spPr>
          <a:xfrm>
            <a:off x="6448359" y="5216957"/>
            <a:ext cx="1130584" cy="228717"/>
          </a:xfrm>
          <a:prstGeom prst="rect">
            <a:avLst/>
          </a:prstGeom>
        </p:spPr>
        <p:txBody>
          <a:bodyPr wrap="square" lIns="0" tIns="0" rIns="0" bIns="0" rtlCol="0" anchor="t">
            <a:spAutoFit/>
          </a:bodyPr>
          <a:lstStyle/>
          <a:p>
            <a:pPr algn="ctr">
              <a:lnSpc>
                <a:spcPts val="1889"/>
              </a:lnSpc>
            </a:pPr>
            <a:r>
              <a:rPr lang="en-US" sz="1575" b="1">
                <a:solidFill>
                  <a:srgbClr val="000000"/>
                </a:solidFill>
                <a:latin typeface="Arial Bold"/>
                <a:ea typeface="Arial Bold"/>
                <a:cs typeface="Arial Bold"/>
                <a:sym typeface="Arial Bold"/>
              </a:rPr>
              <a:t>July</a:t>
            </a:r>
          </a:p>
        </p:txBody>
      </p:sp>
      <p:sp>
        <p:nvSpPr>
          <p:cNvPr id="106" name="TextBox 28">
            <a:extLst>
              <a:ext uri="{FF2B5EF4-FFF2-40B4-BE49-F238E27FC236}">
                <a16:creationId xmlns:a16="http://schemas.microsoft.com/office/drawing/2014/main" id="{C49CEDF3-A461-3FB0-8C7D-F74A4A7D1290}"/>
              </a:ext>
            </a:extLst>
          </p:cNvPr>
          <p:cNvSpPr txBox="1"/>
          <p:nvPr/>
        </p:nvSpPr>
        <p:spPr>
          <a:xfrm>
            <a:off x="9977824" y="5216957"/>
            <a:ext cx="1130585" cy="228717"/>
          </a:xfrm>
          <a:prstGeom prst="rect">
            <a:avLst/>
          </a:prstGeom>
        </p:spPr>
        <p:txBody>
          <a:bodyPr wrap="square" lIns="0" tIns="0" rIns="0" bIns="0" rtlCol="0" anchor="t">
            <a:spAutoFit/>
          </a:bodyPr>
          <a:lstStyle/>
          <a:p>
            <a:pPr algn="ctr">
              <a:lnSpc>
                <a:spcPts val="1889"/>
              </a:lnSpc>
            </a:pPr>
            <a:r>
              <a:rPr lang="en-US" sz="1575" b="1">
                <a:solidFill>
                  <a:srgbClr val="000000"/>
                </a:solidFill>
                <a:latin typeface="Arial Bold"/>
                <a:ea typeface="Arial Bold"/>
                <a:cs typeface="Arial Bold"/>
                <a:sym typeface="Arial Bold"/>
              </a:rPr>
              <a:t>September </a:t>
            </a:r>
          </a:p>
        </p:txBody>
      </p:sp>
      <p:sp>
        <p:nvSpPr>
          <p:cNvPr id="107" name="TextBox 29">
            <a:extLst>
              <a:ext uri="{FF2B5EF4-FFF2-40B4-BE49-F238E27FC236}">
                <a16:creationId xmlns:a16="http://schemas.microsoft.com/office/drawing/2014/main" id="{D775CFC9-F30C-1C71-DEB4-48EC5CD9DDE2}"/>
              </a:ext>
            </a:extLst>
          </p:cNvPr>
          <p:cNvSpPr txBox="1"/>
          <p:nvPr/>
        </p:nvSpPr>
        <p:spPr>
          <a:xfrm>
            <a:off x="15124679" y="5216957"/>
            <a:ext cx="1130585" cy="228717"/>
          </a:xfrm>
          <a:prstGeom prst="rect">
            <a:avLst/>
          </a:prstGeom>
        </p:spPr>
        <p:txBody>
          <a:bodyPr wrap="square" lIns="0" tIns="0" rIns="0" bIns="0" rtlCol="0" anchor="t">
            <a:spAutoFit/>
          </a:bodyPr>
          <a:lstStyle/>
          <a:p>
            <a:pPr algn="ctr">
              <a:lnSpc>
                <a:spcPts val="1889"/>
              </a:lnSpc>
            </a:pPr>
            <a:r>
              <a:rPr lang="en-US" sz="1550" b="1">
                <a:solidFill>
                  <a:srgbClr val="000000"/>
                </a:solidFill>
                <a:latin typeface="Arial Bold"/>
                <a:ea typeface="Arial Bold"/>
                <a:cs typeface="Arial Bold"/>
              </a:rPr>
              <a:t>April</a:t>
            </a:r>
            <a:endParaRPr lang="en-US" sz="1575" b="1">
              <a:solidFill>
                <a:srgbClr val="000000"/>
              </a:solidFill>
              <a:latin typeface="Arial Bold"/>
              <a:ea typeface="Arial Bold"/>
              <a:cs typeface="Arial Bold"/>
              <a:sym typeface="Arial Bold"/>
            </a:endParaRPr>
          </a:p>
        </p:txBody>
      </p:sp>
      <p:sp>
        <p:nvSpPr>
          <p:cNvPr id="108" name="Rectangle 107">
            <a:extLst>
              <a:ext uri="{FF2B5EF4-FFF2-40B4-BE49-F238E27FC236}">
                <a16:creationId xmlns:a16="http://schemas.microsoft.com/office/drawing/2014/main" id="{9C9EEC6C-5B3E-A0F7-668F-41BACF67DAD8}"/>
              </a:ext>
            </a:extLst>
          </p:cNvPr>
          <p:cNvSpPr/>
          <p:nvPr/>
        </p:nvSpPr>
        <p:spPr bwMode="gray">
          <a:xfrm>
            <a:off x="828892" y="4133815"/>
            <a:ext cx="14466571" cy="1396406"/>
          </a:xfrm>
          <a:prstGeom prst="rect">
            <a:avLst/>
          </a:prstGeom>
          <a:solidFill>
            <a:srgbClr val="00B0F0">
              <a:alpha val="13000"/>
            </a:srgbClr>
          </a:solidFill>
          <a:ln w="19050" algn="ctr">
            <a:no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12" name="Oval 111">
            <a:extLst>
              <a:ext uri="{FF2B5EF4-FFF2-40B4-BE49-F238E27FC236}">
                <a16:creationId xmlns:a16="http://schemas.microsoft.com/office/drawing/2014/main" id="{2D7F6656-2ACF-D3B2-B824-CAD9A0AE2E73}"/>
              </a:ext>
            </a:extLst>
          </p:cNvPr>
          <p:cNvSpPr/>
          <p:nvPr/>
        </p:nvSpPr>
        <p:spPr>
          <a:xfrm>
            <a:off x="15478322" y="4726223"/>
            <a:ext cx="391863" cy="389603"/>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4473112A-17E0-8EED-6D1F-8977FFDB2461}"/>
              </a:ext>
            </a:extLst>
          </p:cNvPr>
          <p:cNvSpPr/>
          <p:nvPr/>
        </p:nvSpPr>
        <p:spPr>
          <a:xfrm>
            <a:off x="13238930" y="4740888"/>
            <a:ext cx="391862" cy="389603"/>
          </a:xfrm>
          <a:prstGeom prst="ellipse">
            <a:avLst/>
          </a:prstGeom>
          <a:solidFill>
            <a:srgbClr val="0033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29">
            <a:extLst>
              <a:ext uri="{FF2B5EF4-FFF2-40B4-BE49-F238E27FC236}">
                <a16:creationId xmlns:a16="http://schemas.microsoft.com/office/drawing/2014/main" id="{B7733AAD-D41D-CD41-B2C4-5D8A60932E60}"/>
              </a:ext>
            </a:extLst>
          </p:cNvPr>
          <p:cNvSpPr txBox="1"/>
          <p:nvPr/>
        </p:nvSpPr>
        <p:spPr>
          <a:xfrm>
            <a:off x="12905994" y="5216957"/>
            <a:ext cx="1130585" cy="228717"/>
          </a:xfrm>
          <a:prstGeom prst="rect">
            <a:avLst/>
          </a:prstGeom>
        </p:spPr>
        <p:txBody>
          <a:bodyPr wrap="square" lIns="0" tIns="0" rIns="0" bIns="0" rtlCol="0" anchor="t">
            <a:spAutoFit/>
          </a:bodyPr>
          <a:lstStyle/>
          <a:p>
            <a:pPr algn="ctr">
              <a:lnSpc>
                <a:spcPts val="1889"/>
              </a:lnSpc>
            </a:pPr>
            <a:r>
              <a:rPr lang="en-US" sz="1575" b="1">
                <a:solidFill>
                  <a:srgbClr val="000000"/>
                </a:solidFill>
                <a:latin typeface="Arial Bold"/>
                <a:ea typeface="Arial Bold"/>
                <a:cs typeface="Arial Bold"/>
                <a:sym typeface="Arial Bold"/>
              </a:rPr>
              <a:t>December</a:t>
            </a:r>
          </a:p>
        </p:txBody>
      </p:sp>
      <p:sp>
        <p:nvSpPr>
          <p:cNvPr id="21" name="TextBox 21">
            <a:extLst>
              <a:ext uri="{FF2B5EF4-FFF2-40B4-BE49-F238E27FC236}">
                <a16:creationId xmlns:a16="http://schemas.microsoft.com/office/drawing/2014/main" id="{3181A973-038A-F8C6-D1DF-A50DFA996837}"/>
              </a:ext>
            </a:extLst>
          </p:cNvPr>
          <p:cNvSpPr txBox="1"/>
          <p:nvPr/>
        </p:nvSpPr>
        <p:spPr>
          <a:xfrm>
            <a:off x="12877809" y="4202133"/>
            <a:ext cx="1059710" cy="487313"/>
          </a:xfrm>
          <a:prstGeom prst="rect">
            <a:avLst/>
          </a:prstGeom>
        </p:spPr>
        <p:txBody>
          <a:bodyPr wrap="square" lIns="0" tIns="0" rIns="0" bIns="0" rtlCol="0" anchor="t">
            <a:spAutoFit/>
          </a:bodyPr>
          <a:lstStyle/>
          <a:p>
            <a:pPr algn="ctr">
              <a:lnSpc>
                <a:spcPts val="1919"/>
              </a:lnSpc>
            </a:pPr>
            <a:r>
              <a:rPr lang="en-US" sz="1599" b="1">
                <a:solidFill>
                  <a:srgbClr val="000000"/>
                </a:solidFill>
                <a:latin typeface="Arial Bold"/>
                <a:ea typeface="Arial Bold"/>
                <a:cs typeface="Arial Bold"/>
                <a:sym typeface="Arial Bold"/>
              </a:rPr>
              <a:t>Go-Live</a:t>
            </a:r>
          </a:p>
          <a:p>
            <a:pPr algn="ctr">
              <a:lnSpc>
                <a:spcPts val="1919"/>
              </a:lnSpc>
            </a:pPr>
            <a:r>
              <a:rPr lang="en-US" sz="1599" b="1">
                <a:solidFill>
                  <a:srgbClr val="000000"/>
                </a:solidFill>
                <a:latin typeface="Arial Bold"/>
                <a:ea typeface="Arial Bold"/>
                <a:cs typeface="Arial Bold"/>
                <a:sym typeface="Arial Bold"/>
              </a:rPr>
              <a:t>Phase</a:t>
            </a:r>
            <a:endParaRPr lang="en-US" sz="1600" b="1">
              <a:solidFill>
                <a:srgbClr val="000000"/>
              </a:solidFill>
              <a:latin typeface="Arial Bold"/>
              <a:ea typeface="Arial Bold"/>
              <a:cs typeface="Arial Bold"/>
              <a:sym typeface="Arial Bold"/>
            </a:endParaRPr>
          </a:p>
        </p:txBody>
      </p:sp>
      <p:sp>
        <p:nvSpPr>
          <p:cNvPr id="2" name="Oval 1">
            <a:extLst>
              <a:ext uri="{FF2B5EF4-FFF2-40B4-BE49-F238E27FC236}">
                <a16:creationId xmlns:a16="http://schemas.microsoft.com/office/drawing/2014/main" id="{ABD65308-04DE-EF51-0076-2123FFCAB53D}"/>
              </a:ext>
            </a:extLst>
          </p:cNvPr>
          <p:cNvSpPr/>
          <p:nvPr/>
        </p:nvSpPr>
        <p:spPr>
          <a:xfrm>
            <a:off x="10326946" y="4740326"/>
            <a:ext cx="391862" cy="389603"/>
          </a:xfrm>
          <a:prstGeom prst="ellipse">
            <a:avLst/>
          </a:prstGeom>
          <a:solidFill>
            <a:srgbClr val="0033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6A16D00C-1F7A-D01A-E960-07CC01914B12}"/>
              </a:ext>
            </a:extLst>
          </p:cNvPr>
          <p:cNvSpPr/>
          <p:nvPr/>
        </p:nvSpPr>
        <p:spPr>
          <a:xfrm>
            <a:off x="6810998" y="4725093"/>
            <a:ext cx="391862" cy="389603"/>
          </a:xfrm>
          <a:prstGeom prst="ellipse">
            <a:avLst/>
          </a:prstGeom>
          <a:solidFill>
            <a:srgbClr val="0033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883E9E15-4C7A-A4F3-CCFF-183F06B8B780}"/>
              </a:ext>
            </a:extLst>
          </p:cNvPr>
          <p:cNvSpPr/>
          <p:nvPr/>
        </p:nvSpPr>
        <p:spPr>
          <a:xfrm>
            <a:off x="4003072" y="4733568"/>
            <a:ext cx="391862" cy="389603"/>
          </a:xfrm>
          <a:prstGeom prst="ellipse">
            <a:avLst/>
          </a:prstGeom>
          <a:solidFill>
            <a:srgbClr val="0033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C254C11D-4EFE-D30F-B966-0D4892AA00A7}"/>
              </a:ext>
            </a:extLst>
          </p:cNvPr>
          <p:cNvSpPr/>
          <p:nvPr/>
        </p:nvSpPr>
        <p:spPr>
          <a:xfrm>
            <a:off x="1423250" y="4733531"/>
            <a:ext cx="391862" cy="389603"/>
          </a:xfrm>
          <a:prstGeom prst="ellipse">
            <a:avLst/>
          </a:prstGeom>
          <a:solidFill>
            <a:srgbClr val="0033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906804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A2AEA-4134-4D24-73ED-F1BA259AA306}"/>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41319673-BF94-E013-F21F-FEA54FF25919}"/>
              </a:ext>
            </a:extLst>
          </p:cNvPr>
          <p:cNvSpPr txBox="1"/>
          <p:nvPr/>
        </p:nvSpPr>
        <p:spPr>
          <a:xfrm>
            <a:off x="1028700" y="857250"/>
            <a:ext cx="12063444" cy="1318502"/>
          </a:xfrm>
          <a:prstGeom prst="rect">
            <a:avLst/>
          </a:prstGeom>
        </p:spPr>
        <p:txBody>
          <a:bodyPr lIns="0" tIns="0" rIns="0" bIns="0" rtlCol="0" anchor="t">
            <a:spAutoFit/>
          </a:bodyPr>
          <a:lstStyle/>
          <a:p>
            <a:pPr>
              <a:lnSpc>
                <a:spcPts val="11200"/>
              </a:lnSpc>
              <a:spcBef>
                <a:spcPct val="0"/>
              </a:spcBef>
            </a:pPr>
            <a:r>
              <a:rPr lang="en-US" sz="8000" b="1">
                <a:solidFill>
                  <a:srgbClr val="03A39D"/>
                </a:solidFill>
                <a:latin typeface="Inter Bold"/>
                <a:ea typeface="Inter Bold"/>
                <a:cs typeface="Inter Bold"/>
                <a:sym typeface="Inter Bold"/>
              </a:rPr>
              <a:t>IFRS9 </a:t>
            </a:r>
            <a:r>
              <a:rPr lang="en-US" sz="8000" b="1">
                <a:solidFill>
                  <a:srgbClr val="1C1818"/>
                </a:solidFill>
                <a:latin typeface="Inter Bold"/>
                <a:ea typeface="Inter Bold"/>
                <a:cs typeface="Inter Bold"/>
                <a:sym typeface="Inter Bold"/>
              </a:rPr>
              <a:t>PROJECT</a:t>
            </a:r>
          </a:p>
        </p:txBody>
      </p:sp>
      <p:sp>
        <p:nvSpPr>
          <p:cNvPr id="3" name="Freeform 3">
            <a:extLst>
              <a:ext uri="{FF2B5EF4-FFF2-40B4-BE49-F238E27FC236}">
                <a16:creationId xmlns:a16="http://schemas.microsoft.com/office/drawing/2014/main" id="{1E63E52C-5B73-122C-8825-CC66F797F5A8}"/>
              </a:ext>
            </a:extLst>
          </p:cNvPr>
          <p:cNvSpPr/>
          <p:nvPr/>
        </p:nvSpPr>
        <p:spPr>
          <a:xfrm>
            <a:off x="0" y="0"/>
            <a:ext cx="1028700" cy="1028700"/>
          </a:xfrm>
          <a:custGeom>
            <a:avLst/>
            <a:gdLst/>
            <a:ahLst/>
            <a:cxnLst/>
            <a:rect l="l" t="t" r="r" b="b"/>
            <a:pathLst>
              <a:path w="1028700" h="1028700">
                <a:moveTo>
                  <a:pt x="0" y="0"/>
                </a:moveTo>
                <a:lnTo>
                  <a:pt x="1028700" y="0"/>
                </a:lnTo>
                <a:lnTo>
                  <a:pt x="1028700" y="1028700"/>
                </a:lnTo>
                <a:lnTo>
                  <a:pt x="0" y="10287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10" name="Group 10">
            <a:extLst>
              <a:ext uri="{FF2B5EF4-FFF2-40B4-BE49-F238E27FC236}">
                <a16:creationId xmlns:a16="http://schemas.microsoft.com/office/drawing/2014/main" id="{96CE0602-6DEB-9C2B-220B-1CD76BE7CDAB}"/>
              </a:ext>
            </a:extLst>
          </p:cNvPr>
          <p:cNvGrpSpPr/>
          <p:nvPr/>
        </p:nvGrpSpPr>
        <p:grpSpPr>
          <a:xfrm>
            <a:off x="514350" y="8877758"/>
            <a:ext cx="295243" cy="295243"/>
            <a:chOff x="0" y="0"/>
            <a:chExt cx="812800" cy="812800"/>
          </a:xfrm>
        </p:grpSpPr>
        <p:sp>
          <p:nvSpPr>
            <p:cNvPr id="11" name="Freeform 11">
              <a:extLst>
                <a:ext uri="{FF2B5EF4-FFF2-40B4-BE49-F238E27FC236}">
                  <a16:creationId xmlns:a16="http://schemas.microsoft.com/office/drawing/2014/main" id="{12385A8E-FB04-1F1F-0C8C-426B482DDA2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A09A"/>
            </a:solidFill>
          </p:spPr>
          <p:txBody>
            <a:bodyPr/>
            <a:lstStyle/>
            <a:p>
              <a:endParaRPr lang="en-US"/>
            </a:p>
          </p:txBody>
        </p:sp>
        <p:sp>
          <p:nvSpPr>
            <p:cNvPr id="12" name="TextBox 12">
              <a:extLst>
                <a:ext uri="{FF2B5EF4-FFF2-40B4-BE49-F238E27FC236}">
                  <a16:creationId xmlns:a16="http://schemas.microsoft.com/office/drawing/2014/main" id="{A9C751BB-4B6C-2328-1AA5-404BF544D360}"/>
                </a:ext>
              </a:extLst>
            </p:cNvPr>
            <p:cNvSpPr txBox="1"/>
            <p:nvPr/>
          </p:nvSpPr>
          <p:spPr>
            <a:xfrm>
              <a:off x="76200" y="-47625"/>
              <a:ext cx="660400" cy="784225"/>
            </a:xfrm>
            <a:prstGeom prst="rect">
              <a:avLst/>
            </a:prstGeom>
          </p:spPr>
          <p:txBody>
            <a:bodyPr lIns="50800" tIns="50800" rIns="50800" bIns="50800" rtlCol="0" anchor="ctr"/>
            <a:lstStyle/>
            <a:p>
              <a:pPr algn="ctr">
                <a:lnSpc>
                  <a:spcPts val="3910"/>
                </a:lnSpc>
              </a:pPr>
              <a:endParaRPr/>
            </a:p>
          </p:txBody>
        </p:sp>
      </p:grpSp>
      <p:grpSp>
        <p:nvGrpSpPr>
          <p:cNvPr id="14" name="Group 14">
            <a:extLst>
              <a:ext uri="{FF2B5EF4-FFF2-40B4-BE49-F238E27FC236}">
                <a16:creationId xmlns:a16="http://schemas.microsoft.com/office/drawing/2014/main" id="{B78D4E93-AEBA-D217-1D74-29438F2A431C}"/>
              </a:ext>
            </a:extLst>
          </p:cNvPr>
          <p:cNvGrpSpPr/>
          <p:nvPr/>
        </p:nvGrpSpPr>
        <p:grpSpPr>
          <a:xfrm>
            <a:off x="9864276" y="7543183"/>
            <a:ext cx="7124195" cy="1419873"/>
            <a:chOff x="0" y="0"/>
            <a:chExt cx="9498926" cy="1893165"/>
          </a:xfrm>
        </p:grpSpPr>
        <p:sp>
          <p:nvSpPr>
            <p:cNvPr id="15" name="Freeform 15">
              <a:extLst>
                <a:ext uri="{FF2B5EF4-FFF2-40B4-BE49-F238E27FC236}">
                  <a16:creationId xmlns:a16="http://schemas.microsoft.com/office/drawing/2014/main" id="{B3F300AD-1AA6-7B85-3E86-DF8E35AC91D0}"/>
                </a:ext>
              </a:extLst>
            </p:cNvPr>
            <p:cNvSpPr/>
            <p:nvPr/>
          </p:nvSpPr>
          <p:spPr>
            <a:xfrm>
              <a:off x="0" y="19403"/>
              <a:ext cx="1738820" cy="1738820"/>
            </a:xfrm>
            <a:custGeom>
              <a:avLst/>
              <a:gdLst/>
              <a:ahLst/>
              <a:cxnLst/>
              <a:rect l="l" t="t" r="r" b="b"/>
              <a:pathLst>
                <a:path w="1738820" h="1738820">
                  <a:moveTo>
                    <a:pt x="0" y="0"/>
                  </a:moveTo>
                  <a:lnTo>
                    <a:pt x="1738820" y="0"/>
                  </a:lnTo>
                  <a:lnTo>
                    <a:pt x="1738820" y="1738821"/>
                  </a:lnTo>
                  <a:lnTo>
                    <a:pt x="0" y="17388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Freeform 16">
              <a:extLst>
                <a:ext uri="{FF2B5EF4-FFF2-40B4-BE49-F238E27FC236}">
                  <a16:creationId xmlns:a16="http://schemas.microsoft.com/office/drawing/2014/main" id="{E1C8987B-5EC3-EF5C-EFCC-12E3B1E0F054}"/>
                </a:ext>
              </a:extLst>
            </p:cNvPr>
            <p:cNvSpPr/>
            <p:nvPr/>
          </p:nvSpPr>
          <p:spPr>
            <a:xfrm>
              <a:off x="2603399" y="0"/>
              <a:ext cx="1713314" cy="1893165"/>
            </a:xfrm>
            <a:custGeom>
              <a:avLst/>
              <a:gdLst/>
              <a:ahLst/>
              <a:cxnLst/>
              <a:rect l="l" t="t" r="r" b="b"/>
              <a:pathLst>
                <a:path w="1713314" h="1893165">
                  <a:moveTo>
                    <a:pt x="0" y="0"/>
                  </a:moveTo>
                  <a:lnTo>
                    <a:pt x="1713314" y="0"/>
                  </a:lnTo>
                  <a:lnTo>
                    <a:pt x="1713314" y="1893165"/>
                  </a:lnTo>
                  <a:lnTo>
                    <a:pt x="0" y="189316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7" name="Freeform 17">
              <a:extLst>
                <a:ext uri="{FF2B5EF4-FFF2-40B4-BE49-F238E27FC236}">
                  <a16:creationId xmlns:a16="http://schemas.microsoft.com/office/drawing/2014/main" id="{CE4B1371-B632-02FB-F040-2CFDDF397844}"/>
                </a:ext>
              </a:extLst>
            </p:cNvPr>
            <p:cNvSpPr/>
            <p:nvPr/>
          </p:nvSpPr>
          <p:spPr>
            <a:xfrm>
              <a:off x="5180313" y="20296"/>
              <a:ext cx="1737928" cy="1737928"/>
            </a:xfrm>
            <a:custGeom>
              <a:avLst/>
              <a:gdLst/>
              <a:ahLst/>
              <a:cxnLst/>
              <a:rect l="l" t="t" r="r" b="b"/>
              <a:pathLst>
                <a:path w="1737928" h="1737928">
                  <a:moveTo>
                    <a:pt x="0" y="0"/>
                  </a:moveTo>
                  <a:lnTo>
                    <a:pt x="1737928" y="0"/>
                  </a:lnTo>
                  <a:lnTo>
                    <a:pt x="1737928" y="1737928"/>
                  </a:lnTo>
                  <a:lnTo>
                    <a:pt x="0" y="173792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8" name="Freeform 18">
              <a:extLst>
                <a:ext uri="{FF2B5EF4-FFF2-40B4-BE49-F238E27FC236}">
                  <a16:creationId xmlns:a16="http://schemas.microsoft.com/office/drawing/2014/main" id="{F60F0DE4-CF0D-A184-61E3-55B82A502DED}"/>
                </a:ext>
              </a:extLst>
            </p:cNvPr>
            <p:cNvSpPr/>
            <p:nvPr/>
          </p:nvSpPr>
          <p:spPr>
            <a:xfrm>
              <a:off x="7781841" y="19403"/>
              <a:ext cx="1717085" cy="1738820"/>
            </a:xfrm>
            <a:custGeom>
              <a:avLst/>
              <a:gdLst/>
              <a:ahLst/>
              <a:cxnLst/>
              <a:rect l="l" t="t" r="r" b="b"/>
              <a:pathLst>
                <a:path w="1717085" h="1738820">
                  <a:moveTo>
                    <a:pt x="0" y="0"/>
                  </a:moveTo>
                  <a:lnTo>
                    <a:pt x="1717085" y="0"/>
                  </a:lnTo>
                  <a:lnTo>
                    <a:pt x="1717085" y="1738821"/>
                  </a:lnTo>
                  <a:lnTo>
                    <a:pt x="0" y="173882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sp>
        <p:nvSpPr>
          <p:cNvPr id="19" name="TextBox 19">
            <a:extLst>
              <a:ext uri="{FF2B5EF4-FFF2-40B4-BE49-F238E27FC236}">
                <a16:creationId xmlns:a16="http://schemas.microsoft.com/office/drawing/2014/main" id="{1D064617-DE02-D4F3-2240-7E8DED027D87}"/>
              </a:ext>
            </a:extLst>
          </p:cNvPr>
          <p:cNvSpPr txBox="1"/>
          <p:nvPr/>
        </p:nvSpPr>
        <p:spPr>
          <a:xfrm>
            <a:off x="1028700" y="2187559"/>
            <a:ext cx="5364956" cy="339324"/>
          </a:xfrm>
          <a:prstGeom prst="rect">
            <a:avLst/>
          </a:prstGeom>
        </p:spPr>
        <p:txBody>
          <a:bodyPr lIns="0" tIns="0" rIns="0" bIns="0" rtlCol="0" anchor="t">
            <a:spAutoFit/>
          </a:bodyPr>
          <a:lstStyle/>
          <a:p>
            <a:pPr algn="just">
              <a:lnSpc>
                <a:spcPts val="2799"/>
              </a:lnSpc>
              <a:spcBef>
                <a:spcPct val="0"/>
              </a:spcBef>
            </a:pPr>
            <a:r>
              <a:rPr lang="en-US" sz="1950">
                <a:solidFill>
                  <a:srgbClr val="000000"/>
                </a:solidFill>
                <a:latin typeface="Poppins"/>
                <a:ea typeface="Poppins"/>
                <a:cs typeface="Poppins"/>
                <a:sym typeface="Poppins"/>
              </a:rPr>
              <a:t>Project Manager : ALAA AL-SMADI</a:t>
            </a:r>
            <a:endParaRPr lang="en-US" sz="1999" err="1">
              <a:solidFill>
                <a:srgbClr val="000000"/>
              </a:solidFill>
              <a:latin typeface="Poppins"/>
              <a:ea typeface="Poppins"/>
              <a:cs typeface="Poppins"/>
              <a:sym typeface="Poppins"/>
            </a:endParaRPr>
          </a:p>
        </p:txBody>
      </p:sp>
      <p:sp>
        <p:nvSpPr>
          <p:cNvPr id="20" name="TextBox 20">
            <a:extLst>
              <a:ext uri="{FF2B5EF4-FFF2-40B4-BE49-F238E27FC236}">
                <a16:creationId xmlns:a16="http://schemas.microsoft.com/office/drawing/2014/main" id="{7636FD61-F3F3-9FA7-D999-F7FB2AE180AD}"/>
              </a:ext>
            </a:extLst>
          </p:cNvPr>
          <p:cNvSpPr txBox="1"/>
          <p:nvPr/>
        </p:nvSpPr>
        <p:spPr>
          <a:xfrm>
            <a:off x="1028700" y="8899525"/>
            <a:ext cx="2377893" cy="1313949"/>
          </a:xfrm>
          <a:prstGeom prst="rect">
            <a:avLst/>
          </a:prstGeom>
        </p:spPr>
        <p:txBody>
          <a:bodyPr lIns="0" tIns="0" rIns="0" bIns="0" rtlCol="0" anchor="t">
            <a:spAutoFit/>
          </a:bodyPr>
          <a:lstStyle/>
          <a:p>
            <a:pPr algn="just"/>
            <a:r>
              <a:rPr lang="en-US" sz="2000">
                <a:solidFill>
                  <a:srgbClr val="000000"/>
                </a:solidFill>
                <a:latin typeface="Poppins"/>
                <a:ea typeface="Poppins"/>
                <a:cs typeface="Poppins"/>
                <a:sym typeface="Poppins"/>
              </a:rPr>
              <a:t>06 January 2025</a:t>
            </a:r>
          </a:p>
          <a:p>
            <a:pPr algn="just">
              <a:lnSpc>
                <a:spcPts val="2799"/>
              </a:lnSpc>
              <a:spcBef>
                <a:spcPct val="0"/>
              </a:spcBef>
            </a:pPr>
            <a:endParaRPr lang="en-US" sz="2000">
              <a:solidFill>
                <a:srgbClr val="000000"/>
              </a:solidFill>
              <a:latin typeface="Poppins"/>
              <a:ea typeface="Poppins"/>
              <a:cs typeface="Poppins"/>
              <a:sym typeface="Poppins"/>
            </a:endParaRPr>
          </a:p>
          <a:p>
            <a:pPr algn="just"/>
            <a:endParaRPr lang="en-US" sz="2000">
              <a:solidFill>
                <a:srgbClr val="000000"/>
              </a:solidFill>
              <a:latin typeface="Poppins"/>
              <a:ea typeface="Poppins"/>
              <a:cs typeface="Poppins"/>
            </a:endParaRPr>
          </a:p>
          <a:p>
            <a:pPr algn="just">
              <a:lnSpc>
                <a:spcPts val="2799"/>
              </a:lnSpc>
              <a:spcBef>
                <a:spcPct val="0"/>
              </a:spcBef>
            </a:pPr>
            <a:endParaRPr lang="en-US" sz="1950">
              <a:solidFill>
                <a:srgbClr val="000000"/>
              </a:solidFill>
              <a:latin typeface="Poppins"/>
              <a:ea typeface="Poppins"/>
              <a:cs typeface="Poppins"/>
            </a:endParaRPr>
          </a:p>
        </p:txBody>
      </p:sp>
      <p:sp>
        <p:nvSpPr>
          <p:cNvPr id="5" name="Freeform 13" descr="A blue and black logo&#10;&#10;AI-generated content may be incorrect.">
            <a:extLst>
              <a:ext uri="{FF2B5EF4-FFF2-40B4-BE49-F238E27FC236}">
                <a16:creationId xmlns:a16="http://schemas.microsoft.com/office/drawing/2014/main" id="{33471F23-567D-4675-EB95-17EC2E50C306}"/>
              </a:ext>
            </a:extLst>
          </p:cNvPr>
          <p:cNvSpPr/>
          <p:nvPr/>
        </p:nvSpPr>
        <p:spPr>
          <a:xfrm>
            <a:off x="16062518" y="309634"/>
            <a:ext cx="1851905" cy="870481"/>
          </a:xfrm>
          <a:custGeom>
            <a:avLst/>
            <a:gdLst/>
            <a:ahLst/>
            <a:cxnLst/>
            <a:rect l="l" t="t" r="r" b="b"/>
            <a:pathLst>
              <a:path w="1851905" h="870481">
                <a:moveTo>
                  <a:pt x="0" y="0"/>
                </a:moveTo>
                <a:lnTo>
                  <a:pt x="1851905" y="0"/>
                </a:lnTo>
                <a:lnTo>
                  <a:pt x="1851905" y="870481"/>
                </a:lnTo>
                <a:lnTo>
                  <a:pt x="0" y="870481"/>
                </a:lnTo>
                <a:lnTo>
                  <a:pt x="0" y="0"/>
                </a:lnTo>
                <a:close/>
              </a:path>
            </a:pathLst>
          </a:custGeom>
          <a:blipFill>
            <a:blip r:embed="rId7"/>
            <a:stretch>
              <a:fillRect/>
            </a:stretch>
          </a:blipFill>
        </p:spPr>
        <p:txBody>
          <a:bodyPr/>
          <a:lstStyle/>
          <a:p>
            <a:endParaRPr lang="en-US"/>
          </a:p>
        </p:txBody>
      </p:sp>
    </p:spTree>
    <p:extLst>
      <p:ext uri="{BB962C8B-B14F-4D97-AF65-F5344CB8AC3E}">
        <p14:creationId xmlns:p14="http://schemas.microsoft.com/office/powerpoint/2010/main" val="1719080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FDCAA-CB97-1BA0-8009-BD3EA7338DE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19875E2-96BC-3D73-3E39-DDA1BDE62266}"/>
              </a:ext>
            </a:extLst>
          </p:cNvPr>
          <p:cNvSpPr/>
          <p:nvPr/>
        </p:nvSpPr>
        <p:spPr>
          <a:xfrm>
            <a:off x="821533" y="1462082"/>
            <a:ext cx="16626842" cy="452903"/>
          </a:xfrm>
          <a:prstGeom prst="rect">
            <a:avLst/>
          </a:prstGeom>
          <a:solidFill>
            <a:srgbClr val="00A69C"/>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mj-lt"/>
                <a:ea typeface="+mn-ea"/>
                <a:cs typeface="+mn-cs"/>
              </a:rPr>
              <a:t>Project Highlights </a:t>
            </a:r>
          </a:p>
        </p:txBody>
      </p:sp>
      <p:sp>
        <p:nvSpPr>
          <p:cNvPr id="6" name="Rectangle 5">
            <a:extLst>
              <a:ext uri="{FF2B5EF4-FFF2-40B4-BE49-F238E27FC236}">
                <a16:creationId xmlns:a16="http://schemas.microsoft.com/office/drawing/2014/main" id="{6B3805E5-AEBB-EA60-6269-474990315EC8}"/>
              </a:ext>
            </a:extLst>
          </p:cNvPr>
          <p:cNvSpPr/>
          <p:nvPr/>
        </p:nvSpPr>
        <p:spPr bwMode="auto">
          <a:xfrm>
            <a:off x="15836117" y="2117372"/>
            <a:ext cx="1612257" cy="405768"/>
          </a:xfrm>
          <a:prstGeom prst="rect">
            <a:avLst/>
          </a:prstGeom>
          <a:solidFill>
            <a:srgbClr val="00A69C"/>
          </a:solid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anose="020B0604020202020204" pitchFamily="34" charset="0"/>
              </a:rPr>
              <a:t>Current Period</a:t>
            </a:r>
          </a:p>
        </p:txBody>
      </p:sp>
      <p:sp>
        <p:nvSpPr>
          <p:cNvPr id="7" name="Rectangle 6">
            <a:extLst>
              <a:ext uri="{FF2B5EF4-FFF2-40B4-BE49-F238E27FC236}">
                <a16:creationId xmlns:a16="http://schemas.microsoft.com/office/drawing/2014/main" id="{051F53ED-AF52-DBDF-7A26-439609C7A621}"/>
              </a:ext>
            </a:extLst>
          </p:cNvPr>
          <p:cNvSpPr/>
          <p:nvPr/>
        </p:nvSpPr>
        <p:spPr bwMode="auto">
          <a:xfrm>
            <a:off x="14111579" y="2117372"/>
            <a:ext cx="1620000" cy="405768"/>
          </a:xfrm>
          <a:prstGeom prst="rect">
            <a:avLst/>
          </a:prstGeom>
          <a:solidFill>
            <a:srgbClr val="00A69C"/>
          </a:solid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anose="020B0604020202020204" pitchFamily="34" charset="0"/>
              </a:rPr>
              <a:t>Previous Period</a:t>
            </a:r>
          </a:p>
        </p:txBody>
      </p:sp>
      <p:sp>
        <p:nvSpPr>
          <p:cNvPr id="8" name="Rectangle 7">
            <a:extLst>
              <a:ext uri="{FF2B5EF4-FFF2-40B4-BE49-F238E27FC236}">
                <a16:creationId xmlns:a16="http://schemas.microsoft.com/office/drawing/2014/main" id="{AF3F359E-C011-63D2-ED93-3714197FE024}"/>
              </a:ext>
            </a:extLst>
          </p:cNvPr>
          <p:cNvSpPr/>
          <p:nvPr/>
        </p:nvSpPr>
        <p:spPr bwMode="auto">
          <a:xfrm>
            <a:off x="14108566" y="2521505"/>
            <a:ext cx="1612256" cy="533700"/>
          </a:xfrm>
          <a:prstGeom prst="rect">
            <a:avLst/>
          </a:prstGeom>
          <a:solidFill>
            <a:srgbClr val="E2F0D9"/>
          </a:solidFill>
          <a:ln w="9525" cap="flat" cmpd="sng" algn="ctr">
            <a:solidFill>
              <a:srgbClr val="FFCCCC"/>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defTabSz="1564584">
              <a:defRPr/>
            </a:pPr>
            <a:r>
              <a:rPr lang="en-US" sz="1500" b="1" kern="0">
                <a:solidFill>
                  <a:prstClr val="black"/>
                </a:solidFill>
                <a:cs typeface="Arial"/>
              </a:rPr>
              <a:t>On Delay</a:t>
            </a:r>
            <a:endParaRPr lang="en-GB" sz="1500" b="1" kern="0">
              <a:solidFill>
                <a:prstClr val="black"/>
              </a:solidFill>
              <a:cs typeface="Arial" panose="020B0604020202020204" pitchFamily="34" charset="0"/>
            </a:endParaRPr>
          </a:p>
        </p:txBody>
      </p:sp>
      <p:sp>
        <p:nvSpPr>
          <p:cNvPr id="9" name="Rectangle 8">
            <a:extLst>
              <a:ext uri="{FF2B5EF4-FFF2-40B4-BE49-F238E27FC236}">
                <a16:creationId xmlns:a16="http://schemas.microsoft.com/office/drawing/2014/main" id="{F83F6685-138C-06B0-1196-B650BBF9D948}"/>
              </a:ext>
            </a:extLst>
          </p:cNvPr>
          <p:cNvSpPr/>
          <p:nvPr/>
        </p:nvSpPr>
        <p:spPr bwMode="auto">
          <a:xfrm>
            <a:off x="6120438" y="2062010"/>
            <a:ext cx="7765395" cy="1194316"/>
          </a:xfrm>
          <a:prstGeom prst="rect">
            <a:avLst/>
          </a:prstGeom>
          <a:no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1350" b="1"/>
          </a:p>
          <a:p>
            <a:r>
              <a:rPr lang="en-US" sz="1350" b="1"/>
              <a:t>Project Status Update:</a:t>
            </a:r>
            <a:r>
              <a:rPr lang="en-US" sz="1350">
                <a:ea typeface="+mn-lt"/>
                <a:cs typeface="+mn-lt"/>
              </a:rPr>
              <a:t> We are waiting Pio-Tech Team to provide us with grouping and staging files </a:t>
            </a:r>
            <a:r>
              <a:rPr lang="en-US" sz="1350">
                <a:latin typeface="Calibri"/>
                <a:ea typeface="+mn-lt"/>
                <a:cs typeface="+mn-lt"/>
              </a:rPr>
              <a:t>to </a:t>
            </a:r>
            <a:r>
              <a:rPr lang="en-US" sz="1350">
                <a:ea typeface="+mn-lt"/>
                <a:cs typeface="+mn-lt"/>
              </a:rPr>
              <a:t>compare with Mr. Falah files</a:t>
            </a:r>
            <a:endParaRPr lang="en-US" sz="1200">
              <a:ea typeface="Calibri"/>
              <a:cs typeface="Calibri"/>
            </a:endParaRPr>
          </a:p>
          <a:p>
            <a:endParaRPr lang="en-US" sz="1350" b="1">
              <a:ea typeface="Calibri"/>
              <a:cs typeface="Calibri"/>
            </a:endParaRPr>
          </a:p>
        </p:txBody>
      </p:sp>
      <p:sp>
        <p:nvSpPr>
          <p:cNvPr id="10" name="Rectangle 9">
            <a:extLst>
              <a:ext uri="{FF2B5EF4-FFF2-40B4-BE49-F238E27FC236}">
                <a16:creationId xmlns:a16="http://schemas.microsoft.com/office/drawing/2014/main" id="{361F6946-6D7E-7489-1CD7-04C0B215F8FC}"/>
              </a:ext>
            </a:extLst>
          </p:cNvPr>
          <p:cNvSpPr/>
          <p:nvPr/>
        </p:nvSpPr>
        <p:spPr>
          <a:xfrm>
            <a:off x="821533" y="5756321"/>
            <a:ext cx="16626842" cy="452903"/>
          </a:xfrm>
          <a:prstGeom prst="rect">
            <a:avLst/>
          </a:prstGeom>
          <a:solidFill>
            <a:srgbClr val="00A69C"/>
          </a:solidFill>
          <a:ln w="952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mj-lt"/>
                <a:ea typeface="+mn-ea"/>
                <a:cs typeface="+mn-cs"/>
              </a:rPr>
              <a:t>Key Risks, Issues &amp; Decisions</a:t>
            </a:r>
          </a:p>
        </p:txBody>
      </p:sp>
      <p:graphicFrame>
        <p:nvGraphicFramePr>
          <p:cNvPr id="11" name="Table 6">
            <a:extLst>
              <a:ext uri="{FF2B5EF4-FFF2-40B4-BE49-F238E27FC236}">
                <a16:creationId xmlns:a16="http://schemas.microsoft.com/office/drawing/2014/main" id="{226ED8C2-8A3B-4B91-7027-E4ECA40C2168}"/>
              </a:ext>
            </a:extLst>
          </p:cNvPr>
          <p:cNvGraphicFramePr>
            <a:graphicFrameLocks noGrp="1"/>
          </p:cNvGraphicFramePr>
          <p:nvPr>
            <p:extLst>
              <p:ext uri="{D42A27DB-BD31-4B8C-83A1-F6EECF244321}">
                <p14:modId xmlns:p14="http://schemas.microsoft.com/office/powerpoint/2010/main" val="1367611292"/>
              </p:ext>
            </p:extLst>
          </p:nvPr>
        </p:nvGraphicFramePr>
        <p:xfrm>
          <a:off x="832104" y="6238427"/>
          <a:ext cx="16626847" cy="1645920"/>
        </p:xfrm>
        <a:graphic>
          <a:graphicData uri="http://schemas.openxmlformats.org/drawingml/2006/table">
            <a:tbl>
              <a:tblPr firstRow="1" bandRow="1">
                <a:tableStyleId>{5C22544A-7EE6-4342-B048-85BDC9FD1C3A}</a:tableStyleId>
              </a:tblPr>
              <a:tblGrid>
                <a:gridCol w="1978329">
                  <a:extLst>
                    <a:ext uri="{9D8B030D-6E8A-4147-A177-3AD203B41FA5}">
                      <a16:colId xmlns:a16="http://schemas.microsoft.com/office/drawing/2014/main" val="1940594143"/>
                    </a:ext>
                  </a:extLst>
                </a:gridCol>
                <a:gridCol w="6785486">
                  <a:extLst>
                    <a:ext uri="{9D8B030D-6E8A-4147-A177-3AD203B41FA5}">
                      <a16:colId xmlns:a16="http://schemas.microsoft.com/office/drawing/2014/main" val="273235595"/>
                    </a:ext>
                  </a:extLst>
                </a:gridCol>
                <a:gridCol w="2301858">
                  <a:extLst>
                    <a:ext uri="{9D8B030D-6E8A-4147-A177-3AD203B41FA5}">
                      <a16:colId xmlns:a16="http://schemas.microsoft.com/office/drawing/2014/main" val="1034871609"/>
                    </a:ext>
                  </a:extLst>
                </a:gridCol>
                <a:gridCol w="2237015">
                  <a:extLst>
                    <a:ext uri="{9D8B030D-6E8A-4147-A177-3AD203B41FA5}">
                      <a16:colId xmlns:a16="http://schemas.microsoft.com/office/drawing/2014/main" val="1556653191"/>
                    </a:ext>
                  </a:extLst>
                </a:gridCol>
                <a:gridCol w="3324159">
                  <a:extLst>
                    <a:ext uri="{9D8B030D-6E8A-4147-A177-3AD203B41FA5}">
                      <a16:colId xmlns:a16="http://schemas.microsoft.com/office/drawing/2014/main" val="666502604"/>
                    </a:ext>
                  </a:extLst>
                </a:gridCol>
              </a:tblGrid>
              <a:tr h="411480">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a:rPr>
                        <a:t>Area</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kumimoji="0" lang="en-US" sz="1800" b="1" i="0" u="none" strike="noStrike" kern="1200" cap="none" spc="0" normalizeH="0" baseline="0">
                          <a:ln>
                            <a:noFill/>
                          </a:ln>
                          <a:solidFill>
                            <a:srgbClr val="000000"/>
                          </a:solidFill>
                          <a:effectLst/>
                          <a:uLnTx/>
                          <a:uFillTx/>
                          <a:latin typeface="Arial"/>
                          <a:ea typeface="+mn-ea"/>
                          <a:cs typeface="Arial"/>
                        </a:rPr>
                        <a:t>Item</a:t>
                      </a:r>
                      <a:endParaRPr kumimoji="0" lang="en-US"/>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a:rPr>
                        <a:t>Status</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a:rPr>
                        <a:t>Due Date</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a:rPr>
                        <a:t>Owner</a:t>
                      </a:r>
                    </a:p>
                  </a:txBody>
                  <a:tcPr marL="137160" marR="137160" marT="68580" marB="6858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9013299"/>
                  </a:ext>
                </a:extLst>
              </a:tr>
              <a:tr h="363935">
                <a:tc>
                  <a:txBody>
                    <a:bodyPr/>
                    <a:lstStyle/>
                    <a:p>
                      <a:pPr algn="ctr"/>
                      <a:r>
                        <a:rPr kumimoji="0" lang="en-US" sz="1600" b="1" i="0" u="none" strike="noStrike" kern="1200" cap="none" spc="0" normalizeH="0" baseline="0">
                          <a:ln>
                            <a:noFill/>
                          </a:ln>
                          <a:solidFill>
                            <a:srgbClr val="000000"/>
                          </a:solidFill>
                          <a:effectLst/>
                          <a:uLnTx/>
                          <a:uFillTx/>
                          <a:latin typeface="+mn-lt"/>
                          <a:ea typeface="+mn-ea"/>
                          <a:cs typeface="Arial"/>
                        </a:rPr>
                        <a:t>Risks</a:t>
                      </a:r>
                    </a:p>
                  </a:txBody>
                  <a:tcPr marL="137160" marR="137160" marT="68580" marB="6858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74320" indent="0" algn="ctr" rtl="0" eaLnBrk="1" latinLnBrk="0" hangingPunct="1">
                        <a:buClr>
                          <a:srgbClr val="002060"/>
                        </a:buClr>
                        <a:buSzPct val="150000"/>
                        <a:buNone/>
                      </a:pPr>
                      <a:r>
                        <a:rPr lang="en-US"/>
                        <a:t>To be filled</a:t>
                      </a:r>
                    </a:p>
                  </a:txBody>
                  <a:tcPr marL="137160" marR="137160" marT="68580" marB="68580" anchor="ctr">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2060"/>
                        </a:buClr>
                        <a:buSzPct val="150000"/>
                        <a:buFontTx/>
                        <a:buNone/>
                        <a:tabLst/>
                        <a:defRPr/>
                      </a:pPr>
                      <a:endParaRPr lang="en-US" sz="1500" b="0" kern="1200">
                        <a:solidFill>
                          <a:srgbClr val="000000"/>
                        </a:solidFill>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500" b="0" strike="sngStrike" kern="1200">
                        <a:solidFill>
                          <a:srgbClr val="000000"/>
                        </a:solidFill>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500" b="0" kern="1200">
                        <a:solidFill>
                          <a:srgbClr val="000000"/>
                        </a:solidFill>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7621933"/>
                  </a:ext>
                </a:extLst>
              </a:tr>
              <a:tr h="356844">
                <a:tc>
                  <a:txBody>
                    <a:bodyPr/>
                    <a:lstStyle/>
                    <a:p>
                      <a:pPr algn="ctr"/>
                      <a:r>
                        <a:rPr kumimoji="0" lang="en-US" sz="1600" b="1" i="0" u="none" strike="noStrike" kern="1200" cap="none" spc="0" normalizeH="0" baseline="0">
                          <a:ln>
                            <a:noFill/>
                          </a:ln>
                          <a:solidFill>
                            <a:srgbClr val="000000"/>
                          </a:solidFill>
                          <a:effectLst/>
                          <a:uLnTx/>
                          <a:uFillTx/>
                          <a:latin typeface="+mn-lt"/>
                          <a:ea typeface="+mn-ea"/>
                          <a:cs typeface="Arial"/>
                        </a:rPr>
                        <a:t>Issues</a:t>
                      </a:r>
                    </a:p>
                  </a:txBody>
                  <a:tcPr marL="137160" marR="137160" marT="68580" marB="6858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1800" b="0" i="0" u="none" strike="noStrike" noProof="0">
                          <a:solidFill>
                            <a:srgbClr val="000000"/>
                          </a:solidFill>
                          <a:latin typeface="Calibri"/>
                        </a:rPr>
                        <a:t>     To be filled</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2060"/>
                        </a:buClr>
                        <a:buSzPct val="150000"/>
                        <a:buFontTx/>
                        <a:buNone/>
                        <a:tabLst/>
                        <a:defRPr/>
                      </a:pPr>
                      <a:endParaRPr lang="en-US" sz="1500" b="0" strike="noStrike" kern="1200">
                        <a:solidFill>
                          <a:srgbClr val="000000"/>
                        </a:solidFill>
                        <a:latin typeface="+mn-lt"/>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500" b="0" strike="sngStrike" kern="1200">
                        <a:solidFill>
                          <a:srgbClr val="000000"/>
                        </a:solidFill>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500" b="0" strike="noStrike" kern="1200">
                        <a:solidFill>
                          <a:srgbClr val="000000"/>
                        </a:solidFill>
                        <a:latin typeface="+mn-lt"/>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74165115"/>
                  </a:ext>
                </a:extLst>
              </a:tr>
              <a:tr h="383323">
                <a:tc>
                  <a:txBody>
                    <a:bodyPr/>
                    <a:lstStyle/>
                    <a:p>
                      <a:pPr marL="0" indent="0" algn="ctr">
                        <a:buClr>
                          <a:srgbClr val="002060"/>
                        </a:buClr>
                        <a:buSzPct val="150000"/>
                        <a:buFontTx/>
                        <a:buNone/>
                      </a:pPr>
                      <a:r>
                        <a:rPr kumimoji="0" lang="en-US" sz="1600" b="1" i="0" u="none" strike="noStrike" kern="1200" cap="none" spc="0" normalizeH="0" baseline="0">
                          <a:ln>
                            <a:noFill/>
                          </a:ln>
                          <a:solidFill>
                            <a:srgbClr val="000000"/>
                          </a:solidFill>
                          <a:effectLst/>
                          <a:uLnTx/>
                          <a:uFillTx/>
                          <a:latin typeface="+mn-lt"/>
                          <a:ea typeface="+mn-ea"/>
                          <a:cs typeface="Arial"/>
                        </a:rPr>
                        <a:t>Decisions</a:t>
                      </a:r>
                      <a:endParaRPr kumimoji="0" lang="en-US" sz="1600" b="1" i="0" u="none" strike="noStrike" kern="1200" cap="none" spc="0" normalizeH="0" baseline="0">
                        <a:ln>
                          <a:noFill/>
                        </a:ln>
                        <a:solidFill>
                          <a:srgbClr val="000000"/>
                        </a:solidFill>
                        <a:effectLst/>
                        <a:uLnTx/>
                        <a:uFillTx/>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1800" b="0" i="0" u="none" strike="noStrike" kern="1200" noProof="0">
                          <a:solidFill>
                            <a:srgbClr val="000000"/>
                          </a:solidFill>
                          <a:latin typeface="Calibri"/>
                        </a:rPr>
                        <a:t>     To be filled</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2060"/>
                        </a:buClr>
                        <a:buSzPct val="150000"/>
                        <a:buFontTx/>
                        <a:buNone/>
                        <a:tabLst/>
                        <a:defRPr/>
                      </a:pPr>
                      <a:endParaRPr lang="en-US" sz="1500" b="0" kern="1200">
                        <a:solidFill>
                          <a:srgbClr val="000000"/>
                        </a:solidFill>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500" b="0" strike="noStrike" kern="1200">
                        <a:solidFill>
                          <a:srgbClr val="000000"/>
                        </a:solidFill>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500" b="0" kern="1200">
                        <a:solidFill>
                          <a:srgbClr val="000000"/>
                        </a:solidFill>
                        <a:latin typeface="+mn-lt"/>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8196877"/>
                  </a:ext>
                </a:extLst>
              </a:tr>
            </a:tbl>
          </a:graphicData>
        </a:graphic>
      </p:graphicFrame>
      <p:grpSp>
        <p:nvGrpSpPr>
          <p:cNvPr id="12" name="Group 11">
            <a:extLst>
              <a:ext uri="{FF2B5EF4-FFF2-40B4-BE49-F238E27FC236}">
                <a16:creationId xmlns:a16="http://schemas.microsoft.com/office/drawing/2014/main" id="{E35C4AAD-07B6-61D7-9BD3-BB198474BAFB}"/>
              </a:ext>
            </a:extLst>
          </p:cNvPr>
          <p:cNvGrpSpPr/>
          <p:nvPr/>
        </p:nvGrpSpPr>
        <p:grpSpPr>
          <a:xfrm>
            <a:off x="860944" y="2053329"/>
            <a:ext cx="5041568" cy="1202997"/>
            <a:chOff x="567987" y="1398301"/>
            <a:chExt cx="3361045" cy="801998"/>
          </a:xfrm>
          <a:solidFill>
            <a:srgbClr val="00A69C"/>
          </a:solidFill>
        </p:grpSpPr>
        <p:sp>
          <p:nvSpPr>
            <p:cNvPr id="13" name="Rectangle 12">
              <a:extLst>
                <a:ext uri="{FF2B5EF4-FFF2-40B4-BE49-F238E27FC236}">
                  <a16:creationId xmlns:a16="http://schemas.microsoft.com/office/drawing/2014/main" id="{4F2EAD85-C0F1-28B2-40CF-9256FA9480C4}"/>
                </a:ext>
              </a:extLst>
            </p:cNvPr>
            <p:cNvSpPr/>
            <p:nvPr/>
          </p:nvSpPr>
          <p:spPr bwMode="auto">
            <a:xfrm>
              <a:off x="567987" y="1398301"/>
              <a:ext cx="1440000" cy="256198"/>
            </a:xfrm>
            <a:prstGeom prst="rect">
              <a:avLst/>
            </a:prstGeom>
            <a:grp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itchFamily="34" charset="0"/>
                </a:rPr>
                <a:t>Reporting Period</a:t>
              </a:r>
            </a:p>
          </p:txBody>
        </p:sp>
        <p:sp>
          <p:nvSpPr>
            <p:cNvPr id="14" name="Rectangle 13">
              <a:extLst>
                <a:ext uri="{FF2B5EF4-FFF2-40B4-BE49-F238E27FC236}">
                  <a16:creationId xmlns:a16="http://schemas.microsoft.com/office/drawing/2014/main" id="{ED9D7AC5-1FB9-3670-BAA3-B09CAD49587C}"/>
                </a:ext>
              </a:extLst>
            </p:cNvPr>
            <p:cNvSpPr/>
            <p:nvPr/>
          </p:nvSpPr>
          <p:spPr bwMode="auto">
            <a:xfrm>
              <a:off x="2127836" y="1398301"/>
              <a:ext cx="1800000" cy="256198"/>
            </a:xfrm>
            <a:prstGeom prst="rect">
              <a:avLst/>
            </a:prstGeom>
            <a:grp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GB" sz="1500" b="1" kern="0">
                  <a:solidFill>
                    <a:schemeClr val="bg1"/>
                  </a:solidFill>
                  <a:cs typeface="Calibri"/>
                </a:rPr>
                <a:t>05 April 2026– 09 April 2026</a:t>
              </a:r>
              <a:endParaRPr lang="en-GB" sz="1500" kern="0">
                <a:solidFill>
                  <a:schemeClr val="bg1"/>
                </a:solidFill>
                <a:cs typeface="Calibri"/>
              </a:endParaRPr>
            </a:p>
          </p:txBody>
        </p:sp>
        <p:sp>
          <p:nvSpPr>
            <p:cNvPr id="16" name="Rectangle 15">
              <a:extLst>
                <a:ext uri="{FF2B5EF4-FFF2-40B4-BE49-F238E27FC236}">
                  <a16:creationId xmlns:a16="http://schemas.microsoft.com/office/drawing/2014/main" id="{98480BC7-7350-EAB7-1E5C-02C004983501}"/>
                </a:ext>
              </a:extLst>
            </p:cNvPr>
            <p:cNvSpPr/>
            <p:nvPr/>
          </p:nvSpPr>
          <p:spPr bwMode="auto">
            <a:xfrm>
              <a:off x="570971" y="1682431"/>
              <a:ext cx="1440000" cy="238706"/>
            </a:xfrm>
            <a:prstGeom prst="rect">
              <a:avLst/>
            </a:prstGeom>
            <a:grp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defTabSz="1564584" eaLnBrk="1" fontAlgn="auto" latinLnBrk="0" hangingPunct="1">
                <a:lnSpc>
                  <a:spcPct val="100000"/>
                </a:lnSpc>
                <a:spcBef>
                  <a:spcPts val="0"/>
                </a:spcBef>
                <a:spcAft>
                  <a:spcPts val="0"/>
                </a:spcAft>
                <a:buClrTx/>
                <a:buSzTx/>
                <a:buFontTx/>
                <a:buNone/>
                <a:tabLst/>
                <a:defRPr/>
              </a:pPr>
              <a:r>
                <a:rPr lang="en-GB" sz="1500" b="1" kern="0">
                  <a:solidFill>
                    <a:schemeClr val="bg1"/>
                  </a:solidFill>
                  <a:latin typeface="+mj-lt"/>
                  <a:cs typeface="Arial" pitchFamily="34" charset="0"/>
                </a:rPr>
                <a:t>Business</a:t>
              </a:r>
              <a:r>
                <a:rPr kumimoji="0" lang="en-GB" sz="1500" b="1" i="0" u="none" strike="noStrike" kern="0" cap="none" spc="0" normalizeH="0" baseline="0" noProof="0">
                  <a:ln>
                    <a:noFill/>
                  </a:ln>
                  <a:solidFill>
                    <a:schemeClr val="bg1"/>
                  </a:solidFill>
                  <a:effectLst/>
                  <a:uLnTx/>
                  <a:uFillTx/>
                  <a:latin typeface="+mj-lt"/>
                  <a:cs typeface="Arial" pitchFamily="34" charset="0"/>
                </a:rPr>
                <a:t> Owner</a:t>
              </a:r>
            </a:p>
          </p:txBody>
        </p:sp>
        <p:sp>
          <p:nvSpPr>
            <p:cNvPr id="17" name="Rectangle 16">
              <a:extLst>
                <a:ext uri="{FF2B5EF4-FFF2-40B4-BE49-F238E27FC236}">
                  <a16:creationId xmlns:a16="http://schemas.microsoft.com/office/drawing/2014/main" id="{F20CE6C9-0743-2872-574B-A2D2F097EE30}"/>
                </a:ext>
              </a:extLst>
            </p:cNvPr>
            <p:cNvSpPr/>
            <p:nvPr/>
          </p:nvSpPr>
          <p:spPr bwMode="auto">
            <a:xfrm>
              <a:off x="2130820" y="1682431"/>
              <a:ext cx="1798212" cy="214907"/>
            </a:xfrm>
            <a:prstGeom prst="rect">
              <a:avLst/>
            </a:prstGeom>
            <a:grp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US" sz="1500" b="1" kern="0">
                  <a:solidFill>
                    <a:schemeClr val="bg1"/>
                  </a:solidFill>
                  <a:cs typeface="Arial"/>
                </a:rPr>
                <a:t>Falah Kokash</a:t>
              </a:r>
              <a:endParaRPr lang="en-GB" sz="1500" b="1" kern="0">
                <a:solidFill>
                  <a:schemeClr val="bg1"/>
                </a:solidFill>
                <a:ea typeface="Calibri"/>
                <a:cs typeface="Arial"/>
              </a:endParaRPr>
            </a:p>
          </p:txBody>
        </p:sp>
        <p:sp>
          <p:nvSpPr>
            <p:cNvPr id="18" name="Rectangle 17">
              <a:extLst>
                <a:ext uri="{FF2B5EF4-FFF2-40B4-BE49-F238E27FC236}">
                  <a16:creationId xmlns:a16="http://schemas.microsoft.com/office/drawing/2014/main" id="{925A6782-378F-8967-0A37-139E90E9D226}"/>
                </a:ext>
              </a:extLst>
            </p:cNvPr>
            <p:cNvSpPr/>
            <p:nvPr/>
          </p:nvSpPr>
          <p:spPr bwMode="auto">
            <a:xfrm>
              <a:off x="567987" y="1944101"/>
              <a:ext cx="1440000" cy="256198"/>
            </a:xfrm>
            <a:prstGeom prst="rect">
              <a:avLst/>
            </a:prstGeom>
            <a:grp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itchFamily="34" charset="0"/>
                </a:rPr>
                <a:t>Project Manager</a:t>
              </a:r>
            </a:p>
          </p:txBody>
        </p:sp>
        <p:sp>
          <p:nvSpPr>
            <p:cNvPr id="19" name="Rectangle 18">
              <a:extLst>
                <a:ext uri="{FF2B5EF4-FFF2-40B4-BE49-F238E27FC236}">
                  <a16:creationId xmlns:a16="http://schemas.microsoft.com/office/drawing/2014/main" id="{D4E87F45-C13E-EA06-0C82-CDB3939B668B}"/>
                </a:ext>
              </a:extLst>
            </p:cNvPr>
            <p:cNvSpPr/>
            <p:nvPr/>
          </p:nvSpPr>
          <p:spPr bwMode="auto">
            <a:xfrm>
              <a:off x="2127836" y="1944101"/>
              <a:ext cx="1800000" cy="256198"/>
            </a:xfrm>
            <a:prstGeom prst="rect">
              <a:avLst/>
            </a:prstGeom>
            <a:grp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GB" sz="1500" b="1" kern="0">
                  <a:solidFill>
                    <a:schemeClr val="bg1"/>
                  </a:solidFill>
                  <a:latin typeface="+mj-lt"/>
                  <a:cs typeface="Arial"/>
                </a:rPr>
                <a:t>Alaa Al-Smadi</a:t>
              </a:r>
              <a:endParaRPr lang="en-US"/>
            </a:p>
          </p:txBody>
        </p:sp>
      </p:grpSp>
      <p:sp>
        <p:nvSpPr>
          <p:cNvPr id="30" name="Rectangle 29">
            <a:extLst>
              <a:ext uri="{FF2B5EF4-FFF2-40B4-BE49-F238E27FC236}">
                <a16:creationId xmlns:a16="http://schemas.microsoft.com/office/drawing/2014/main" id="{3D6EA027-1ABA-E0FA-0C9F-84A3EB38395C}"/>
              </a:ext>
            </a:extLst>
          </p:cNvPr>
          <p:cNvSpPr/>
          <p:nvPr/>
        </p:nvSpPr>
        <p:spPr bwMode="auto">
          <a:xfrm>
            <a:off x="15847604" y="2530028"/>
            <a:ext cx="1574978" cy="533700"/>
          </a:xfrm>
          <a:prstGeom prst="rect">
            <a:avLst/>
          </a:prstGeom>
          <a:solidFill>
            <a:srgbClr val="E2F0D9"/>
          </a:solidFill>
          <a:ln w="9525" cap="flat" cmpd="sng" algn="ctr">
            <a:solidFill>
              <a:srgbClr val="FFCCCC"/>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defTabSz="1564584">
              <a:defRPr/>
            </a:pPr>
            <a:r>
              <a:rPr lang="en-US" sz="1500" b="1" kern="0">
                <a:solidFill>
                  <a:prstClr val="black"/>
                </a:solidFill>
                <a:cs typeface="Arial"/>
              </a:rPr>
              <a:t>On Delay</a:t>
            </a:r>
            <a:endParaRPr lang="en-GB" sz="1500" b="1" kern="0">
              <a:solidFill>
                <a:prstClr val="black"/>
              </a:solidFill>
              <a:cs typeface="Arial" panose="020B0604020202020204" pitchFamily="34" charset="0"/>
            </a:endParaRPr>
          </a:p>
        </p:txBody>
      </p:sp>
      <p:grpSp>
        <p:nvGrpSpPr>
          <p:cNvPr id="29" name="Group 28">
            <a:extLst>
              <a:ext uri="{FF2B5EF4-FFF2-40B4-BE49-F238E27FC236}">
                <a16:creationId xmlns:a16="http://schemas.microsoft.com/office/drawing/2014/main" id="{AA8BA569-ECCD-9DF9-79B8-F5029E279C30}"/>
              </a:ext>
            </a:extLst>
          </p:cNvPr>
          <p:cNvGrpSpPr/>
          <p:nvPr/>
        </p:nvGrpSpPr>
        <p:grpSpPr>
          <a:xfrm>
            <a:off x="9800456" y="9674702"/>
            <a:ext cx="10637918" cy="505790"/>
            <a:chOff x="5956720" y="6443049"/>
            <a:chExt cx="7091945" cy="357913"/>
          </a:xfrm>
        </p:grpSpPr>
        <p:grpSp>
          <p:nvGrpSpPr>
            <p:cNvPr id="52" name="Group 51">
              <a:extLst>
                <a:ext uri="{FF2B5EF4-FFF2-40B4-BE49-F238E27FC236}">
                  <a16:creationId xmlns:a16="http://schemas.microsoft.com/office/drawing/2014/main" id="{1C3DA3FF-7740-36B9-20F9-08B0EED5EAF1}"/>
                </a:ext>
              </a:extLst>
            </p:cNvPr>
            <p:cNvGrpSpPr/>
            <p:nvPr/>
          </p:nvGrpSpPr>
          <p:grpSpPr>
            <a:xfrm>
              <a:off x="5956720" y="6443049"/>
              <a:ext cx="7091945" cy="357913"/>
              <a:chOff x="5966485" y="6485413"/>
              <a:chExt cx="7091945" cy="357913"/>
            </a:xfrm>
          </p:grpSpPr>
          <p:sp>
            <p:nvSpPr>
              <p:cNvPr id="62" name="Oval 61">
                <a:extLst>
                  <a:ext uri="{FF2B5EF4-FFF2-40B4-BE49-F238E27FC236}">
                    <a16:creationId xmlns:a16="http://schemas.microsoft.com/office/drawing/2014/main" id="{28DF6871-162C-DA9C-727F-915435DA83DA}"/>
                  </a:ext>
                </a:extLst>
              </p:cNvPr>
              <p:cNvSpPr/>
              <p:nvPr/>
            </p:nvSpPr>
            <p:spPr>
              <a:xfrm>
                <a:off x="6950322" y="6494495"/>
                <a:ext cx="133346" cy="126401"/>
              </a:xfrm>
              <a:prstGeom prst="ellipse">
                <a:avLst/>
              </a:prstGeom>
              <a:solidFill>
                <a:srgbClr val="E2F0D9"/>
              </a:solidFill>
              <a:ln w="9525">
                <a:solidFill>
                  <a:srgbClr val="E2F0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63" name="Oval 62">
                <a:extLst>
                  <a:ext uri="{FF2B5EF4-FFF2-40B4-BE49-F238E27FC236}">
                    <a16:creationId xmlns:a16="http://schemas.microsoft.com/office/drawing/2014/main" id="{5A581407-18B4-037C-0E84-4935AFCC0F82}"/>
                  </a:ext>
                </a:extLst>
              </p:cNvPr>
              <p:cNvSpPr/>
              <p:nvPr/>
            </p:nvSpPr>
            <p:spPr>
              <a:xfrm>
                <a:off x="7594167" y="6503611"/>
                <a:ext cx="135071" cy="126401"/>
              </a:xfrm>
              <a:prstGeom prst="ellipse">
                <a:avLst/>
              </a:prstGeom>
              <a:solidFill>
                <a:srgbClr val="FF0000"/>
              </a:solid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64" name="Oval 63">
                <a:extLst>
                  <a:ext uri="{FF2B5EF4-FFF2-40B4-BE49-F238E27FC236}">
                    <a16:creationId xmlns:a16="http://schemas.microsoft.com/office/drawing/2014/main" id="{5E425EAD-7D2A-84A9-AAB4-F1B31A268B9E}"/>
                  </a:ext>
                </a:extLst>
              </p:cNvPr>
              <p:cNvSpPr/>
              <p:nvPr/>
            </p:nvSpPr>
            <p:spPr>
              <a:xfrm>
                <a:off x="8149931" y="6505195"/>
                <a:ext cx="131200" cy="126401"/>
              </a:xfrm>
              <a:prstGeom prst="ellipse">
                <a:avLst/>
              </a:prstGeom>
              <a:solidFill>
                <a:srgbClr val="FFC000"/>
              </a:solidFill>
              <a:ln w="95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65" name="TextBox 64">
                <a:extLst>
                  <a:ext uri="{FF2B5EF4-FFF2-40B4-BE49-F238E27FC236}">
                    <a16:creationId xmlns:a16="http://schemas.microsoft.com/office/drawing/2014/main" id="{D7936124-EA00-71EC-C0BC-0B14205CE05D}"/>
                  </a:ext>
                </a:extLst>
              </p:cNvPr>
              <p:cNvSpPr txBox="1"/>
              <p:nvPr/>
            </p:nvSpPr>
            <p:spPr>
              <a:xfrm>
                <a:off x="6734909" y="6611779"/>
                <a:ext cx="717687"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On track </a:t>
                </a:r>
              </a:p>
            </p:txBody>
          </p:sp>
          <p:sp>
            <p:nvSpPr>
              <p:cNvPr id="66" name="TextBox 65">
                <a:extLst>
                  <a:ext uri="{FF2B5EF4-FFF2-40B4-BE49-F238E27FC236}">
                    <a16:creationId xmlns:a16="http://schemas.microsoft.com/office/drawing/2014/main" id="{2C4651AF-9D0D-892F-BA95-C07543F08024}"/>
                  </a:ext>
                </a:extLst>
              </p:cNvPr>
              <p:cNvSpPr txBox="1"/>
              <p:nvPr/>
            </p:nvSpPr>
            <p:spPr>
              <a:xfrm>
                <a:off x="7360310" y="6621931"/>
                <a:ext cx="664200"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Delayed</a:t>
                </a:r>
              </a:p>
            </p:txBody>
          </p:sp>
          <p:sp>
            <p:nvSpPr>
              <p:cNvPr id="67" name="TextBox 66">
                <a:extLst>
                  <a:ext uri="{FF2B5EF4-FFF2-40B4-BE49-F238E27FC236}">
                    <a16:creationId xmlns:a16="http://schemas.microsoft.com/office/drawing/2014/main" id="{88C19CC7-4299-A887-588C-365E07742BB9}"/>
                  </a:ext>
                </a:extLst>
              </p:cNvPr>
              <p:cNvSpPr txBox="1"/>
              <p:nvPr/>
            </p:nvSpPr>
            <p:spPr>
              <a:xfrm>
                <a:off x="7962993" y="6624764"/>
                <a:ext cx="664200"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At Risk</a:t>
                </a:r>
              </a:p>
            </p:txBody>
          </p:sp>
          <p:sp>
            <p:nvSpPr>
              <p:cNvPr id="68" name="TextBox 67">
                <a:extLst>
                  <a:ext uri="{FF2B5EF4-FFF2-40B4-BE49-F238E27FC236}">
                    <a16:creationId xmlns:a16="http://schemas.microsoft.com/office/drawing/2014/main" id="{C3F0F19E-A826-4783-DF7B-9EC3CDD4B73A}"/>
                  </a:ext>
                </a:extLst>
              </p:cNvPr>
              <p:cNvSpPr txBox="1"/>
              <p:nvPr/>
            </p:nvSpPr>
            <p:spPr>
              <a:xfrm>
                <a:off x="9357110" y="6627882"/>
                <a:ext cx="970136"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Implemented</a:t>
                </a:r>
              </a:p>
            </p:txBody>
          </p:sp>
          <p:sp>
            <p:nvSpPr>
              <p:cNvPr id="69" name="Oval 68">
                <a:extLst>
                  <a:ext uri="{FF2B5EF4-FFF2-40B4-BE49-F238E27FC236}">
                    <a16:creationId xmlns:a16="http://schemas.microsoft.com/office/drawing/2014/main" id="{9A23CFF1-41E6-56FB-9813-8A460FE4A46C}"/>
                  </a:ext>
                </a:extLst>
              </p:cNvPr>
              <p:cNvSpPr/>
              <p:nvPr/>
            </p:nvSpPr>
            <p:spPr>
              <a:xfrm>
                <a:off x="10428038" y="6512756"/>
                <a:ext cx="137031" cy="126401"/>
              </a:xfrm>
              <a:prstGeom prst="ellipse">
                <a:avLst/>
              </a:prstGeom>
              <a:solidFill>
                <a:srgbClr val="00B0F0"/>
              </a:solid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9B45C3C2-03BD-BC22-D380-372113FADC9B}"/>
                  </a:ext>
                </a:extLst>
              </p:cNvPr>
              <p:cNvSpPr txBox="1"/>
              <p:nvPr/>
            </p:nvSpPr>
            <p:spPr>
              <a:xfrm>
                <a:off x="10194922" y="6621646"/>
                <a:ext cx="2311615"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US" sz="1200">
                    <a:latin typeface="Arial" panose="020B0604020202020204" pitchFamily="34" charset="0"/>
                    <a:cs typeface="Arial" panose="020B0604020202020204" pitchFamily="34" charset="0"/>
                  </a:rPr>
                  <a:t>On Hold</a:t>
                </a:r>
                <a:endParaRPr kumimoji="0" lang="en-US" sz="120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71" name="Oval 70">
                <a:extLst>
                  <a:ext uri="{FF2B5EF4-FFF2-40B4-BE49-F238E27FC236}">
                    <a16:creationId xmlns:a16="http://schemas.microsoft.com/office/drawing/2014/main" id="{483035DA-0EB4-E9F1-591C-DF240E25E73C}"/>
                  </a:ext>
                </a:extLst>
              </p:cNvPr>
              <p:cNvSpPr/>
              <p:nvPr/>
            </p:nvSpPr>
            <p:spPr>
              <a:xfrm>
                <a:off x="11073431" y="6488248"/>
                <a:ext cx="137031" cy="126401"/>
              </a:xfrm>
              <a:prstGeom prst="ellipse">
                <a:avLst/>
              </a:prstGeom>
              <a:solidFill>
                <a:srgbClr val="FFFF00"/>
              </a:solidFill>
              <a:ln w="952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72" name="TextBox 71">
                <a:extLst>
                  <a:ext uri="{FF2B5EF4-FFF2-40B4-BE49-F238E27FC236}">
                    <a16:creationId xmlns:a16="http://schemas.microsoft.com/office/drawing/2014/main" id="{AA296DD7-C828-4579-FE55-832B7B0711F9}"/>
                  </a:ext>
                </a:extLst>
              </p:cNvPr>
              <p:cNvSpPr txBox="1"/>
              <p:nvPr/>
            </p:nvSpPr>
            <p:spPr>
              <a:xfrm>
                <a:off x="10746815" y="6611779"/>
                <a:ext cx="2311615"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Terminated</a:t>
                </a:r>
              </a:p>
            </p:txBody>
          </p:sp>
          <p:sp>
            <p:nvSpPr>
              <p:cNvPr id="76" name="Oval 75">
                <a:extLst>
                  <a:ext uri="{FF2B5EF4-FFF2-40B4-BE49-F238E27FC236}">
                    <a16:creationId xmlns:a16="http://schemas.microsoft.com/office/drawing/2014/main" id="{A966A770-B92F-42F9-02F0-5B5296E052A5}"/>
                  </a:ext>
                </a:extLst>
              </p:cNvPr>
              <p:cNvSpPr/>
              <p:nvPr/>
            </p:nvSpPr>
            <p:spPr>
              <a:xfrm>
                <a:off x="8836849" y="6505195"/>
                <a:ext cx="131200" cy="126401"/>
              </a:xfrm>
              <a:prstGeom prst="ellipse">
                <a:avLst/>
              </a:prstGeom>
              <a:solidFill>
                <a:srgbClr val="00B050"/>
              </a:solid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78" name="TextBox 77">
                <a:extLst>
                  <a:ext uri="{FF2B5EF4-FFF2-40B4-BE49-F238E27FC236}">
                    <a16:creationId xmlns:a16="http://schemas.microsoft.com/office/drawing/2014/main" id="{F653FB50-D094-D2A0-0303-D0C3C9ECC078}"/>
                  </a:ext>
                </a:extLst>
              </p:cNvPr>
              <p:cNvSpPr txBox="1"/>
              <p:nvPr/>
            </p:nvSpPr>
            <p:spPr>
              <a:xfrm>
                <a:off x="8555682" y="6620896"/>
                <a:ext cx="815094"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InProgress</a:t>
                </a:r>
              </a:p>
            </p:txBody>
          </p:sp>
          <p:sp>
            <p:nvSpPr>
              <p:cNvPr id="79" name="Oval 78">
                <a:extLst>
                  <a:ext uri="{FF2B5EF4-FFF2-40B4-BE49-F238E27FC236}">
                    <a16:creationId xmlns:a16="http://schemas.microsoft.com/office/drawing/2014/main" id="{037CC50E-A639-5F45-76BD-6778B190CF69}"/>
                  </a:ext>
                </a:extLst>
              </p:cNvPr>
              <p:cNvSpPr/>
              <p:nvPr/>
            </p:nvSpPr>
            <p:spPr>
              <a:xfrm>
                <a:off x="6328246" y="6485413"/>
                <a:ext cx="133346" cy="126401"/>
              </a:xfrm>
              <a:prstGeom prst="ellipse">
                <a:avLst/>
              </a:prstGeom>
              <a:solidFill>
                <a:srgbClr val="BFBFBF"/>
              </a:solidFill>
              <a:ln w="9525">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80" name="TextBox 79">
                <a:extLst>
                  <a:ext uri="{FF2B5EF4-FFF2-40B4-BE49-F238E27FC236}">
                    <a16:creationId xmlns:a16="http://schemas.microsoft.com/office/drawing/2014/main" id="{E485A9B0-E27C-A643-4823-9A63E087B10B}"/>
                  </a:ext>
                </a:extLst>
              </p:cNvPr>
              <p:cNvSpPr txBox="1"/>
              <p:nvPr/>
            </p:nvSpPr>
            <p:spPr>
              <a:xfrm>
                <a:off x="5966485" y="6601627"/>
                <a:ext cx="858416" cy="215444"/>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Not Started</a:t>
                </a:r>
              </a:p>
            </p:txBody>
          </p:sp>
        </p:grpSp>
        <p:sp>
          <p:nvSpPr>
            <p:cNvPr id="61" name="Oval 60">
              <a:extLst>
                <a:ext uri="{FF2B5EF4-FFF2-40B4-BE49-F238E27FC236}">
                  <a16:creationId xmlns:a16="http://schemas.microsoft.com/office/drawing/2014/main" id="{8804758D-15A8-A738-E540-68913A21E51A}"/>
                </a:ext>
              </a:extLst>
            </p:cNvPr>
            <p:cNvSpPr/>
            <p:nvPr/>
          </p:nvSpPr>
          <p:spPr>
            <a:xfrm>
              <a:off x="9702904" y="6470392"/>
              <a:ext cx="131200" cy="126401"/>
            </a:xfrm>
            <a:prstGeom prst="ellipse">
              <a:avLst/>
            </a:prstGeom>
            <a:solidFill>
              <a:srgbClr val="003373"/>
            </a:solidFill>
            <a:ln w="9525">
              <a:solidFill>
                <a:srgbClr val="0033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grpSp>
      <p:sp>
        <p:nvSpPr>
          <p:cNvPr id="50" name="Freeform 13">
            <a:extLst>
              <a:ext uri="{FF2B5EF4-FFF2-40B4-BE49-F238E27FC236}">
                <a16:creationId xmlns:a16="http://schemas.microsoft.com/office/drawing/2014/main" id="{04774251-2436-ED8F-F18E-1E7C11C30B3C}"/>
              </a:ext>
            </a:extLst>
          </p:cNvPr>
          <p:cNvSpPr/>
          <p:nvPr/>
        </p:nvSpPr>
        <p:spPr>
          <a:xfrm>
            <a:off x="16062518" y="309634"/>
            <a:ext cx="1851905" cy="870481"/>
          </a:xfrm>
          <a:custGeom>
            <a:avLst/>
            <a:gdLst/>
            <a:ahLst/>
            <a:cxnLst/>
            <a:rect l="l" t="t" r="r" b="b"/>
            <a:pathLst>
              <a:path w="1851905" h="870481">
                <a:moveTo>
                  <a:pt x="0" y="0"/>
                </a:moveTo>
                <a:lnTo>
                  <a:pt x="1851905" y="0"/>
                </a:lnTo>
                <a:lnTo>
                  <a:pt x="1851905" y="870481"/>
                </a:lnTo>
                <a:lnTo>
                  <a:pt x="0" y="870481"/>
                </a:lnTo>
                <a:lnTo>
                  <a:pt x="0" y="0"/>
                </a:lnTo>
                <a:close/>
              </a:path>
            </a:pathLst>
          </a:custGeom>
          <a:blipFill>
            <a:blip r:embed="rId2"/>
            <a:stretch>
              <a:fillRect/>
            </a:stretch>
          </a:blipFill>
        </p:spPr>
        <p:txBody>
          <a:bodyPr/>
          <a:lstStyle/>
          <a:p>
            <a:endParaRPr lang="en-US"/>
          </a:p>
        </p:txBody>
      </p:sp>
      <p:sp>
        <p:nvSpPr>
          <p:cNvPr id="44" name="TextBox 2">
            <a:extLst>
              <a:ext uri="{FF2B5EF4-FFF2-40B4-BE49-F238E27FC236}">
                <a16:creationId xmlns:a16="http://schemas.microsoft.com/office/drawing/2014/main" id="{79397DFE-0C80-9AA2-281A-8F09339410D3}"/>
              </a:ext>
            </a:extLst>
          </p:cNvPr>
          <p:cNvSpPr txBox="1"/>
          <p:nvPr/>
        </p:nvSpPr>
        <p:spPr>
          <a:xfrm>
            <a:off x="816049" y="86390"/>
            <a:ext cx="14308630" cy="1318502"/>
          </a:xfrm>
          <a:prstGeom prst="rect">
            <a:avLst/>
          </a:prstGeom>
        </p:spPr>
        <p:txBody>
          <a:bodyPr wrap="square" lIns="0" tIns="0" rIns="0" bIns="0" rtlCol="0" anchor="t">
            <a:spAutoFit/>
          </a:bodyPr>
          <a:lstStyle/>
          <a:p>
            <a:pPr>
              <a:lnSpc>
                <a:spcPts val="11200"/>
              </a:lnSpc>
              <a:spcBef>
                <a:spcPct val="0"/>
              </a:spcBef>
            </a:pPr>
            <a:r>
              <a:rPr lang="en-US" sz="8000" b="1">
                <a:solidFill>
                  <a:srgbClr val="03A39D"/>
                </a:solidFill>
                <a:latin typeface="Inter Bold"/>
                <a:ea typeface="Inter Bold"/>
                <a:cs typeface="Inter Bold"/>
                <a:sym typeface="Inter Bold"/>
              </a:rPr>
              <a:t>IFRS9 </a:t>
            </a:r>
            <a:r>
              <a:rPr lang="en-US" sz="8000" b="1">
                <a:solidFill>
                  <a:srgbClr val="1C1818"/>
                </a:solidFill>
                <a:latin typeface="Inter Bold"/>
                <a:ea typeface="Inter Bold"/>
                <a:cs typeface="Inter Bold"/>
                <a:sym typeface="Inter Bold"/>
              </a:rPr>
              <a:t>PROJECT</a:t>
            </a:r>
          </a:p>
        </p:txBody>
      </p:sp>
      <p:grpSp>
        <p:nvGrpSpPr>
          <p:cNvPr id="3" name="Group 2">
            <a:extLst>
              <a:ext uri="{FF2B5EF4-FFF2-40B4-BE49-F238E27FC236}">
                <a16:creationId xmlns:a16="http://schemas.microsoft.com/office/drawing/2014/main" id="{0A9F9950-B7C8-82D1-22ED-515DAC127BF9}"/>
              </a:ext>
            </a:extLst>
          </p:cNvPr>
          <p:cNvGrpSpPr/>
          <p:nvPr/>
        </p:nvGrpSpPr>
        <p:grpSpPr>
          <a:xfrm>
            <a:off x="830456" y="4136645"/>
            <a:ext cx="16627087" cy="1396406"/>
            <a:chOff x="0" y="0"/>
            <a:chExt cx="22169450" cy="1861874"/>
          </a:xfrm>
          <a:solidFill>
            <a:schemeClr val="bg1"/>
          </a:solidFill>
        </p:grpSpPr>
        <p:sp>
          <p:nvSpPr>
            <p:cNvPr id="5" name="Freeform 3">
              <a:extLst>
                <a:ext uri="{FF2B5EF4-FFF2-40B4-BE49-F238E27FC236}">
                  <a16:creationId xmlns:a16="http://schemas.microsoft.com/office/drawing/2014/main" id="{6550731E-4340-8FEF-8A28-FD66B3657056}"/>
                </a:ext>
              </a:extLst>
            </p:cNvPr>
            <p:cNvSpPr/>
            <p:nvPr/>
          </p:nvSpPr>
          <p:spPr>
            <a:xfrm>
              <a:off x="0" y="0"/>
              <a:ext cx="22169501" cy="1861820"/>
            </a:xfrm>
            <a:custGeom>
              <a:avLst/>
              <a:gdLst/>
              <a:ahLst/>
              <a:cxnLst/>
              <a:rect l="l" t="t" r="r" b="b"/>
              <a:pathLst>
                <a:path w="22169501" h="1861820">
                  <a:moveTo>
                    <a:pt x="0" y="0"/>
                  </a:moveTo>
                  <a:lnTo>
                    <a:pt x="22169501" y="0"/>
                  </a:lnTo>
                  <a:lnTo>
                    <a:pt x="22169501" y="1861820"/>
                  </a:lnTo>
                  <a:lnTo>
                    <a:pt x="0" y="1861820"/>
                  </a:lnTo>
                  <a:close/>
                </a:path>
              </a:pathLst>
            </a:custGeom>
            <a:grpFill/>
            <a:ln w="12700">
              <a:solidFill>
                <a:srgbClr val="000000"/>
              </a:solidFill>
            </a:ln>
          </p:spPr>
          <p:txBody>
            <a:bodyPr/>
            <a:lstStyle/>
            <a:p>
              <a:endParaRPr lang="en-US"/>
            </a:p>
          </p:txBody>
        </p:sp>
      </p:grpSp>
      <p:sp>
        <p:nvSpPr>
          <p:cNvPr id="81" name="AutoShape 4">
            <a:extLst>
              <a:ext uri="{FF2B5EF4-FFF2-40B4-BE49-F238E27FC236}">
                <a16:creationId xmlns:a16="http://schemas.microsoft.com/office/drawing/2014/main" id="{3866F3A2-F05B-0E71-F3A7-31305DF1C04D}"/>
              </a:ext>
            </a:extLst>
          </p:cNvPr>
          <p:cNvSpPr/>
          <p:nvPr/>
        </p:nvSpPr>
        <p:spPr>
          <a:xfrm>
            <a:off x="1496609" y="4938702"/>
            <a:ext cx="15513385" cy="0"/>
          </a:xfrm>
          <a:prstGeom prst="line">
            <a:avLst/>
          </a:prstGeom>
          <a:ln w="19050" cap="rnd">
            <a:solidFill>
              <a:srgbClr val="000000"/>
            </a:solidFill>
            <a:prstDash val="solid"/>
            <a:headEnd type="none" w="sm" len="sm"/>
            <a:tailEnd type="triangle" w="lg" len="med"/>
          </a:ln>
        </p:spPr>
        <p:txBody>
          <a:bodyPr/>
          <a:lstStyle/>
          <a:p>
            <a:endParaRPr lang="en-US"/>
          </a:p>
        </p:txBody>
      </p:sp>
      <p:sp>
        <p:nvSpPr>
          <p:cNvPr id="82" name="TextBox 5">
            <a:extLst>
              <a:ext uri="{FF2B5EF4-FFF2-40B4-BE49-F238E27FC236}">
                <a16:creationId xmlns:a16="http://schemas.microsoft.com/office/drawing/2014/main" id="{0A312A44-6A16-917A-B9BE-3385073C5269}"/>
              </a:ext>
            </a:extLst>
          </p:cNvPr>
          <p:cNvSpPr txBox="1"/>
          <p:nvPr/>
        </p:nvSpPr>
        <p:spPr>
          <a:xfrm>
            <a:off x="15159015" y="4221185"/>
            <a:ext cx="948023" cy="472373"/>
          </a:xfrm>
          <a:prstGeom prst="rect">
            <a:avLst/>
          </a:prstGeom>
        </p:spPr>
        <p:txBody>
          <a:bodyPr wrap="square" lIns="0" tIns="0" rIns="0" bIns="0" rtlCol="0" anchor="t">
            <a:spAutoFit/>
          </a:bodyPr>
          <a:lstStyle/>
          <a:p>
            <a:pPr algn="ctr">
              <a:lnSpc>
                <a:spcPts val="1889"/>
              </a:lnSpc>
            </a:pPr>
            <a:r>
              <a:rPr lang="en-US" sz="1575" b="1">
                <a:solidFill>
                  <a:srgbClr val="000000"/>
                </a:solidFill>
                <a:latin typeface="Arial Bold"/>
                <a:ea typeface="Arial Bold"/>
                <a:cs typeface="Arial Bold"/>
                <a:sym typeface="Arial Bold"/>
              </a:rPr>
              <a:t>Sign-Off</a:t>
            </a:r>
          </a:p>
          <a:p>
            <a:pPr algn="ctr">
              <a:lnSpc>
                <a:spcPts val="1889"/>
              </a:lnSpc>
            </a:pPr>
            <a:r>
              <a:rPr lang="en-US" sz="1575" b="1">
                <a:solidFill>
                  <a:srgbClr val="000000"/>
                </a:solidFill>
                <a:latin typeface="Arial Bold"/>
                <a:ea typeface="Arial Bold"/>
                <a:cs typeface="Arial Bold"/>
                <a:sym typeface="Arial Bold"/>
              </a:rPr>
              <a:t>Phase</a:t>
            </a:r>
          </a:p>
        </p:txBody>
      </p:sp>
      <p:sp>
        <p:nvSpPr>
          <p:cNvPr id="87" name="TextBox 9">
            <a:extLst>
              <a:ext uri="{FF2B5EF4-FFF2-40B4-BE49-F238E27FC236}">
                <a16:creationId xmlns:a16="http://schemas.microsoft.com/office/drawing/2014/main" id="{AB25E027-D2FC-1675-5149-7C479FAF246A}"/>
              </a:ext>
            </a:extLst>
          </p:cNvPr>
          <p:cNvSpPr txBox="1"/>
          <p:nvPr/>
        </p:nvSpPr>
        <p:spPr>
          <a:xfrm>
            <a:off x="3654043" y="4238189"/>
            <a:ext cx="1093887" cy="466833"/>
          </a:xfrm>
          <a:prstGeom prst="rect">
            <a:avLst/>
          </a:prstGeom>
        </p:spPr>
        <p:txBody>
          <a:bodyPr lIns="0" tIns="0" rIns="0" bIns="0" rtlCol="0" anchor="t">
            <a:spAutoFit/>
          </a:bodyPr>
          <a:lstStyle/>
          <a:p>
            <a:pPr algn="ctr">
              <a:lnSpc>
                <a:spcPts val="1860"/>
              </a:lnSpc>
            </a:pPr>
            <a:r>
              <a:rPr lang="en-US" sz="1550" b="1">
                <a:solidFill>
                  <a:srgbClr val="000000"/>
                </a:solidFill>
                <a:latin typeface="Arial Bold"/>
                <a:ea typeface="Arial Bold"/>
                <a:cs typeface="Arial Bold"/>
                <a:sym typeface="Arial Bold"/>
              </a:rPr>
              <a:t>Preparation</a:t>
            </a:r>
          </a:p>
          <a:p>
            <a:pPr algn="ctr">
              <a:lnSpc>
                <a:spcPts val="1860"/>
              </a:lnSpc>
            </a:pPr>
            <a:r>
              <a:rPr lang="en-US" sz="1550" b="1">
                <a:solidFill>
                  <a:srgbClr val="000000"/>
                </a:solidFill>
                <a:latin typeface="Arial Bold"/>
                <a:ea typeface="Arial Bold"/>
                <a:cs typeface="Arial Bold"/>
                <a:sym typeface="Arial Bold"/>
              </a:rPr>
              <a:t>Phase</a:t>
            </a:r>
          </a:p>
        </p:txBody>
      </p:sp>
      <p:sp>
        <p:nvSpPr>
          <p:cNvPr id="91" name="TextBox 13">
            <a:extLst>
              <a:ext uri="{FF2B5EF4-FFF2-40B4-BE49-F238E27FC236}">
                <a16:creationId xmlns:a16="http://schemas.microsoft.com/office/drawing/2014/main" id="{B2074F66-1560-A2E3-B955-29444BB4F0A4}"/>
              </a:ext>
            </a:extLst>
          </p:cNvPr>
          <p:cNvSpPr txBox="1"/>
          <p:nvPr/>
        </p:nvSpPr>
        <p:spPr>
          <a:xfrm>
            <a:off x="1215990" y="4238189"/>
            <a:ext cx="895950" cy="485775"/>
          </a:xfrm>
          <a:prstGeom prst="rect">
            <a:avLst/>
          </a:prstGeom>
        </p:spPr>
        <p:txBody>
          <a:bodyPr lIns="0" tIns="0" rIns="0" bIns="0" rtlCol="0" anchor="t">
            <a:spAutoFit/>
          </a:bodyPr>
          <a:lstStyle/>
          <a:p>
            <a:pPr algn="ctr">
              <a:lnSpc>
                <a:spcPts val="1889"/>
              </a:lnSpc>
            </a:pPr>
            <a:r>
              <a:rPr lang="en-US" sz="1575" b="1">
                <a:solidFill>
                  <a:srgbClr val="000000"/>
                </a:solidFill>
                <a:latin typeface="Arial Bold"/>
                <a:ea typeface="Arial Bold"/>
                <a:cs typeface="Arial Bold"/>
                <a:sym typeface="Arial Bold"/>
              </a:rPr>
              <a:t>Initiation</a:t>
            </a:r>
          </a:p>
          <a:p>
            <a:pPr algn="ctr">
              <a:lnSpc>
                <a:spcPts val="1889"/>
              </a:lnSpc>
            </a:pPr>
            <a:r>
              <a:rPr lang="en-US" sz="1575" b="1">
                <a:solidFill>
                  <a:srgbClr val="000000"/>
                </a:solidFill>
                <a:latin typeface="Arial Bold"/>
                <a:ea typeface="Arial Bold"/>
                <a:cs typeface="Arial Bold"/>
                <a:sym typeface="Arial Bold"/>
              </a:rPr>
              <a:t>Phase</a:t>
            </a:r>
          </a:p>
        </p:txBody>
      </p:sp>
      <p:sp>
        <p:nvSpPr>
          <p:cNvPr id="95" name="TextBox 17">
            <a:extLst>
              <a:ext uri="{FF2B5EF4-FFF2-40B4-BE49-F238E27FC236}">
                <a16:creationId xmlns:a16="http://schemas.microsoft.com/office/drawing/2014/main" id="{C94677FF-4882-E170-B7C9-BCA11A947D2A}"/>
              </a:ext>
            </a:extLst>
          </p:cNvPr>
          <p:cNvSpPr txBox="1"/>
          <p:nvPr/>
        </p:nvSpPr>
        <p:spPr>
          <a:xfrm>
            <a:off x="6448778" y="4228785"/>
            <a:ext cx="1130165" cy="471668"/>
          </a:xfrm>
          <a:prstGeom prst="rect">
            <a:avLst/>
          </a:prstGeom>
        </p:spPr>
        <p:txBody>
          <a:bodyPr wrap="square" lIns="0" tIns="0" rIns="0" bIns="0" rtlCol="0" anchor="t">
            <a:spAutoFit/>
          </a:bodyPr>
          <a:lstStyle/>
          <a:p>
            <a:pPr algn="ctr">
              <a:lnSpc>
                <a:spcPts val="1860"/>
              </a:lnSpc>
            </a:pPr>
            <a:r>
              <a:rPr lang="en-US" sz="1550" b="1">
                <a:solidFill>
                  <a:srgbClr val="000000"/>
                </a:solidFill>
                <a:latin typeface="Arial Bold"/>
                <a:ea typeface="Arial Bold"/>
                <a:cs typeface="Arial Bold"/>
                <a:sym typeface="Arial Bold"/>
              </a:rPr>
              <a:t>Integration</a:t>
            </a:r>
          </a:p>
          <a:p>
            <a:pPr algn="ctr">
              <a:lnSpc>
                <a:spcPts val="1860"/>
              </a:lnSpc>
            </a:pPr>
            <a:r>
              <a:rPr lang="en-US" sz="1550" b="1">
                <a:solidFill>
                  <a:srgbClr val="000000"/>
                </a:solidFill>
                <a:latin typeface="Arial Bold"/>
                <a:ea typeface="Arial Bold"/>
                <a:cs typeface="Arial Bold"/>
                <a:sym typeface="Arial Bold"/>
              </a:rPr>
              <a:t>With CBS</a:t>
            </a:r>
            <a:endParaRPr lang="en-US" sz="1549" b="1">
              <a:solidFill>
                <a:srgbClr val="000000"/>
              </a:solidFill>
              <a:latin typeface="Arial Bold"/>
              <a:ea typeface="Arial Bold"/>
              <a:cs typeface="Arial Bold"/>
              <a:sym typeface="Arial Bold"/>
            </a:endParaRPr>
          </a:p>
        </p:txBody>
      </p:sp>
      <p:sp>
        <p:nvSpPr>
          <p:cNvPr id="99" name="TextBox 21">
            <a:extLst>
              <a:ext uri="{FF2B5EF4-FFF2-40B4-BE49-F238E27FC236}">
                <a16:creationId xmlns:a16="http://schemas.microsoft.com/office/drawing/2014/main" id="{7B7B1596-C294-11A0-37B6-5FD2C9F3E9B7}"/>
              </a:ext>
            </a:extLst>
          </p:cNvPr>
          <p:cNvSpPr txBox="1"/>
          <p:nvPr/>
        </p:nvSpPr>
        <p:spPr>
          <a:xfrm>
            <a:off x="10066029" y="4209722"/>
            <a:ext cx="864613" cy="495300"/>
          </a:xfrm>
          <a:prstGeom prst="rect">
            <a:avLst/>
          </a:prstGeom>
        </p:spPr>
        <p:txBody>
          <a:bodyPr lIns="0" tIns="0" rIns="0" bIns="0" rtlCol="0" anchor="t">
            <a:spAutoFit/>
          </a:bodyPr>
          <a:lstStyle/>
          <a:p>
            <a:pPr algn="ctr">
              <a:lnSpc>
                <a:spcPts val="1919"/>
              </a:lnSpc>
            </a:pPr>
            <a:r>
              <a:rPr lang="en-US" sz="1599" b="1">
                <a:solidFill>
                  <a:srgbClr val="000000"/>
                </a:solidFill>
                <a:latin typeface="Arial Bold"/>
                <a:ea typeface="Arial Bold"/>
                <a:cs typeface="Arial Bold"/>
                <a:sym typeface="Arial Bold"/>
              </a:rPr>
              <a:t>UAT</a:t>
            </a:r>
          </a:p>
          <a:p>
            <a:pPr algn="ctr">
              <a:lnSpc>
                <a:spcPts val="1920"/>
              </a:lnSpc>
            </a:pPr>
            <a:r>
              <a:rPr lang="en-US" sz="1600" b="1">
                <a:solidFill>
                  <a:srgbClr val="000000"/>
                </a:solidFill>
                <a:latin typeface="Arial Bold"/>
                <a:ea typeface="Arial Bold"/>
                <a:cs typeface="Arial Bold"/>
                <a:sym typeface="Arial Bold"/>
              </a:rPr>
              <a:t>Phase</a:t>
            </a:r>
          </a:p>
        </p:txBody>
      </p:sp>
      <p:sp>
        <p:nvSpPr>
          <p:cNvPr id="103" name="TextBox 25">
            <a:extLst>
              <a:ext uri="{FF2B5EF4-FFF2-40B4-BE49-F238E27FC236}">
                <a16:creationId xmlns:a16="http://schemas.microsoft.com/office/drawing/2014/main" id="{9701D50B-65A8-6B8F-4538-678ED02C9EEC}"/>
              </a:ext>
            </a:extLst>
          </p:cNvPr>
          <p:cNvSpPr txBox="1"/>
          <p:nvPr/>
        </p:nvSpPr>
        <p:spPr>
          <a:xfrm>
            <a:off x="1151498" y="5216957"/>
            <a:ext cx="1024934" cy="228717"/>
          </a:xfrm>
          <a:prstGeom prst="rect">
            <a:avLst/>
          </a:prstGeom>
        </p:spPr>
        <p:txBody>
          <a:bodyPr wrap="square" lIns="0" tIns="0" rIns="0" bIns="0" rtlCol="0" anchor="t">
            <a:spAutoFit/>
          </a:bodyPr>
          <a:lstStyle/>
          <a:p>
            <a:pPr algn="ctr">
              <a:lnSpc>
                <a:spcPts val="1889"/>
              </a:lnSpc>
            </a:pPr>
            <a:r>
              <a:rPr lang="en-US" sz="1575" b="1">
                <a:solidFill>
                  <a:srgbClr val="000000"/>
                </a:solidFill>
                <a:latin typeface="Arial Bold"/>
                <a:ea typeface="Arial Bold"/>
                <a:cs typeface="Arial Bold"/>
                <a:sym typeface="Arial Bold"/>
              </a:rPr>
              <a:t>Feb 2024</a:t>
            </a:r>
          </a:p>
        </p:txBody>
      </p:sp>
      <p:sp>
        <p:nvSpPr>
          <p:cNvPr id="104" name="TextBox 26">
            <a:extLst>
              <a:ext uri="{FF2B5EF4-FFF2-40B4-BE49-F238E27FC236}">
                <a16:creationId xmlns:a16="http://schemas.microsoft.com/office/drawing/2014/main" id="{6FB90BA9-35A1-52D8-4B06-7DF8253C5A18}"/>
              </a:ext>
            </a:extLst>
          </p:cNvPr>
          <p:cNvSpPr txBox="1"/>
          <p:nvPr/>
        </p:nvSpPr>
        <p:spPr>
          <a:xfrm>
            <a:off x="3633711" y="5216957"/>
            <a:ext cx="1130583" cy="228717"/>
          </a:xfrm>
          <a:prstGeom prst="rect">
            <a:avLst/>
          </a:prstGeom>
        </p:spPr>
        <p:txBody>
          <a:bodyPr wrap="square" lIns="0" tIns="0" rIns="0" bIns="0" rtlCol="0" anchor="t">
            <a:spAutoFit/>
          </a:bodyPr>
          <a:lstStyle/>
          <a:p>
            <a:pPr algn="ctr">
              <a:lnSpc>
                <a:spcPts val="1889"/>
              </a:lnSpc>
            </a:pPr>
            <a:r>
              <a:rPr lang="en-US" sz="1575" b="1">
                <a:solidFill>
                  <a:srgbClr val="000000"/>
                </a:solidFill>
                <a:latin typeface="Arial Bold"/>
                <a:ea typeface="Arial Bold"/>
                <a:cs typeface="Arial Bold"/>
                <a:sym typeface="Arial Bold"/>
              </a:rPr>
              <a:t>March 2024</a:t>
            </a:r>
          </a:p>
        </p:txBody>
      </p:sp>
      <p:sp>
        <p:nvSpPr>
          <p:cNvPr id="105" name="TextBox 27">
            <a:extLst>
              <a:ext uri="{FF2B5EF4-FFF2-40B4-BE49-F238E27FC236}">
                <a16:creationId xmlns:a16="http://schemas.microsoft.com/office/drawing/2014/main" id="{C3FEBE28-3E1D-0E85-47AF-74C03EDBD543}"/>
              </a:ext>
            </a:extLst>
          </p:cNvPr>
          <p:cNvSpPr txBox="1"/>
          <p:nvPr/>
        </p:nvSpPr>
        <p:spPr>
          <a:xfrm>
            <a:off x="6448359" y="5216957"/>
            <a:ext cx="1130584" cy="228717"/>
          </a:xfrm>
          <a:prstGeom prst="rect">
            <a:avLst/>
          </a:prstGeom>
        </p:spPr>
        <p:txBody>
          <a:bodyPr wrap="square" lIns="0" tIns="0" rIns="0" bIns="0" rtlCol="0" anchor="t">
            <a:spAutoFit/>
          </a:bodyPr>
          <a:lstStyle/>
          <a:p>
            <a:pPr algn="ctr">
              <a:lnSpc>
                <a:spcPts val="1889"/>
              </a:lnSpc>
            </a:pPr>
            <a:r>
              <a:rPr lang="en-US" sz="1575" b="1">
                <a:solidFill>
                  <a:srgbClr val="000000"/>
                </a:solidFill>
                <a:latin typeface="Arial Bold"/>
                <a:ea typeface="Arial Bold"/>
                <a:cs typeface="Arial Bold"/>
                <a:sym typeface="Arial Bold"/>
              </a:rPr>
              <a:t>July 2024</a:t>
            </a:r>
          </a:p>
        </p:txBody>
      </p:sp>
      <p:sp>
        <p:nvSpPr>
          <p:cNvPr id="106" name="TextBox 28">
            <a:extLst>
              <a:ext uri="{FF2B5EF4-FFF2-40B4-BE49-F238E27FC236}">
                <a16:creationId xmlns:a16="http://schemas.microsoft.com/office/drawing/2014/main" id="{70D7C832-13F1-07A5-6E32-05A77B7D1F3E}"/>
              </a:ext>
            </a:extLst>
          </p:cNvPr>
          <p:cNvSpPr txBox="1"/>
          <p:nvPr/>
        </p:nvSpPr>
        <p:spPr>
          <a:xfrm>
            <a:off x="9977824" y="5216957"/>
            <a:ext cx="1130585" cy="228717"/>
          </a:xfrm>
          <a:prstGeom prst="rect">
            <a:avLst/>
          </a:prstGeom>
        </p:spPr>
        <p:txBody>
          <a:bodyPr wrap="square" lIns="0" tIns="0" rIns="0" bIns="0" rtlCol="0" anchor="t">
            <a:spAutoFit/>
          </a:bodyPr>
          <a:lstStyle/>
          <a:p>
            <a:pPr algn="ctr">
              <a:lnSpc>
                <a:spcPts val="1889"/>
              </a:lnSpc>
            </a:pPr>
            <a:r>
              <a:rPr lang="en-US" sz="1575" b="1">
                <a:solidFill>
                  <a:srgbClr val="000000"/>
                </a:solidFill>
                <a:latin typeface="Arial Bold"/>
                <a:ea typeface="Arial Bold"/>
                <a:cs typeface="Arial Bold"/>
                <a:sym typeface="Arial Bold"/>
              </a:rPr>
              <a:t>December </a:t>
            </a:r>
          </a:p>
        </p:txBody>
      </p:sp>
      <p:sp>
        <p:nvSpPr>
          <p:cNvPr id="107" name="TextBox 29">
            <a:extLst>
              <a:ext uri="{FF2B5EF4-FFF2-40B4-BE49-F238E27FC236}">
                <a16:creationId xmlns:a16="http://schemas.microsoft.com/office/drawing/2014/main" id="{6DF6F90F-517D-245E-D51D-1DF454C8603C}"/>
              </a:ext>
            </a:extLst>
          </p:cNvPr>
          <p:cNvSpPr txBox="1"/>
          <p:nvPr/>
        </p:nvSpPr>
        <p:spPr>
          <a:xfrm>
            <a:off x="15124679" y="5216957"/>
            <a:ext cx="1130585" cy="228717"/>
          </a:xfrm>
          <a:prstGeom prst="rect">
            <a:avLst/>
          </a:prstGeom>
        </p:spPr>
        <p:txBody>
          <a:bodyPr wrap="square" lIns="0" tIns="0" rIns="0" bIns="0" rtlCol="0" anchor="t">
            <a:spAutoFit/>
          </a:bodyPr>
          <a:lstStyle/>
          <a:p>
            <a:pPr algn="ctr">
              <a:lnSpc>
                <a:spcPts val="1889"/>
              </a:lnSpc>
            </a:pPr>
            <a:r>
              <a:rPr lang="en-US" sz="1575" b="1">
                <a:solidFill>
                  <a:srgbClr val="000000"/>
                </a:solidFill>
                <a:latin typeface="Arial Bold"/>
                <a:ea typeface="Arial Bold"/>
                <a:cs typeface="Arial Bold"/>
                <a:sym typeface="Arial Bold"/>
              </a:rPr>
              <a:t>-</a:t>
            </a:r>
          </a:p>
        </p:txBody>
      </p:sp>
      <p:sp>
        <p:nvSpPr>
          <p:cNvPr id="108" name="Rectangle 107">
            <a:extLst>
              <a:ext uri="{FF2B5EF4-FFF2-40B4-BE49-F238E27FC236}">
                <a16:creationId xmlns:a16="http://schemas.microsoft.com/office/drawing/2014/main" id="{C01D54BA-4C8D-18F4-4FA7-B1110E8EE997}"/>
              </a:ext>
            </a:extLst>
          </p:cNvPr>
          <p:cNvSpPr/>
          <p:nvPr/>
        </p:nvSpPr>
        <p:spPr bwMode="gray">
          <a:xfrm>
            <a:off x="860944" y="4172343"/>
            <a:ext cx="9682173" cy="1396406"/>
          </a:xfrm>
          <a:prstGeom prst="rect">
            <a:avLst/>
          </a:prstGeom>
          <a:solidFill>
            <a:srgbClr val="00B0F0">
              <a:alpha val="13000"/>
            </a:srgbClr>
          </a:solidFill>
          <a:ln w="19050" algn="ctr">
            <a:no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12" name="Oval 111">
            <a:extLst>
              <a:ext uri="{FF2B5EF4-FFF2-40B4-BE49-F238E27FC236}">
                <a16:creationId xmlns:a16="http://schemas.microsoft.com/office/drawing/2014/main" id="{20D26E17-5AB4-FA68-6EC8-5222A1B48FD8}"/>
              </a:ext>
            </a:extLst>
          </p:cNvPr>
          <p:cNvSpPr/>
          <p:nvPr/>
        </p:nvSpPr>
        <p:spPr>
          <a:xfrm>
            <a:off x="15478322" y="4726223"/>
            <a:ext cx="391863" cy="389603"/>
          </a:xfrm>
          <a:prstGeom prst="ellipse">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A72582D-F769-3459-76E1-47A62D08F0A9}"/>
              </a:ext>
            </a:extLst>
          </p:cNvPr>
          <p:cNvSpPr/>
          <p:nvPr/>
        </p:nvSpPr>
        <p:spPr>
          <a:xfrm>
            <a:off x="13238930" y="4740888"/>
            <a:ext cx="391862" cy="389603"/>
          </a:xfrm>
          <a:prstGeom prst="ellipse">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29">
            <a:extLst>
              <a:ext uri="{FF2B5EF4-FFF2-40B4-BE49-F238E27FC236}">
                <a16:creationId xmlns:a16="http://schemas.microsoft.com/office/drawing/2014/main" id="{38DC0846-2104-9517-ADCC-454DCEEC661F}"/>
              </a:ext>
            </a:extLst>
          </p:cNvPr>
          <p:cNvSpPr txBox="1"/>
          <p:nvPr/>
        </p:nvSpPr>
        <p:spPr>
          <a:xfrm>
            <a:off x="12905994" y="5216957"/>
            <a:ext cx="1130585" cy="228717"/>
          </a:xfrm>
          <a:prstGeom prst="rect">
            <a:avLst/>
          </a:prstGeom>
        </p:spPr>
        <p:txBody>
          <a:bodyPr wrap="square" lIns="0" tIns="0" rIns="0" bIns="0" rtlCol="0" anchor="t">
            <a:spAutoFit/>
          </a:bodyPr>
          <a:lstStyle/>
          <a:p>
            <a:pPr algn="ctr">
              <a:lnSpc>
                <a:spcPts val="1889"/>
              </a:lnSpc>
            </a:pPr>
            <a:r>
              <a:rPr lang="en-US" sz="1575" b="1">
                <a:solidFill>
                  <a:srgbClr val="000000"/>
                </a:solidFill>
                <a:latin typeface="Arial Bold"/>
                <a:ea typeface="Arial Bold"/>
                <a:cs typeface="Arial Bold"/>
                <a:sym typeface="Arial Bold"/>
              </a:rPr>
              <a:t>-</a:t>
            </a:r>
          </a:p>
        </p:txBody>
      </p:sp>
      <p:sp>
        <p:nvSpPr>
          <p:cNvPr id="21" name="TextBox 21">
            <a:extLst>
              <a:ext uri="{FF2B5EF4-FFF2-40B4-BE49-F238E27FC236}">
                <a16:creationId xmlns:a16="http://schemas.microsoft.com/office/drawing/2014/main" id="{E7E839CC-B985-E430-755B-8B0F501F6430}"/>
              </a:ext>
            </a:extLst>
          </p:cNvPr>
          <p:cNvSpPr txBox="1"/>
          <p:nvPr/>
        </p:nvSpPr>
        <p:spPr>
          <a:xfrm>
            <a:off x="12877809" y="4202133"/>
            <a:ext cx="1059710" cy="487313"/>
          </a:xfrm>
          <a:prstGeom prst="rect">
            <a:avLst/>
          </a:prstGeom>
        </p:spPr>
        <p:txBody>
          <a:bodyPr wrap="square" lIns="0" tIns="0" rIns="0" bIns="0" rtlCol="0" anchor="t">
            <a:spAutoFit/>
          </a:bodyPr>
          <a:lstStyle/>
          <a:p>
            <a:pPr algn="ctr">
              <a:lnSpc>
                <a:spcPts val="1919"/>
              </a:lnSpc>
            </a:pPr>
            <a:r>
              <a:rPr lang="en-US" sz="1599" b="1">
                <a:solidFill>
                  <a:srgbClr val="000000"/>
                </a:solidFill>
                <a:latin typeface="Arial Bold"/>
                <a:ea typeface="Arial Bold"/>
                <a:cs typeface="Arial Bold"/>
                <a:sym typeface="Arial Bold"/>
              </a:rPr>
              <a:t>Go-Live</a:t>
            </a:r>
          </a:p>
          <a:p>
            <a:pPr algn="ctr">
              <a:lnSpc>
                <a:spcPts val="1919"/>
              </a:lnSpc>
            </a:pPr>
            <a:r>
              <a:rPr lang="en-US" sz="1599" b="1">
                <a:solidFill>
                  <a:srgbClr val="000000"/>
                </a:solidFill>
                <a:latin typeface="Arial Bold"/>
                <a:ea typeface="Arial Bold"/>
                <a:cs typeface="Arial Bold"/>
                <a:sym typeface="Arial Bold"/>
              </a:rPr>
              <a:t>Phase</a:t>
            </a:r>
            <a:endParaRPr lang="en-US" sz="1600" b="1">
              <a:solidFill>
                <a:srgbClr val="000000"/>
              </a:solidFill>
              <a:latin typeface="Arial Bold"/>
              <a:ea typeface="Arial Bold"/>
              <a:cs typeface="Arial Bold"/>
              <a:sym typeface="Arial Bold"/>
            </a:endParaRPr>
          </a:p>
        </p:txBody>
      </p:sp>
      <p:sp>
        <p:nvSpPr>
          <p:cNvPr id="2" name="Oval 1">
            <a:extLst>
              <a:ext uri="{FF2B5EF4-FFF2-40B4-BE49-F238E27FC236}">
                <a16:creationId xmlns:a16="http://schemas.microsoft.com/office/drawing/2014/main" id="{756F6069-D5E1-4D06-63F6-6629E5756470}"/>
              </a:ext>
            </a:extLst>
          </p:cNvPr>
          <p:cNvSpPr/>
          <p:nvPr/>
        </p:nvSpPr>
        <p:spPr>
          <a:xfrm>
            <a:off x="10326946" y="4740326"/>
            <a:ext cx="391862" cy="389603"/>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F6903C0-D494-7FD2-90D9-83F14D72C53D}"/>
              </a:ext>
            </a:extLst>
          </p:cNvPr>
          <p:cNvSpPr/>
          <p:nvPr/>
        </p:nvSpPr>
        <p:spPr>
          <a:xfrm>
            <a:off x="6810998" y="4725093"/>
            <a:ext cx="391862" cy="389603"/>
          </a:xfrm>
          <a:prstGeom prst="ellipse">
            <a:avLst/>
          </a:prstGeom>
          <a:solidFill>
            <a:srgbClr val="0033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1D43F15D-A24C-C427-4020-648E4981A8E9}"/>
              </a:ext>
            </a:extLst>
          </p:cNvPr>
          <p:cNvSpPr/>
          <p:nvPr/>
        </p:nvSpPr>
        <p:spPr>
          <a:xfrm>
            <a:off x="4003072" y="4733568"/>
            <a:ext cx="391862" cy="389603"/>
          </a:xfrm>
          <a:prstGeom prst="ellipse">
            <a:avLst/>
          </a:prstGeom>
          <a:solidFill>
            <a:srgbClr val="0033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C23B4971-ECB3-9542-E2B4-E34B983973EB}"/>
              </a:ext>
            </a:extLst>
          </p:cNvPr>
          <p:cNvSpPr/>
          <p:nvPr/>
        </p:nvSpPr>
        <p:spPr>
          <a:xfrm>
            <a:off x="1423250" y="4733531"/>
            <a:ext cx="391862" cy="389603"/>
          </a:xfrm>
          <a:prstGeom prst="ellipse">
            <a:avLst/>
          </a:prstGeom>
          <a:solidFill>
            <a:srgbClr val="0033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362234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B53EE49-D30F-D928-062D-CCC072DE1AB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3CAAE2F-3430-8292-5AC9-C68C78E302DD}"/>
              </a:ext>
            </a:extLst>
          </p:cNvPr>
          <p:cNvSpPr/>
          <p:nvPr/>
        </p:nvSpPr>
        <p:spPr>
          <a:xfrm>
            <a:off x="821533" y="1462082"/>
            <a:ext cx="16626842" cy="452903"/>
          </a:xfrm>
          <a:prstGeom prst="rect">
            <a:avLst/>
          </a:prstGeom>
          <a:solidFill>
            <a:srgbClr val="00A69C"/>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mj-lt"/>
                <a:ea typeface="+mn-ea"/>
                <a:cs typeface="+mn-cs"/>
              </a:rPr>
              <a:t>Project Highlights </a:t>
            </a:r>
          </a:p>
        </p:txBody>
      </p:sp>
      <p:sp>
        <p:nvSpPr>
          <p:cNvPr id="5" name="Title 1">
            <a:extLst>
              <a:ext uri="{FF2B5EF4-FFF2-40B4-BE49-F238E27FC236}">
                <a16:creationId xmlns:a16="http://schemas.microsoft.com/office/drawing/2014/main" id="{95759F31-41F0-B437-493A-B9C3FEC4662F}"/>
              </a:ext>
            </a:extLst>
          </p:cNvPr>
          <p:cNvSpPr txBox="1">
            <a:spLocks/>
          </p:cNvSpPr>
          <p:nvPr/>
        </p:nvSpPr>
        <p:spPr>
          <a:xfrm>
            <a:off x="832104" y="778517"/>
            <a:ext cx="13441680" cy="577082"/>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spcBef>
                <a:spcPct val="0"/>
              </a:spcBef>
              <a:defRPr/>
            </a:pPr>
            <a:r>
              <a:rPr lang="en-US" sz="3750" b="1">
                <a:ln w="6350" cap="flat">
                  <a:noFill/>
                  <a:miter lim="800000"/>
                </a:ln>
                <a:ea typeface="Calibri"/>
                <a:cs typeface="Calibri"/>
              </a:rPr>
              <a:t>Lorem </a:t>
            </a:r>
            <a:r>
              <a:rPr lang="en-US" sz="3750" b="1" err="1">
                <a:ln w="6350" cap="flat">
                  <a:noFill/>
                  <a:miter lim="800000"/>
                </a:ln>
                <a:ea typeface="Calibri"/>
                <a:cs typeface="Calibri"/>
              </a:rPr>
              <a:t>lorem</a:t>
            </a:r>
            <a:r>
              <a:rPr lang="en-US" sz="3750" b="1">
                <a:ln w="6350" cap="flat">
                  <a:noFill/>
                  <a:miter lim="800000"/>
                </a:ln>
                <a:ea typeface="Calibri"/>
                <a:cs typeface="Calibri"/>
              </a:rPr>
              <a:t> default</a:t>
            </a:r>
          </a:p>
        </p:txBody>
      </p:sp>
      <p:sp>
        <p:nvSpPr>
          <p:cNvPr id="6" name="Rectangle 5">
            <a:extLst>
              <a:ext uri="{FF2B5EF4-FFF2-40B4-BE49-F238E27FC236}">
                <a16:creationId xmlns:a16="http://schemas.microsoft.com/office/drawing/2014/main" id="{85193CE9-E5E7-44CD-5CEE-F7C8018C386B}"/>
              </a:ext>
            </a:extLst>
          </p:cNvPr>
          <p:cNvSpPr/>
          <p:nvPr/>
        </p:nvSpPr>
        <p:spPr bwMode="auto">
          <a:xfrm>
            <a:off x="15836117" y="2117372"/>
            <a:ext cx="1612257" cy="405768"/>
          </a:xfrm>
          <a:prstGeom prst="rect">
            <a:avLst/>
          </a:prstGeom>
          <a:solidFill>
            <a:srgbClr val="00A69C"/>
          </a:solid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anose="020B0604020202020204" pitchFamily="34" charset="0"/>
              </a:rPr>
              <a:t>Current Period</a:t>
            </a:r>
          </a:p>
        </p:txBody>
      </p:sp>
      <p:sp>
        <p:nvSpPr>
          <p:cNvPr id="7" name="Rectangle 6">
            <a:extLst>
              <a:ext uri="{FF2B5EF4-FFF2-40B4-BE49-F238E27FC236}">
                <a16:creationId xmlns:a16="http://schemas.microsoft.com/office/drawing/2014/main" id="{35D022EE-D629-58B4-EBB1-B94C1F389EA4}"/>
              </a:ext>
            </a:extLst>
          </p:cNvPr>
          <p:cNvSpPr/>
          <p:nvPr/>
        </p:nvSpPr>
        <p:spPr bwMode="auto">
          <a:xfrm>
            <a:off x="14111579" y="2117372"/>
            <a:ext cx="1620000" cy="405768"/>
          </a:xfrm>
          <a:prstGeom prst="rect">
            <a:avLst/>
          </a:prstGeom>
          <a:solidFill>
            <a:srgbClr val="00A69C"/>
          </a:solid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anose="020B0604020202020204" pitchFamily="34" charset="0"/>
              </a:rPr>
              <a:t>Previous Period</a:t>
            </a:r>
          </a:p>
        </p:txBody>
      </p:sp>
      <p:sp>
        <p:nvSpPr>
          <p:cNvPr id="8" name="Rectangle 7">
            <a:extLst>
              <a:ext uri="{FF2B5EF4-FFF2-40B4-BE49-F238E27FC236}">
                <a16:creationId xmlns:a16="http://schemas.microsoft.com/office/drawing/2014/main" id="{F8F99F0A-3E5A-1DCD-8E7A-FFE418C79408}"/>
              </a:ext>
            </a:extLst>
          </p:cNvPr>
          <p:cNvSpPr/>
          <p:nvPr/>
        </p:nvSpPr>
        <p:spPr bwMode="auto">
          <a:xfrm>
            <a:off x="14108565" y="2521505"/>
            <a:ext cx="1612257" cy="533898"/>
          </a:xfrm>
          <a:prstGeom prst="rect">
            <a:avLst/>
          </a:prstGeom>
          <a:solidFill>
            <a:srgbClr val="E2F0D9"/>
          </a:solidFill>
          <a:ln w="9525" cap="flat" cmpd="sng" algn="ctr">
            <a:solidFill>
              <a:srgbClr val="FFCCCC"/>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defTabSz="1564584">
              <a:defRPr/>
            </a:pPr>
            <a:r>
              <a:rPr lang="en-US" sz="1500" b="1" kern="0">
                <a:solidFill>
                  <a:prstClr val="black"/>
                </a:solidFill>
                <a:latin typeface="+mj-lt"/>
                <a:cs typeface="Arial" panose="020B0604020202020204" pitchFamily="34" charset="0"/>
              </a:rPr>
              <a:t>On Track</a:t>
            </a:r>
            <a:endParaRPr lang="en-GB" sz="1500" b="1" kern="0">
              <a:solidFill>
                <a:prstClr val="black"/>
              </a:solidFill>
              <a:latin typeface="+mj-lt"/>
              <a:cs typeface="Arial" panose="020B0604020202020204" pitchFamily="34" charset="0"/>
            </a:endParaRPr>
          </a:p>
        </p:txBody>
      </p:sp>
      <p:sp>
        <p:nvSpPr>
          <p:cNvPr id="9" name="Rectangle 8">
            <a:extLst>
              <a:ext uri="{FF2B5EF4-FFF2-40B4-BE49-F238E27FC236}">
                <a16:creationId xmlns:a16="http://schemas.microsoft.com/office/drawing/2014/main" id="{E4B86144-16ED-368B-4B7B-4C7F350C3C5D}"/>
              </a:ext>
            </a:extLst>
          </p:cNvPr>
          <p:cNvSpPr/>
          <p:nvPr/>
        </p:nvSpPr>
        <p:spPr bwMode="auto">
          <a:xfrm>
            <a:off x="6127743" y="2095150"/>
            <a:ext cx="7765395" cy="1410461"/>
          </a:xfrm>
          <a:prstGeom prst="rect">
            <a:avLst/>
          </a:prstGeom>
          <a:no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lang="en-US" sz="1350" b="1"/>
              <a:t>Lorem</a:t>
            </a:r>
            <a:r>
              <a:rPr lang="en-US" sz="1350" b="1">
                <a:ea typeface="Calibri"/>
                <a:cs typeface="Calibri"/>
              </a:rPr>
              <a:t> </a:t>
            </a:r>
            <a:r>
              <a:rPr lang="en-US" sz="1350" b="1" err="1">
                <a:ea typeface="Calibri"/>
                <a:cs typeface="Calibri"/>
              </a:rPr>
              <a:t>lorem</a:t>
            </a:r>
          </a:p>
          <a:p>
            <a:r>
              <a:rPr lang="en-US" sz="1350" b="1">
                <a:ea typeface="Calibri"/>
                <a:cs typeface="Calibri"/>
              </a:rPr>
              <a:t>Lorem </a:t>
            </a:r>
            <a:r>
              <a:rPr lang="en-US" sz="1350" b="1" err="1">
                <a:ea typeface="Calibri"/>
                <a:cs typeface="Calibri"/>
              </a:rPr>
              <a:t>lorem</a:t>
            </a:r>
          </a:p>
          <a:p>
            <a:endParaRPr lang="en-US" sz="1350" b="1">
              <a:ea typeface="Calibri"/>
              <a:cs typeface="Calibri"/>
            </a:endParaRPr>
          </a:p>
        </p:txBody>
      </p:sp>
      <p:sp>
        <p:nvSpPr>
          <p:cNvPr id="10" name="Rectangle 9">
            <a:extLst>
              <a:ext uri="{FF2B5EF4-FFF2-40B4-BE49-F238E27FC236}">
                <a16:creationId xmlns:a16="http://schemas.microsoft.com/office/drawing/2014/main" id="{DC813557-FDD8-FCD0-3FEE-F86EF4B75596}"/>
              </a:ext>
            </a:extLst>
          </p:cNvPr>
          <p:cNvSpPr/>
          <p:nvPr/>
        </p:nvSpPr>
        <p:spPr>
          <a:xfrm>
            <a:off x="821533" y="5756321"/>
            <a:ext cx="16626842" cy="452903"/>
          </a:xfrm>
          <a:prstGeom prst="rect">
            <a:avLst/>
          </a:prstGeom>
          <a:solidFill>
            <a:srgbClr val="00A69C"/>
          </a:solidFill>
          <a:ln w="952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mj-lt"/>
                <a:ea typeface="+mn-ea"/>
                <a:cs typeface="+mn-cs"/>
              </a:rPr>
              <a:t>Key Risks, Issues &amp; Decisions</a:t>
            </a:r>
          </a:p>
        </p:txBody>
      </p:sp>
      <p:graphicFrame>
        <p:nvGraphicFramePr>
          <p:cNvPr id="11" name="Table 6">
            <a:extLst>
              <a:ext uri="{FF2B5EF4-FFF2-40B4-BE49-F238E27FC236}">
                <a16:creationId xmlns:a16="http://schemas.microsoft.com/office/drawing/2014/main" id="{6812B05B-F5D4-053B-103E-22F5C327DF17}"/>
              </a:ext>
            </a:extLst>
          </p:cNvPr>
          <p:cNvGraphicFramePr>
            <a:graphicFrameLocks noGrp="1"/>
          </p:cNvGraphicFramePr>
          <p:nvPr/>
        </p:nvGraphicFramePr>
        <p:xfrm>
          <a:off x="832104" y="6499601"/>
          <a:ext cx="16626847" cy="1767840"/>
        </p:xfrm>
        <a:graphic>
          <a:graphicData uri="http://schemas.openxmlformats.org/drawingml/2006/table">
            <a:tbl>
              <a:tblPr firstRow="1" bandRow="1">
                <a:tableStyleId>{5C22544A-7EE6-4342-B048-85BDC9FD1C3A}</a:tableStyleId>
              </a:tblPr>
              <a:tblGrid>
                <a:gridCol w="1978329">
                  <a:extLst>
                    <a:ext uri="{9D8B030D-6E8A-4147-A177-3AD203B41FA5}">
                      <a16:colId xmlns:a16="http://schemas.microsoft.com/office/drawing/2014/main" val="1940594143"/>
                    </a:ext>
                  </a:extLst>
                </a:gridCol>
                <a:gridCol w="6785486">
                  <a:extLst>
                    <a:ext uri="{9D8B030D-6E8A-4147-A177-3AD203B41FA5}">
                      <a16:colId xmlns:a16="http://schemas.microsoft.com/office/drawing/2014/main" val="273235595"/>
                    </a:ext>
                  </a:extLst>
                </a:gridCol>
                <a:gridCol w="2301858">
                  <a:extLst>
                    <a:ext uri="{9D8B030D-6E8A-4147-A177-3AD203B41FA5}">
                      <a16:colId xmlns:a16="http://schemas.microsoft.com/office/drawing/2014/main" val="1034871609"/>
                    </a:ext>
                  </a:extLst>
                </a:gridCol>
                <a:gridCol w="2237015">
                  <a:extLst>
                    <a:ext uri="{9D8B030D-6E8A-4147-A177-3AD203B41FA5}">
                      <a16:colId xmlns:a16="http://schemas.microsoft.com/office/drawing/2014/main" val="1556653191"/>
                    </a:ext>
                  </a:extLst>
                </a:gridCol>
                <a:gridCol w="3324159">
                  <a:extLst>
                    <a:ext uri="{9D8B030D-6E8A-4147-A177-3AD203B41FA5}">
                      <a16:colId xmlns:a16="http://schemas.microsoft.com/office/drawing/2014/main" val="666502604"/>
                    </a:ext>
                  </a:extLst>
                </a:gridCol>
              </a:tblGrid>
              <a:tr h="411480">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panose="020B0604020202020204" pitchFamily="34" charset="0"/>
                        </a:rPr>
                        <a:t>Area</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panose="020B0604020202020204" pitchFamily="34" charset="0"/>
                        </a:rPr>
                        <a:t>Item</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panose="020B0604020202020204" pitchFamily="34" charset="0"/>
                        </a:rPr>
                        <a:t>Status</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panose="020B0604020202020204" pitchFamily="34" charset="0"/>
                        </a:rPr>
                        <a:t>Due Date</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panose="020B0604020202020204" pitchFamily="34" charset="0"/>
                        </a:rPr>
                        <a:t>Owner</a:t>
                      </a:r>
                    </a:p>
                  </a:txBody>
                  <a:tcPr marL="137160" marR="137160" marT="68580" marB="6858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9013299"/>
                  </a:ext>
                </a:extLst>
              </a:tr>
              <a:tr h="377190">
                <a:tc>
                  <a:txBody>
                    <a:bodyPr/>
                    <a:lstStyle/>
                    <a:p>
                      <a:r>
                        <a:rPr kumimoji="0" lang="en-US" sz="1600" b="1" i="0" u="none" strike="noStrike" kern="1200" cap="none" spc="0" normalizeH="0" baseline="0">
                          <a:ln>
                            <a:noFill/>
                          </a:ln>
                          <a:solidFill>
                            <a:srgbClr val="000000"/>
                          </a:solidFill>
                          <a:effectLst/>
                          <a:uLnTx/>
                          <a:uFillTx/>
                          <a:latin typeface="+mn-lt"/>
                          <a:ea typeface="+mn-ea"/>
                          <a:cs typeface="Arial" panose="020B0604020202020204" pitchFamily="34" charset="0"/>
                        </a:rPr>
                        <a:t>Risks</a:t>
                      </a:r>
                    </a:p>
                  </a:txBody>
                  <a:tcPr marL="137160" marR="137160" marT="68580" marB="6858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74320" indent="0" algn="l" defTabSz="914400" rtl="0" eaLnBrk="1" latinLnBrk="0" hangingPunct="1">
                        <a:buClr>
                          <a:srgbClr val="002060"/>
                        </a:buClr>
                        <a:buSzPct val="150000"/>
                        <a:buFontTx/>
                        <a:buNone/>
                      </a:pPr>
                      <a:endParaRPr lang="en-US" sz="1500" b="0" kern="1200">
                        <a:solidFill>
                          <a:srgbClr val="000000"/>
                        </a:solidFill>
                        <a:latin typeface="Arial"/>
                        <a:ea typeface="+mn-ea"/>
                        <a:cs typeface="Arial" panose="020B0604020202020204" pitchFamily="34" charset="0"/>
                      </a:endParaRPr>
                    </a:p>
                  </a:txBody>
                  <a:tcPr marL="137160" marR="137160" marT="68580" marB="68580" anchor="ctr">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2060"/>
                        </a:buClr>
                        <a:buSzPct val="150000"/>
                        <a:buFontTx/>
                        <a:buNone/>
                        <a:tabLst/>
                        <a:defRPr/>
                      </a:pPr>
                      <a:endParaRPr lang="en-US" sz="1500" b="0" kern="1200">
                        <a:solidFill>
                          <a:srgbClr val="000000"/>
                        </a:solidFill>
                        <a:latin typeface="Arial"/>
                        <a:ea typeface="+mn-ea"/>
                        <a:cs typeface="Arial" panose="020B0604020202020204" pitchFamily="34" charset="0"/>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500" b="0" kern="1200">
                        <a:solidFill>
                          <a:srgbClr val="000000"/>
                        </a:solidFill>
                        <a:latin typeface="Arial"/>
                        <a:ea typeface="+mn-ea"/>
                        <a:cs typeface="Arial" panose="020B0604020202020204" pitchFamily="34" charset="0"/>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500" b="0" kern="1200">
                        <a:solidFill>
                          <a:srgbClr val="000000"/>
                        </a:solidFill>
                        <a:latin typeface="Arial"/>
                        <a:ea typeface="+mn-ea"/>
                        <a:cs typeface="Arial" panose="020B0604020202020204" pitchFamily="34" charset="0"/>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7621933"/>
                  </a:ext>
                </a:extLst>
              </a:tr>
              <a:tr h="377190">
                <a:tc>
                  <a:txBody>
                    <a:bodyPr/>
                    <a:lstStyle/>
                    <a:p>
                      <a:r>
                        <a:rPr kumimoji="0" lang="en-US" sz="1600" b="1" i="0" u="none" strike="noStrike" kern="1200" cap="none" spc="0" normalizeH="0" baseline="0">
                          <a:ln>
                            <a:noFill/>
                          </a:ln>
                          <a:solidFill>
                            <a:srgbClr val="000000"/>
                          </a:solidFill>
                          <a:effectLst/>
                          <a:uLnTx/>
                          <a:uFillTx/>
                          <a:latin typeface="+mn-lt"/>
                          <a:ea typeface="+mn-ea"/>
                          <a:cs typeface="Arial" panose="020B0604020202020204" pitchFamily="34" charset="0"/>
                        </a:rPr>
                        <a:t>Issues</a:t>
                      </a:r>
                    </a:p>
                  </a:txBody>
                  <a:tcPr marL="137160" marR="137160" marT="68580" marB="6858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endParaRPr lang="en-US" sz="1500" strike="noStrike"/>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2060"/>
                        </a:buClr>
                        <a:buSzPct val="150000"/>
                        <a:buFontTx/>
                        <a:buNone/>
                        <a:tabLst/>
                        <a:defRPr/>
                      </a:pPr>
                      <a:endParaRPr lang="en-US" sz="1500" b="0" strike="noStrike" kern="1200">
                        <a:solidFill>
                          <a:srgbClr val="000000"/>
                        </a:solidFill>
                        <a:latin typeface="+mn-lt"/>
                        <a:ea typeface="+mn-ea"/>
                        <a:cs typeface="Arial" panose="020B0604020202020204" pitchFamily="34" charset="0"/>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500" b="0" strike="noStrike" kern="1200">
                        <a:solidFill>
                          <a:srgbClr val="000000"/>
                        </a:solidFill>
                        <a:latin typeface="+mn-lt"/>
                        <a:ea typeface="+mn-ea"/>
                        <a:cs typeface="Arial" panose="020B0604020202020204" pitchFamily="34" charset="0"/>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500" b="0" strike="noStrike" kern="1200">
                          <a:solidFill>
                            <a:srgbClr val="000000"/>
                          </a:solidFill>
                          <a:latin typeface="+mn-lt"/>
                          <a:ea typeface="+mn-ea"/>
                          <a:cs typeface="Arial" panose="020B0604020202020204" pitchFamily="34" charset="0"/>
                        </a:rPr>
                        <a:t> </a:t>
                      </a:r>
                    </a:p>
                  </a:txBody>
                  <a:tcPr marL="137160" marR="137160" marT="68580" marB="6858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74165115"/>
                  </a:ext>
                </a:extLst>
              </a:tr>
              <a:tr h="594360">
                <a:tc>
                  <a:txBody>
                    <a:bodyPr/>
                    <a:lstStyle/>
                    <a:p>
                      <a:pPr marL="0" indent="0">
                        <a:buClr>
                          <a:srgbClr val="002060"/>
                        </a:buClr>
                        <a:buSzPct val="150000"/>
                        <a:buFontTx/>
                        <a:buNone/>
                      </a:pPr>
                      <a:r>
                        <a:rPr kumimoji="0" lang="en-US" sz="1600" b="1" i="0" u="none" strike="noStrike" kern="1200" cap="none" spc="0" normalizeH="0" baseline="0">
                          <a:ln>
                            <a:noFill/>
                          </a:ln>
                          <a:solidFill>
                            <a:srgbClr val="000000"/>
                          </a:solidFill>
                          <a:effectLst/>
                          <a:uLnTx/>
                          <a:uFillTx/>
                          <a:latin typeface="+mn-lt"/>
                          <a:ea typeface="+mn-ea"/>
                          <a:cs typeface="Arial" panose="020B0604020202020204" pitchFamily="34" charset="0"/>
                        </a:rPr>
                        <a:t>Decisions</a:t>
                      </a:r>
                      <a:endParaRPr kumimoji="0" lang="en-US" sz="1600" b="1" i="0" u="none" strike="noStrike" kern="1200" cap="none" spc="0" normalizeH="0" baseline="0">
                        <a:ln>
                          <a:noFill/>
                        </a:ln>
                        <a:solidFill>
                          <a:srgbClr val="000000"/>
                        </a:solidFill>
                        <a:effectLst/>
                        <a:uLnTx/>
                        <a:uFillTx/>
                        <a:latin typeface="Arial"/>
                        <a:ea typeface="+mn-ea"/>
                        <a:cs typeface="Arial" panose="020B0604020202020204" pitchFamily="34" charset="0"/>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74320" marR="0" lvl="0" indent="0" algn="l" defTabSz="914400" rtl="0" eaLnBrk="1" fontAlgn="auto" latinLnBrk="0" hangingPunct="1">
                        <a:lnSpc>
                          <a:spcPct val="100000"/>
                        </a:lnSpc>
                        <a:spcBef>
                          <a:spcPts val="0"/>
                        </a:spcBef>
                        <a:spcAft>
                          <a:spcPts val="0"/>
                        </a:spcAft>
                        <a:buClr>
                          <a:srgbClr val="002060"/>
                        </a:buClr>
                        <a:buSzPct val="150000"/>
                        <a:buFontTx/>
                        <a:buNone/>
                        <a:tabLst/>
                        <a:defRPr/>
                      </a:pPr>
                      <a:endParaRPr lang="en-US" sz="1500" b="0" kern="1200">
                        <a:solidFill>
                          <a:srgbClr val="000000"/>
                        </a:solidFill>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2060"/>
                        </a:buClr>
                        <a:buSzPct val="150000"/>
                        <a:buFontTx/>
                        <a:buNone/>
                        <a:tabLst/>
                        <a:defRPr/>
                      </a:pPr>
                      <a:endParaRPr lang="en-US" sz="1500" b="0" kern="1200">
                        <a:solidFill>
                          <a:srgbClr val="000000"/>
                        </a:solidFill>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500" b="0" kern="1200">
                        <a:solidFill>
                          <a:srgbClr val="000000"/>
                        </a:solidFill>
                        <a:latin typeface="Arial"/>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500" b="0" kern="1200">
                        <a:solidFill>
                          <a:srgbClr val="000000"/>
                        </a:solidFill>
                        <a:latin typeface="+mn-lt"/>
                        <a:ea typeface="+mn-ea"/>
                        <a:cs typeface="Arial"/>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8196877"/>
                  </a:ext>
                </a:extLst>
              </a:tr>
            </a:tbl>
          </a:graphicData>
        </a:graphic>
      </p:graphicFrame>
      <p:grpSp>
        <p:nvGrpSpPr>
          <p:cNvPr id="12" name="Group 11">
            <a:extLst>
              <a:ext uri="{FF2B5EF4-FFF2-40B4-BE49-F238E27FC236}">
                <a16:creationId xmlns:a16="http://schemas.microsoft.com/office/drawing/2014/main" id="{6903950D-4A42-12C7-15F7-840B246EAEEF}"/>
              </a:ext>
            </a:extLst>
          </p:cNvPr>
          <p:cNvGrpSpPr/>
          <p:nvPr/>
        </p:nvGrpSpPr>
        <p:grpSpPr>
          <a:xfrm>
            <a:off x="860944" y="2053329"/>
            <a:ext cx="5041568" cy="1202997"/>
            <a:chOff x="567987" y="1398301"/>
            <a:chExt cx="3361045" cy="801998"/>
          </a:xfrm>
          <a:solidFill>
            <a:srgbClr val="00A69C"/>
          </a:solidFill>
        </p:grpSpPr>
        <p:sp>
          <p:nvSpPr>
            <p:cNvPr id="13" name="Rectangle 12">
              <a:extLst>
                <a:ext uri="{FF2B5EF4-FFF2-40B4-BE49-F238E27FC236}">
                  <a16:creationId xmlns:a16="http://schemas.microsoft.com/office/drawing/2014/main" id="{CB5FB8E2-C5E3-05D0-80E1-80084185D198}"/>
                </a:ext>
              </a:extLst>
            </p:cNvPr>
            <p:cNvSpPr/>
            <p:nvPr/>
          </p:nvSpPr>
          <p:spPr bwMode="auto">
            <a:xfrm>
              <a:off x="567987" y="1398301"/>
              <a:ext cx="1440000" cy="256198"/>
            </a:xfrm>
            <a:prstGeom prst="rect">
              <a:avLst/>
            </a:prstGeom>
            <a:grp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itchFamily="34" charset="0"/>
                </a:rPr>
                <a:t>Reporting Period</a:t>
              </a:r>
            </a:p>
          </p:txBody>
        </p:sp>
        <p:sp>
          <p:nvSpPr>
            <p:cNvPr id="14" name="Rectangle 13">
              <a:extLst>
                <a:ext uri="{FF2B5EF4-FFF2-40B4-BE49-F238E27FC236}">
                  <a16:creationId xmlns:a16="http://schemas.microsoft.com/office/drawing/2014/main" id="{E9E12FAB-77B7-C61C-CC42-4D2F6072FACD}"/>
                </a:ext>
              </a:extLst>
            </p:cNvPr>
            <p:cNvSpPr/>
            <p:nvPr/>
          </p:nvSpPr>
          <p:spPr bwMode="auto">
            <a:xfrm>
              <a:off x="2127836" y="1398301"/>
              <a:ext cx="1800000" cy="256198"/>
            </a:xfrm>
            <a:prstGeom prst="rect">
              <a:avLst/>
            </a:prstGeom>
            <a:grp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GB" sz="1500" kern="0">
                  <a:latin typeface="+mj-lt"/>
                  <a:cs typeface="Arial" pitchFamily="34" charset="0"/>
                </a:rPr>
                <a:t>12.Feb2025</a:t>
              </a:r>
            </a:p>
          </p:txBody>
        </p:sp>
        <p:sp>
          <p:nvSpPr>
            <p:cNvPr id="16" name="Rectangle 15">
              <a:extLst>
                <a:ext uri="{FF2B5EF4-FFF2-40B4-BE49-F238E27FC236}">
                  <a16:creationId xmlns:a16="http://schemas.microsoft.com/office/drawing/2014/main" id="{34AC3D18-649B-AF02-FD54-D3179958A841}"/>
                </a:ext>
              </a:extLst>
            </p:cNvPr>
            <p:cNvSpPr/>
            <p:nvPr/>
          </p:nvSpPr>
          <p:spPr bwMode="auto">
            <a:xfrm>
              <a:off x="570971" y="1682431"/>
              <a:ext cx="1440000" cy="238706"/>
            </a:xfrm>
            <a:prstGeom prst="rect">
              <a:avLst/>
            </a:prstGeom>
            <a:grp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defTabSz="1564584" eaLnBrk="1" fontAlgn="auto" latinLnBrk="0" hangingPunct="1">
                <a:lnSpc>
                  <a:spcPct val="100000"/>
                </a:lnSpc>
                <a:spcBef>
                  <a:spcPts val="0"/>
                </a:spcBef>
                <a:spcAft>
                  <a:spcPts val="0"/>
                </a:spcAft>
                <a:buClrTx/>
                <a:buSzTx/>
                <a:buFontTx/>
                <a:buNone/>
                <a:tabLst/>
                <a:defRPr/>
              </a:pPr>
              <a:r>
                <a:rPr lang="en-GB" sz="1500" b="1" kern="0">
                  <a:solidFill>
                    <a:schemeClr val="bg1"/>
                  </a:solidFill>
                  <a:latin typeface="+mj-lt"/>
                  <a:cs typeface="Arial" pitchFamily="34" charset="0"/>
                </a:rPr>
                <a:t>Business</a:t>
              </a:r>
              <a:r>
                <a:rPr kumimoji="0" lang="en-GB" sz="1500" b="1" i="0" u="none" strike="noStrike" kern="0" cap="none" spc="0" normalizeH="0" baseline="0" noProof="0">
                  <a:ln>
                    <a:noFill/>
                  </a:ln>
                  <a:solidFill>
                    <a:schemeClr val="bg1"/>
                  </a:solidFill>
                  <a:effectLst/>
                  <a:uLnTx/>
                  <a:uFillTx/>
                  <a:latin typeface="+mj-lt"/>
                  <a:cs typeface="Arial" pitchFamily="34" charset="0"/>
                </a:rPr>
                <a:t> Owner</a:t>
              </a:r>
            </a:p>
          </p:txBody>
        </p:sp>
        <p:sp>
          <p:nvSpPr>
            <p:cNvPr id="17" name="Rectangle 16">
              <a:extLst>
                <a:ext uri="{FF2B5EF4-FFF2-40B4-BE49-F238E27FC236}">
                  <a16:creationId xmlns:a16="http://schemas.microsoft.com/office/drawing/2014/main" id="{27C8D856-6377-1103-F601-1F468FE02EB1}"/>
                </a:ext>
              </a:extLst>
            </p:cNvPr>
            <p:cNvSpPr/>
            <p:nvPr/>
          </p:nvSpPr>
          <p:spPr bwMode="auto">
            <a:xfrm>
              <a:off x="2130820" y="1682431"/>
              <a:ext cx="1798212" cy="214907"/>
            </a:xfrm>
            <a:prstGeom prst="rect">
              <a:avLst/>
            </a:prstGeom>
            <a:grp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US" sz="1500" kern="0">
                  <a:latin typeface="+mj-lt"/>
                  <a:cs typeface="Arial"/>
                </a:rPr>
                <a:t> Lorem </a:t>
              </a:r>
              <a:r>
                <a:rPr lang="en-US" sz="1500" kern="0" err="1">
                  <a:latin typeface="+mj-lt"/>
                  <a:cs typeface="Arial"/>
                </a:rPr>
                <a:t>lorem</a:t>
              </a:r>
              <a:endParaRPr lang="en-US" sz="1500" kern="0" err="1">
                <a:latin typeface="+mj-lt"/>
                <a:ea typeface="Calibri"/>
                <a:cs typeface="Arial"/>
              </a:endParaRPr>
            </a:p>
            <a:p>
              <a:pPr defTabSz="1564584">
                <a:defRPr/>
              </a:pPr>
              <a:endParaRPr lang="en-US" sz="1500" kern="0">
                <a:latin typeface="+mj-lt"/>
                <a:ea typeface="Calibri"/>
                <a:cs typeface="Arial" pitchFamily="34" charset="0"/>
              </a:endParaRPr>
            </a:p>
          </p:txBody>
        </p:sp>
        <p:sp>
          <p:nvSpPr>
            <p:cNvPr id="18" name="Rectangle 17">
              <a:extLst>
                <a:ext uri="{FF2B5EF4-FFF2-40B4-BE49-F238E27FC236}">
                  <a16:creationId xmlns:a16="http://schemas.microsoft.com/office/drawing/2014/main" id="{38734FC1-83E7-A257-8D57-AF1A304B14FD}"/>
                </a:ext>
              </a:extLst>
            </p:cNvPr>
            <p:cNvSpPr/>
            <p:nvPr/>
          </p:nvSpPr>
          <p:spPr bwMode="auto">
            <a:xfrm>
              <a:off x="567987" y="1944101"/>
              <a:ext cx="1440000" cy="256198"/>
            </a:xfrm>
            <a:prstGeom prst="rect">
              <a:avLst/>
            </a:prstGeom>
            <a:grpFill/>
            <a:ln w="9525" cap="flat" cmpd="sng" algn="ctr">
              <a:no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defTabSz="1564584"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a:ln>
                    <a:noFill/>
                  </a:ln>
                  <a:solidFill>
                    <a:schemeClr val="bg1"/>
                  </a:solidFill>
                  <a:effectLst/>
                  <a:uLnTx/>
                  <a:uFillTx/>
                  <a:latin typeface="+mj-lt"/>
                  <a:cs typeface="Arial" pitchFamily="34" charset="0"/>
                </a:rPr>
                <a:t>Project Manager</a:t>
              </a:r>
            </a:p>
          </p:txBody>
        </p:sp>
        <p:sp>
          <p:nvSpPr>
            <p:cNvPr id="19" name="Rectangle 18">
              <a:extLst>
                <a:ext uri="{FF2B5EF4-FFF2-40B4-BE49-F238E27FC236}">
                  <a16:creationId xmlns:a16="http://schemas.microsoft.com/office/drawing/2014/main" id="{46C230F0-3377-2669-0035-0958E937E3D2}"/>
                </a:ext>
              </a:extLst>
            </p:cNvPr>
            <p:cNvSpPr/>
            <p:nvPr/>
          </p:nvSpPr>
          <p:spPr bwMode="auto">
            <a:xfrm>
              <a:off x="2127836" y="1944101"/>
              <a:ext cx="1800000" cy="256198"/>
            </a:xfrm>
            <a:prstGeom prst="rect">
              <a:avLst/>
            </a:prstGeom>
            <a:grp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GB" sz="1500" kern="0">
                  <a:latin typeface="+mj-lt"/>
                  <a:cs typeface="Arial"/>
                </a:rPr>
                <a:t>lorem</a:t>
              </a:r>
              <a:endParaRPr lang="en-US"/>
            </a:p>
          </p:txBody>
        </p:sp>
      </p:grpSp>
      <p:grpSp>
        <p:nvGrpSpPr>
          <p:cNvPr id="20" name="Group 19">
            <a:extLst>
              <a:ext uri="{FF2B5EF4-FFF2-40B4-BE49-F238E27FC236}">
                <a16:creationId xmlns:a16="http://schemas.microsoft.com/office/drawing/2014/main" id="{C7485D38-B5D2-8DBA-4A09-C4AD79E3F255}"/>
              </a:ext>
            </a:extLst>
          </p:cNvPr>
          <p:cNvGrpSpPr/>
          <p:nvPr/>
        </p:nvGrpSpPr>
        <p:grpSpPr>
          <a:xfrm>
            <a:off x="801212" y="4154174"/>
            <a:ext cx="16626842" cy="1232478"/>
            <a:chOff x="534142" y="2272675"/>
            <a:chExt cx="8446120" cy="1321627"/>
          </a:xfrm>
        </p:grpSpPr>
        <p:sp>
          <p:nvSpPr>
            <p:cNvPr id="21" name="Rectangle 20">
              <a:extLst>
                <a:ext uri="{FF2B5EF4-FFF2-40B4-BE49-F238E27FC236}">
                  <a16:creationId xmlns:a16="http://schemas.microsoft.com/office/drawing/2014/main" id="{2B9778C7-C985-10BD-A655-EA26E59F08A3}"/>
                </a:ext>
              </a:extLst>
            </p:cNvPr>
            <p:cNvSpPr/>
            <p:nvPr/>
          </p:nvSpPr>
          <p:spPr bwMode="auto">
            <a:xfrm>
              <a:off x="554704" y="2954084"/>
              <a:ext cx="8425558" cy="277524"/>
            </a:xfrm>
            <a:prstGeom prst="rect">
              <a:avLst/>
            </a:prstGeom>
            <a:solidFill>
              <a:srgbClr val="002060"/>
            </a:solidFill>
            <a:ln w="9525" cap="flat" cmpd="sng" algn="ctr">
              <a:solidFill>
                <a:srgbClr val="FFFFFF">
                  <a:lumMod val="75000"/>
                </a:srgbClr>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1564584">
                <a:defRPr/>
              </a:pPr>
              <a:r>
                <a:rPr lang="en-GB" sz="1650" b="1" kern="0">
                  <a:solidFill>
                    <a:schemeClr val="bg1"/>
                  </a:solidFill>
                  <a:latin typeface="+mj-lt"/>
                  <a:cs typeface="Arial" panose="020B0604020202020204" pitchFamily="34" charset="0"/>
                </a:rPr>
                <a:t>Key Risks, Issues, &amp; Decisions </a:t>
              </a:r>
            </a:p>
          </p:txBody>
        </p:sp>
        <p:sp>
          <p:nvSpPr>
            <p:cNvPr id="22" name="Rectangle 21">
              <a:extLst>
                <a:ext uri="{FF2B5EF4-FFF2-40B4-BE49-F238E27FC236}">
                  <a16:creationId xmlns:a16="http://schemas.microsoft.com/office/drawing/2014/main" id="{0D5085C7-CE15-5BB6-7C5B-C8B30C3DBFF5}"/>
                </a:ext>
              </a:extLst>
            </p:cNvPr>
            <p:cNvSpPr/>
            <p:nvPr/>
          </p:nvSpPr>
          <p:spPr bwMode="gray">
            <a:xfrm>
              <a:off x="547685" y="2284797"/>
              <a:ext cx="8432577" cy="1263745"/>
            </a:xfrm>
            <a:prstGeom prst="rect">
              <a:avLst/>
            </a:prstGeom>
            <a:solidFill>
              <a:schemeClr val="bg1">
                <a:lumMod val="95000"/>
              </a:schemeClr>
            </a:solidFill>
            <a:ln w="19050" algn="ctr">
              <a:no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IN"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3" name="Rectangle 22">
              <a:extLst>
                <a:ext uri="{FF2B5EF4-FFF2-40B4-BE49-F238E27FC236}">
                  <a16:creationId xmlns:a16="http://schemas.microsoft.com/office/drawing/2014/main" id="{F8A6FDB7-42AE-6B89-A21E-A00E967D89F0}"/>
                </a:ext>
              </a:extLst>
            </p:cNvPr>
            <p:cNvSpPr/>
            <p:nvPr/>
          </p:nvSpPr>
          <p:spPr bwMode="gray">
            <a:xfrm>
              <a:off x="554701" y="2272675"/>
              <a:ext cx="549342" cy="1259602"/>
            </a:xfrm>
            <a:prstGeom prst="rect">
              <a:avLst/>
            </a:prstGeom>
            <a:solidFill>
              <a:srgbClr val="00B0F0">
                <a:alpha val="13000"/>
              </a:srgbClr>
            </a:solidFill>
            <a:ln w="19050" algn="ctr">
              <a:no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24" name="Straight Connector 23">
              <a:extLst>
                <a:ext uri="{FF2B5EF4-FFF2-40B4-BE49-F238E27FC236}">
                  <a16:creationId xmlns:a16="http://schemas.microsoft.com/office/drawing/2014/main" id="{31C7CC67-3DB3-334D-C1A3-D866B8718826}"/>
                </a:ext>
              </a:extLst>
            </p:cNvPr>
            <p:cNvCxnSpPr>
              <a:cxnSpLocks/>
            </p:cNvCxnSpPr>
            <p:nvPr/>
          </p:nvCxnSpPr>
          <p:spPr>
            <a:xfrm>
              <a:off x="1071798" y="2916207"/>
              <a:ext cx="7711740" cy="12813"/>
            </a:xfrm>
            <a:prstGeom prst="line">
              <a:avLst/>
            </a:prstGeom>
            <a:ln w="22225">
              <a:solidFill>
                <a:schemeClr val="tx1">
                  <a:lumMod val="75000"/>
                  <a:lumOff val="2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89DED37E-0E5B-8990-2E9F-DD9D9B3B2C53}"/>
                </a:ext>
              </a:extLst>
            </p:cNvPr>
            <p:cNvSpPr txBox="1"/>
            <p:nvPr/>
          </p:nvSpPr>
          <p:spPr>
            <a:xfrm>
              <a:off x="1794259" y="2356248"/>
              <a:ext cx="1830889" cy="408424"/>
            </a:xfrm>
            <a:prstGeom prst="rect">
              <a:avLst/>
            </a:prstGeom>
            <a:noFill/>
          </p:spPr>
          <p:txBody>
            <a:bodyPr wrap="square" lIns="0" r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altLang="ko-KR" sz="1575"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Planning</a:t>
              </a:r>
            </a:p>
          </p:txBody>
        </p:sp>
        <p:sp>
          <p:nvSpPr>
            <p:cNvPr id="27" name="TextBox 26">
              <a:extLst>
                <a:ext uri="{FF2B5EF4-FFF2-40B4-BE49-F238E27FC236}">
                  <a16:creationId xmlns:a16="http://schemas.microsoft.com/office/drawing/2014/main" id="{1C7286C4-7AA0-688D-631E-4E471DA9B36E}"/>
                </a:ext>
              </a:extLst>
            </p:cNvPr>
            <p:cNvSpPr txBox="1"/>
            <p:nvPr/>
          </p:nvSpPr>
          <p:spPr>
            <a:xfrm>
              <a:off x="534142" y="2342410"/>
              <a:ext cx="1461722" cy="408424"/>
            </a:xfrm>
            <a:prstGeom prst="rect">
              <a:avLst/>
            </a:prstGeom>
            <a:noFill/>
          </p:spPr>
          <p:txBody>
            <a:bodyPr wrap="square" lIns="0" r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altLang="ko-KR" sz="1575"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Initiation and Requirements</a:t>
              </a:r>
              <a:endParaRPr kumimoji="0" lang="ko-KR" altLang="en-US" sz="1575"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cxnSp>
          <p:nvCxnSpPr>
            <p:cNvPr id="28" name="Straight Connector 27">
              <a:extLst>
                <a:ext uri="{FF2B5EF4-FFF2-40B4-BE49-F238E27FC236}">
                  <a16:creationId xmlns:a16="http://schemas.microsoft.com/office/drawing/2014/main" id="{77DBAF07-B83C-9A50-3198-040F7908F1D5}"/>
                </a:ext>
              </a:extLst>
            </p:cNvPr>
            <p:cNvCxnSpPr>
              <a:cxnSpLocks/>
            </p:cNvCxnSpPr>
            <p:nvPr/>
          </p:nvCxnSpPr>
          <p:spPr>
            <a:xfrm>
              <a:off x="1110270" y="2706686"/>
              <a:ext cx="0" cy="205702"/>
            </a:xfrm>
            <a:prstGeom prst="line">
              <a:avLst/>
            </a:prstGeom>
            <a:solidFill>
              <a:srgbClr val="BFBFBF"/>
            </a:solidFill>
            <a:ln w="19050">
              <a:solidFill>
                <a:srgbClr val="BFBFBF"/>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ADED02E1-3248-67B4-FEE0-25DF25D7F0E7}"/>
                </a:ext>
              </a:extLst>
            </p:cNvPr>
            <p:cNvSpPr/>
            <p:nvPr/>
          </p:nvSpPr>
          <p:spPr bwMode="gray">
            <a:xfrm>
              <a:off x="980679" y="2985165"/>
              <a:ext cx="244993" cy="325882"/>
            </a:xfrm>
            <a:prstGeom prst="ellipse">
              <a:avLst/>
            </a:prstGeom>
            <a:solidFill>
              <a:srgbClr val="BFBFBF"/>
            </a:solidFill>
            <a:ln w="19050" algn="ctr">
              <a:solidFill>
                <a:srgbClr val="BFBFBF"/>
              </a:solid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1" name="TextBox 30">
              <a:extLst>
                <a:ext uri="{FF2B5EF4-FFF2-40B4-BE49-F238E27FC236}">
                  <a16:creationId xmlns:a16="http://schemas.microsoft.com/office/drawing/2014/main" id="{1AF9157D-90DD-48C2-861A-50F4124FF365}"/>
                </a:ext>
              </a:extLst>
            </p:cNvPr>
            <p:cNvSpPr txBox="1"/>
            <p:nvPr/>
          </p:nvSpPr>
          <p:spPr>
            <a:xfrm>
              <a:off x="554699" y="3322020"/>
              <a:ext cx="1096955" cy="272282"/>
            </a:xfrm>
            <a:prstGeom prst="rect">
              <a:avLst/>
            </a:prstGeom>
            <a:noFill/>
          </p:spPr>
          <p:txBody>
            <a:bodyPr wrap="square" lIns="0" tIns="0" rIns="0" b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altLang="ko-KR" sz="165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Feb</a:t>
              </a:r>
              <a:endParaRPr kumimoji="0" lang="ko-KR" altLang="en-US" sz="165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4" name="Oval 33">
              <a:extLst>
                <a:ext uri="{FF2B5EF4-FFF2-40B4-BE49-F238E27FC236}">
                  <a16:creationId xmlns:a16="http://schemas.microsoft.com/office/drawing/2014/main" id="{FFC26AC1-DD75-A5BA-A095-C862D93D634A}"/>
                </a:ext>
              </a:extLst>
            </p:cNvPr>
            <p:cNvSpPr/>
            <p:nvPr/>
          </p:nvSpPr>
          <p:spPr bwMode="gray">
            <a:xfrm>
              <a:off x="7970825" y="2962022"/>
              <a:ext cx="244993" cy="319099"/>
            </a:xfrm>
            <a:prstGeom prst="ellipse">
              <a:avLst/>
            </a:prstGeom>
            <a:solidFill>
              <a:srgbClr val="D1D1D1"/>
            </a:solidFill>
            <a:ln w="19050" algn="ctr">
              <a:solidFill>
                <a:srgbClr val="D1D1D1"/>
              </a:solid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5" name="TextBox 34">
              <a:extLst>
                <a:ext uri="{FF2B5EF4-FFF2-40B4-BE49-F238E27FC236}">
                  <a16:creationId xmlns:a16="http://schemas.microsoft.com/office/drawing/2014/main" id="{D4988580-BF55-7846-A609-993952B7420A}"/>
                </a:ext>
              </a:extLst>
            </p:cNvPr>
            <p:cNvSpPr txBox="1"/>
            <p:nvPr/>
          </p:nvSpPr>
          <p:spPr>
            <a:xfrm>
              <a:off x="7379482" y="2316843"/>
              <a:ext cx="1404056" cy="408424"/>
            </a:xfrm>
            <a:prstGeom prst="rect">
              <a:avLst/>
            </a:prstGeom>
            <a:noFill/>
          </p:spPr>
          <p:txBody>
            <a:bodyPr wrap="square" lIns="0" r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575"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Go-live</a:t>
              </a:r>
              <a:endParaRPr kumimoji="0" lang="ko-KR" altLang="en-US" sz="1575"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cxnSp>
          <p:nvCxnSpPr>
            <p:cNvPr id="36" name="Straight Connector 35">
              <a:extLst>
                <a:ext uri="{FF2B5EF4-FFF2-40B4-BE49-F238E27FC236}">
                  <a16:creationId xmlns:a16="http://schemas.microsoft.com/office/drawing/2014/main" id="{92C39BDB-E89C-CCA7-4CE5-6A95F3DD52D5}"/>
                </a:ext>
              </a:extLst>
            </p:cNvPr>
            <p:cNvCxnSpPr>
              <a:cxnSpLocks/>
            </p:cNvCxnSpPr>
            <p:nvPr/>
          </p:nvCxnSpPr>
          <p:spPr>
            <a:xfrm>
              <a:off x="8093321" y="2673270"/>
              <a:ext cx="0" cy="258338"/>
            </a:xfrm>
            <a:prstGeom prst="line">
              <a:avLst/>
            </a:prstGeom>
            <a:ln w="19050">
              <a:solidFill>
                <a:srgbClr val="D1D1D1"/>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924B0973-510E-2478-3A93-998959F4AEDC}"/>
                </a:ext>
              </a:extLst>
            </p:cNvPr>
            <p:cNvSpPr txBox="1"/>
            <p:nvPr/>
          </p:nvSpPr>
          <p:spPr>
            <a:xfrm>
              <a:off x="7544844" y="3264611"/>
              <a:ext cx="1096955" cy="272282"/>
            </a:xfrm>
            <a:prstGeom prst="rect">
              <a:avLst/>
            </a:prstGeom>
            <a:noFill/>
          </p:spPr>
          <p:txBody>
            <a:bodyPr wrap="square" lIns="0" tIns="0" rIns="0" b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lang="en-US" altLang="ko-KR" sz="1650" b="1">
                  <a:latin typeface="Arial" panose="020B0604020202020204" pitchFamily="34" charset="0"/>
                  <a:cs typeface="Arial" panose="020B0604020202020204" pitchFamily="34" charset="0"/>
                </a:rPr>
                <a:t>TBD</a:t>
              </a:r>
              <a:endParaRPr kumimoji="0" lang="en-US" altLang="ko-KR" sz="1650" b="1" i="0" u="none" kern="1200" cap="none" spc="0" normalizeH="0" baseline="0" noProof="0">
                <a:ln>
                  <a:noFill/>
                </a:ln>
                <a:effectLst/>
                <a:uLnTx/>
                <a:uFillTx/>
                <a:latin typeface="Arial" panose="020B0604020202020204" pitchFamily="34" charset="0"/>
                <a:ea typeface="+mn-ea"/>
                <a:cs typeface="Arial" panose="020B0604020202020204" pitchFamily="34" charset="0"/>
              </a:endParaRPr>
            </a:p>
          </p:txBody>
        </p:sp>
      </p:grpSp>
      <p:grpSp>
        <p:nvGrpSpPr>
          <p:cNvPr id="39" name="Group 38">
            <a:extLst>
              <a:ext uri="{FF2B5EF4-FFF2-40B4-BE49-F238E27FC236}">
                <a16:creationId xmlns:a16="http://schemas.microsoft.com/office/drawing/2014/main" id="{692750EA-29BF-E0FB-9EC8-18EEBCDE8918}"/>
              </a:ext>
            </a:extLst>
          </p:cNvPr>
          <p:cNvGrpSpPr/>
          <p:nvPr/>
        </p:nvGrpSpPr>
        <p:grpSpPr>
          <a:xfrm>
            <a:off x="11816864" y="9732373"/>
            <a:ext cx="7770782" cy="578783"/>
            <a:chOff x="7877909" y="6488248"/>
            <a:chExt cx="5180521" cy="385855"/>
          </a:xfrm>
        </p:grpSpPr>
        <p:sp>
          <p:nvSpPr>
            <p:cNvPr id="40" name="Oval 39">
              <a:extLst>
                <a:ext uri="{FF2B5EF4-FFF2-40B4-BE49-F238E27FC236}">
                  <a16:creationId xmlns:a16="http://schemas.microsoft.com/office/drawing/2014/main" id="{33201C95-5CA0-4643-FFD1-5CCC8BA230F0}"/>
                </a:ext>
              </a:extLst>
            </p:cNvPr>
            <p:cNvSpPr/>
            <p:nvPr/>
          </p:nvSpPr>
          <p:spPr>
            <a:xfrm>
              <a:off x="8093322" y="6494495"/>
              <a:ext cx="137031" cy="126401"/>
            </a:xfrm>
            <a:prstGeom prst="ellipse">
              <a:avLst/>
            </a:prstGeom>
            <a:solidFill>
              <a:srgbClr val="E2F0D9"/>
            </a:solidFill>
            <a:ln w="9525">
              <a:solidFill>
                <a:srgbClr val="E2F0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1" name="Oval 40">
              <a:extLst>
                <a:ext uri="{FF2B5EF4-FFF2-40B4-BE49-F238E27FC236}">
                  <a16:creationId xmlns:a16="http://schemas.microsoft.com/office/drawing/2014/main" id="{9AFB8B8F-B914-3815-67E3-963DE8B5A54C}"/>
                </a:ext>
              </a:extLst>
            </p:cNvPr>
            <p:cNvSpPr/>
            <p:nvPr/>
          </p:nvSpPr>
          <p:spPr>
            <a:xfrm>
              <a:off x="8668587" y="6503611"/>
              <a:ext cx="137031" cy="126401"/>
            </a:xfrm>
            <a:prstGeom prst="ellipse">
              <a:avLst/>
            </a:prstGeom>
            <a:solidFill>
              <a:srgbClr val="FF0000"/>
            </a:solid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2" name="Oval 41">
              <a:extLst>
                <a:ext uri="{FF2B5EF4-FFF2-40B4-BE49-F238E27FC236}">
                  <a16:creationId xmlns:a16="http://schemas.microsoft.com/office/drawing/2014/main" id="{A5CC50B7-58A8-261A-F5CB-F0BB0C5EC116}"/>
                </a:ext>
              </a:extLst>
            </p:cNvPr>
            <p:cNvSpPr/>
            <p:nvPr/>
          </p:nvSpPr>
          <p:spPr>
            <a:xfrm>
              <a:off x="9167201" y="6505195"/>
              <a:ext cx="137031" cy="126401"/>
            </a:xfrm>
            <a:prstGeom prst="ellipse">
              <a:avLst/>
            </a:prstGeom>
            <a:solidFill>
              <a:srgbClr val="FFC000"/>
            </a:solidFill>
            <a:ln w="95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3" name="TextBox 42">
              <a:extLst>
                <a:ext uri="{FF2B5EF4-FFF2-40B4-BE49-F238E27FC236}">
                  <a16:creationId xmlns:a16="http://schemas.microsoft.com/office/drawing/2014/main" id="{EDE673AB-1966-8004-D8BE-D966ECF94F51}"/>
                </a:ext>
              </a:extLst>
            </p:cNvPr>
            <p:cNvSpPr txBox="1"/>
            <p:nvPr/>
          </p:nvSpPr>
          <p:spPr>
            <a:xfrm>
              <a:off x="7877909" y="6611779"/>
              <a:ext cx="2317013" cy="246221"/>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On track </a:t>
              </a:r>
            </a:p>
          </p:txBody>
        </p:sp>
        <p:sp>
          <p:nvSpPr>
            <p:cNvPr id="44" name="TextBox 43">
              <a:extLst>
                <a:ext uri="{FF2B5EF4-FFF2-40B4-BE49-F238E27FC236}">
                  <a16:creationId xmlns:a16="http://schemas.microsoft.com/office/drawing/2014/main" id="{3AAC2710-A73C-E862-1B8F-50BDFDB79603}"/>
                </a:ext>
              </a:extLst>
            </p:cNvPr>
            <p:cNvSpPr txBox="1"/>
            <p:nvPr/>
          </p:nvSpPr>
          <p:spPr>
            <a:xfrm>
              <a:off x="8434729" y="6621931"/>
              <a:ext cx="2311615" cy="246221"/>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Delayed</a:t>
              </a:r>
            </a:p>
          </p:txBody>
        </p:sp>
        <p:sp>
          <p:nvSpPr>
            <p:cNvPr id="45" name="TextBox 44">
              <a:extLst>
                <a:ext uri="{FF2B5EF4-FFF2-40B4-BE49-F238E27FC236}">
                  <a16:creationId xmlns:a16="http://schemas.microsoft.com/office/drawing/2014/main" id="{9195F590-8AB4-5750-4BCB-CB79E88E08D8}"/>
                </a:ext>
              </a:extLst>
            </p:cNvPr>
            <p:cNvSpPr txBox="1"/>
            <p:nvPr/>
          </p:nvSpPr>
          <p:spPr>
            <a:xfrm>
              <a:off x="8980262" y="6624764"/>
              <a:ext cx="2311615" cy="246221"/>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At Risk</a:t>
              </a:r>
            </a:p>
          </p:txBody>
        </p:sp>
        <p:sp>
          <p:nvSpPr>
            <p:cNvPr id="46" name="Oval 45">
              <a:extLst>
                <a:ext uri="{FF2B5EF4-FFF2-40B4-BE49-F238E27FC236}">
                  <a16:creationId xmlns:a16="http://schemas.microsoft.com/office/drawing/2014/main" id="{69AD8893-DCDC-FEFA-9DEA-51FB75A382B2}"/>
                </a:ext>
              </a:extLst>
            </p:cNvPr>
            <p:cNvSpPr/>
            <p:nvPr/>
          </p:nvSpPr>
          <p:spPr>
            <a:xfrm>
              <a:off x="9781249" y="6512756"/>
              <a:ext cx="137031" cy="126401"/>
            </a:xfrm>
            <a:prstGeom prst="ellipse">
              <a:avLst/>
            </a:prstGeom>
            <a:solidFill>
              <a:srgbClr val="003373"/>
            </a:solidFill>
            <a:ln w="9525">
              <a:solidFill>
                <a:srgbClr val="0033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7" name="TextBox 46">
              <a:extLst>
                <a:ext uri="{FF2B5EF4-FFF2-40B4-BE49-F238E27FC236}">
                  <a16:creationId xmlns:a16="http://schemas.microsoft.com/office/drawing/2014/main" id="{B8019D04-CA7D-FB48-4FAD-7334AD1A8CA4}"/>
                </a:ext>
              </a:extLst>
            </p:cNvPr>
            <p:cNvSpPr txBox="1"/>
            <p:nvPr/>
          </p:nvSpPr>
          <p:spPr>
            <a:xfrm>
              <a:off x="9425689" y="6627882"/>
              <a:ext cx="2311615" cy="246221"/>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Implemented</a:t>
              </a:r>
            </a:p>
          </p:txBody>
        </p:sp>
        <p:sp>
          <p:nvSpPr>
            <p:cNvPr id="48" name="Oval 47">
              <a:extLst>
                <a:ext uri="{FF2B5EF4-FFF2-40B4-BE49-F238E27FC236}">
                  <a16:creationId xmlns:a16="http://schemas.microsoft.com/office/drawing/2014/main" id="{9E554B00-D1EC-BEA7-2835-94A09A0AA76F}"/>
                </a:ext>
              </a:extLst>
            </p:cNvPr>
            <p:cNvSpPr/>
            <p:nvPr/>
          </p:nvSpPr>
          <p:spPr>
            <a:xfrm>
              <a:off x="10428038" y="6512756"/>
              <a:ext cx="137031" cy="126401"/>
            </a:xfrm>
            <a:prstGeom prst="ellipse">
              <a:avLst/>
            </a:prstGeom>
            <a:solidFill>
              <a:srgbClr val="00B0F0"/>
            </a:solid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9" name="TextBox 48">
              <a:extLst>
                <a:ext uri="{FF2B5EF4-FFF2-40B4-BE49-F238E27FC236}">
                  <a16:creationId xmlns:a16="http://schemas.microsoft.com/office/drawing/2014/main" id="{CDDCA8CD-EA88-6D95-9500-466AB528742F}"/>
                </a:ext>
              </a:extLst>
            </p:cNvPr>
            <p:cNvSpPr txBox="1"/>
            <p:nvPr/>
          </p:nvSpPr>
          <p:spPr>
            <a:xfrm>
              <a:off x="10194922" y="6621646"/>
              <a:ext cx="2311615" cy="246221"/>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US" sz="1500">
                  <a:latin typeface="Calibri" panose="020F0502020204030204" pitchFamily="34" charset="0"/>
                  <a:cs typeface="Calibri" panose="020F0502020204030204" pitchFamily="34" charset="0"/>
                </a:rPr>
                <a:t>On Hold</a:t>
              </a:r>
              <a:endParaRPr kumimoji="0" lang="en-US" sz="1500" b="0" i="0" u="none" strike="noStrike" kern="1200" cap="none" spc="0" normalizeH="0" baseline="0" noProof="0">
                <a:ln>
                  <a:noFill/>
                </a:ln>
                <a:effectLst/>
                <a:uLnTx/>
                <a:uFillTx/>
                <a:latin typeface="Calibri" panose="020F0502020204030204" pitchFamily="34" charset="0"/>
                <a:ea typeface="+mn-ea"/>
                <a:cs typeface="Calibri" panose="020F0502020204030204" pitchFamily="34" charset="0"/>
              </a:endParaRPr>
            </a:p>
          </p:txBody>
        </p:sp>
        <p:sp>
          <p:nvSpPr>
            <p:cNvPr id="50" name="Oval 49">
              <a:extLst>
                <a:ext uri="{FF2B5EF4-FFF2-40B4-BE49-F238E27FC236}">
                  <a16:creationId xmlns:a16="http://schemas.microsoft.com/office/drawing/2014/main" id="{9C17CE84-7705-0849-AD05-CEEC7C3652B9}"/>
                </a:ext>
              </a:extLst>
            </p:cNvPr>
            <p:cNvSpPr/>
            <p:nvPr/>
          </p:nvSpPr>
          <p:spPr>
            <a:xfrm>
              <a:off x="11073431" y="6488248"/>
              <a:ext cx="137031" cy="126401"/>
            </a:xfrm>
            <a:prstGeom prst="ellipse">
              <a:avLst/>
            </a:prstGeom>
            <a:solidFill>
              <a:srgbClr val="FFFF00"/>
            </a:solidFill>
            <a:ln w="9525">
              <a:solidFill>
                <a:srgbClr val="E2F0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1" name="TextBox 50">
              <a:extLst>
                <a:ext uri="{FF2B5EF4-FFF2-40B4-BE49-F238E27FC236}">
                  <a16:creationId xmlns:a16="http://schemas.microsoft.com/office/drawing/2014/main" id="{13E4C46D-C0A0-0671-5A90-4C287F3A2BC0}"/>
                </a:ext>
              </a:extLst>
            </p:cNvPr>
            <p:cNvSpPr txBox="1"/>
            <p:nvPr/>
          </p:nvSpPr>
          <p:spPr>
            <a:xfrm>
              <a:off x="10746815" y="6611779"/>
              <a:ext cx="2311615" cy="246221"/>
            </a:xfrm>
            <a:prstGeom prst="rect">
              <a:avLst/>
            </a:prstGeom>
            <a:noFill/>
          </p:spPr>
          <p:txBody>
            <a:bodyPr wrap="square"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Terminated</a:t>
              </a:r>
            </a:p>
          </p:txBody>
        </p:sp>
      </p:grpSp>
      <p:sp>
        <p:nvSpPr>
          <p:cNvPr id="52" name="Rectangle 51">
            <a:extLst>
              <a:ext uri="{FF2B5EF4-FFF2-40B4-BE49-F238E27FC236}">
                <a16:creationId xmlns:a16="http://schemas.microsoft.com/office/drawing/2014/main" id="{F968194C-17A8-AF29-0742-35E085B5DE89}"/>
              </a:ext>
            </a:extLst>
          </p:cNvPr>
          <p:cNvSpPr/>
          <p:nvPr/>
        </p:nvSpPr>
        <p:spPr bwMode="auto">
          <a:xfrm>
            <a:off x="15836116" y="2512541"/>
            <a:ext cx="1622834" cy="533898"/>
          </a:xfrm>
          <a:prstGeom prst="rect">
            <a:avLst/>
          </a:prstGeom>
          <a:solidFill>
            <a:srgbClr val="00B0F0"/>
          </a:solidFill>
          <a:ln w="9525" cap="flat" cmpd="sng" algn="ctr">
            <a:solidFill>
              <a:srgbClr val="FFCCCC"/>
            </a:solidFill>
            <a:prstDash val="solid"/>
            <a:round/>
            <a:headEnd type="none" w="med" len="med"/>
            <a:tailEnd type="none" w="med" len="med"/>
          </a:ln>
          <a:effectLst/>
        </p:spPr>
        <p:txBody>
          <a:bodyPr vert="horz" wrap="square" lIns="54000" tIns="0" rIns="0" bIns="0" numCol="1" rtlCol="0" anchor="ctr" anchorCtr="0" compatLnSpc="1">
            <a:prstTxWarp prst="textNoShape">
              <a:avLst/>
            </a:prstTxWarp>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defTabSz="1564584">
              <a:defRPr/>
            </a:pPr>
            <a:r>
              <a:rPr lang="en-GB" sz="1500" b="1" kern="0">
                <a:solidFill>
                  <a:prstClr val="black"/>
                </a:solidFill>
                <a:latin typeface="+mj-lt"/>
                <a:cs typeface="Arial" panose="020B0604020202020204" pitchFamily="34" charset="0"/>
              </a:rPr>
              <a:t>On Hold</a:t>
            </a:r>
          </a:p>
        </p:txBody>
      </p:sp>
      <p:pic>
        <p:nvPicPr>
          <p:cNvPr id="53" name="Picture 52">
            <a:extLst>
              <a:ext uri="{FF2B5EF4-FFF2-40B4-BE49-F238E27FC236}">
                <a16:creationId xmlns:a16="http://schemas.microsoft.com/office/drawing/2014/main" id="{6B537D7B-0DE5-A0FF-796E-998E465350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19415" y="60344"/>
            <a:ext cx="2308638" cy="1251719"/>
          </a:xfrm>
          <a:prstGeom prst="rect">
            <a:avLst/>
          </a:prstGeom>
        </p:spPr>
      </p:pic>
      <p:sp>
        <p:nvSpPr>
          <p:cNvPr id="72" name="Oval 71">
            <a:extLst>
              <a:ext uri="{FF2B5EF4-FFF2-40B4-BE49-F238E27FC236}">
                <a16:creationId xmlns:a16="http://schemas.microsoft.com/office/drawing/2014/main" id="{05FD7702-2E96-8CF1-3B4B-88F55037264C}"/>
              </a:ext>
            </a:extLst>
          </p:cNvPr>
          <p:cNvSpPr/>
          <p:nvPr/>
        </p:nvSpPr>
        <p:spPr bwMode="gray">
          <a:xfrm>
            <a:off x="4718375" y="4810991"/>
            <a:ext cx="482288" cy="287279"/>
          </a:xfrm>
          <a:prstGeom prst="ellipse">
            <a:avLst/>
          </a:prstGeom>
          <a:solidFill>
            <a:srgbClr val="BFBFBF"/>
          </a:solidFill>
          <a:ln w="19050" algn="ctr">
            <a:solidFill>
              <a:srgbClr val="BFBFBF"/>
            </a:solid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3" name="Oval 72">
            <a:extLst>
              <a:ext uri="{FF2B5EF4-FFF2-40B4-BE49-F238E27FC236}">
                <a16:creationId xmlns:a16="http://schemas.microsoft.com/office/drawing/2014/main" id="{8919C674-CA2C-8E6F-2815-1DD982DFED4D}"/>
              </a:ext>
            </a:extLst>
          </p:cNvPr>
          <p:cNvSpPr/>
          <p:nvPr/>
        </p:nvSpPr>
        <p:spPr bwMode="gray">
          <a:xfrm>
            <a:off x="8378117" y="4794017"/>
            <a:ext cx="482288" cy="300579"/>
          </a:xfrm>
          <a:prstGeom prst="ellipse">
            <a:avLst/>
          </a:prstGeom>
          <a:solidFill>
            <a:schemeClr val="bg1">
              <a:lumMod val="75000"/>
            </a:schemeClr>
          </a:solidFill>
          <a:ln w="19050" algn="ctr">
            <a:solidFill>
              <a:schemeClr val="bg1">
                <a:lumMod val="75000"/>
              </a:schemeClr>
            </a:solid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74" name="Straight Connector 73">
            <a:extLst>
              <a:ext uri="{FF2B5EF4-FFF2-40B4-BE49-F238E27FC236}">
                <a16:creationId xmlns:a16="http://schemas.microsoft.com/office/drawing/2014/main" id="{7C51FD81-EF78-E0C7-E554-3C5C9063A59A}"/>
              </a:ext>
            </a:extLst>
          </p:cNvPr>
          <p:cNvCxnSpPr>
            <a:cxnSpLocks/>
          </p:cNvCxnSpPr>
          <p:nvPr/>
        </p:nvCxnSpPr>
        <p:spPr>
          <a:xfrm>
            <a:off x="4959519" y="4526531"/>
            <a:ext cx="0" cy="191826"/>
          </a:xfrm>
          <a:prstGeom prst="line">
            <a:avLst/>
          </a:prstGeom>
          <a:ln w="19050">
            <a:solidFill>
              <a:srgbClr val="BFBFBF"/>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62024F81-568B-CE56-41D5-340E0430B598}"/>
              </a:ext>
            </a:extLst>
          </p:cNvPr>
          <p:cNvCxnSpPr>
            <a:cxnSpLocks/>
          </p:cNvCxnSpPr>
          <p:nvPr/>
        </p:nvCxnSpPr>
        <p:spPr>
          <a:xfrm>
            <a:off x="8619270" y="4502981"/>
            <a:ext cx="0" cy="215376"/>
          </a:xfrm>
          <a:prstGeom prst="line">
            <a:avLst/>
          </a:prstGeom>
          <a:ln w="19050">
            <a:solidFill>
              <a:schemeClr val="bg1">
                <a:lumMod val="75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6BE5A5BB-69FD-0FB2-1E43-2EC9BDA29A2D}"/>
              </a:ext>
            </a:extLst>
          </p:cNvPr>
          <p:cNvSpPr txBox="1"/>
          <p:nvPr/>
        </p:nvSpPr>
        <p:spPr>
          <a:xfrm>
            <a:off x="6817136" y="4178040"/>
            <a:ext cx="3604247" cy="334707"/>
          </a:xfrm>
          <a:prstGeom prst="rect">
            <a:avLst/>
          </a:prstGeom>
          <a:noFill/>
        </p:spPr>
        <p:txBody>
          <a:bodyPr wrap="square" lIns="0" r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lang="en-US" altLang="ko-KR" sz="1575" b="1">
                <a:solidFill>
                  <a:prstClr val="black"/>
                </a:solidFill>
                <a:latin typeface="Arial" panose="020B0604020202020204" pitchFamily="34" charset="0"/>
                <a:cs typeface="Arial" panose="020B0604020202020204" pitchFamily="34" charset="0"/>
              </a:rPr>
              <a:t>Procurement</a:t>
            </a:r>
            <a:endParaRPr kumimoji="0" lang="en-US" altLang="ko-KR" sz="1575"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 name="TextBox 1">
            <a:extLst>
              <a:ext uri="{FF2B5EF4-FFF2-40B4-BE49-F238E27FC236}">
                <a16:creationId xmlns:a16="http://schemas.microsoft.com/office/drawing/2014/main" id="{D21245A9-5A32-6020-4FF9-43026F907A76}"/>
              </a:ext>
            </a:extLst>
          </p:cNvPr>
          <p:cNvSpPr txBox="1"/>
          <p:nvPr/>
        </p:nvSpPr>
        <p:spPr>
          <a:xfrm>
            <a:off x="3879797" y="5136472"/>
            <a:ext cx="2159441" cy="253916"/>
          </a:xfrm>
          <a:prstGeom prst="rect">
            <a:avLst/>
          </a:prstGeom>
          <a:noFill/>
        </p:spPr>
        <p:txBody>
          <a:bodyPr wrap="square" lIns="0" tIns="0" rIns="0" b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altLang="ko-KR" sz="165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Feb</a:t>
            </a:r>
            <a:endParaRPr kumimoji="0" lang="ko-KR" altLang="en-US" sz="165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4" name="Oval 53">
            <a:extLst>
              <a:ext uri="{FF2B5EF4-FFF2-40B4-BE49-F238E27FC236}">
                <a16:creationId xmlns:a16="http://schemas.microsoft.com/office/drawing/2014/main" id="{B4C3581F-4B7C-7E7B-9717-A56909368BD7}"/>
              </a:ext>
            </a:extLst>
          </p:cNvPr>
          <p:cNvSpPr/>
          <p:nvPr/>
        </p:nvSpPr>
        <p:spPr bwMode="gray">
          <a:xfrm>
            <a:off x="10853561" y="4810529"/>
            <a:ext cx="482288" cy="300579"/>
          </a:xfrm>
          <a:prstGeom prst="ellipse">
            <a:avLst/>
          </a:prstGeom>
          <a:solidFill>
            <a:schemeClr val="bg1">
              <a:lumMod val="75000"/>
            </a:schemeClr>
          </a:solidFill>
          <a:ln w="19050" algn="ctr">
            <a:solidFill>
              <a:schemeClr val="bg1">
                <a:lumMod val="75000"/>
              </a:schemeClr>
            </a:solidFill>
            <a:miter lim="800000"/>
            <a:headEnd/>
            <a:tailEnd/>
          </a:ln>
        </p:spPr>
        <p:txBody>
          <a:bodyPr wrap="square" lIns="133350" tIns="133350" rIns="133350" bIns="13335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6000"/>
              </a:lnSpc>
              <a:spcBef>
                <a:spcPts val="0"/>
              </a:spcBef>
              <a:spcAft>
                <a:spcPts val="0"/>
              </a:spcAft>
              <a:buClrTx/>
              <a:buSzTx/>
              <a:buFont typeface="Wingdings 2" pitchFamily="18" charset="2"/>
              <a:buNone/>
              <a:tabLst/>
              <a:defRPr/>
            </a:pPr>
            <a:endPar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55" name="Straight Connector 54">
            <a:extLst>
              <a:ext uri="{FF2B5EF4-FFF2-40B4-BE49-F238E27FC236}">
                <a16:creationId xmlns:a16="http://schemas.microsoft.com/office/drawing/2014/main" id="{E2DE9993-0684-06BF-227F-1D47CDB6EDE5}"/>
              </a:ext>
            </a:extLst>
          </p:cNvPr>
          <p:cNvCxnSpPr>
            <a:cxnSpLocks/>
          </p:cNvCxnSpPr>
          <p:nvPr/>
        </p:nvCxnSpPr>
        <p:spPr>
          <a:xfrm>
            <a:off x="11094705" y="4542423"/>
            <a:ext cx="0" cy="215376"/>
          </a:xfrm>
          <a:prstGeom prst="line">
            <a:avLst/>
          </a:prstGeom>
          <a:ln w="19050">
            <a:solidFill>
              <a:schemeClr val="bg1">
                <a:lumMod val="75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C536BC81-CECA-F265-2058-CC6F28C3795E}"/>
              </a:ext>
            </a:extLst>
          </p:cNvPr>
          <p:cNvSpPr txBox="1"/>
          <p:nvPr/>
        </p:nvSpPr>
        <p:spPr>
          <a:xfrm>
            <a:off x="9398635" y="4216272"/>
            <a:ext cx="3604247" cy="334707"/>
          </a:xfrm>
          <a:prstGeom prst="rect">
            <a:avLst/>
          </a:prstGeom>
          <a:noFill/>
        </p:spPr>
        <p:txBody>
          <a:bodyPr wrap="square" lIns="0" r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lang="en-US" altLang="ko-KR" sz="1575" b="1">
                <a:solidFill>
                  <a:prstClr val="black"/>
                </a:solidFill>
                <a:latin typeface="Arial" panose="020B0604020202020204" pitchFamily="34" charset="0"/>
                <a:cs typeface="Arial" panose="020B0604020202020204" pitchFamily="34" charset="0"/>
              </a:rPr>
              <a:t>Installation &amp; UAT</a:t>
            </a:r>
            <a:endParaRPr kumimoji="0" lang="en-US" altLang="ko-KR" sz="1575"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9" name="TextBox 58">
            <a:extLst>
              <a:ext uri="{FF2B5EF4-FFF2-40B4-BE49-F238E27FC236}">
                <a16:creationId xmlns:a16="http://schemas.microsoft.com/office/drawing/2014/main" id="{C39D86EA-2A06-9F69-64AC-2B6F08740AF2}"/>
              </a:ext>
            </a:extLst>
          </p:cNvPr>
          <p:cNvSpPr txBox="1"/>
          <p:nvPr/>
        </p:nvSpPr>
        <p:spPr>
          <a:xfrm>
            <a:off x="7552945" y="5153782"/>
            <a:ext cx="2159441" cy="253916"/>
          </a:xfrm>
          <a:prstGeom prst="rect">
            <a:avLst/>
          </a:prstGeom>
          <a:noFill/>
        </p:spPr>
        <p:txBody>
          <a:bodyPr wrap="square" lIns="0" tIns="0" rIns="0" b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altLang="ko-KR" sz="165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TBD</a:t>
            </a:r>
            <a:endParaRPr kumimoji="0" lang="ko-KR" altLang="en-US" sz="165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0" name="TextBox 59">
            <a:extLst>
              <a:ext uri="{FF2B5EF4-FFF2-40B4-BE49-F238E27FC236}">
                <a16:creationId xmlns:a16="http://schemas.microsoft.com/office/drawing/2014/main" id="{2FC23EC5-FD87-96B1-59D2-DAD01236C8F6}"/>
              </a:ext>
            </a:extLst>
          </p:cNvPr>
          <p:cNvSpPr txBox="1"/>
          <p:nvPr/>
        </p:nvSpPr>
        <p:spPr>
          <a:xfrm>
            <a:off x="10083316" y="5143132"/>
            <a:ext cx="2159441" cy="253916"/>
          </a:xfrm>
          <a:prstGeom prst="rect">
            <a:avLst/>
          </a:prstGeom>
          <a:noFill/>
        </p:spPr>
        <p:txBody>
          <a:bodyPr wrap="square" lIns="0" tIns="0" rIns="0" bIns="0" rtlCol="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altLang="ko-KR" sz="165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TBD</a:t>
            </a:r>
            <a:endParaRPr kumimoji="0" lang="ko-KR" altLang="en-US" sz="165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9311476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2E05AD8-7E2B-A0FD-62C0-11D27193EB41}"/>
            </a:ext>
          </a:extLst>
        </p:cNvPr>
        <p:cNvGrpSpPr/>
        <p:nvPr/>
      </p:nvGrpSpPr>
      <p:grpSpPr>
        <a:xfrm>
          <a:off x="0" y="0"/>
          <a:ext cx="0" cy="0"/>
          <a:chOff x="0" y="0"/>
          <a:chExt cx="0" cy="0"/>
        </a:xfrm>
      </p:grpSpPr>
      <p:pic>
        <p:nvPicPr>
          <p:cNvPr id="53" name="Picture 52">
            <a:extLst>
              <a:ext uri="{FF2B5EF4-FFF2-40B4-BE49-F238E27FC236}">
                <a16:creationId xmlns:a16="http://schemas.microsoft.com/office/drawing/2014/main" id="{0DD04A6A-8FDD-A957-7C52-5018F89B96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19415" y="60344"/>
            <a:ext cx="2308638" cy="1251719"/>
          </a:xfrm>
          <a:prstGeom prst="rect">
            <a:avLst/>
          </a:prstGeom>
        </p:spPr>
      </p:pic>
      <p:sp>
        <p:nvSpPr>
          <p:cNvPr id="2" name="Title 1">
            <a:extLst>
              <a:ext uri="{FF2B5EF4-FFF2-40B4-BE49-F238E27FC236}">
                <a16:creationId xmlns:a16="http://schemas.microsoft.com/office/drawing/2014/main" id="{A4349509-4CF7-931D-FA95-B48EF0356E6E}"/>
              </a:ext>
            </a:extLst>
          </p:cNvPr>
          <p:cNvSpPr txBox="1">
            <a:spLocks/>
          </p:cNvSpPr>
          <p:nvPr/>
        </p:nvSpPr>
        <p:spPr>
          <a:xfrm>
            <a:off x="832104" y="778517"/>
            <a:ext cx="13441680" cy="577082"/>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spcBef>
                <a:spcPct val="0"/>
              </a:spcBef>
              <a:defRPr/>
            </a:pPr>
            <a:r>
              <a:rPr lang="en-US" sz="3750" b="1">
                <a:ln w="6350" cap="flat">
                  <a:noFill/>
                  <a:miter lim="800000"/>
                </a:ln>
                <a:solidFill>
                  <a:srgbClr val="000000"/>
                </a:solidFill>
                <a:ea typeface="+mj-ea"/>
                <a:cs typeface="+mj-cs"/>
              </a:rPr>
              <a:t>Lorem </a:t>
            </a:r>
            <a:r>
              <a:rPr lang="en-US" sz="3750" b="1" err="1">
                <a:ln w="6350" cap="flat">
                  <a:noFill/>
                  <a:miter lim="800000"/>
                </a:ln>
                <a:solidFill>
                  <a:srgbClr val="000000"/>
                </a:solidFill>
                <a:ea typeface="+mj-ea"/>
                <a:cs typeface="+mj-cs"/>
              </a:rPr>
              <a:t>lorem</a:t>
            </a:r>
            <a:endParaRPr lang="en-US" err="1">
              <a:ea typeface="+mj-ea"/>
              <a:cs typeface="+mj-cs"/>
            </a:endParaRPr>
          </a:p>
        </p:txBody>
      </p:sp>
      <p:sp>
        <p:nvSpPr>
          <p:cNvPr id="3" name="Rectangle 2">
            <a:extLst>
              <a:ext uri="{FF2B5EF4-FFF2-40B4-BE49-F238E27FC236}">
                <a16:creationId xmlns:a16="http://schemas.microsoft.com/office/drawing/2014/main" id="{F2C2C2E4-B1FC-8D97-DE58-6A14220F6E77}"/>
              </a:ext>
            </a:extLst>
          </p:cNvPr>
          <p:cNvSpPr/>
          <p:nvPr/>
        </p:nvSpPr>
        <p:spPr>
          <a:xfrm>
            <a:off x="831653" y="1660601"/>
            <a:ext cx="16583688" cy="452903"/>
          </a:xfrm>
          <a:prstGeom prst="rect">
            <a:avLst/>
          </a:prstGeom>
          <a:solidFill>
            <a:srgbClr val="00A69C"/>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Key Action Items</a:t>
            </a:r>
          </a:p>
        </p:txBody>
      </p:sp>
      <p:graphicFrame>
        <p:nvGraphicFramePr>
          <p:cNvPr id="15" name="Table 6">
            <a:extLst>
              <a:ext uri="{FF2B5EF4-FFF2-40B4-BE49-F238E27FC236}">
                <a16:creationId xmlns:a16="http://schemas.microsoft.com/office/drawing/2014/main" id="{0FA27894-C092-8044-3A87-8221CEA1BFF4}"/>
              </a:ext>
            </a:extLst>
          </p:cNvPr>
          <p:cNvGraphicFramePr>
            <a:graphicFrameLocks noGrp="1"/>
          </p:cNvGraphicFramePr>
          <p:nvPr/>
        </p:nvGraphicFramePr>
        <p:xfrm>
          <a:off x="831654" y="2254728"/>
          <a:ext cx="16583688" cy="5640647"/>
        </p:xfrm>
        <a:graphic>
          <a:graphicData uri="http://schemas.openxmlformats.org/drawingml/2006/table">
            <a:tbl>
              <a:tblPr firstRow="1" bandRow="1">
                <a:tableStyleId>{5C22544A-7EE6-4342-B048-85BDC9FD1C3A}</a:tableStyleId>
              </a:tblPr>
              <a:tblGrid>
                <a:gridCol w="2565888">
                  <a:extLst>
                    <a:ext uri="{9D8B030D-6E8A-4147-A177-3AD203B41FA5}">
                      <a16:colId xmlns:a16="http://schemas.microsoft.com/office/drawing/2014/main" val="1940594143"/>
                    </a:ext>
                  </a:extLst>
                </a:gridCol>
                <a:gridCol w="6175179">
                  <a:extLst>
                    <a:ext uri="{9D8B030D-6E8A-4147-A177-3AD203B41FA5}">
                      <a16:colId xmlns:a16="http://schemas.microsoft.com/office/drawing/2014/main" val="273235595"/>
                    </a:ext>
                  </a:extLst>
                </a:gridCol>
                <a:gridCol w="2295882">
                  <a:extLst>
                    <a:ext uri="{9D8B030D-6E8A-4147-A177-3AD203B41FA5}">
                      <a16:colId xmlns:a16="http://schemas.microsoft.com/office/drawing/2014/main" val="1034871609"/>
                    </a:ext>
                  </a:extLst>
                </a:gridCol>
                <a:gridCol w="2231208">
                  <a:extLst>
                    <a:ext uri="{9D8B030D-6E8A-4147-A177-3AD203B41FA5}">
                      <a16:colId xmlns:a16="http://schemas.microsoft.com/office/drawing/2014/main" val="1556653191"/>
                    </a:ext>
                  </a:extLst>
                </a:gridCol>
                <a:gridCol w="3315531">
                  <a:extLst>
                    <a:ext uri="{9D8B030D-6E8A-4147-A177-3AD203B41FA5}">
                      <a16:colId xmlns:a16="http://schemas.microsoft.com/office/drawing/2014/main" val="666502604"/>
                    </a:ext>
                  </a:extLst>
                </a:gridCol>
              </a:tblGrid>
              <a:tr h="411480">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panose="020B0604020202020204" pitchFamily="34" charset="0"/>
                        </a:rPr>
                        <a:t>Area</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panose="020B0604020202020204" pitchFamily="34" charset="0"/>
                        </a:rPr>
                        <a:t>Action Item</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panose="020B0604020202020204" pitchFamily="34" charset="0"/>
                        </a:rPr>
                        <a:t>Status</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panose="020B0604020202020204" pitchFamily="34" charset="0"/>
                        </a:rPr>
                        <a:t>Due Date</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sz="1800" b="1" i="0" u="none" strike="noStrike" kern="1200" cap="none" spc="0" normalizeH="0" baseline="0">
                          <a:ln>
                            <a:noFill/>
                          </a:ln>
                          <a:solidFill>
                            <a:srgbClr val="000000"/>
                          </a:solidFill>
                          <a:effectLst/>
                          <a:uLnTx/>
                          <a:uFillTx/>
                          <a:latin typeface="Arial"/>
                          <a:ea typeface="+mn-ea"/>
                          <a:cs typeface="Arial" panose="020B0604020202020204" pitchFamily="34" charset="0"/>
                        </a:rPr>
                        <a:t>Owner</a:t>
                      </a:r>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9013299"/>
                  </a:ext>
                </a:extLst>
              </a:tr>
              <a:tr h="377190">
                <a:tc rowSpan="12">
                  <a:txBody>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1" i="0" u="none" strike="noStrike" kern="1200" cap="none" spc="0" normalizeH="0" baseline="0" noProof="0">
                        <a:ln w="6350" cap="flat">
                          <a:noFill/>
                          <a:miter lim="800000"/>
                        </a:ln>
                        <a:solidFill>
                          <a:srgbClr val="000000"/>
                        </a:solidFill>
                        <a:effectLst/>
                        <a:uLnTx/>
                        <a:uFillTx/>
                        <a:latin typeface="+mn-lt"/>
                        <a:ea typeface="+mn-ea"/>
                        <a:cs typeface="+mn-cs"/>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74320" lvl="1" indent="0" algn="l" defTabSz="914400" rtl="0" eaLnBrk="1" latinLnBrk="0" hangingPunct="1">
                        <a:buClr>
                          <a:srgbClr val="002060"/>
                        </a:buClr>
                        <a:buSzPct val="150000"/>
                        <a:buFontTx/>
                        <a:buNone/>
                      </a:pPr>
                      <a:endParaRPr lang="en-US" sz="1600" kern="1200">
                        <a:solidFill>
                          <a:schemeClr val="dk1"/>
                        </a:solidFill>
                        <a:latin typeface="+mn-lt"/>
                        <a:ea typeface="+mn-ea"/>
                        <a:cs typeface="+mn-cs"/>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14997810"/>
                  </a:ext>
                </a:extLst>
              </a:tr>
              <a:tr h="377190">
                <a:tc vMerge="1">
                  <a:txBody>
                    <a:bodyPr/>
                    <a:lstStyle/>
                    <a:p>
                      <a:endParaRPr lang="en-US"/>
                    </a:p>
                  </a:txBody>
                  <a:tcPr>
                    <a:lnT w="12700" cap="flat" cmpd="sng" algn="ctr">
                      <a:solidFill>
                        <a:schemeClr val="tx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a:ln>
                            <a:noFill/>
                          </a:ln>
                          <a:solidFill>
                            <a:srgbClr val="000000"/>
                          </a:solidFill>
                          <a:effectLst/>
                          <a:uLnTx/>
                          <a:uFillTx/>
                          <a:latin typeface="+mn-lt"/>
                          <a:ea typeface="+mn-ea"/>
                          <a:cs typeface="+mn-cs"/>
                        </a:rPr>
                        <a:t>Project Planning &amp; Requirements finalizing</a:t>
                      </a: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mn-lt"/>
                          <a:ea typeface="+mn-ea"/>
                          <a:cs typeface="+mn-cs"/>
                        </a:rPr>
                        <a:t>In Progress</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r>
                        <a:rPr lang="en-US" sz="1600"/>
                        <a:t>30.Feb</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t>GW Management</a:t>
                      </a:r>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09769463"/>
                  </a:ext>
                </a:extLst>
              </a:tr>
              <a:tr h="377190">
                <a:tc vMerge="1">
                  <a:txBody>
                    <a:bodyPr/>
                    <a:lstStyle/>
                    <a:p>
                      <a:pPr marL="0" indent="0">
                        <a:buClr>
                          <a:srgbClr val="002060"/>
                        </a:buClr>
                        <a:buSzPct val="150000"/>
                        <a:buFontTx/>
                        <a:buNone/>
                      </a:pPr>
                      <a:endParaRPr kumimoji="0" lang="en-US" sz="1050" b="1" i="0" u="none" strike="noStrike" kern="1200" cap="none" spc="0" normalizeH="0" baseline="0">
                        <a:ln>
                          <a:noFill/>
                        </a:ln>
                        <a:solidFill>
                          <a:srgbClr val="000000"/>
                        </a:solidFill>
                        <a:effectLst/>
                        <a:uLnTx/>
                        <a:uFillTx/>
                        <a:latin typeface="Arial"/>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a:ln>
                            <a:noFill/>
                          </a:ln>
                          <a:solidFill>
                            <a:srgbClr val="000000"/>
                          </a:solidFill>
                          <a:effectLst/>
                          <a:uLnTx/>
                          <a:uFillTx/>
                          <a:latin typeface="+mn-lt"/>
                          <a:ea typeface="+mn-ea"/>
                          <a:cs typeface="+mn-cs"/>
                        </a:rPr>
                        <a:t>Vendor Selection &amp; Procurement</a:t>
                      </a: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mn-lt"/>
                          <a:ea typeface="+mn-ea"/>
                          <a:cs typeface="+mn-cs"/>
                        </a:rPr>
                        <a:t>Pending</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r>
                        <a:rPr lang="en-US" sz="1600"/>
                        <a:t>TBD</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t>GW Management</a:t>
                      </a:r>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17332579"/>
                  </a:ext>
                </a:extLst>
              </a:tr>
              <a:tr h="563492">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a:ln>
                            <a:noFill/>
                          </a:ln>
                          <a:solidFill>
                            <a:srgbClr val="000000"/>
                          </a:solidFill>
                          <a:effectLst/>
                          <a:uLnTx/>
                          <a:uFillTx/>
                          <a:latin typeface="+mn-lt"/>
                          <a:ea typeface="+mn-ea"/>
                          <a:cs typeface="+mn-cs"/>
                        </a:rPr>
                        <a:t>Regulatory &amp; Compliance Approvals</a:t>
                      </a: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mn-lt"/>
                          <a:ea typeface="+mn-ea"/>
                          <a:cs typeface="+mn-cs"/>
                        </a:rPr>
                        <a:t>Pending</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r>
                        <a:rPr lang="en-US" sz="1600" strike="noStrike" baseline="0"/>
                        <a:t>TBD</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67274526"/>
                  </a:ext>
                </a:extLst>
              </a:tr>
              <a:tr h="563492">
                <a:tc vMerge="1">
                  <a:txBody>
                    <a:bodyPr/>
                    <a:lstStyle/>
                    <a:p>
                      <a:pPr marL="0" indent="0">
                        <a:buClr>
                          <a:srgbClr val="002060"/>
                        </a:buClr>
                        <a:buSzPct val="150000"/>
                        <a:buFontTx/>
                        <a:buNone/>
                      </a:pPr>
                      <a:endParaRPr kumimoji="0" lang="en-US" sz="1050" b="1" i="0" u="none" strike="noStrike" kern="1200" cap="none" spc="0" normalizeH="0" baseline="0">
                        <a:ln>
                          <a:noFill/>
                        </a:ln>
                        <a:solidFill>
                          <a:srgbClr val="000000"/>
                        </a:solidFill>
                        <a:effectLst/>
                        <a:uLnTx/>
                        <a:uFillTx/>
                        <a:latin typeface="Arial"/>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a:ln>
                            <a:noFill/>
                          </a:ln>
                          <a:solidFill>
                            <a:srgbClr val="000000"/>
                          </a:solidFill>
                          <a:effectLst/>
                          <a:uLnTx/>
                          <a:uFillTx/>
                          <a:latin typeface="+mn-lt"/>
                          <a:ea typeface="+mn-ea"/>
                          <a:cs typeface="+mn-cs"/>
                        </a:rPr>
                        <a:t>Infrastructure &amp; Integration Readiness</a:t>
                      </a: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endParaRPr lang="en-US" sz="1600"/>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34818391"/>
                  </a:ext>
                </a:extLst>
              </a:tr>
              <a:tr h="563492">
                <a:tc vMerge="1">
                  <a:txBody>
                    <a:bodyPr/>
                    <a:lstStyle/>
                    <a:p>
                      <a:pPr marL="0" indent="0">
                        <a:buClr>
                          <a:srgbClr val="002060"/>
                        </a:buClr>
                        <a:buSzPct val="150000"/>
                        <a:buFontTx/>
                        <a:buNone/>
                      </a:pPr>
                      <a:endParaRPr kumimoji="0" lang="en-US" sz="1050" b="1" i="0" u="none" strike="noStrike" kern="1200" cap="none" spc="0" normalizeH="0" baseline="0">
                        <a:ln>
                          <a:noFill/>
                        </a:ln>
                        <a:solidFill>
                          <a:srgbClr val="000000"/>
                        </a:solidFill>
                        <a:effectLst/>
                        <a:uLnTx/>
                        <a:uFillTx/>
                        <a:latin typeface="Arial"/>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a:ln>
                            <a:noFill/>
                          </a:ln>
                          <a:solidFill>
                            <a:srgbClr val="000000"/>
                          </a:solidFill>
                          <a:effectLst/>
                          <a:uLnTx/>
                          <a:uFillTx/>
                          <a:latin typeface="+mn-lt"/>
                          <a:ea typeface="+mn-ea"/>
                          <a:cs typeface="+mn-cs"/>
                        </a:rPr>
                        <a:t>Software &amp; System Integration</a:t>
                      </a: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mn-lt"/>
                        <a:ea typeface="+mn-ea"/>
                        <a:cs typeface="+mn-cs"/>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endParaRPr lang="en-US" sz="1600"/>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03154"/>
                  </a:ext>
                </a:extLst>
              </a:tr>
              <a:tr h="377190">
                <a:tc vMerge="1">
                  <a:txBody>
                    <a:bodyPr/>
                    <a:lstStyle/>
                    <a:p>
                      <a:pPr marL="0" indent="0">
                        <a:buClr>
                          <a:srgbClr val="002060"/>
                        </a:buClr>
                        <a:buSzPct val="150000"/>
                        <a:buFontTx/>
                        <a:buNone/>
                      </a:pPr>
                      <a:endParaRPr kumimoji="0" lang="en-US" sz="1050" b="1" i="0" u="none" strike="noStrike" kern="1200" cap="none" spc="0" normalizeH="0" baseline="0">
                        <a:ln>
                          <a:noFill/>
                        </a:ln>
                        <a:solidFill>
                          <a:srgbClr val="000000"/>
                        </a:solidFill>
                        <a:effectLst/>
                        <a:uLnTx/>
                        <a:uFillTx/>
                        <a:latin typeface="Arial"/>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a:ln>
                            <a:noFill/>
                          </a:ln>
                          <a:solidFill>
                            <a:srgbClr val="000000"/>
                          </a:solidFill>
                          <a:effectLst/>
                          <a:uLnTx/>
                          <a:uFillTx/>
                          <a:latin typeface="+mn-lt"/>
                          <a:ea typeface="+mn-ea"/>
                          <a:cs typeface="+mn-cs"/>
                        </a:rPr>
                        <a:t>Deployment &amp; Configuration</a:t>
                      </a: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endParaRPr lang="en-US" sz="1600"/>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41739212"/>
                  </a:ext>
                </a:extLst>
              </a:tr>
              <a:tr h="377190">
                <a:tc vMerge="1">
                  <a:txBody>
                    <a:bodyPr/>
                    <a:lstStyle/>
                    <a:p>
                      <a:pPr marL="0" indent="0">
                        <a:buClr>
                          <a:srgbClr val="002060"/>
                        </a:buClr>
                        <a:buSzPct val="150000"/>
                        <a:buFontTx/>
                        <a:buNone/>
                      </a:pPr>
                      <a:endParaRPr kumimoji="0" lang="en-US" sz="1050" b="1" i="0" u="none" strike="noStrike" kern="1200" cap="none" spc="0" normalizeH="0" baseline="0">
                        <a:ln>
                          <a:noFill/>
                        </a:ln>
                        <a:solidFill>
                          <a:srgbClr val="000000"/>
                        </a:solidFill>
                        <a:effectLst/>
                        <a:uLnTx/>
                        <a:uFillTx/>
                        <a:latin typeface="Arial"/>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a:ln>
                            <a:noFill/>
                          </a:ln>
                          <a:solidFill>
                            <a:srgbClr val="000000"/>
                          </a:solidFill>
                          <a:effectLst/>
                          <a:uLnTx/>
                          <a:uFillTx/>
                          <a:latin typeface="+mn-lt"/>
                          <a:ea typeface="+mn-ea"/>
                          <a:cs typeface="+mn-cs"/>
                        </a:rPr>
                        <a:t>Testing &amp; User Acceptance</a:t>
                      </a: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endParaRPr lang="en-US" sz="1600" strike="noStrike"/>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86122579"/>
                  </a:ext>
                </a:extLst>
              </a:tr>
              <a:tr h="377190">
                <a:tc vMerge="1">
                  <a:txBody>
                    <a:bodyPr/>
                    <a:lstStyle/>
                    <a:p>
                      <a:pPr marL="0" indent="0">
                        <a:buClr>
                          <a:srgbClr val="002060"/>
                        </a:buClr>
                        <a:buSzPct val="150000"/>
                        <a:buFontTx/>
                        <a:buNone/>
                      </a:pPr>
                      <a:endParaRPr kumimoji="0" lang="en-US" sz="1050" b="1" i="0" u="none" strike="noStrike" kern="1200" cap="none" spc="0" normalizeH="0" baseline="0">
                        <a:ln>
                          <a:noFill/>
                        </a:ln>
                        <a:solidFill>
                          <a:srgbClr val="000000"/>
                        </a:solidFill>
                        <a:effectLst/>
                        <a:uLnTx/>
                        <a:uFillTx/>
                        <a:latin typeface="Arial"/>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a:ln>
                            <a:noFill/>
                          </a:ln>
                          <a:solidFill>
                            <a:srgbClr val="000000"/>
                          </a:solidFill>
                          <a:effectLst/>
                          <a:uLnTx/>
                          <a:uFillTx/>
                          <a:latin typeface="+mn-lt"/>
                          <a:ea typeface="+mn-ea"/>
                          <a:cs typeface="+mn-cs"/>
                        </a:rPr>
                        <a:t>Go-Live &amp; Monitoring</a:t>
                      </a: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endParaRPr lang="en-US" sz="1600" strike="noStrike"/>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94132260"/>
                  </a:ext>
                </a:extLst>
              </a:tr>
              <a:tr h="377190">
                <a:tc vMerge="1">
                  <a:txBody>
                    <a:bodyPr/>
                    <a:lstStyle/>
                    <a:p>
                      <a:pPr marL="0" indent="0">
                        <a:buClr>
                          <a:srgbClr val="002060"/>
                        </a:buClr>
                        <a:buSzPct val="150000"/>
                        <a:buFontTx/>
                        <a:buNone/>
                      </a:pPr>
                      <a:endParaRPr kumimoji="0" lang="en-US" sz="1050" b="1" i="0" u="none" strike="noStrike" kern="1200" cap="none" spc="0" normalizeH="0" baseline="0">
                        <a:ln>
                          <a:noFill/>
                        </a:ln>
                        <a:solidFill>
                          <a:srgbClr val="000000"/>
                        </a:solidFill>
                        <a:effectLst/>
                        <a:uLnTx/>
                        <a:uFillTx/>
                        <a:latin typeface="Arial"/>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a:ln>
                            <a:noFill/>
                          </a:ln>
                          <a:solidFill>
                            <a:srgbClr val="000000"/>
                          </a:solidFill>
                          <a:effectLst/>
                          <a:uLnTx/>
                          <a:uFillTx/>
                          <a:latin typeface="+mn-lt"/>
                          <a:ea typeface="+mn-ea"/>
                          <a:cs typeface="+mn-cs"/>
                        </a:rPr>
                        <a:t>Customer Awareness &amp; Training</a:t>
                      </a: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endParaRPr lang="en-US" sz="1600" kern="1200">
                        <a:solidFill>
                          <a:schemeClr val="dk1"/>
                        </a:solidFill>
                        <a:latin typeface="+mn-lt"/>
                        <a:ea typeface="+mn-ea"/>
                        <a:cs typeface="+mn-cs"/>
                      </a:endParaRP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48704062"/>
                  </a:ext>
                </a:extLst>
              </a:tr>
              <a:tr h="377190">
                <a:tc vMerge="1">
                  <a:txBody>
                    <a:bodyPr/>
                    <a:lstStyle/>
                    <a:p>
                      <a:pPr marL="0" indent="0">
                        <a:buClr>
                          <a:srgbClr val="002060"/>
                        </a:buClr>
                        <a:buSzPct val="150000"/>
                        <a:buFontTx/>
                        <a:buNone/>
                      </a:pPr>
                      <a:endParaRPr kumimoji="0" lang="en-US" sz="1050" b="1" i="0" u="none" strike="noStrike" kern="1200" cap="none" spc="0" normalizeH="0" baseline="0">
                        <a:ln>
                          <a:noFill/>
                        </a:ln>
                        <a:solidFill>
                          <a:srgbClr val="000000"/>
                        </a:solidFill>
                        <a:effectLst/>
                        <a:uLnTx/>
                        <a:uFillTx/>
                        <a:latin typeface="Arial"/>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74320" lvl="1" indent="0" algn="l" defTabSz="914400" rtl="0" eaLnBrk="1" latinLnBrk="0" hangingPunct="1">
                        <a:buClr>
                          <a:srgbClr val="002060"/>
                        </a:buClr>
                        <a:buSzPct val="150000"/>
                        <a:buFontTx/>
                        <a:buNone/>
                      </a:pPr>
                      <a:endParaRPr lang="en-US" sz="1600" kern="1200">
                        <a:solidFill>
                          <a:schemeClr val="dk1"/>
                        </a:solidFill>
                        <a:latin typeface="+mn-lt"/>
                        <a:ea typeface="+mn-ea"/>
                        <a:cs typeface="+mn-cs"/>
                      </a:endParaRP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endParaRPr lang="en-US" sz="1600" strike="noStrike"/>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62903627"/>
                  </a:ext>
                </a:extLst>
              </a:tr>
              <a:tr h="490691">
                <a:tc vMerge="1">
                  <a:txBody>
                    <a:bodyPr/>
                    <a:lstStyle/>
                    <a:p>
                      <a:pPr marL="0" indent="0">
                        <a:buClr>
                          <a:srgbClr val="002060"/>
                        </a:buClr>
                        <a:buSzPct val="150000"/>
                        <a:buFontTx/>
                        <a:buNone/>
                      </a:pPr>
                      <a:endParaRPr kumimoji="0" lang="en-US" sz="1050" b="1" i="0" u="none" strike="noStrike" kern="1200" cap="none" spc="0" normalizeH="0" baseline="0">
                        <a:ln>
                          <a:noFill/>
                        </a:ln>
                        <a:solidFill>
                          <a:srgbClr val="000000"/>
                        </a:solidFill>
                        <a:effectLst/>
                        <a:uLnTx/>
                        <a:uFillTx/>
                        <a:latin typeface="Arial"/>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74320" lvl="1" indent="0" algn="l" defTabSz="914400" rtl="0" eaLnBrk="1" latinLnBrk="0" hangingPunct="1">
                        <a:buClr>
                          <a:srgbClr val="002060"/>
                        </a:buClr>
                        <a:buSzPct val="150000"/>
                        <a:buFontTx/>
                        <a:buNone/>
                      </a:pPr>
                      <a:endParaRPr lang="en-US" sz="1600" kern="1200">
                        <a:solidFill>
                          <a:schemeClr val="dk1"/>
                        </a:solidFill>
                        <a:latin typeface="+mn-lt"/>
                        <a:ea typeface="+mn-ea"/>
                        <a:cs typeface="+mn-cs"/>
                      </a:endParaRPr>
                    </a:p>
                  </a:txBody>
                  <a:tcPr marL="137160" marR="137160" marT="68580" marB="68580" anchor="ctr">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endParaRPr lang="en-US" sz="1600" strike="noStrike"/>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a:p>
                  </a:txBody>
                  <a:tcPr marL="137160" marR="137160" marT="68580" marB="6858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60330286"/>
                  </a:ext>
                </a:extLst>
              </a:tr>
            </a:tbl>
          </a:graphicData>
        </a:graphic>
      </p:graphicFrame>
    </p:spTree>
    <p:extLst>
      <p:ext uri="{BB962C8B-B14F-4D97-AF65-F5344CB8AC3E}">
        <p14:creationId xmlns:p14="http://schemas.microsoft.com/office/powerpoint/2010/main" val="39800322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41</Slides>
  <Notes>0</Notes>
  <HiddenSlides>2</HiddenSlides>
  <ScaleCrop>false</ScaleCrop>
  <HeadingPairs>
    <vt:vector size="4" baseType="variant">
      <vt:variant>
        <vt:lpstr>Theme</vt:lpstr>
      </vt:variant>
      <vt:variant>
        <vt:i4>1</vt:i4>
      </vt:variant>
      <vt:variant>
        <vt:lpstr>Slide Titles</vt:lpstr>
      </vt:variant>
      <vt:variant>
        <vt:i4>41</vt:i4>
      </vt:variant>
    </vt:vector>
  </HeadingPairs>
  <TitlesOfParts>
    <vt:vector size="4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Yellow Modern Weekly Team Updates Presentation</dc:title>
  <cp:revision>12</cp:revision>
  <dcterms:created xsi:type="dcterms:W3CDTF">2006-08-16T00:00:00Z</dcterms:created>
  <dcterms:modified xsi:type="dcterms:W3CDTF">2026-06-09T15:14:42Z</dcterms:modified>
  <dc:identifier>DAG5s1VG3KU</dc:identifier>
</cp:coreProperties>
</file>